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312" r:id="rId3"/>
    <p:sldId id="306" r:id="rId4"/>
    <p:sldId id="331" r:id="rId5"/>
    <p:sldId id="320" r:id="rId6"/>
    <p:sldId id="323" r:id="rId7"/>
    <p:sldId id="307" r:id="rId8"/>
    <p:sldId id="317" r:id="rId9"/>
    <p:sldId id="316" r:id="rId10"/>
    <p:sldId id="336" r:id="rId11"/>
    <p:sldId id="315" r:id="rId12"/>
    <p:sldId id="330" r:id="rId13"/>
    <p:sldId id="333" r:id="rId14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4FAE4A-BBB1-4241-B0F6-80B5C2FD51C5}" type="datetimeFigureOut">
              <a:rPr lang="en-CH" smtClean="0"/>
              <a:t>08.01.2026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3911E-9D2E-49C0-9B79-B58034E9A7B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20837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2e9c2c056f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g2e9c2c056f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2060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CD0F06E8-3899-FB3A-852D-85AAA41F1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8A261CC6-A6A0-C62C-829C-7778B3B1A1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-US" dirty="0"/>
              <a:t>Showing prevalence over time after LLIN deployments</a:t>
            </a:r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2ECBA0B8-79DE-94EC-8FD2-8093AC21FA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14861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D32BF22B-96AD-B050-C52B-B0DD156FA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E627D48F-C62F-FEB4-5868-12CC1C1F29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6B9C226D-63A4-BB99-9412-21829E50B9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12994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62C5981F-487D-9734-DB4F-DD3D89DE0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7FE91D81-83C4-43B7-9549-0A60995F8C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9BC1CD9C-EF20-257E-2773-A1CD7EA759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18157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4AF73169-BBBC-111E-FF33-3F6782C6E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07DC6B72-DDB2-3B28-7C5D-53CE81C7DB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CA0A6D24-2EEA-2169-6BBF-A6783313F0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6571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22BE4B10-8D82-3A15-8A00-6439D3AF0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F23378FE-5EFC-7967-77BF-52EA7C751C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AECCA103-2201-F9FD-BC8B-7A326E6241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30114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37982FE2-F930-6C6F-64CC-A03FCD14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3FFC5840-A7EB-0837-DA0F-888225924A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14F74450-EF2E-9D35-C47A-4677A5E8D2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28827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55A1D58E-344C-DC68-036D-75EC127FA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A1AEB885-7B52-5086-0FF3-1A74A4084E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457200" lvl="1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4CA176D8-57C0-27BD-EB16-6C8948292B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17860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C7CE27CD-8B34-4477-6D00-4250644CE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598D4E6B-8B41-7C51-BABC-5E617F9F9D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-US" dirty="0"/>
              <a:t>60% SMC </a:t>
            </a:r>
            <a:r>
              <a:rPr lang="en-US" dirty="0" err="1"/>
              <a:t>cov</a:t>
            </a:r>
            <a:r>
              <a:rPr lang="en-US" dirty="0"/>
              <a:t> benefits non-recipients equally in high transmission settings</a:t>
            </a:r>
          </a:p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-US" dirty="0"/>
              <a:t>There is no intersection in low EIR settings</a:t>
            </a: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B67CDD72-9339-6BE9-E4EC-60CA137A39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020876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88E5CD39-2DE2-4BE5-5F77-2CC6C0584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14F59028-7E8B-EB8E-5328-0C276A9979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-US" dirty="0"/>
              <a:t>60% SMC </a:t>
            </a:r>
            <a:r>
              <a:rPr lang="en-US" dirty="0" err="1"/>
              <a:t>cov</a:t>
            </a:r>
            <a:r>
              <a:rPr lang="en-US" dirty="0"/>
              <a:t> benefits non-recipients equally in high transmission settings</a:t>
            </a:r>
          </a:p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-US" dirty="0"/>
              <a:t>There is no intersection in low EIR settings</a:t>
            </a: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0E907749-0F8D-6767-F046-BB87F5DC10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454873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87ECBB50-A725-ADFB-EEF6-07F996B6D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C8A3353D-E1A6-D715-53ED-313AA1C842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BDEF80AF-B055-E55F-E046-59BDF1BF50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358787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ADC0B8C4-3980-BB89-2088-37CD9DA7C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BDBEFDCC-967B-9E4B-BF21-98C32D7087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r>
              <a:rPr lang="en-US" dirty="0"/>
              <a:t>Non-users do not benefit from vaccine even on U5s</a:t>
            </a: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7F1D53D9-26D1-F404-FDB6-FBF14B4765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74917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29CBA009-874C-70D7-EC47-A3F943FB4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64C99532-D2B3-15B5-8C27-7368902771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r>
              <a:rPr lang="en-US" dirty="0"/>
              <a:t>Non-users do not benefit from vaccine even on U5s</a:t>
            </a: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848D0BF8-D655-3DF6-EE03-6D7AEB9BE4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16838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D7893-4C41-F9F7-15E4-9FA01CBC2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2D4558-D4E3-B798-8E8F-06716E220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85E72-838A-F09A-1B0A-1D25D3399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B10F-10EE-40CC-884F-277790624D64}" type="datetimeFigureOut">
              <a:rPr lang="en-CH" smtClean="0"/>
              <a:t>08.01.2026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EA85C-137D-649F-F1FA-B51F55C78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9AB35-9325-2A0B-6895-5988E5DD5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060E-42FA-4162-9055-FC4C7E7BC2D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83783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5A863-24B4-2794-D97C-F26D496A6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41204-6263-67C9-983E-1AE8FCA57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AD6BC-3C3A-608F-D464-95EA99592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B10F-10EE-40CC-884F-277790624D64}" type="datetimeFigureOut">
              <a:rPr lang="en-CH" smtClean="0"/>
              <a:t>08.01.2026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9F95B-ED7F-1C17-6D64-6D1D541CA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37883-3028-5003-CA73-0A43E635E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060E-42FA-4162-9055-FC4C7E7BC2D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61058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CD5DC-C6B3-4E5E-B071-014673C6C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A2328-33D7-1F4F-4F60-3609549AE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0AACF-D860-0818-A4D7-A312B2DBC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B10F-10EE-40CC-884F-277790624D64}" type="datetimeFigureOut">
              <a:rPr lang="en-CH" smtClean="0"/>
              <a:t>08.01.2026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4A089-AA68-951F-87B1-79B7840AF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9CEB7-7346-C6C2-E497-700080346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060E-42FA-4162-9055-FC4C7E7BC2D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26940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F57D4-F3E6-765F-5BA5-FC62D9AD6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04AAC-CAAC-4FA9-6C38-86F8C792AA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475275-7C0E-D984-BECA-3B0698C04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3804F-8E31-561A-6DB8-E1322388D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B10F-10EE-40CC-884F-277790624D64}" type="datetimeFigureOut">
              <a:rPr lang="en-CH" smtClean="0"/>
              <a:t>08.01.2026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FEFD6-1D2C-5F72-9B19-1FDF4333F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601DA-C3B3-C0ED-4E87-4D7F9F95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060E-42FA-4162-9055-FC4C7E7BC2D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52357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D6620-ADD0-2181-98D3-B776D545F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5CA22-DA90-78E4-E21B-818813720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E1F9C1-A531-E179-0875-4942CFCA4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090B33-0354-3CF2-F685-D2A5BC6A7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3330BF-8841-DC2F-4886-2F8BE8C82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D387B0-C09F-C466-AAF8-4AD5E9DB6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B10F-10EE-40CC-884F-277790624D64}" type="datetimeFigureOut">
              <a:rPr lang="en-CH" smtClean="0"/>
              <a:t>08.01.2026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3B2B5F-E30F-7C68-E7FB-ACEA59E47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FA0D99-589A-D07F-03DF-D547B6C1B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060E-42FA-4162-9055-FC4C7E7BC2D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9970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4841E-B281-05D9-B683-42493F885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31A3DF-6AEB-3BAC-42FA-ED514151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B10F-10EE-40CC-884F-277790624D64}" type="datetimeFigureOut">
              <a:rPr lang="en-CH" smtClean="0"/>
              <a:t>08.01.2026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9CFBE2-D467-85F3-C3E4-4BB815AE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7495E-7131-D32B-9800-BB2FCD436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060E-42FA-4162-9055-FC4C7E7BC2D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2525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04ACE5-8118-0C29-2BEA-A798F293F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B10F-10EE-40CC-884F-277790624D64}" type="datetimeFigureOut">
              <a:rPr lang="en-CH" smtClean="0"/>
              <a:t>08.01.2026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0892BD-CE6D-317E-645E-3C72D6ED9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B5E06-DD02-B205-23FF-2AF44B5B2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060E-42FA-4162-9055-FC4C7E7BC2D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42070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2B2D9-1792-19E3-8831-9B0ECDDF4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1955C-1921-690D-E388-084DDBCB7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2E2A69-265C-860C-3E12-8376589F43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247EC-1DDA-B899-497E-FD79D50AF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B10F-10EE-40CC-884F-277790624D64}" type="datetimeFigureOut">
              <a:rPr lang="en-CH" smtClean="0"/>
              <a:t>08.01.2026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1B335-6414-0FA3-95B5-5DC623B92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62726-74F6-1B69-72AC-8D8D7CEA5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060E-42FA-4162-9055-FC4C7E7BC2D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8268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5A6FB-BA0E-21CA-DF8B-F5699E358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C1D471-1493-9B63-A2BF-744AD72331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D3BC76-FB2D-AAEF-A5DE-88B4CC576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5BB39-B5B0-09E5-52A0-209E4B429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B10F-10EE-40CC-884F-277790624D64}" type="datetimeFigureOut">
              <a:rPr lang="en-CH" smtClean="0"/>
              <a:t>08.01.2026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0ED72-71F9-E21D-2C8D-900B2C716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EC6B2-190A-FAB0-789E-07B2B32E0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060E-42FA-4162-9055-FC4C7E7BC2D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55425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0887-5321-FA20-757F-1A1917D44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FB9940-8AB5-DBD3-5B8D-C0E6DF761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4152C-5505-7AB8-1E83-D3D72A4FB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B10F-10EE-40CC-884F-277790624D64}" type="datetimeFigureOut">
              <a:rPr lang="en-CH" smtClean="0"/>
              <a:t>08.01.2026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05EB2-9038-E3B4-9750-99F93AB71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6C43B-CA6F-0691-E83B-214352438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060E-42FA-4162-9055-FC4C7E7BC2D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38948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B86621-FCBF-F3C1-7E3B-A13088C4FA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88DEFD-F399-BDF7-552E-C565D77DA4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E64D9-175A-AF9E-FC1A-00FCC6612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B10F-10EE-40CC-884F-277790624D64}" type="datetimeFigureOut">
              <a:rPr lang="en-CH" smtClean="0"/>
              <a:t>08.01.2026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6A5ED-576C-229C-A942-69D5342E1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E970-A504-56B9-B230-352BDB78E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060E-42FA-4162-9055-FC4C7E7BC2D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86194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0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alatino Linotype"/>
              <a:buNone/>
              <a:defRPr>
                <a:solidFill>
                  <a:schemeClr val="accen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40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0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  <a:defRPr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marL="1219170" lvl="1" indent="-304792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/>
            </a:lvl2pPr>
            <a:lvl3pPr marL="1828754" lvl="2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3pPr>
            <a:lvl4pPr marL="2438339" lvl="3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marL="3047924" lvl="4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-"/>
              <a:defRPr/>
            </a:lvl5pPr>
            <a:lvl6pPr marL="3657509" lvl="5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3" name="Google Shape;293;p40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Font typeface="Arial"/>
              <a:buNone/>
              <a:defRPr sz="2400" b="1">
                <a:solidFill>
                  <a:srgbClr val="22222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marL="1219170" lvl="1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-"/>
              <a:defRPr/>
            </a:lvl2pPr>
            <a:lvl3pPr marL="1828754" lvl="2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▪"/>
              <a:defRPr/>
            </a:lvl3pPr>
            <a:lvl4pPr marL="2438339" lvl="3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-"/>
              <a:defRPr/>
            </a:lvl4pPr>
            <a:lvl5pPr marL="3047924" lvl="4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-"/>
              <a:defRPr/>
            </a:lvl5pPr>
            <a:lvl6pPr marL="3657509" lvl="5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4" name="Google Shape;294;p40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2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40"/>
          <p:cNvSpPr/>
          <p:nvPr/>
        </p:nvSpPr>
        <p:spPr>
          <a:xfrm>
            <a:off x="2844800" y="6170716"/>
            <a:ext cx="8229600" cy="50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3147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">
  <p:cSld name="Cov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5186289" y="3621023"/>
            <a:ext cx="5935600" cy="11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500"/>
              <a:buNone/>
              <a:defRPr sz="3733">
                <a:solidFill>
                  <a:schemeClr val="accent3"/>
                </a:solidFill>
              </a:defRPr>
            </a:lvl1pPr>
            <a:lvl2pPr marL="1219170" lvl="1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2pPr>
            <a:lvl3pPr marL="1828754" lvl="2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■"/>
              <a:defRPr/>
            </a:lvl3pPr>
            <a:lvl4pPr marL="2438339" lvl="3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●"/>
              <a:defRPr/>
            </a:lvl4pPr>
            <a:lvl5pPr marL="3047924" lvl="4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2"/>
          </p:nvPr>
        </p:nvSpPr>
        <p:spPr>
          <a:xfrm>
            <a:off x="5186292" y="5443833"/>
            <a:ext cx="5935600" cy="3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133"/>
            </a:lvl1pPr>
            <a:lvl2pPr marL="1219170" lvl="1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2pPr>
            <a:lvl3pPr marL="1828754" lvl="2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■"/>
              <a:defRPr/>
            </a:lvl3pPr>
            <a:lvl4pPr marL="2438339" lvl="3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●"/>
              <a:defRPr/>
            </a:lvl4pPr>
            <a:lvl5pPr marL="3047924" lvl="4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 b="52283"/>
          <a:stretch/>
        </p:blipFill>
        <p:spPr>
          <a:xfrm>
            <a:off x="5203088" y="2168490"/>
            <a:ext cx="4134489" cy="1142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l="38525" t="1212" b="236"/>
          <a:stretch/>
        </p:blipFill>
        <p:spPr>
          <a:xfrm>
            <a:off x="1" y="1"/>
            <a:ext cx="421543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body" idx="3"/>
          </p:nvPr>
        </p:nvSpPr>
        <p:spPr>
          <a:xfrm>
            <a:off x="5186289" y="4921157"/>
            <a:ext cx="5935600" cy="4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marL="609585" lvl="0" indent="-304792" algn="l" rtl="0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  <a:defRPr sz="2667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2pPr>
            <a:lvl3pPr marL="1828754" lvl="2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■"/>
              <a:defRPr/>
            </a:lvl3pPr>
            <a:lvl4pPr marL="2438339" lvl="3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●"/>
              <a:defRPr/>
            </a:lvl4pPr>
            <a:lvl5pPr marL="3047924" lvl="4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677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D0960-8533-4A99-D0AE-7648CF417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F4497-88B1-893A-E4B2-089A73524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7081E-0BD8-11A5-82B7-916E53D24B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4FB10F-10EE-40CC-884F-277790624D64}" type="datetimeFigureOut">
              <a:rPr lang="en-CH" smtClean="0"/>
              <a:t>08.01.2026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7D8AA-28EC-45A9-C351-FF6F2D692E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FC6E8-8E12-E9BF-4DEC-E1C59BD162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A2060E-42FA-4162-9055-FC4C7E7BC2D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73169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502;p65"/>
          <p:cNvSpPr txBox="1">
            <a:spLocks noGrp="1"/>
          </p:cNvSpPr>
          <p:nvPr>
            <p:ph type="body" idx="1"/>
          </p:nvPr>
        </p:nvSpPr>
        <p:spPr>
          <a:xfrm>
            <a:off x="4132053" y="3422615"/>
            <a:ext cx="8059947" cy="157207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45700" rIns="91433" bIns="45700" rtlCol="0" anchor="b" anchorCtr="0">
            <a:noAutofit/>
          </a:bodyPr>
          <a:lstStyle/>
          <a:p>
            <a:pPr marL="0" indent="0">
              <a:spcBef>
                <a:spcPts val="0"/>
              </a:spcBef>
              <a:spcAft>
                <a:spcPts val="1600"/>
              </a:spcAft>
            </a:pPr>
            <a:r>
              <a:rPr lang="en-US" sz="2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Indirect or </a:t>
            </a:r>
            <a:r>
              <a:rPr lang="en-US" sz="28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community effect </a:t>
            </a:r>
            <a:r>
              <a:rPr lang="en-US" sz="2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prioritization of malaria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32054" y="5225516"/>
            <a:ext cx="4587074" cy="1083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PhD Update</a:t>
            </a: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 2025</a:t>
            </a:r>
          </a:p>
        </p:txBody>
      </p:sp>
    </p:spTree>
    <p:extLst>
      <p:ext uri="{BB962C8B-B14F-4D97-AF65-F5344CB8AC3E}">
        <p14:creationId xmlns:p14="http://schemas.microsoft.com/office/powerpoint/2010/main" val="1890139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5A129F51-0A28-5EF3-22AC-35317A7C1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2760A65D-0FFD-37A8-68AC-58E9EF75A3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1944145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Results: plot of malaria prevalence in users and non-users by usage and EIR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099CB7-6875-0A83-C94E-692F1F863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9" y="796022"/>
            <a:ext cx="12084671" cy="579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004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C196D916-C028-5B1F-87EA-7401516BA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2B7AE7FF-6117-56D1-09C6-DD7CA800B7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1944145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Results: plot of average malaria prevalence reduction in users and non-users by usage and EIR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DF2A46-34C4-9079-B0EB-0FB7628EE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70" y="966868"/>
            <a:ext cx="11894161" cy="566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404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2CA49962-620B-C1FE-43EC-773B670B9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543C7F94-97E0-C8A7-8B7E-D2B51BB9BA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1944145" cy="745200"/>
          </a:xfrm>
        </p:spPr>
        <p:txBody>
          <a:bodyPr/>
          <a:lstStyle/>
          <a:p>
            <a:r>
              <a:rPr lang="en-US" sz="2800" b="1">
                <a:latin typeface="+mn-lt"/>
              </a:rPr>
              <a:t>Results: </a:t>
            </a:r>
            <a:r>
              <a:rPr lang="en-US" sz="2800" b="1"/>
              <a:t>plot of LLIN usage level at which indirect = direct benefit </a:t>
            </a:r>
            <a:r>
              <a:rPr lang="en-US" sz="2800" b="1">
                <a:latin typeface="+mn-lt"/>
              </a:rPr>
              <a:t>– (0-100)</a:t>
            </a:r>
            <a:endParaRPr lang="en-US" sz="2800" b="1" dirty="0"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774F5F-B0C5-BDCF-8116-5A4C67040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9" y="796022"/>
            <a:ext cx="12002117" cy="560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354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88C5DB75-2CC8-758E-FBBE-D53A53BB5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F1D4F50B-BFA7-48E2-C604-E41FF8F36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1944145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Results: </a:t>
            </a:r>
            <a:r>
              <a:rPr lang="en-US" sz="2800" b="1" dirty="0"/>
              <a:t>plot of average malaria prevalence reduction in LLIN users and non-users by usage and EIR </a:t>
            </a:r>
            <a:r>
              <a:rPr lang="en-US" sz="2800" b="1" dirty="0">
                <a:latin typeface="+mn-lt"/>
              </a:rPr>
              <a:t>– (0-100)</a:t>
            </a:r>
          </a:p>
        </p:txBody>
      </p:sp>
      <p:pic>
        <p:nvPicPr>
          <p:cNvPr id="9" name="Picture 8" descr="A chart with many colored dots&#10;&#10;AI-generated content may be incorrect.">
            <a:extLst>
              <a:ext uri="{FF2B5EF4-FFF2-40B4-BE49-F238E27FC236}">
                <a16:creationId xmlns:a16="http://schemas.microsoft.com/office/drawing/2014/main" id="{22DA5FB9-69BD-EEB5-7113-729B60958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42" y="796022"/>
            <a:ext cx="12192000" cy="5789897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71C7A17F-6575-216E-3895-6BC921C6DC86}"/>
              </a:ext>
            </a:extLst>
          </p:cNvPr>
          <p:cNvSpPr/>
          <p:nvPr/>
        </p:nvSpPr>
        <p:spPr>
          <a:xfrm>
            <a:off x="6400799" y="2544896"/>
            <a:ext cx="627962" cy="6279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1</a:t>
            </a:r>
            <a:endParaRPr lang="en-CH" sz="2800" dirty="0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604B20-6DBB-9ADD-EA23-628F297A8FE0}"/>
              </a:ext>
            </a:extLst>
          </p:cNvPr>
          <p:cNvSpPr/>
          <p:nvPr/>
        </p:nvSpPr>
        <p:spPr>
          <a:xfrm>
            <a:off x="8649640" y="2544894"/>
            <a:ext cx="627962" cy="62796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2</a:t>
            </a:r>
            <a:endParaRPr lang="en-CH" sz="2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AE7C49-3211-DB61-7674-1E678DEF5205}"/>
              </a:ext>
            </a:extLst>
          </p:cNvPr>
          <p:cNvSpPr/>
          <p:nvPr/>
        </p:nvSpPr>
        <p:spPr>
          <a:xfrm>
            <a:off x="6299811" y="4448978"/>
            <a:ext cx="627962" cy="6279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3</a:t>
            </a:r>
            <a:endParaRPr lang="en-CH" sz="2800" dirty="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5D6C173-BBEE-4003-6774-CBCE0FC09E78}"/>
              </a:ext>
            </a:extLst>
          </p:cNvPr>
          <p:cNvSpPr/>
          <p:nvPr/>
        </p:nvSpPr>
        <p:spPr>
          <a:xfrm>
            <a:off x="8614972" y="4448978"/>
            <a:ext cx="627962" cy="6279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4</a:t>
            </a:r>
            <a:endParaRPr lang="en-CH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12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FB7941FA-5FD3-C470-909D-CA9CC5B39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35E16837-2F5E-11AB-EFC7-085D43D557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1944145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Results: </a:t>
            </a:r>
            <a:r>
              <a:rPr lang="en-US" sz="2800" b="1" dirty="0"/>
              <a:t>plot of average malaria prevalence reduction in LLIN users and non-users by usage and EIR </a:t>
            </a:r>
            <a:r>
              <a:rPr lang="en-US" sz="2800" b="1" dirty="0">
                <a:latin typeface="+mn-lt"/>
              </a:rPr>
              <a:t>– U5s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31A344-E0D5-661A-0FA6-8C864A5D4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78" y="796022"/>
            <a:ext cx="11868760" cy="5683542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B4A6197-3200-6614-1616-049E75369479}"/>
              </a:ext>
            </a:extLst>
          </p:cNvPr>
          <p:cNvSpPr/>
          <p:nvPr/>
        </p:nvSpPr>
        <p:spPr>
          <a:xfrm>
            <a:off x="8534162" y="2487058"/>
            <a:ext cx="627962" cy="6279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1</a:t>
            </a:r>
            <a:endParaRPr lang="en-CH" sz="2800" dirty="0">
              <a:solidFill>
                <a:schemeClr val="tx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008A506-D19C-9669-1186-14C3DD1FCA1A}"/>
              </a:ext>
            </a:extLst>
          </p:cNvPr>
          <p:cNvSpPr/>
          <p:nvPr/>
        </p:nvSpPr>
        <p:spPr>
          <a:xfrm>
            <a:off x="6299811" y="2487059"/>
            <a:ext cx="627962" cy="62796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2</a:t>
            </a:r>
            <a:endParaRPr lang="en-CH" sz="2800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82EF2E7-4511-5E87-94AA-AC1F7AEFEB21}"/>
              </a:ext>
            </a:extLst>
          </p:cNvPr>
          <p:cNvSpPr/>
          <p:nvPr/>
        </p:nvSpPr>
        <p:spPr>
          <a:xfrm>
            <a:off x="6299811" y="4448978"/>
            <a:ext cx="627962" cy="6279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3</a:t>
            </a:r>
            <a:endParaRPr lang="en-CH" sz="2800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D54E654-152C-BB41-B68E-9C824AF44F9C}"/>
              </a:ext>
            </a:extLst>
          </p:cNvPr>
          <p:cNvSpPr/>
          <p:nvPr/>
        </p:nvSpPr>
        <p:spPr>
          <a:xfrm>
            <a:off x="8614972" y="4448978"/>
            <a:ext cx="627962" cy="6279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4</a:t>
            </a:r>
            <a:endParaRPr lang="en-CH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180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DBDC040B-8D0E-0734-4E9E-B386FC037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C84E6BDD-B2B6-E388-7360-8B0735C2B2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927" y="2783136"/>
            <a:ext cx="11944145" cy="745200"/>
          </a:xfrm>
        </p:spPr>
        <p:txBody>
          <a:bodyPr/>
          <a:lstStyle/>
          <a:p>
            <a:pPr algn="ctr"/>
            <a:r>
              <a:rPr lang="en-US" sz="5400" b="1" dirty="0">
                <a:latin typeface="+mn-lt"/>
              </a:rPr>
              <a:t>SMC</a:t>
            </a:r>
          </a:p>
        </p:txBody>
      </p:sp>
    </p:spTree>
    <p:extLst>
      <p:ext uri="{BB962C8B-B14F-4D97-AF65-F5344CB8AC3E}">
        <p14:creationId xmlns:p14="http://schemas.microsoft.com/office/powerpoint/2010/main" val="2434545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E29F3E81-D7D5-D490-3CD7-60A4FC16B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E346ABC4-9390-8AD1-3596-8E6A982EA7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1944145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Results: plot of malaria prevalence in SMC recipients and non-</a:t>
            </a:r>
            <a:r>
              <a:rPr lang="en-US" sz="2800" b="1" dirty="0"/>
              <a:t> recipients</a:t>
            </a:r>
            <a:r>
              <a:rPr lang="en-US" sz="2800" b="1" dirty="0">
                <a:latin typeface="+mn-lt"/>
              </a:rPr>
              <a:t> by coverage and EIR – U5s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B83682-6FA5-DB76-4DCB-56DFDD029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01" y="796022"/>
            <a:ext cx="11925913" cy="563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380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860BA445-5532-6603-BD9B-EDE8BDDE2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723C38C4-E1F7-F82B-E259-9198956259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1944145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Results: plot of average malaria prevalence reduction in SMC recipients and non-</a:t>
            </a:r>
            <a:r>
              <a:rPr lang="en-US" sz="2800" b="1" dirty="0"/>
              <a:t> recipients</a:t>
            </a:r>
            <a:r>
              <a:rPr lang="en-US" sz="2800" b="1" dirty="0">
                <a:latin typeface="+mn-lt"/>
              </a:rPr>
              <a:t> by coverage and EIR – U5s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562187-51CB-47A6-BB21-EE6452556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8" y="796022"/>
            <a:ext cx="11932263" cy="5645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EF830DB-A8FB-8302-1A73-992554242DC7}"/>
              </a:ext>
            </a:extLst>
          </p:cNvPr>
          <p:cNvSpPr/>
          <p:nvPr/>
        </p:nvSpPr>
        <p:spPr>
          <a:xfrm>
            <a:off x="5199961" y="6212862"/>
            <a:ext cx="12669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Coverage</a:t>
            </a:r>
            <a:endParaRPr lang="en-CH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297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A8DEADAC-CBC3-000F-12A0-6965F7B7A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11AAE57D-714F-D6F4-C27D-DC5A528761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1944145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Results: plot of average malaria prevalence reduction in SMC recipients and non-</a:t>
            </a:r>
            <a:r>
              <a:rPr lang="en-US" sz="2800" b="1" dirty="0"/>
              <a:t> recipients</a:t>
            </a:r>
            <a:r>
              <a:rPr lang="en-US" sz="2800" b="1" dirty="0">
                <a:latin typeface="+mn-lt"/>
              </a:rPr>
              <a:t> by coverage and EIR – 0-100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717CA1-98AC-C6AB-AAA1-A24DB8CAD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19" y="916975"/>
            <a:ext cx="11913212" cy="567719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E6F55B3-B18D-A44E-3AB7-0E2F48A03E4C}"/>
              </a:ext>
            </a:extLst>
          </p:cNvPr>
          <p:cNvSpPr/>
          <p:nvPr/>
        </p:nvSpPr>
        <p:spPr>
          <a:xfrm>
            <a:off x="5199961" y="6212862"/>
            <a:ext cx="12669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Coverage</a:t>
            </a:r>
            <a:endParaRPr lang="en-CH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179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3BDAA53D-F192-9FDD-F587-8D66CBF99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E49494C1-6C94-A3CF-00A9-6904D17BA1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48200" y="2683800"/>
            <a:ext cx="5627916" cy="745200"/>
          </a:xfrm>
        </p:spPr>
        <p:txBody>
          <a:bodyPr/>
          <a:lstStyle/>
          <a:p>
            <a:r>
              <a:rPr lang="en-US" b="1" dirty="0">
                <a:latin typeface="+mn-lt"/>
              </a:rPr>
              <a:t>Vaccine</a:t>
            </a:r>
          </a:p>
        </p:txBody>
      </p:sp>
    </p:spTree>
    <p:extLst>
      <p:ext uri="{BB962C8B-B14F-4D97-AF65-F5344CB8AC3E}">
        <p14:creationId xmlns:p14="http://schemas.microsoft.com/office/powerpoint/2010/main" val="3558389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BB6EC6E1-8A6A-6E60-7A0A-CD4993EFF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5CBE6CE1-E732-5C4A-6A00-D3B70B333C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1944145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Results: plot of malaria prevalence in vaccine recipients and non-</a:t>
            </a:r>
            <a:r>
              <a:rPr lang="en-US" sz="2800" b="1" dirty="0"/>
              <a:t> recipients</a:t>
            </a:r>
            <a:r>
              <a:rPr lang="en-US" sz="2800" b="1" dirty="0">
                <a:latin typeface="+mn-lt"/>
              </a:rPr>
              <a:t> by coverage and EIR – (U5)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6B84BC-1D5F-F5B4-96DC-943F7077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35" y="796022"/>
            <a:ext cx="11970365" cy="566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396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B277895F-A76A-170E-39E2-5DC09EF46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7B5732E3-389B-CD3F-29BD-41BC19A44B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1944145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Results: plot of malaria prevalence in vaccine recipients and non-</a:t>
            </a:r>
            <a:r>
              <a:rPr lang="en-US" sz="2800" b="1" dirty="0"/>
              <a:t> recipients</a:t>
            </a:r>
            <a:r>
              <a:rPr lang="en-US" sz="2800" b="1" dirty="0">
                <a:latin typeface="+mn-lt"/>
              </a:rPr>
              <a:t> by coverage and EIR – (U5)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8BBCDF-281A-739D-A1C4-1AB804884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71" y="928224"/>
            <a:ext cx="11868760" cy="56454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B657E2-D5E9-DE20-6B53-E9DB486F6000}"/>
              </a:ext>
            </a:extLst>
          </p:cNvPr>
          <p:cNvSpPr/>
          <p:nvPr/>
        </p:nvSpPr>
        <p:spPr>
          <a:xfrm>
            <a:off x="4957590" y="6431496"/>
            <a:ext cx="1266940" cy="2843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Coverage</a:t>
            </a:r>
            <a:endParaRPr lang="en-CH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597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</Words>
  <Application>Microsoft Office PowerPoint</Application>
  <PresentationFormat>Widescreen</PresentationFormat>
  <Paragraphs>34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Palatino Linotype</vt:lpstr>
      <vt:lpstr>Office Theme</vt:lpstr>
      <vt:lpstr>PowerPoint Presentation</vt:lpstr>
      <vt:lpstr>Results: plot of malaria prevalence in users and non-users by usage and EIR</vt:lpstr>
      <vt:lpstr>Results: plot of average malaria prevalence reduction in users and non-users by usage and EIR</vt:lpstr>
      <vt:lpstr>Results: plot of LLIN usage level at which indirect = direct benefit – (0-100)</vt:lpstr>
      <vt:lpstr>Results: plot of average malaria prevalence reduction in LLIN users and non-users by usage and EIR – (0-100)</vt:lpstr>
      <vt:lpstr>Results: plot of average malaria prevalence reduction in LLIN users and non-users by usage and EIR – U5s</vt:lpstr>
      <vt:lpstr>SMC</vt:lpstr>
      <vt:lpstr>Results: plot of malaria prevalence in SMC recipients and non- recipients by coverage and EIR – U5s</vt:lpstr>
      <vt:lpstr>Results: plot of average malaria prevalence reduction in SMC recipients and non- recipients by coverage and EIR – U5s</vt:lpstr>
      <vt:lpstr>Results: plot of average malaria prevalence reduction in SMC recipients and non- recipients by coverage and EIR – 0-100</vt:lpstr>
      <vt:lpstr>Vaccine</vt:lpstr>
      <vt:lpstr>Results: plot of malaria prevalence in vaccine recipients and non- recipients by coverage and EIR – (U5)</vt:lpstr>
      <vt:lpstr>Results: plot of malaria prevalence in vaccine recipients and non- recipients by coverage and EIR – (U5)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Zenabu Suboi</dc:creator>
  <cp:lastModifiedBy>Zenabu Suboi</cp:lastModifiedBy>
  <cp:revision>2</cp:revision>
  <dcterms:created xsi:type="dcterms:W3CDTF">2025-11-20T09:15:16Z</dcterms:created>
  <dcterms:modified xsi:type="dcterms:W3CDTF">2026-01-12T21:22:35Z</dcterms:modified>
</cp:coreProperties>
</file>