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39"/>
  </p:notesMasterIdLst>
  <p:handoutMasterIdLst>
    <p:handoutMasterId r:id="rId40"/>
  </p:handoutMasterIdLst>
  <p:sldIdLst>
    <p:sldId id="256" r:id="rId5"/>
    <p:sldId id="281" r:id="rId6"/>
    <p:sldId id="335" r:id="rId7"/>
    <p:sldId id="297" r:id="rId8"/>
    <p:sldId id="260" r:id="rId9"/>
    <p:sldId id="298" r:id="rId10"/>
    <p:sldId id="299" r:id="rId11"/>
    <p:sldId id="300" r:id="rId12"/>
    <p:sldId id="301" r:id="rId13"/>
    <p:sldId id="302" r:id="rId14"/>
    <p:sldId id="261" r:id="rId15"/>
    <p:sldId id="330" r:id="rId16"/>
    <p:sldId id="331" r:id="rId17"/>
    <p:sldId id="332" r:id="rId18"/>
    <p:sldId id="333" r:id="rId19"/>
    <p:sldId id="334" r:id="rId20"/>
    <p:sldId id="310" r:id="rId21"/>
    <p:sldId id="312" r:id="rId22"/>
    <p:sldId id="308" r:id="rId23"/>
    <p:sldId id="313" r:id="rId24"/>
    <p:sldId id="309" r:id="rId25"/>
    <p:sldId id="314" r:id="rId26"/>
    <p:sldId id="318" r:id="rId27"/>
    <p:sldId id="317" r:id="rId28"/>
    <p:sldId id="326" r:id="rId29"/>
    <p:sldId id="316" r:id="rId30"/>
    <p:sldId id="315" r:id="rId31"/>
    <p:sldId id="284" r:id="rId32"/>
    <p:sldId id="329" r:id="rId33"/>
    <p:sldId id="322" r:id="rId34"/>
    <p:sldId id="319" r:id="rId35"/>
    <p:sldId id="321" r:id="rId36"/>
    <p:sldId id="327" r:id="rId37"/>
    <p:sldId id="274" r:id="rId3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8FD36E-3C60-2C99-301F-36EA6AA3E3C5}" name="Alain Hollfelder" initials="AH" userId="S::alain.hollfelder@swisstph.ch::7b886240-0284-414e-9833-6243279dc971" providerId="AD"/>
  <p188:author id="{6C6106CC-C68F-40B6-4940-B9EA0864F1FA}" name="Danielle Powell" initials="DP" userId="S::danielle.powell@swisstph.ch::d753a86c-a818-4c36-bfc1-ae2b30c5c7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 varScale="1">
        <p:scale>
          <a:sx n="93" d="100"/>
          <a:sy n="93" d="100"/>
        </p:scale>
        <p:origin x="54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764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D12368-C494-743F-1423-AD3EC7AA07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EF843-F307-B9A5-B8DB-E1EF4D821C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142B0-B91C-4CEB-A596-BAFBF7C16CA8}" type="datetimeFigureOut">
              <a:rPr lang="de-CH" smtClean="0"/>
              <a:t>28.05.2026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41030-F87C-5770-A4C7-C10E887EE5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221A7-46DC-1EC1-D002-C18B441B19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4DF91-C2C3-49A9-AA48-AEB483F0082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4016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84D78-5243-4D95-A46D-1A2BEC34DE8C}" type="datetimeFigureOut">
              <a:rPr lang="de-CH" smtClean="0"/>
              <a:t>28.05.2026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0B76F-E45E-4CE6-9D87-D43A3455C4E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201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66510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western </a:t>
            </a:r>
            <a:r>
              <a:rPr lang="en-US" dirty="0" err="1"/>
              <a:t>kenya</a:t>
            </a:r>
            <a:r>
              <a:rPr lang="en-US" dirty="0"/>
              <a:t>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Modeling evidence – 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Unwin et 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Multi-country DHS analysis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4644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Figure 2 – what fraction of the original burden has been removed in both sub-populations across transmission intensities? – is there a plateau?</a:t>
                </a:r>
              </a:p>
              <a:p>
                <a:endParaRPr lang="en-US" dirty="0"/>
              </a:p>
              <a:p>
                <a:r>
                  <a:rPr lang="en-US" sz="800" b="1" dirty="0"/>
                  <a:t>Overall protection</a:t>
                </a:r>
                <a:r>
                  <a:rPr lang="en-US" sz="800" dirty="0"/>
                  <a:t>: Relative reduction in prevalence among the overall population: </a:t>
                </a:r>
                <a14:m>
                  <m:oMath xmlns:m="http://schemas.openxmlformats.org/officeDocument/2006/math">
                    <m:r>
                      <a:rPr lang="en-CH" sz="800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sz="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𝑃𝑜𝑝𝑢𝑙𝑎𝑡𝑖𝑜𝑛</m:t>
                            </m:r>
                          </m:sub>
                        </m:sSub>
                        <m:d>
                          <m:d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</m:den>
                    </m:f>
                  </m:oMath>
                </a14:m>
                <a:endParaRPr lang="en-CH" sz="8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Figure 2 – what fraction of the original burden has been removed in both sub-populations across transmission intensities? – is there a plateau?</a:t>
                </a:r>
              </a:p>
              <a:p>
                <a:endParaRPr lang="en-US" dirty="0"/>
              </a:p>
              <a:p>
                <a:r>
                  <a:rPr lang="en-US" sz="800" b="1" dirty="0"/>
                  <a:t>Overall protection</a:t>
                </a:r>
                <a:r>
                  <a:rPr lang="en-US" sz="800" dirty="0"/>
                  <a:t>: Relative reduction in prevalence among the overall population: </a:t>
                </a:r>
                <a:r>
                  <a:rPr lang="en-CH" sz="800" i="0">
                    <a:latin typeface="Cambria Math" panose="02040503050406030204" pitchFamily="18" charset="0"/>
                  </a:rPr>
                  <a:t>100∗((〖𝑃𝑓𝑃𝑅〗_(𝑥,𝑏𝑎𝑠𝑒𝑙𝑖𝑛𝑒)−〖𝑃𝑓𝑃𝑅〗_(𝑥,𝑃𝑜𝑝𝑢𝑙𝑎𝑡𝑖𝑜𝑛) (𝑐)))/〖𝑃𝑓𝑃𝑅〗_(𝑥,𝑏𝑎𝑠𝑒𝑙𝑖𝑛𝑒) </a:t>
                </a:r>
                <a:endParaRPr lang="en-CH" sz="8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8441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2240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3, 4, 5 – For any given number of users protected with nets, how many users and non-users were actually protected from infection?</a:t>
            </a:r>
          </a:p>
          <a:p>
            <a:r>
              <a:rPr lang="en-US" dirty="0"/>
              <a:t>- When does community protection compensate for low or moderate coverage?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81656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indicate that more resources are required to achieve comparable non-user benefits with increasing transmission intensity</a:t>
            </a:r>
          </a:p>
          <a:p>
            <a:r>
              <a:rPr lang="en-US" dirty="0"/>
              <a:t>Usage level at which non-users benefit maximally shifts toward high levels with increasing </a:t>
            </a:r>
            <a:r>
              <a:rPr lang="en-US" dirty="0" err="1"/>
              <a:t>PfPR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97076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44547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3E2B-5FE7-B64E-1EB8-B65E87E4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930D7-F4FA-7EF0-4EC6-379EAB2F6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470C7-3020-1D74-C8B3-69D8CAF49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85CA6-E016-8C78-6987-3B0DEB9CB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3014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7D400-4F0A-1C3C-FD0F-50017CF0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E81C6-DE2A-A77E-5601-82E636DA3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14A7F-0092-4C63-CDE3-1AB470B9B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6 – how does the protection from infection in both sub-populations vary under different cost structure assumptions?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F8D06-5667-DD88-B95A-CAA131C87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1047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E69F3-F316-31B6-89F5-289F2290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14538-834B-E8E9-125B-AF59A1079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2810B-1EE1-096E-10B1-0DEC0FED2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45D82-DB74-D94E-3911-584D76F2B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3661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w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B4D81A-F4F7-4028-5B89-F9A7216FB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798" y="0"/>
            <a:ext cx="5143500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6" y="2078032"/>
            <a:ext cx="8243264" cy="493718"/>
          </a:xfr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title</a:t>
            </a:r>
            <a:endParaRPr lang="de-CH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937" y="3126966"/>
            <a:ext cx="8243264" cy="406400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a subtitle</a:t>
            </a:r>
            <a:endParaRPr lang="de-CH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936" y="4073062"/>
            <a:ext cx="4428711" cy="302512"/>
          </a:xfrm>
        </p:spPr>
        <p:txBody>
          <a:bodyPr lIns="0" tIns="0" rIns="0" bIns="0"/>
          <a:lstStyle>
            <a:lvl1pPr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6458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6" y="2078032"/>
            <a:ext cx="8243264" cy="493718"/>
          </a:xfrm>
        </p:spPr>
        <p:txBody>
          <a:bodyPr lIns="0" tIns="0" rIns="0" bIns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endParaRPr lang="de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937" y="3126966"/>
            <a:ext cx="8243264" cy="406400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a subtitle</a:t>
            </a:r>
            <a:endParaRPr lang="de-CH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936" y="4073062"/>
            <a:ext cx="4428711" cy="302512"/>
          </a:xfrm>
        </p:spPr>
        <p:txBody>
          <a:bodyPr lIns="0" tIns="0" rIns="0" bIns="0"/>
          <a:lstStyle>
            <a:lvl1pPr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34926" y="447825"/>
            <a:ext cx="2656138" cy="79400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9846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_Divider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44190B-4DC9-2E28-0BE0-4A1CB062F6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798" y="0"/>
            <a:ext cx="5143500" cy="5143500"/>
          </a:xfrm>
          <a:prstGeom prst="rect">
            <a:avLst/>
          </a:prstGeom>
        </p:spPr>
      </p:pic>
      <p:sp>
        <p:nvSpPr>
          <p:cNvPr id="5" name="Title 10">
            <a:extLst>
              <a:ext uri="{FF2B5EF4-FFF2-40B4-BE49-F238E27FC236}">
                <a16:creationId xmlns:a16="http://schemas.microsoft.com/office/drawing/2014/main" id="{258D4EC0-2AA2-172B-3474-E52D57E35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7" y="752519"/>
            <a:ext cx="5423310" cy="1209020"/>
          </a:xfr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03892-6641-83D0-10BB-64FF2E68C7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25843" y="4496579"/>
            <a:ext cx="1439843" cy="4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8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>
            <a:extLst>
              <a:ext uri="{FF2B5EF4-FFF2-40B4-BE49-F238E27FC236}">
                <a16:creationId xmlns:a16="http://schemas.microsoft.com/office/drawing/2014/main" id="{2EA09857-0CA6-780E-4E27-2143EBE43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79" y="752519"/>
            <a:ext cx="5423310" cy="1209020"/>
          </a:xfrm>
        </p:spPr>
        <p:txBody>
          <a:bodyPr lIns="0" tIns="0" rIns="0" bIns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331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73578" y="915988"/>
            <a:ext cx="8238622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998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35488" y="915988"/>
            <a:ext cx="4176712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2A84D25-DDE2-780F-AF4D-92F765C17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3444" y="915989"/>
            <a:ext cx="3954094" cy="341325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601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734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Text indi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CDB0-C415-9C00-27B3-704F2A1C53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25843" y="4496579"/>
            <a:ext cx="1439843" cy="4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4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87A6D-D2D9-D477-4025-75D9C2DD7E6C}"/>
              </a:ext>
            </a:extLst>
          </p:cNvPr>
          <p:cNvSpPr/>
          <p:nvPr userDrawn="1"/>
        </p:nvSpPr>
        <p:spPr>
          <a:xfrm>
            <a:off x="6059506" y="0"/>
            <a:ext cx="445321" cy="51435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BD5863-132B-9E24-707C-20F5EA092A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05575" y="0"/>
            <a:ext cx="2638425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3102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8238756" cy="49371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2AFDDF-3698-47D2-3627-A45D53AE5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7936"/>
            <a:ext cx="8238622" cy="3241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A6544-18DC-3CD4-6AE5-3F069492CD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3B7C-10DD-D96A-B851-7438B248F9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73C1E11-48D1-B5E8-31F5-9D83FEBB5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4893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3A8296-DAA0-EA4B-0EB4-E3644CDC8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3444" y="915989"/>
            <a:ext cx="3954094" cy="341325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8C33A2A-FF60-B961-6033-B844322601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464" y="915988"/>
            <a:ext cx="3995738" cy="3413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B0E66-B7A9-882D-FDE9-1F3C2A9817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EC3E9-22B3-FBB8-6FA3-90C7A8C0F6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1473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0947-DCF8-097C-DD13-84158B653B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8238756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9ACBA-AB67-B261-0ED3-2067A00B5A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922689"/>
            <a:ext cx="6593764" cy="3412774"/>
          </a:xfrm>
          <a:prstGeom prst="roundRect">
            <a:avLst>
              <a:gd name="adj" fmla="val 0"/>
            </a:avLst>
          </a:prstGeom>
          <a:effectLst>
            <a:softEdge rad="0"/>
          </a:effectLst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40095B-0699-FBE0-2925-1DFD62B632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2588" y="922689"/>
            <a:ext cx="1979612" cy="34127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4D4F0-BB52-2D28-2604-8E591F54E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8B752-A962-8143-25FD-4ADF451E0E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3814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13ED-ED31-BFA1-D374-C723C949E0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2400E9F1-8329-271F-5A8A-782FEA66DC6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9"/>
            <a:ext cx="9143999" cy="341464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D5F3EA-C07A-CE4F-C6F9-7A8C6972B3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DFC50C-2F73-2188-0112-41571673F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5867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C7BF98-D031-7199-3344-9E91340F5B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16463" y="922338"/>
            <a:ext cx="4427538" cy="31559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6A466F9-9A06-768E-B229-561CE4FA2F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721" y="4220810"/>
            <a:ext cx="392981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2333E61-170C-3E12-37E7-4DA427475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8"/>
            <a:ext cx="4427539" cy="3155697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8F9B7B-B1BB-AC22-49DF-2A5EC85A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16463" y="4220810"/>
            <a:ext cx="397252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A8C32-51D8-18CB-9A8B-8801E103273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7FAFB-A9BA-32D1-4589-64FD3BF809E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97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A6DDA9-7BE9-F15A-CF8F-C29988B321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444" y="922338"/>
            <a:ext cx="3944569" cy="3521075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514A1-72FF-F9A8-3580-2295F1341D7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BB4ED-CE4C-A5A2-A846-823B219395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4B4D148E-07FB-04E6-902F-A6A028B4B5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16463" y="922338"/>
            <a:ext cx="4427538" cy="31559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814E36-13EA-F48C-32D9-CE387CBF3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16463" y="4220810"/>
            <a:ext cx="397252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971120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24FFA915-C129-2D51-9359-FED1D7392D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8"/>
            <a:ext cx="2816619" cy="3179973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F3138C-EC75-E351-A419-029A2CC4AAE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3734" y="922689"/>
            <a:ext cx="2816619" cy="317997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16BBD0-D784-74E1-902A-EEEECC3C705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27381" y="922688"/>
            <a:ext cx="2816619" cy="3179971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6DFF9EA-F83D-2A82-D3A4-ACAFE11BE5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7722" y="4220810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7973893-BFCF-629D-BE66-EE5C7E3150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63734" y="4231707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D85CCB9-91F4-9D91-727E-1376EFBD8C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7381" y="4233760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DEA67-EF55-1E23-FBDD-E30600DCC69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24AB2-0A09-492A-5FE4-8CA1EDE241A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0422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Half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E54810-BE73-1D04-5EF6-4D987B2664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2164" y="0"/>
            <a:ext cx="4431836" cy="51435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7936"/>
            <a:ext cx="4061910" cy="3355477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9FC8D6-4E33-D1D1-A26F-555CBFC4F4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4062044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98F3CB-F243-8D8F-E004-9C414535A9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3778037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E55C4-DEB7-3BEF-8134-6B73A6972E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83F5FA1-0965-6354-AB11-058F2079E5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578" y="709830"/>
            <a:ext cx="4061910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55852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Halfpage Pictu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5488" y="915989"/>
            <a:ext cx="4176712" cy="34194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CA922-D6B5-FDBE-32A0-3C44B3ED10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FE2399D-8924-B185-5D32-0198F05CBF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062" y="0"/>
            <a:ext cx="4431836" cy="51435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40A969-D0A9-6427-9590-B56A9CE49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5488" y="273844"/>
            <a:ext cx="4176712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30605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B0D39E-89B4-DA99-4B61-F6ECE18D7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443" y="923153"/>
            <a:ext cx="2520609" cy="3520260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155950" y="915988"/>
            <a:ext cx="5556250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87884-C944-5102-98EA-C08242B56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363D9-340F-C445-0A7F-E06D418067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7745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73442" y="915988"/>
            <a:ext cx="8238756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1864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73442" y="915988"/>
            <a:ext cx="3863889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EECB708F-E472-2D2A-7929-5EAE022CC17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834893" y="915988"/>
            <a:ext cx="3863889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072371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red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3353C7-BB70-EFB0-958E-885B405D5A24}"/>
              </a:ext>
            </a:extLst>
          </p:cNvPr>
          <p:cNvSpPr/>
          <p:nvPr userDrawn="1"/>
        </p:nvSpPr>
        <p:spPr>
          <a:xfrm>
            <a:off x="4756816" y="904874"/>
            <a:ext cx="3965142" cy="34194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B08AE-5B25-43E9-697E-63AD96A0C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FC5528-0561-DC8B-6842-DEF3940C5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9917F-9BB4-1BC3-B624-88CB7F03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AAD22-3F8B-E460-BDA0-48C87E1F52E9}"/>
              </a:ext>
            </a:extLst>
          </p:cNvPr>
          <p:cNvSpPr/>
          <p:nvPr userDrawn="1"/>
        </p:nvSpPr>
        <p:spPr>
          <a:xfrm>
            <a:off x="468314" y="915988"/>
            <a:ext cx="3965142" cy="34194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1595B8-58A3-B211-A78D-D5474FCE12AE}"/>
              </a:ext>
            </a:extLst>
          </p:cNvPr>
          <p:cNvCxnSpPr>
            <a:cxnSpLocks/>
          </p:cNvCxnSpPr>
          <p:nvPr userDrawn="1"/>
        </p:nvCxnSpPr>
        <p:spPr>
          <a:xfrm>
            <a:off x="4772530" y="904874"/>
            <a:ext cx="0" cy="34401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319AE-BE18-DADE-CFED-D8BFB8C45C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84" y="1001806"/>
            <a:ext cx="3671815" cy="3274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B0D24D-A5E4-132E-326B-76473F38EBD6}"/>
              </a:ext>
            </a:extLst>
          </p:cNvPr>
          <p:cNvCxnSpPr>
            <a:cxnSpLocks/>
          </p:cNvCxnSpPr>
          <p:nvPr userDrawn="1"/>
        </p:nvCxnSpPr>
        <p:spPr>
          <a:xfrm>
            <a:off x="484027" y="904874"/>
            <a:ext cx="0" cy="34401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44AF0F4-09E2-63AA-C806-ACE36889E3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44372" y="1001806"/>
            <a:ext cx="3671815" cy="3274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77976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s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31B87F-D6EB-EDFE-9616-EEE61432631F}"/>
              </a:ext>
            </a:extLst>
          </p:cNvPr>
          <p:cNvSpPr/>
          <p:nvPr userDrawn="1"/>
        </p:nvSpPr>
        <p:spPr>
          <a:xfrm>
            <a:off x="0" y="0"/>
            <a:ext cx="3138055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F3CFC-3397-C570-15CD-38BDDD90E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3" y="706439"/>
            <a:ext cx="2316451" cy="11963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53CB8-3F26-F854-5DB5-E648EDDBA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A3962-2304-ED01-335C-C94A8250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898640-EC61-03CA-C6EA-4D493D5CB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4537075" cy="1004887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98BA07-508D-3620-7892-53D3C12E5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9513" y="2005228"/>
            <a:ext cx="4537075" cy="100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F3B46BB-68B9-55AB-DED7-20E7736D77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513" y="3304018"/>
            <a:ext cx="4537075" cy="100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8A3BCD-2D9B-A38E-AEDD-3A81E3534B63}"/>
              </a:ext>
            </a:extLst>
          </p:cNvPr>
          <p:cNvCxnSpPr>
            <a:cxnSpLocks/>
          </p:cNvCxnSpPr>
          <p:nvPr userDrawn="1"/>
        </p:nvCxnSpPr>
        <p:spPr>
          <a:xfrm>
            <a:off x="3629459" y="686881"/>
            <a:ext cx="0" cy="104400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930FEE-CE76-24EB-785D-7FA05359EFF2}"/>
              </a:ext>
            </a:extLst>
          </p:cNvPr>
          <p:cNvCxnSpPr>
            <a:cxnSpLocks/>
          </p:cNvCxnSpPr>
          <p:nvPr userDrawn="1"/>
        </p:nvCxnSpPr>
        <p:spPr>
          <a:xfrm>
            <a:off x="3629459" y="1985671"/>
            <a:ext cx="0" cy="1044000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F0AAA4-E3F0-0261-6D3C-B5D9430533CA}"/>
              </a:ext>
            </a:extLst>
          </p:cNvPr>
          <p:cNvCxnSpPr>
            <a:cxnSpLocks/>
          </p:cNvCxnSpPr>
          <p:nvPr userDrawn="1"/>
        </p:nvCxnSpPr>
        <p:spPr>
          <a:xfrm>
            <a:off x="3629459" y="3284461"/>
            <a:ext cx="0" cy="1044000"/>
          </a:xfrm>
          <a:prstGeom prst="line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203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ored Tex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B8F8-1379-2E6C-FF2A-E4C3C8AFB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54153-A7A7-35B0-970F-73A76C5B2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3B0B9-0363-A225-6B3E-CC4DB2EC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7E0682-A2BC-60AC-AB25-B66C56A9BC57}"/>
              </a:ext>
            </a:extLst>
          </p:cNvPr>
          <p:cNvSpPr/>
          <p:nvPr userDrawn="1"/>
        </p:nvSpPr>
        <p:spPr>
          <a:xfrm>
            <a:off x="473444" y="915988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F340E-E584-01B3-B27B-5CC6CB446E3D}"/>
              </a:ext>
            </a:extLst>
          </p:cNvPr>
          <p:cNvSpPr/>
          <p:nvPr userDrawn="1"/>
        </p:nvSpPr>
        <p:spPr>
          <a:xfrm>
            <a:off x="468313" y="2750706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B78F2A-B3C9-C05C-CB05-8345F4DF651B}"/>
              </a:ext>
            </a:extLst>
          </p:cNvPr>
          <p:cNvSpPr/>
          <p:nvPr userDrawn="1"/>
        </p:nvSpPr>
        <p:spPr>
          <a:xfrm>
            <a:off x="4706007" y="915988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05DE6E-CF65-53C8-2623-55AA8BA31AA7}"/>
              </a:ext>
            </a:extLst>
          </p:cNvPr>
          <p:cNvSpPr/>
          <p:nvPr userDrawn="1"/>
        </p:nvSpPr>
        <p:spPr>
          <a:xfrm>
            <a:off x="4706007" y="2750704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3D9F00-3690-8830-416B-CDEC1AA2FF3B}"/>
              </a:ext>
            </a:extLst>
          </p:cNvPr>
          <p:cNvCxnSpPr/>
          <p:nvPr userDrawn="1"/>
        </p:nvCxnSpPr>
        <p:spPr>
          <a:xfrm>
            <a:off x="468313" y="915988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AB629F-4098-24B4-BFE9-F259C8ADDFD1}"/>
              </a:ext>
            </a:extLst>
          </p:cNvPr>
          <p:cNvCxnSpPr/>
          <p:nvPr userDrawn="1"/>
        </p:nvCxnSpPr>
        <p:spPr>
          <a:xfrm>
            <a:off x="468313" y="2750704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8DAAB2-3E22-3865-FF8E-164D648EA46B}"/>
              </a:ext>
            </a:extLst>
          </p:cNvPr>
          <p:cNvCxnSpPr/>
          <p:nvPr userDrawn="1"/>
        </p:nvCxnSpPr>
        <p:spPr>
          <a:xfrm>
            <a:off x="4706007" y="915988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C1E4B7-91F9-70B7-FD63-980336DB9689}"/>
              </a:ext>
            </a:extLst>
          </p:cNvPr>
          <p:cNvCxnSpPr/>
          <p:nvPr userDrawn="1"/>
        </p:nvCxnSpPr>
        <p:spPr>
          <a:xfrm>
            <a:off x="4706007" y="2750702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FB079DC-8BB0-65B7-AE1A-F8F1A77A28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84" y="1017519"/>
            <a:ext cx="3602543" cy="1410456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5F3AEAE-BD58-FD15-030D-6A3EE2364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69873" y="1017519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8AB4EDA8-C71E-2174-3085-FDC7848647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1583" y="2837852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78AB8E-79BF-8432-4D99-5A4788438C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9873" y="2848003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225496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BB44-F435-7C5D-7CDE-02C1B041D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5CA3D-CEBD-4CDF-E493-BB3FC2E50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5EDCE-2F15-A315-EAA6-7DDF3034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0A2EE4A3-DD96-7DCA-2BCE-D83BCC01D7FA}"/>
              </a:ext>
            </a:extLst>
          </p:cNvPr>
          <p:cNvSpPr/>
          <p:nvPr userDrawn="1"/>
        </p:nvSpPr>
        <p:spPr>
          <a:xfrm>
            <a:off x="4857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 dirty="0"/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76D37D87-F8E5-7902-0908-E837E8E0B7E6}"/>
              </a:ext>
            </a:extLst>
          </p:cNvPr>
          <p:cNvSpPr/>
          <p:nvPr userDrawn="1"/>
        </p:nvSpPr>
        <p:spPr>
          <a:xfrm>
            <a:off x="473444" y="915988"/>
            <a:ext cx="69481" cy="3370262"/>
          </a:xfrm>
          <a:prstGeom prst="rect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 dirty="0"/>
          </a:p>
        </p:txBody>
      </p:sp>
      <p:sp>
        <p:nvSpPr>
          <p:cNvPr id="7" name="Rectangle: Rounded Corners 7">
            <a:extLst>
              <a:ext uri="{FF2B5EF4-FFF2-40B4-BE49-F238E27FC236}">
                <a16:creationId xmlns:a16="http://schemas.microsoft.com/office/drawing/2014/main" id="{73D55287-7CE8-372E-376E-2877E46082E5}"/>
              </a:ext>
            </a:extLst>
          </p:cNvPr>
          <p:cNvSpPr/>
          <p:nvPr userDrawn="1"/>
        </p:nvSpPr>
        <p:spPr>
          <a:xfrm>
            <a:off x="32289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A4B7E36A-9B92-16BD-7CB3-2A106618EE33}"/>
              </a:ext>
            </a:extLst>
          </p:cNvPr>
          <p:cNvSpPr/>
          <p:nvPr userDrawn="1"/>
        </p:nvSpPr>
        <p:spPr>
          <a:xfrm>
            <a:off x="3227387" y="915988"/>
            <a:ext cx="58738" cy="3370262"/>
          </a:xfrm>
          <a:prstGeom prst="rect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B798DE3C-DC37-23A7-A7CC-DDAFF916EB26}"/>
              </a:ext>
            </a:extLst>
          </p:cNvPr>
          <p:cNvSpPr/>
          <p:nvPr userDrawn="1"/>
        </p:nvSpPr>
        <p:spPr>
          <a:xfrm>
            <a:off x="59721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0" name="Rectangle: Rounded Corners 12">
            <a:extLst>
              <a:ext uri="{FF2B5EF4-FFF2-40B4-BE49-F238E27FC236}">
                <a16:creationId xmlns:a16="http://schemas.microsoft.com/office/drawing/2014/main" id="{4C7C1F9A-4756-79FD-40DE-6A5608BFC3E8}"/>
              </a:ext>
            </a:extLst>
          </p:cNvPr>
          <p:cNvSpPr/>
          <p:nvPr userDrawn="1"/>
        </p:nvSpPr>
        <p:spPr>
          <a:xfrm>
            <a:off x="5972175" y="915988"/>
            <a:ext cx="57150" cy="3370262"/>
          </a:xfrm>
          <a:prstGeom prst="rect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FD0970-113A-3988-6DB8-073AC7A28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13" y="1035083"/>
            <a:ext cx="2273300" cy="313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3ED4C84-4F4E-8928-F931-9EF23523C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8200" y="1035084"/>
            <a:ext cx="2273300" cy="3135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812056F-9A3A-3BF3-673E-57EEEFC6FC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9187" y="1035084"/>
            <a:ext cx="2273300" cy="313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88595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C3F2323D-F148-D56F-19D4-FCBB34F56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8646" y="1966115"/>
            <a:ext cx="940169" cy="94016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6" name="Oval 6">
            <a:extLst>
              <a:ext uri="{FF2B5EF4-FFF2-40B4-BE49-F238E27FC236}">
                <a16:creationId xmlns:a16="http://schemas.microsoft.com/office/drawing/2014/main" id="{DB4E3B2C-16B3-2F7C-4423-03D625EC60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1280" y="1966115"/>
            <a:ext cx="941444" cy="94016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E9CEFFE1-1FAD-7A6D-B6D7-C07DEFCFB2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15189" y="1966115"/>
            <a:ext cx="940169" cy="9401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8" name="Oval 8">
            <a:extLst>
              <a:ext uri="{FF2B5EF4-FFF2-40B4-BE49-F238E27FC236}">
                <a16:creationId xmlns:a16="http://schemas.microsoft.com/office/drawing/2014/main" id="{E17FDB97-37B8-99D8-D44B-C7593BB4EF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44963" y="2654977"/>
            <a:ext cx="940169" cy="9414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A87770F1-E658-290C-8E77-142E774F12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58872" y="2654977"/>
            <a:ext cx="940169" cy="94144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57A3D1B2-62D6-3E6B-E793-DD0D2BF1C3C8}"/>
              </a:ext>
            </a:extLst>
          </p:cNvPr>
          <p:cNvSpPr>
            <a:spLocks/>
          </p:cNvSpPr>
          <p:nvPr userDrawn="1"/>
        </p:nvSpPr>
        <p:spPr bwMode="auto">
          <a:xfrm>
            <a:off x="0" y="1649749"/>
            <a:ext cx="9144000" cy="2261763"/>
          </a:xfrm>
          <a:custGeom>
            <a:avLst/>
            <a:gdLst>
              <a:gd name="T0" fmla="*/ 0 w 7680"/>
              <a:gd name="T1" fmla="*/ 654 h 1897"/>
              <a:gd name="T2" fmla="*/ 571 w 7680"/>
              <a:gd name="T3" fmla="*/ 654 h 1897"/>
              <a:gd name="T4" fmla="*/ 571 w 7680"/>
              <a:gd name="T5" fmla="*/ 654 h 1897"/>
              <a:gd name="T6" fmla="*/ 1225 w 7680"/>
              <a:gd name="T7" fmla="*/ 0 h 1897"/>
              <a:gd name="T8" fmla="*/ 1225 w 7680"/>
              <a:gd name="T9" fmla="*/ 0 h 1897"/>
              <a:gd name="T10" fmla="*/ 1879 w 7680"/>
              <a:gd name="T11" fmla="*/ 654 h 1897"/>
              <a:gd name="T12" fmla="*/ 1879 w 7680"/>
              <a:gd name="T13" fmla="*/ 1243 h 1897"/>
              <a:gd name="T14" fmla="*/ 2532 w 7680"/>
              <a:gd name="T15" fmla="*/ 1897 h 1897"/>
              <a:gd name="T16" fmla="*/ 2532 w 7680"/>
              <a:gd name="T17" fmla="*/ 1897 h 1897"/>
              <a:gd name="T18" fmla="*/ 3186 w 7680"/>
              <a:gd name="T19" fmla="*/ 1243 h 1897"/>
              <a:gd name="T20" fmla="*/ 3186 w 7680"/>
              <a:gd name="T21" fmla="*/ 654 h 1897"/>
              <a:gd name="T22" fmla="*/ 3840 w 7680"/>
              <a:gd name="T23" fmla="*/ 0 h 1897"/>
              <a:gd name="T24" fmla="*/ 3840 w 7680"/>
              <a:gd name="T25" fmla="*/ 0 h 1897"/>
              <a:gd name="T26" fmla="*/ 4494 w 7680"/>
              <a:gd name="T27" fmla="*/ 654 h 1897"/>
              <a:gd name="T28" fmla="*/ 4494 w 7680"/>
              <a:gd name="T29" fmla="*/ 1243 h 1897"/>
              <a:gd name="T30" fmla="*/ 5148 w 7680"/>
              <a:gd name="T31" fmla="*/ 1897 h 1897"/>
              <a:gd name="T32" fmla="*/ 5148 w 7680"/>
              <a:gd name="T33" fmla="*/ 1897 h 1897"/>
              <a:gd name="T34" fmla="*/ 5801 w 7680"/>
              <a:gd name="T35" fmla="*/ 1243 h 1897"/>
              <a:gd name="T36" fmla="*/ 5801 w 7680"/>
              <a:gd name="T37" fmla="*/ 654 h 1897"/>
              <a:gd name="T38" fmla="*/ 6455 w 7680"/>
              <a:gd name="T39" fmla="*/ 0 h 1897"/>
              <a:gd name="T40" fmla="*/ 6455 w 7680"/>
              <a:gd name="T41" fmla="*/ 0 h 1897"/>
              <a:gd name="T42" fmla="*/ 7109 w 7680"/>
              <a:gd name="T43" fmla="*/ 654 h 1897"/>
              <a:gd name="T44" fmla="*/ 7109 w 7680"/>
              <a:gd name="T45" fmla="*/ 654 h 1897"/>
              <a:gd name="T46" fmla="*/ 7680 w 7680"/>
              <a:gd name="T47" fmla="*/ 654 h 18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680" h="1897">
                <a:moveTo>
                  <a:pt x="0" y="654"/>
                </a:moveTo>
                <a:cubicBezTo>
                  <a:pt x="571" y="654"/>
                  <a:pt x="571" y="654"/>
                  <a:pt x="571" y="654"/>
                </a:cubicBezTo>
                <a:cubicBezTo>
                  <a:pt x="571" y="654"/>
                  <a:pt x="571" y="654"/>
                  <a:pt x="571" y="654"/>
                </a:cubicBezTo>
                <a:cubicBezTo>
                  <a:pt x="571" y="293"/>
                  <a:pt x="864" y="0"/>
                  <a:pt x="1225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586" y="0"/>
                  <a:pt x="1879" y="293"/>
                  <a:pt x="1879" y="654"/>
                </a:cubicBezTo>
                <a:cubicBezTo>
                  <a:pt x="1879" y="1243"/>
                  <a:pt x="1879" y="1243"/>
                  <a:pt x="1879" y="1243"/>
                </a:cubicBezTo>
                <a:cubicBezTo>
                  <a:pt x="1879" y="1604"/>
                  <a:pt x="2171" y="1897"/>
                  <a:pt x="2532" y="1897"/>
                </a:cubicBezTo>
                <a:cubicBezTo>
                  <a:pt x="2532" y="1897"/>
                  <a:pt x="2532" y="1897"/>
                  <a:pt x="2532" y="1897"/>
                </a:cubicBezTo>
                <a:cubicBezTo>
                  <a:pt x="2894" y="1897"/>
                  <a:pt x="3186" y="1604"/>
                  <a:pt x="3186" y="1243"/>
                </a:cubicBezTo>
                <a:cubicBezTo>
                  <a:pt x="3186" y="654"/>
                  <a:pt x="3186" y="654"/>
                  <a:pt x="3186" y="654"/>
                </a:cubicBezTo>
                <a:cubicBezTo>
                  <a:pt x="3186" y="293"/>
                  <a:pt x="3479" y="0"/>
                  <a:pt x="3840" y="0"/>
                </a:cubicBezTo>
                <a:cubicBezTo>
                  <a:pt x="3840" y="0"/>
                  <a:pt x="3840" y="0"/>
                  <a:pt x="3840" y="0"/>
                </a:cubicBezTo>
                <a:cubicBezTo>
                  <a:pt x="4201" y="0"/>
                  <a:pt x="4494" y="293"/>
                  <a:pt x="4494" y="654"/>
                </a:cubicBezTo>
                <a:cubicBezTo>
                  <a:pt x="4494" y="1243"/>
                  <a:pt x="4494" y="1243"/>
                  <a:pt x="4494" y="1243"/>
                </a:cubicBezTo>
                <a:cubicBezTo>
                  <a:pt x="4494" y="1604"/>
                  <a:pt x="4786" y="1897"/>
                  <a:pt x="5148" y="1897"/>
                </a:cubicBezTo>
                <a:cubicBezTo>
                  <a:pt x="5148" y="1897"/>
                  <a:pt x="5148" y="1897"/>
                  <a:pt x="5148" y="1897"/>
                </a:cubicBezTo>
                <a:cubicBezTo>
                  <a:pt x="5509" y="1897"/>
                  <a:pt x="5801" y="1604"/>
                  <a:pt x="5801" y="1243"/>
                </a:cubicBezTo>
                <a:cubicBezTo>
                  <a:pt x="5801" y="654"/>
                  <a:pt x="5801" y="654"/>
                  <a:pt x="5801" y="654"/>
                </a:cubicBezTo>
                <a:cubicBezTo>
                  <a:pt x="5801" y="293"/>
                  <a:pt x="6094" y="0"/>
                  <a:pt x="6455" y="0"/>
                </a:cubicBezTo>
                <a:cubicBezTo>
                  <a:pt x="6455" y="0"/>
                  <a:pt x="6455" y="0"/>
                  <a:pt x="6455" y="0"/>
                </a:cubicBezTo>
                <a:cubicBezTo>
                  <a:pt x="6816" y="0"/>
                  <a:pt x="7109" y="293"/>
                  <a:pt x="7109" y="654"/>
                </a:cubicBezTo>
                <a:cubicBezTo>
                  <a:pt x="7109" y="654"/>
                  <a:pt x="7109" y="654"/>
                  <a:pt x="7109" y="654"/>
                </a:cubicBezTo>
                <a:cubicBezTo>
                  <a:pt x="7680" y="654"/>
                  <a:pt x="7680" y="654"/>
                  <a:pt x="7680" y="654"/>
                </a:cubicBezTo>
              </a:path>
            </a:pathLst>
          </a:custGeom>
          <a:noFill/>
          <a:ln w="317500" cap="flat">
            <a:solidFill>
              <a:schemeClr val="tx2">
                <a:lumMod val="10000"/>
                <a:lumOff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E51E402-F3F4-35F5-DC54-AB59D05D1DBD}"/>
              </a:ext>
            </a:extLst>
          </p:cNvPr>
          <p:cNvCxnSpPr/>
          <p:nvPr userDrawn="1"/>
        </p:nvCxnSpPr>
        <p:spPr>
          <a:xfrm>
            <a:off x="1450904" y="2790297"/>
            <a:ext cx="0" cy="570216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4EE6C8-0997-66D9-B8B7-D1DBF03A2E41}"/>
              </a:ext>
            </a:extLst>
          </p:cNvPr>
          <p:cNvCxnSpPr/>
          <p:nvPr userDrawn="1"/>
        </p:nvCxnSpPr>
        <p:spPr>
          <a:xfrm>
            <a:off x="3015046" y="2175935"/>
            <a:ext cx="0" cy="570216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F60135-14EE-6AFE-DE95-08124B86F065}"/>
              </a:ext>
            </a:extLst>
          </p:cNvPr>
          <p:cNvCxnSpPr>
            <a:cxnSpLocks/>
            <a:stCxn id="36" idx="4"/>
          </p:cNvCxnSpPr>
          <p:nvPr userDrawn="1"/>
        </p:nvCxnSpPr>
        <p:spPr>
          <a:xfrm flipH="1">
            <a:off x="4572000" y="2906284"/>
            <a:ext cx="2" cy="454229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506401-AE38-17F5-FB10-2F71DF311722}"/>
              </a:ext>
            </a:extLst>
          </p:cNvPr>
          <p:cNvCxnSpPr>
            <a:cxnSpLocks/>
            <a:endCxn id="39" idx="0"/>
          </p:cNvCxnSpPr>
          <p:nvPr userDrawn="1"/>
        </p:nvCxnSpPr>
        <p:spPr>
          <a:xfrm>
            <a:off x="6128955" y="2175935"/>
            <a:ext cx="2" cy="479042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4D0D3F-6DA4-53D3-9F5C-80F156868508}"/>
              </a:ext>
            </a:extLst>
          </p:cNvPr>
          <p:cNvCxnSpPr>
            <a:cxnSpLocks/>
            <a:stCxn id="37" idx="4"/>
          </p:cNvCxnSpPr>
          <p:nvPr userDrawn="1"/>
        </p:nvCxnSpPr>
        <p:spPr>
          <a:xfrm flipH="1">
            <a:off x="7685272" y="2906284"/>
            <a:ext cx="2" cy="454229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7431" y="3453351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088" y="3851275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3" name="Text Placeholder 46">
            <a:extLst>
              <a:ext uri="{FF2B5EF4-FFF2-40B4-BE49-F238E27FC236}">
                <a16:creationId xmlns:a16="http://schemas.microsoft.com/office/drawing/2014/main" id="{6CC2C5F4-8354-E703-67D7-D4FEF72112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91503" y="919873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5C3F4F6E-CAFF-1E8E-EB8F-3757FBEAE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91160" y="1317797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56202" y="3453351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55859" y="3851275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05410" y="939340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05067" y="1337264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84973" y="3448529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84630" y="3846453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234844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90658" y="1014940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90315" y="1412864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2883" y="3083731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2540" y="3481655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79743" y="1153364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79400" y="1551288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56165" y="3063209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55822" y="3461133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0765D4C-9B19-CCEA-F740-AD6D5B5AD14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200396" y="1114317"/>
            <a:ext cx="4893463" cy="3035791"/>
          </a:xfrm>
          <a:custGeom>
            <a:avLst/>
            <a:gdLst>
              <a:gd name="T0" fmla="*/ 3262 w 4022"/>
              <a:gd name="T1" fmla="*/ 636 h 2595"/>
              <a:gd name="T2" fmla="*/ 3275 w 4022"/>
              <a:gd name="T3" fmla="*/ 797 h 2595"/>
              <a:gd name="T4" fmla="*/ 2709 w 4022"/>
              <a:gd name="T5" fmla="*/ 1703 h 2595"/>
              <a:gd name="T6" fmla="*/ 2577 w 4022"/>
              <a:gd name="T7" fmla="*/ 1770 h 2595"/>
              <a:gd name="T8" fmla="*/ 2565 w 4022"/>
              <a:gd name="T9" fmla="*/ 1769 h 2595"/>
              <a:gd name="T10" fmla="*/ 2544 w 4022"/>
              <a:gd name="T11" fmla="*/ 1768 h 2595"/>
              <a:gd name="T12" fmla="*/ 2529 w 4022"/>
              <a:gd name="T13" fmla="*/ 1769 h 2595"/>
              <a:gd name="T14" fmla="*/ 2507 w 4022"/>
              <a:gd name="T15" fmla="*/ 1770 h 2595"/>
              <a:gd name="T16" fmla="*/ 2494 w 4022"/>
              <a:gd name="T17" fmla="*/ 1771 h 2595"/>
              <a:gd name="T18" fmla="*/ 2469 w 4022"/>
              <a:gd name="T19" fmla="*/ 1773 h 2595"/>
              <a:gd name="T20" fmla="*/ 1803 w 4022"/>
              <a:gd name="T21" fmla="*/ 846 h 2595"/>
              <a:gd name="T22" fmla="*/ 1803 w 4022"/>
              <a:gd name="T23" fmla="*/ 669 h 2595"/>
              <a:gd name="T24" fmla="*/ 1803 w 4022"/>
              <a:gd name="T25" fmla="*/ 669 h 2595"/>
              <a:gd name="T26" fmla="*/ 1811 w 4022"/>
              <a:gd name="T27" fmla="*/ 657 h 2595"/>
              <a:gd name="T28" fmla="*/ 1478 w 4022"/>
              <a:gd name="T29" fmla="*/ 0 h 2595"/>
              <a:gd name="T30" fmla="*/ 1138 w 4022"/>
              <a:gd name="T31" fmla="*/ 647 h 2595"/>
              <a:gd name="T32" fmla="*/ 1129 w 4022"/>
              <a:gd name="T33" fmla="*/ 822 h 2595"/>
              <a:gd name="T34" fmla="*/ 450 w 4022"/>
              <a:gd name="T35" fmla="*/ 1770 h 2595"/>
              <a:gd name="T36" fmla="*/ 413 w 4022"/>
              <a:gd name="T37" fmla="*/ 1768 h 2595"/>
              <a:gd name="T38" fmla="*/ 826 w 4022"/>
              <a:gd name="T39" fmla="*/ 2182 h 2595"/>
              <a:gd name="T40" fmla="*/ 710 w 4022"/>
              <a:gd name="T41" fmla="*/ 1838 h 2595"/>
              <a:gd name="T42" fmla="*/ 1271 w 4022"/>
              <a:gd name="T43" fmla="*/ 897 h 2595"/>
              <a:gd name="T44" fmla="*/ 1419 w 4022"/>
              <a:gd name="T45" fmla="*/ 822 h 2595"/>
              <a:gd name="T46" fmla="*/ 1499 w 4022"/>
              <a:gd name="T47" fmla="*/ 826 h 2595"/>
              <a:gd name="T48" fmla="*/ 1511 w 4022"/>
              <a:gd name="T49" fmla="*/ 825 h 2595"/>
              <a:gd name="T50" fmla="*/ 1643 w 4022"/>
              <a:gd name="T51" fmla="*/ 891 h 2595"/>
              <a:gd name="T52" fmla="*/ 2209 w 4022"/>
              <a:gd name="T53" fmla="*/ 1797 h 2595"/>
              <a:gd name="T54" fmla="*/ 2189 w 4022"/>
              <a:gd name="T55" fmla="*/ 1970 h 2595"/>
              <a:gd name="T56" fmla="*/ 2181 w 4022"/>
              <a:gd name="T57" fmla="*/ 1983 h 2595"/>
              <a:gd name="T58" fmla="*/ 2169 w 4022"/>
              <a:gd name="T59" fmla="*/ 2008 h 2595"/>
              <a:gd name="T60" fmla="*/ 2162 w 4022"/>
              <a:gd name="T61" fmla="*/ 2023 h 2595"/>
              <a:gd name="T62" fmla="*/ 2148 w 4022"/>
              <a:gd name="T63" fmla="*/ 2062 h 2595"/>
              <a:gd name="T64" fmla="*/ 2144 w 4022"/>
              <a:gd name="T65" fmla="*/ 2078 h 2595"/>
              <a:gd name="T66" fmla="*/ 2138 w 4022"/>
              <a:gd name="T67" fmla="*/ 2105 h 2595"/>
              <a:gd name="T68" fmla="*/ 2135 w 4022"/>
              <a:gd name="T69" fmla="*/ 2123 h 2595"/>
              <a:gd name="T70" fmla="*/ 2132 w 4022"/>
              <a:gd name="T71" fmla="*/ 2151 h 2595"/>
              <a:gd name="T72" fmla="*/ 2131 w 4022"/>
              <a:gd name="T73" fmla="*/ 2168 h 2595"/>
              <a:gd name="T74" fmla="*/ 2196 w 4022"/>
              <a:gd name="T75" fmla="*/ 2404 h 2595"/>
              <a:gd name="T76" fmla="*/ 2305 w 4022"/>
              <a:gd name="T77" fmla="*/ 2519 h 2595"/>
              <a:gd name="T78" fmla="*/ 2544 w 4022"/>
              <a:gd name="T79" fmla="*/ 2595 h 2595"/>
              <a:gd name="T80" fmla="*/ 2957 w 4022"/>
              <a:gd name="T81" fmla="*/ 2182 h 2595"/>
              <a:gd name="T82" fmla="*/ 2956 w 4022"/>
              <a:gd name="T83" fmla="*/ 2148 h 2595"/>
              <a:gd name="T84" fmla="*/ 2954 w 4022"/>
              <a:gd name="T85" fmla="*/ 2130 h 2595"/>
              <a:gd name="T86" fmla="*/ 2945 w 4022"/>
              <a:gd name="T87" fmla="*/ 2083 h 2595"/>
              <a:gd name="T88" fmla="*/ 2940 w 4022"/>
              <a:gd name="T89" fmla="*/ 2065 h 2595"/>
              <a:gd name="T90" fmla="*/ 2931 w 4022"/>
              <a:gd name="T91" fmla="*/ 2036 h 2595"/>
              <a:gd name="T92" fmla="*/ 2918 w 4022"/>
              <a:gd name="T93" fmla="*/ 2005 h 2595"/>
              <a:gd name="T94" fmla="*/ 2895 w 4022"/>
              <a:gd name="T95" fmla="*/ 1964 h 2595"/>
              <a:gd name="T96" fmla="*/ 2877 w 4022"/>
              <a:gd name="T97" fmla="*/ 1937 h 2595"/>
              <a:gd name="T98" fmla="*/ 2868 w 4022"/>
              <a:gd name="T99" fmla="*/ 1926 h 2595"/>
              <a:gd name="T100" fmla="*/ 2869 w 4022"/>
              <a:gd name="T101" fmla="*/ 1749 h 2595"/>
              <a:gd name="T102" fmla="*/ 3534 w 4022"/>
              <a:gd name="T103" fmla="*/ 821 h 2595"/>
              <a:gd name="T104" fmla="*/ 3609 w 4022"/>
              <a:gd name="T105" fmla="*/ 826 h 2595"/>
              <a:gd name="T106" fmla="*/ 1592 w 4022"/>
              <a:gd name="T107" fmla="*/ 810 h 2595"/>
              <a:gd name="T108" fmla="*/ 1735 w 4022"/>
              <a:gd name="T109" fmla="*/ 737 h 2595"/>
              <a:gd name="T110" fmla="*/ 1735 w 4022"/>
              <a:gd name="T111" fmla="*/ 737 h 2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022" h="2595">
                <a:moveTo>
                  <a:pt x="3609" y="0"/>
                </a:moveTo>
                <a:cubicBezTo>
                  <a:pt x="3381" y="0"/>
                  <a:pt x="3196" y="185"/>
                  <a:pt x="3196" y="413"/>
                </a:cubicBezTo>
                <a:cubicBezTo>
                  <a:pt x="3196" y="495"/>
                  <a:pt x="3220" y="572"/>
                  <a:pt x="3262" y="636"/>
                </a:cubicBezTo>
                <a:cubicBezTo>
                  <a:pt x="3264" y="640"/>
                  <a:pt x="3266" y="644"/>
                  <a:pt x="3269" y="647"/>
                </a:cubicBezTo>
                <a:cubicBezTo>
                  <a:pt x="3283" y="671"/>
                  <a:pt x="3291" y="698"/>
                  <a:pt x="3291" y="727"/>
                </a:cubicBezTo>
                <a:cubicBezTo>
                  <a:pt x="3291" y="753"/>
                  <a:pt x="3285" y="776"/>
                  <a:pt x="3275" y="797"/>
                </a:cubicBezTo>
                <a:cubicBezTo>
                  <a:pt x="3259" y="822"/>
                  <a:pt x="3259" y="822"/>
                  <a:pt x="3259" y="822"/>
                </a:cubicBezTo>
                <a:cubicBezTo>
                  <a:pt x="2717" y="1690"/>
                  <a:pt x="2717" y="1690"/>
                  <a:pt x="2717" y="1690"/>
                </a:cubicBezTo>
                <a:cubicBezTo>
                  <a:pt x="2709" y="1703"/>
                  <a:pt x="2709" y="1703"/>
                  <a:pt x="2709" y="1703"/>
                </a:cubicBezTo>
                <a:cubicBezTo>
                  <a:pt x="2681" y="1744"/>
                  <a:pt x="2634" y="1770"/>
                  <a:pt x="2581" y="1770"/>
                </a:cubicBezTo>
                <a:cubicBezTo>
                  <a:pt x="2580" y="1770"/>
                  <a:pt x="2578" y="1770"/>
                  <a:pt x="2577" y="1770"/>
                </a:cubicBezTo>
                <a:cubicBezTo>
                  <a:pt x="2577" y="1770"/>
                  <a:pt x="2577" y="1770"/>
                  <a:pt x="2577" y="1770"/>
                </a:cubicBezTo>
                <a:cubicBezTo>
                  <a:pt x="2573" y="1769"/>
                  <a:pt x="2569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1" y="1769"/>
                  <a:pt x="2558" y="1769"/>
                  <a:pt x="2554" y="1769"/>
                </a:cubicBezTo>
                <a:cubicBezTo>
                  <a:pt x="2551" y="1769"/>
                  <a:pt x="2547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0" y="1768"/>
                  <a:pt x="2536" y="1769"/>
                  <a:pt x="2532" y="1769"/>
                </a:cubicBezTo>
                <a:cubicBezTo>
                  <a:pt x="2531" y="1769"/>
                  <a:pt x="2530" y="1769"/>
                  <a:pt x="2529" y="1769"/>
                </a:cubicBezTo>
                <a:cubicBezTo>
                  <a:pt x="2526" y="1769"/>
                  <a:pt x="2523" y="1769"/>
                  <a:pt x="2520" y="1769"/>
                </a:cubicBezTo>
                <a:cubicBezTo>
                  <a:pt x="2519" y="1769"/>
                  <a:pt x="2518" y="1769"/>
                  <a:pt x="2517" y="1769"/>
                </a:cubicBezTo>
                <a:cubicBezTo>
                  <a:pt x="2514" y="1770"/>
                  <a:pt x="2510" y="1770"/>
                  <a:pt x="2507" y="1770"/>
                </a:cubicBezTo>
                <a:cubicBezTo>
                  <a:pt x="2507" y="1770"/>
                  <a:pt x="2506" y="1770"/>
                  <a:pt x="2506" y="1770"/>
                </a:cubicBezTo>
                <a:cubicBezTo>
                  <a:pt x="2502" y="1771"/>
                  <a:pt x="2498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1" y="1772"/>
                  <a:pt x="2488" y="1772"/>
                  <a:pt x="2485" y="1773"/>
                </a:cubicBezTo>
                <a:cubicBezTo>
                  <a:pt x="2480" y="1773"/>
                  <a:pt x="2474" y="1773"/>
                  <a:pt x="2469" y="1773"/>
                </a:cubicBezTo>
                <a:cubicBezTo>
                  <a:pt x="2414" y="1773"/>
                  <a:pt x="2366" y="1745"/>
                  <a:pt x="2338" y="1701"/>
                </a:cubicBezTo>
                <a:cubicBezTo>
                  <a:pt x="2337" y="1700"/>
                  <a:pt x="2337" y="1699"/>
                  <a:pt x="2336" y="1698"/>
                </a:cubicBezTo>
                <a:cubicBezTo>
                  <a:pt x="1803" y="846"/>
                  <a:pt x="1803" y="846"/>
                  <a:pt x="1803" y="846"/>
                </a:cubicBezTo>
                <a:cubicBezTo>
                  <a:pt x="1795" y="832"/>
                  <a:pt x="1795" y="832"/>
                  <a:pt x="1795" y="832"/>
                </a:cubicBezTo>
                <a:cubicBezTo>
                  <a:pt x="1782" y="810"/>
                  <a:pt x="1775" y="784"/>
                  <a:pt x="1775" y="757"/>
                </a:cubicBezTo>
                <a:cubicBezTo>
                  <a:pt x="1775" y="724"/>
                  <a:pt x="1786" y="694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6" y="665"/>
                  <a:pt x="1809" y="661"/>
                  <a:pt x="1811" y="658"/>
                </a:cubicBezTo>
                <a:cubicBezTo>
                  <a:pt x="1811" y="658"/>
                  <a:pt x="1811" y="657"/>
                  <a:pt x="1811" y="657"/>
                </a:cubicBezTo>
                <a:cubicBezTo>
                  <a:pt x="1811" y="657"/>
                  <a:pt x="1811" y="657"/>
                  <a:pt x="1811" y="657"/>
                </a:cubicBezTo>
                <a:cubicBezTo>
                  <a:pt x="1862" y="589"/>
                  <a:pt x="1892" y="504"/>
                  <a:pt x="1892" y="413"/>
                </a:cubicBezTo>
                <a:cubicBezTo>
                  <a:pt x="1892" y="185"/>
                  <a:pt x="1707" y="0"/>
                  <a:pt x="1478" y="0"/>
                </a:cubicBezTo>
                <a:cubicBezTo>
                  <a:pt x="1250" y="0"/>
                  <a:pt x="1065" y="185"/>
                  <a:pt x="1065" y="413"/>
                </a:cubicBezTo>
                <a:cubicBezTo>
                  <a:pt x="1065" y="495"/>
                  <a:pt x="1089" y="572"/>
                  <a:pt x="1131" y="636"/>
                </a:cubicBezTo>
                <a:cubicBezTo>
                  <a:pt x="1133" y="640"/>
                  <a:pt x="1136" y="644"/>
                  <a:pt x="1138" y="647"/>
                </a:cubicBezTo>
                <a:cubicBezTo>
                  <a:pt x="1152" y="671"/>
                  <a:pt x="1160" y="698"/>
                  <a:pt x="1160" y="727"/>
                </a:cubicBezTo>
                <a:cubicBezTo>
                  <a:pt x="1160" y="753"/>
                  <a:pt x="1155" y="776"/>
                  <a:pt x="1144" y="797"/>
                </a:cubicBezTo>
                <a:cubicBezTo>
                  <a:pt x="1129" y="822"/>
                  <a:pt x="1129" y="822"/>
                  <a:pt x="1129" y="822"/>
                </a:cubicBezTo>
                <a:cubicBezTo>
                  <a:pt x="586" y="1690"/>
                  <a:pt x="586" y="1690"/>
                  <a:pt x="586" y="1690"/>
                </a:cubicBezTo>
                <a:cubicBezTo>
                  <a:pt x="578" y="1703"/>
                  <a:pt x="578" y="1703"/>
                  <a:pt x="578" y="1703"/>
                </a:cubicBezTo>
                <a:cubicBezTo>
                  <a:pt x="550" y="1744"/>
                  <a:pt x="503" y="1770"/>
                  <a:pt x="450" y="1770"/>
                </a:cubicBezTo>
                <a:cubicBezTo>
                  <a:pt x="449" y="1770"/>
                  <a:pt x="447" y="1770"/>
                  <a:pt x="446" y="1770"/>
                </a:cubicBezTo>
                <a:cubicBezTo>
                  <a:pt x="442" y="1769"/>
                  <a:pt x="438" y="1769"/>
                  <a:pt x="434" y="1769"/>
                </a:cubicBezTo>
                <a:cubicBezTo>
                  <a:pt x="427" y="1769"/>
                  <a:pt x="420" y="1768"/>
                  <a:pt x="413" y="1768"/>
                </a:cubicBezTo>
                <a:cubicBezTo>
                  <a:pt x="185" y="1768"/>
                  <a:pt x="0" y="1953"/>
                  <a:pt x="0" y="2182"/>
                </a:cubicBezTo>
                <a:cubicBezTo>
                  <a:pt x="0" y="2410"/>
                  <a:pt x="185" y="2595"/>
                  <a:pt x="413" y="2595"/>
                </a:cubicBezTo>
                <a:cubicBezTo>
                  <a:pt x="641" y="2595"/>
                  <a:pt x="826" y="2410"/>
                  <a:pt x="826" y="2182"/>
                </a:cubicBezTo>
                <a:cubicBezTo>
                  <a:pt x="826" y="2090"/>
                  <a:pt x="796" y="2006"/>
                  <a:pt x="746" y="1937"/>
                </a:cubicBezTo>
                <a:cubicBezTo>
                  <a:pt x="743" y="1933"/>
                  <a:pt x="741" y="1930"/>
                  <a:pt x="738" y="1926"/>
                </a:cubicBezTo>
                <a:cubicBezTo>
                  <a:pt x="720" y="1901"/>
                  <a:pt x="710" y="1870"/>
                  <a:pt x="710" y="1838"/>
                </a:cubicBezTo>
                <a:cubicBezTo>
                  <a:pt x="710" y="1810"/>
                  <a:pt x="717" y="1785"/>
                  <a:pt x="729" y="1763"/>
                </a:cubicBezTo>
                <a:cubicBezTo>
                  <a:pt x="738" y="1749"/>
                  <a:pt x="738" y="1749"/>
                  <a:pt x="738" y="1749"/>
                </a:cubicBezTo>
                <a:cubicBezTo>
                  <a:pt x="1271" y="897"/>
                  <a:pt x="1271" y="897"/>
                  <a:pt x="1271" y="897"/>
                </a:cubicBezTo>
                <a:cubicBezTo>
                  <a:pt x="1271" y="895"/>
                  <a:pt x="1272" y="894"/>
                  <a:pt x="1273" y="893"/>
                </a:cubicBezTo>
                <a:cubicBezTo>
                  <a:pt x="1300" y="850"/>
                  <a:pt x="1349" y="821"/>
                  <a:pt x="1404" y="821"/>
                </a:cubicBezTo>
                <a:cubicBezTo>
                  <a:pt x="1409" y="821"/>
                  <a:pt x="1414" y="821"/>
                  <a:pt x="1419" y="822"/>
                </a:cubicBezTo>
                <a:cubicBezTo>
                  <a:pt x="1422" y="822"/>
                  <a:pt x="1426" y="823"/>
                  <a:pt x="1429" y="823"/>
                </a:cubicBezTo>
                <a:cubicBezTo>
                  <a:pt x="1445" y="825"/>
                  <a:pt x="1462" y="826"/>
                  <a:pt x="1478" y="826"/>
                </a:cubicBezTo>
                <a:cubicBezTo>
                  <a:pt x="1485" y="826"/>
                  <a:pt x="1492" y="826"/>
                  <a:pt x="1499" y="826"/>
                </a:cubicBezTo>
                <a:cubicBezTo>
                  <a:pt x="1503" y="825"/>
                  <a:pt x="1507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3" y="825"/>
                  <a:pt x="1514" y="825"/>
                  <a:pt x="1516" y="825"/>
                </a:cubicBezTo>
                <a:cubicBezTo>
                  <a:pt x="1569" y="825"/>
                  <a:pt x="1615" y="851"/>
                  <a:pt x="1643" y="891"/>
                </a:cubicBezTo>
                <a:cubicBezTo>
                  <a:pt x="1651" y="904"/>
                  <a:pt x="1651" y="904"/>
                  <a:pt x="1651" y="904"/>
                </a:cubicBezTo>
                <a:cubicBezTo>
                  <a:pt x="2194" y="1773"/>
                  <a:pt x="2194" y="1773"/>
                  <a:pt x="2194" y="1773"/>
                </a:cubicBezTo>
                <a:cubicBezTo>
                  <a:pt x="2209" y="1797"/>
                  <a:pt x="2209" y="1797"/>
                  <a:pt x="2209" y="1797"/>
                </a:cubicBezTo>
                <a:cubicBezTo>
                  <a:pt x="2220" y="1818"/>
                  <a:pt x="2226" y="1842"/>
                  <a:pt x="2226" y="1867"/>
                </a:cubicBezTo>
                <a:cubicBezTo>
                  <a:pt x="2226" y="1896"/>
                  <a:pt x="2218" y="1924"/>
                  <a:pt x="2203" y="1947"/>
                </a:cubicBezTo>
                <a:cubicBezTo>
                  <a:pt x="2198" y="1955"/>
                  <a:pt x="2194" y="1962"/>
                  <a:pt x="2189" y="1970"/>
                </a:cubicBezTo>
                <a:cubicBezTo>
                  <a:pt x="2189" y="1970"/>
                  <a:pt x="2188" y="1971"/>
                  <a:pt x="2188" y="1972"/>
                </a:cubicBezTo>
                <a:cubicBezTo>
                  <a:pt x="2186" y="1975"/>
                  <a:pt x="2184" y="1979"/>
                  <a:pt x="2182" y="1982"/>
                </a:cubicBezTo>
                <a:cubicBezTo>
                  <a:pt x="2182" y="1983"/>
                  <a:pt x="2181" y="1983"/>
                  <a:pt x="2181" y="1983"/>
                </a:cubicBezTo>
                <a:cubicBezTo>
                  <a:pt x="2179" y="1987"/>
                  <a:pt x="2177" y="1991"/>
                  <a:pt x="2175" y="1995"/>
                </a:cubicBezTo>
                <a:cubicBezTo>
                  <a:pt x="2175" y="1996"/>
                  <a:pt x="2174" y="1996"/>
                  <a:pt x="2174" y="1997"/>
                </a:cubicBezTo>
                <a:cubicBezTo>
                  <a:pt x="2172" y="2000"/>
                  <a:pt x="2171" y="2004"/>
                  <a:pt x="2169" y="2008"/>
                </a:cubicBezTo>
                <a:cubicBezTo>
                  <a:pt x="2169" y="2008"/>
                  <a:pt x="2168" y="2009"/>
                  <a:pt x="2168" y="2010"/>
                </a:cubicBezTo>
                <a:cubicBezTo>
                  <a:pt x="2166" y="2014"/>
                  <a:pt x="2164" y="2018"/>
                  <a:pt x="2163" y="2022"/>
                </a:cubicBezTo>
                <a:cubicBezTo>
                  <a:pt x="2163" y="2022"/>
                  <a:pt x="2162" y="2022"/>
                  <a:pt x="2162" y="2023"/>
                </a:cubicBezTo>
                <a:cubicBezTo>
                  <a:pt x="2161" y="2027"/>
                  <a:pt x="2159" y="2030"/>
                  <a:pt x="2158" y="2034"/>
                </a:cubicBezTo>
                <a:cubicBezTo>
                  <a:pt x="2157" y="2035"/>
                  <a:pt x="2157" y="2036"/>
                  <a:pt x="2157" y="2037"/>
                </a:cubicBezTo>
                <a:cubicBezTo>
                  <a:pt x="2154" y="2045"/>
                  <a:pt x="2151" y="2053"/>
                  <a:pt x="2148" y="2062"/>
                </a:cubicBezTo>
                <a:cubicBezTo>
                  <a:pt x="2148" y="2063"/>
                  <a:pt x="2148" y="2064"/>
                  <a:pt x="2147" y="2065"/>
                </a:cubicBezTo>
                <a:cubicBezTo>
                  <a:pt x="2146" y="2069"/>
                  <a:pt x="2145" y="2073"/>
                  <a:pt x="2144" y="2077"/>
                </a:cubicBezTo>
                <a:cubicBezTo>
                  <a:pt x="2144" y="2077"/>
                  <a:pt x="2144" y="2077"/>
                  <a:pt x="2144" y="2078"/>
                </a:cubicBezTo>
                <a:cubicBezTo>
                  <a:pt x="2143" y="2082"/>
                  <a:pt x="2142" y="2086"/>
                  <a:pt x="2141" y="2091"/>
                </a:cubicBezTo>
                <a:cubicBezTo>
                  <a:pt x="2140" y="2092"/>
                  <a:pt x="2140" y="2093"/>
                  <a:pt x="2140" y="2094"/>
                </a:cubicBezTo>
                <a:cubicBezTo>
                  <a:pt x="2139" y="2097"/>
                  <a:pt x="2139" y="2101"/>
                  <a:pt x="2138" y="2105"/>
                </a:cubicBezTo>
                <a:cubicBezTo>
                  <a:pt x="2138" y="2105"/>
                  <a:pt x="2137" y="2106"/>
                  <a:pt x="2137" y="2107"/>
                </a:cubicBezTo>
                <a:cubicBezTo>
                  <a:pt x="2137" y="2111"/>
                  <a:pt x="2136" y="2116"/>
                  <a:pt x="2135" y="2120"/>
                </a:cubicBezTo>
                <a:cubicBezTo>
                  <a:pt x="2135" y="2121"/>
                  <a:pt x="2135" y="2122"/>
                  <a:pt x="2135" y="2123"/>
                </a:cubicBezTo>
                <a:cubicBezTo>
                  <a:pt x="2134" y="2127"/>
                  <a:pt x="2134" y="2130"/>
                  <a:pt x="2133" y="2134"/>
                </a:cubicBezTo>
                <a:cubicBezTo>
                  <a:pt x="2133" y="2135"/>
                  <a:pt x="2133" y="2136"/>
                  <a:pt x="2133" y="2137"/>
                </a:cubicBezTo>
                <a:cubicBezTo>
                  <a:pt x="2133" y="2142"/>
                  <a:pt x="2132" y="2146"/>
                  <a:pt x="2132" y="2151"/>
                </a:cubicBezTo>
                <a:cubicBezTo>
                  <a:pt x="2132" y="2151"/>
                  <a:pt x="2132" y="2152"/>
                  <a:pt x="2132" y="2153"/>
                </a:cubicBezTo>
                <a:cubicBezTo>
                  <a:pt x="2131" y="2157"/>
                  <a:pt x="2131" y="2160"/>
                  <a:pt x="2131" y="2164"/>
                </a:cubicBezTo>
                <a:cubicBezTo>
                  <a:pt x="2131" y="2166"/>
                  <a:pt x="2131" y="2167"/>
                  <a:pt x="2131" y="2168"/>
                </a:cubicBezTo>
                <a:cubicBezTo>
                  <a:pt x="2131" y="2173"/>
                  <a:pt x="2131" y="2177"/>
                  <a:pt x="2131" y="2182"/>
                </a:cubicBezTo>
                <a:cubicBezTo>
                  <a:pt x="2131" y="2257"/>
                  <a:pt x="2151" y="2327"/>
                  <a:pt x="2185" y="2387"/>
                </a:cubicBezTo>
                <a:cubicBezTo>
                  <a:pt x="2189" y="2393"/>
                  <a:pt x="2192" y="2399"/>
                  <a:pt x="2196" y="2404"/>
                </a:cubicBezTo>
                <a:cubicBezTo>
                  <a:pt x="2212" y="2430"/>
                  <a:pt x="2231" y="2453"/>
                  <a:pt x="2252" y="2474"/>
                </a:cubicBezTo>
                <a:cubicBezTo>
                  <a:pt x="2263" y="2486"/>
                  <a:pt x="2276" y="2497"/>
                  <a:pt x="2289" y="2507"/>
                </a:cubicBezTo>
                <a:cubicBezTo>
                  <a:pt x="2294" y="2511"/>
                  <a:pt x="2299" y="2515"/>
                  <a:pt x="2305" y="2519"/>
                </a:cubicBezTo>
                <a:cubicBezTo>
                  <a:pt x="2315" y="2526"/>
                  <a:pt x="2327" y="2534"/>
                  <a:pt x="2338" y="2540"/>
                </a:cubicBezTo>
                <a:cubicBezTo>
                  <a:pt x="2341" y="2542"/>
                  <a:pt x="2344" y="2543"/>
                  <a:pt x="2347" y="2545"/>
                </a:cubicBezTo>
                <a:cubicBezTo>
                  <a:pt x="2405" y="2577"/>
                  <a:pt x="2472" y="2595"/>
                  <a:pt x="2544" y="2595"/>
                </a:cubicBezTo>
                <a:cubicBezTo>
                  <a:pt x="2544" y="2595"/>
                  <a:pt x="2544" y="2595"/>
                  <a:pt x="2544" y="2595"/>
                </a:cubicBezTo>
                <a:cubicBezTo>
                  <a:pt x="2772" y="2595"/>
                  <a:pt x="2957" y="2410"/>
                  <a:pt x="2957" y="2182"/>
                </a:cubicBezTo>
                <a:cubicBezTo>
                  <a:pt x="2957" y="2182"/>
                  <a:pt x="2957" y="2182"/>
                  <a:pt x="2957" y="2182"/>
                </a:cubicBezTo>
                <a:cubicBezTo>
                  <a:pt x="2957" y="2177"/>
                  <a:pt x="2957" y="2171"/>
                  <a:pt x="2957" y="2166"/>
                </a:cubicBezTo>
                <a:cubicBezTo>
                  <a:pt x="2957" y="2165"/>
                  <a:pt x="2957" y="2164"/>
                  <a:pt x="2957" y="2163"/>
                </a:cubicBezTo>
                <a:cubicBezTo>
                  <a:pt x="2956" y="2158"/>
                  <a:pt x="2956" y="2153"/>
                  <a:pt x="2956" y="2148"/>
                </a:cubicBezTo>
                <a:cubicBezTo>
                  <a:pt x="2956" y="2148"/>
                  <a:pt x="2956" y="2147"/>
                  <a:pt x="2955" y="2146"/>
                </a:cubicBezTo>
                <a:cubicBezTo>
                  <a:pt x="2955" y="2141"/>
                  <a:pt x="2955" y="2137"/>
                  <a:pt x="2954" y="2132"/>
                </a:cubicBezTo>
                <a:cubicBezTo>
                  <a:pt x="2954" y="2132"/>
                  <a:pt x="2954" y="2131"/>
                  <a:pt x="2954" y="2130"/>
                </a:cubicBezTo>
                <a:cubicBezTo>
                  <a:pt x="2953" y="2125"/>
                  <a:pt x="2953" y="2121"/>
                  <a:pt x="2952" y="2116"/>
                </a:cubicBezTo>
                <a:cubicBezTo>
                  <a:pt x="2952" y="2115"/>
                  <a:pt x="2951" y="2114"/>
                  <a:pt x="2951" y="2113"/>
                </a:cubicBezTo>
                <a:cubicBezTo>
                  <a:pt x="2950" y="2103"/>
                  <a:pt x="2948" y="2093"/>
                  <a:pt x="2945" y="2083"/>
                </a:cubicBezTo>
                <a:cubicBezTo>
                  <a:pt x="2945" y="2083"/>
                  <a:pt x="2945" y="2082"/>
                  <a:pt x="2945" y="2081"/>
                </a:cubicBezTo>
                <a:cubicBezTo>
                  <a:pt x="2943" y="2076"/>
                  <a:pt x="2942" y="2072"/>
                  <a:pt x="2941" y="2067"/>
                </a:cubicBezTo>
                <a:cubicBezTo>
                  <a:pt x="2941" y="2066"/>
                  <a:pt x="2941" y="2066"/>
                  <a:pt x="2940" y="2065"/>
                </a:cubicBezTo>
                <a:cubicBezTo>
                  <a:pt x="2939" y="2061"/>
                  <a:pt x="2937" y="2056"/>
                  <a:pt x="2936" y="2051"/>
                </a:cubicBezTo>
                <a:cubicBezTo>
                  <a:pt x="2936" y="2051"/>
                  <a:pt x="2936" y="2051"/>
                  <a:pt x="2936" y="2051"/>
                </a:cubicBezTo>
                <a:cubicBezTo>
                  <a:pt x="2934" y="2046"/>
                  <a:pt x="2932" y="2041"/>
                  <a:pt x="2931" y="2036"/>
                </a:cubicBezTo>
                <a:cubicBezTo>
                  <a:pt x="2930" y="2036"/>
                  <a:pt x="2930" y="2035"/>
                  <a:pt x="2930" y="2035"/>
                </a:cubicBezTo>
                <a:cubicBezTo>
                  <a:pt x="2926" y="2025"/>
                  <a:pt x="2922" y="2015"/>
                  <a:pt x="2918" y="2006"/>
                </a:cubicBezTo>
                <a:cubicBezTo>
                  <a:pt x="2918" y="2006"/>
                  <a:pt x="2918" y="2006"/>
                  <a:pt x="2918" y="2005"/>
                </a:cubicBezTo>
                <a:cubicBezTo>
                  <a:pt x="2915" y="2001"/>
                  <a:pt x="2913" y="1996"/>
                  <a:pt x="2911" y="1991"/>
                </a:cubicBezTo>
                <a:cubicBezTo>
                  <a:pt x="2911" y="1991"/>
                  <a:pt x="2911" y="1991"/>
                  <a:pt x="2911" y="1991"/>
                </a:cubicBezTo>
                <a:cubicBezTo>
                  <a:pt x="2906" y="1982"/>
                  <a:pt x="2900" y="1973"/>
                  <a:pt x="2895" y="1964"/>
                </a:cubicBezTo>
                <a:cubicBezTo>
                  <a:pt x="2895" y="1964"/>
                  <a:pt x="2895" y="1963"/>
                  <a:pt x="2895" y="1963"/>
                </a:cubicBezTo>
                <a:cubicBezTo>
                  <a:pt x="2889" y="1954"/>
                  <a:pt x="2883" y="1946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4" y="1933"/>
                  <a:pt x="2871" y="1930"/>
                  <a:pt x="2868" y="1926"/>
                </a:cubicBezTo>
                <a:cubicBezTo>
                  <a:pt x="2868" y="1926"/>
                  <a:pt x="2868" y="1926"/>
                  <a:pt x="2868" y="1926"/>
                </a:cubicBezTo>
                <a:cubicBezTo>
                  <a:pt x="2851" y="1901"/>
                  <a:pt x="2841" y="1870"/>
                  <a:pt x="2841" y="1838"/>
                </a:cubicBezTo>
                <a:cubicBezTo>
                  <a:pt x="2841" y="1810"/>
                  <a:pt x="2848" y="1785"/>
                  <a:pt x="2860" y="1763"/>
                </a:cubicBezTo>
                <a:cubicBezTo>
                  <a:pt x="2869" y="1749"/>
                  <a:pt x="2869" y="1749"/>
                  <a:pt x="2869" y="1749"/>
                </a:cubicBezTo>
                <a:cubicBezTo>
                  <a:pt x="3401" y="897"/>
                  <a:pt x="3401" y="897"/>
                  <a:pt x="3401" y="897"/>
                </a:cubicBezTo>
                <a:cubicBezTo>
                  <a:pt x="3402" y="895"/>
                  <a:pt x="3403" y="894"/>
                  <a:pt x="3403" y="893"/>
                </a:cubicBezTo>
                <a:cubicBezTo>
                  <a:pt x="3431" y="850"/>
                  <a:pt x="3479" y="821"/>
                  <a:pt x="3534" y="821"/>
                </a:cubicBezTo>
                <a:cubicBezTo>
                  <a:pt x="3540" y="821"/>
                  <a:pt x="3545" y="821"/>
                  <a:pt x="3550" y="822"/>
                </a:cubicBezTo>
                <a:cubicBezTo>
                  <a:pt x="3553" y="822"/>
                  <a:pt x="3556" y="823"/>
                  <a:pt x="3559" y="823"/>
                </a:cubicBezTo>
                <a:cubicBezTo>
                  <a:pt x="3576" y="825"/>
                  <a:pt x="3592" y="826"/>
                  <a:pt x="3609" y="826"/>
                </a:cubicBezTo>
                <a:cubicBezTo>
                  <a:pt x="3837" y="826"/>
                  <a:pt x="4022" y="641"/>
                  <a:pt x="4022" y="413"/>
                </a:cubicBezTo>
                <a:cubicBezTo>
                  <a:pt x="4022" y="185"/>
                  <a:pt x="3837" y="0"/>
                  <a:pt x="3609" y="0"/>
                </a:cubicBezTo>
                <a:close/>
                <a:moveTo>
                  <a:pt x="1592" y="810"/>
                </a:moveTo>
                <a:cubicBezTo>
                  <a:pt x="1592" y="810"/>
                  <a:pt x="1592" y="810"/>
                  <a:pt x="1592" y="810"/>
                </a:cubicBezTo>
                <a:cubicBezTo>
                  <a:pt x="1592" y="810"/>
                  <a:pt x="1592" y="810"/>
                  <a:pt x="1592" y="810"/>
                </a:cubicBezTo>
                <a:close/>
                <a:moveTo>
                  <a:pt x="1735" y="737"/>
                </a:move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lose/>
              </a:path>
            </a:pathLst>
          </a:custGeom>
          <a:solidFill>
            <a:srgbClr val="DDE24A">
              <a:lumMod val="20000"/>
              <a:lumOff val="8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C21443-5F79-FB91-AC27-1A7E3B8C2B51}"/>
              </a:ext>
            </a:extLst>
          </p:cNvPr>
          <p:cNvSpPr/>
          <p:nvPr userDrawn="1"/>
        </p:nvSpPr>
        <p:spPr>
          <a:xfrm>
            <a:off x="2312599" y="3298685"/>
            <a:ext cx="772529" cy="741804"/>
          </a:xfrm>
          <a:prstGeom prst="ellipse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06A445-8E4E-C9DA-D2CF-38BD01CFB0C6}"/>
              </a:ext>
            </a:extLst>
          </p:cNvPr>
          <p:cNvSpPr/>
          <p:nvPr userDrawn="1"/>
        </p:nvSpPr>
        <p:spPr>
          <a:xfrm>
            <a:off x="3613700" y="1224185"/>
            <a:ext cx="772529" cy="741804"/>
          </a:xfrm>
          <a:prstGeom prst="ellipse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0C6DFA-978B-6845-A459-145EBCF6E296}"/>
              </a:ext>
            </a:extLst>
          </p:cNvPr>
          <p:cNvSpPr/>
          <p:nvPr userDrawn="1"/>
        </p:nvSpPr>
        <p:spPr>
          <a:xfrm>
            <a:off x="4912977" y="3301438"/>
            <a:ext cx="772529" cy="741804"/>
          </a:xfrm>
          <a:prstGeom prst="ellipse">
            <a:avLst/>
          </a:prstGeom>
          <a:solidFill>
            <a:srgbClr val="3A017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2ECDB7-270A-59EC-9292-DB76B1E3366D}"/>
              </a:ext>
            </a:extLst>
          </p:cNvPr>
          <p:cNvSpPr/>
          <p:nvPr userDrawn="1"/>
        </p:nvSpPr>
        <p:spPr>
          <a:xfrm>
            <a:off x="6205086" y="1226062"/>
            <a:ext cx="772529" cy="741804"/>
          </a:xfrm>
          <a:prstGeom prst="ellipse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85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9">
            <a:extLst>
              <a:ext uri="{FF2B5EF4-FFF2-40B4-BE49-F238E27FC236}">
                <a16:creationId xmlns:a16="http://schemas.microsoft.com/office/drawing/2014/main" id="{7142851F-5466-B79E-F9E4-7FA8A851C49A}"/>
              </a:ext>
            </a:extLst>
          </p:cNvPr>
          <p:cNvSpPr>
            <a:spLocks/>
          </p:cNvSpPr>
          <p:nvPr userDrawn="1"/>
        </p:nvSpPr>
        <p:spPr bwMode="auto">
          <a:xfrm>
            <a:off x="757451" y="1035160"/>
            <a:ext cx="3282554" cy="3199235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0B355DE-131E-D261-1280-E7A0BD87338D}"/>
              </a:ext>
            </a:extLst>
          </p:cNvPr>
          <p:cNvSpPr>
            <a:spLocks/>
          </p:cNvSpPr>
          <p:nvPr userDrawn="1"/>
        </p:nvSpPr>
        <p:spPr bwMode="auto">
          <a:xfrm>
            <a:off x="4986578" y="1035159"/>
            <a:ext cx="3282554" cy="3199235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1E37E-5F0E-1FD6-8329-6DAD4106C5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17" name="Oval 11">
            <a:extLst>
              <a:ext uri="{FF2B5EF4-FFF2-40B4-BE49-F238E27FC236}">
                <a16:creationId xmlns:a16="http://schemas.microsoft.com/office/drawing/2014/main" id="{C8B4BCF1-06B4-7A36-037F-EE0B598BD7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45802" y="2229401"/>
            <a:ext cx="679847" cy="688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id="{9DAED262-FA17-D50B-1A57-F1C113F57C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42342" y="2229401"/>
            <a:ext cx="686991" cy="688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CA173-4BB1-BA58-4072-C520FF104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76E9A-088A-8CC3-7E3E-9A582B89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29C3475D-945B-A2A7-6D15-7877942F8828}"/>
              </a:ext>
            </a:extLst>
          </p:cNvPr>
          <p:cNvSpPr>
            <a:spLocks/>
          </p:cNvSpPr>
          <p:nvPr userDrawn="1"/>
        </p:nvSpPr>
        <p:spPr bwMode="auto">
          <a:xfrm>
            <a:off x="3832268" y="2322716"/>
            <a:ext cx="1412081" cy="516731"/>
          </a:xfrm>
          <a:custGeom>
            <a:avLst/>
            <a:gdLst>
              <a:gd name="T0" fmla="*/ 485 w 592"/>
              <a:gd name="T1" fmla="*/ 0 h 216"/>
              <a:gd name="T2" fmla="*/ 394 w 592"/>
              <a:gd name="T3" fmla="*/ 51 h 216"/>
              <a:gd name="T4" fmla="*/ 391 w 592"/>
              <a:gd name="T5" fmla="*/ 56 h 216"/>
              <a:gd name="T6" fmla="*/ 351 w 592"/>
              <a:gd name="T7" fmla="*/ 77 h 216"/>
              <a:gd name="T8" fmla="*/ 240 w 592"/>
              <a:gd name="T9" fmla="*/ 77 h 216"/>
              <a:gd name="T10" fmla="*/ 200 w 592"/>
              <a:gd name="T11" fmla="*/ 56 h 216"/>
              <a:gd name="T12" fmla="*/ 197 w 592"/>
              <a:gd name="T13" fmla="*/ 51 h 216"/>
              <a:gd name="T14" fmla="*/ 107 w 592"/>
              <a:gd name="T15" fmla="*/ 0 h 216"/>
              <a:gd name="T16" fmla="*/ 0 w 592"/>
              <a:gd name="T17" fmla="*/ 108 h 216"/>
              <a:gd name="T18" fmla="*/ 107 w 592"/>
              <a:gd name="T19" fmla="*/ 216 h 216"/>
              <a:gd name="T20" fmla="*/ 197 w 592"/>
              <a:gd name="T21" fmla="*/ 164 h 216"/>
              <a:gd name="T22" fmla="*/ 200 w 592"/>
              <a:gd name="T23" fmla="*/ 160 h 216"/>
              <a:gd name="T24" fmla="*/ 240 w 592"/>
              <a:gd name="T25" fmla="*/ 139 h 216"/>
              <a:gd name="T26" fmla="*/ 351 w 592"/>
              <a:gd name="T27" fmla="*/ 139 h 216"/>
              <a:gd name="T28" fmla="*/ 391 w 592"/>
              <a:gd name="T29" fmla="*/ 160 h 216"/>
              <a:gd name="T30" fmla="*/ 394 w 592"/>
              <a:gd name="T31" fmla="*/ 164 h 216"/>
              <a:gd name="T32" fmla="*/ 485 w 592"/>
              <a:gd name="T33" fmla="*/ 216 h 216"/>
              <a:gd name="T34" fmla="*/ 592 w 592"/>
              <a:gd name="T35" fmla="*/ 108 h 216"/>
              <a:gd name="T36" fmla="*/ 485 w 592"/>
              <a:gd name="T37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92" h="216">
                <a:moveTo>
                  <a:pt x="485" y="0"/>
                </a:moveTo>
                <a:cubicBezTo>
                  <a:pt x="446" y="0"/>
                  <a:pt x="413" y="20"/>
                  <a:pt x="394" y="51"/>
                </a:cubicBezTo>
                <a:cubicBezTo>
                  <a:pt x="393" y="53"/>
                  <a:pt x="392" y="55"/>
                  <a:pt x="391" y="56"/>
                </a:cubicBezTo>
                <a:cubicBezTo>
                  <a:pt x="382" y="69"/>
                  <a:pt x="367" y="77"/>
                  <a:pt x="351" y="77"/>
                </a:cubicBezTo>
                <a:cubicBezTo>
                  <a:pt x="184" y="77"/>
                  <a:pt x="240" y="77"/>
                  <a:pt x="240" y="77"/>
                </a:cubicBezTo>
                <a:cubicBezTo>
                  <a:pt x="224" y="77"/>
                  <a:pt x="209" y="69"/>
                  <a:pt x="200" y="56"/>
                </a:cubicBezTo>
                <a:cubicBezTo>
                  <a:pt x="199" y="55"/>
                  <a:pt x="198" y="53"/>
                  <a:pt x="197" y="51"/>
                </a:cubicBezTo>
                <a:cubicBezTo>
                  <a:pt x="179" y="20"/>
                  <a:pt x="145" y="0"/>
                  <a:pt x="107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7"/>
                  <a:pt x="48" y="216"/>
                  <a:pt x="107" y="216"/>
                </a:cubicBezTo>
                <a:cubicBezTo>
                  <a:pt x="145" y="216"/>
                  <a:pt x="179" y="196"/>
                  <a:pt x="197" y="164"/>
                </a:cubicBezTo>
                <a:cubicBezTo>
                  <a:pt x="198" y="163"/>
                  <a:pt x="199" y="161"/>
                  <a:pt x="200" y="160"/>
                </a:cubicBezTo>
                <a:cubicBezTo>
                  <a:pt x="208" y="147"/>
                  <a:pt x="224" y="139"/>
                  <a:pt x="240" y="139"/>
                </a:cubicBezTo>
                <a:cubicBezTo>
                  <a:pt x="407" y="139"/>
                  <a:pt x="351" y="139"/>
                  <a:pt x="351" y="139"/>
                </a:cubicBezTo>
                <a:cubicBezTo>
                  <a:pt x="367" y="139"/>
                  <a:pt x="383" y="147"/>
                  <a:pt x="391" y="160"/>
                </a:cubicBezTo>
                <a:cubicBezTo>
                  <a:pt x="392" y="161"/>
                  <a:pt x="393" y="163"/>
                  <a:pt x="394" y="164"/>
                </a:cubicBezTo>
                <a:cubicBezTo>
                  <a:pt x="412" y="196"/>
                  <a:pt x="446" y="216"/>
                  <a:pt x="485" y="216"/>
                </a:cubicBezTo>
                <a:cubicBezTo>
                  <a:pt x="543" y="216"/>
                  <a:pt x="592" y="167"/>
                  <a:pt x="592" y="108"/>
                </a:cubicBezTo>
                <a:cubicBezTo>
                  <a:pt x="592" y="48"/>
                  <a:pt x="543" y="0"/>
                  <a:pt x="485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E1ACF3-21F5-523A-8FDE-6C83E086A7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0790" y="1862242"/>
            <a:ext cx="2555875" cy="444289"/>
          </a:xfrm>
        </p:spPr>
        <p:txBody>
          <a:bodyPr/>
          <a:lstStyle>
            <a:lvl1pPr marL="171450" marR="0" indent="-17145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40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BF6247C-37A0-1E3A-65E4-88553D6F06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7" y="1862243"/>
            <a:ext cx="2555875" cy="444289"/>
          </a:xfrm>
        </p:spPr>
        <p:txBody>
          <a:bodyPr/>
          <a:lstStyle>
            <a:lvl1pPr marL="171450" marR="0" indent="-17145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40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B070F-B0E8-F8F2-C7C1-4277FB405E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0775" y="2565400"/>
            <a:ext cx="2555875" cy="1293813"/>
          </a:xfrm>
        </p:spPr>
        <p:txBody>
          <a:bodyPr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D882BFC-7ACB-4CDF-173C-9880B0F829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50184" y="2623556"/>
            <a:ext cx="2555875" cy="1293813"/>
          </a:xfrm>
        </p:spPr>
        <p:txBody>
          <a:bodyPr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34032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2458" y="706659"/>
            <a:ext cx="2306059" cy="49371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6326" y="1637548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983" y="2035472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91406" y="3356776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91063" y="3754700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84346" y="1684521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84003" y="2082445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47183" y="3357381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46840" y="3755305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DD66BF-CEC0-A95E-9883-FD1E8A3759D3}"/>
              </a:ext>
            </a:extLst>
          </p:cNvPr>
          <p:cNvSpPr/>
          <p:nvPr userDrawn="1"/>
        </p:nvSpPr>
        <p:spPr>
          <a:xfrm>
            <a:off x="2978891" y="-668686"/>
            <a:ext cx="3186219" cy="3048646"/>
          </a:xfrm>
          <a:prstGeom prst="ellipse">
            <a:avLst/>
          </a:prstGeom>
          <a:noFill/>
          <a:ln w="25400" cap="rnd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2F8033-2D0A-4D73-020A-A3D4295922E7}"/>
              </a:ext>
            </a:extLst>
          </p:cNvPr>
          <p:cNvSpPr/>
          <p:nvPr userDrawn="1"/>
        </p:nvSpPr>
        <p:spPr>
          <a:xfrm>
            <a:off x="2415506" y="-1207745"/>
            <a:ext cx="4312988" cy="4126764"/>
          </a:xfrm>
          <a:prstGeom prst="ellipse">
            <a:avLst/>
          </a:prstGeom>
          <a:noFill/>
          <a:ln w="1270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ED6EA-BC31-8186-4B68-ABF4344CA72D}"/>
              </a:ext>
            </a:extLst>
          </p:cNvPr>
          <p:cNvSpPr/>
          <p:nvPr userDrawn="1"/>
        </p:nvSpPr>
        <p:spPr>
          <a:xfrm>
            <a:off x="2321401" y="1567958"/>
            <a:ext cx="765567" cy="7325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3D6245-9C6E-5009-CEBF-8389E522FCE6}"/>
              </a:ext>
            </a:extLst>
          </p:cNvPr>
          <p:cNvSpPr/>
          <p:nvPr userDrawn="1"/>
        </p:nvSpPr>
        <p:spPr>
          <a:xfrm>
            <a:off x="6057031" y="1567958"/>
            <a:ext cx="765567" cy="73251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63A639-3939-F7B2-7D60-91418E5DD329}"/>
              </a:ext>
            </a:extLst>
          </p:cNvPr>
          <p:cNvSpPr/>
          <p:nvPr userDrawn="1"/>
        </p:nvSpPr>
        <p:spPr>
          <a:xfrm>
            <a:off x="3373271" y="2426933"/>
            <a:ext cx="765567" cy="7325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B6FB13-4345-C0EF-32FD-8A28D2CC0FF0}"/>
              </a:ext>
            </a:extLst>
          </p:cNvPr>
          <p:cNvSpPr/>
          <p:nvPr userDrawn="1"/>
        </p:nvSpPr>
        <p:spPr>
          <a:xfrm>
            <a:off x="5005161" y="2426933"/>
            <a:ext cx="765567" cy="7325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146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94900" y="2316445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4557" y="2714369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2221" y="1190395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91878" y="1588319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92221" y="3397874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91878" y="3795798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BF6AF856-C050-5D99-65E7-ABA7286CEBFD}"/>
              </a:ext>
            </a:extLst>
          </p:cNvPr>
          <p:cNvSpPr>
            <a:spLocks/>
          </p:cNvSpPr>
          <p:nvPr userDrawn="1"/>
        </p:nvSpPr>
        <p:spPr bwMode="auto">
          <a:xfrm>
            <a:off x="2924524" y="942364"/>
            <a:ext cx="2785162" cy="3815496"/>
          </a:xfrm>
          <a:custGeom>
            <a:avLst/>
            <a:gdLst>
              <a:gd name="T0" fmla="*/ 431 w 856"/>
              <a:gd name="T1" fmla="*/ 1143 h 1213"/>
              <a:gd name="T2" fmla="*/ 605 w 856"/>
              <a:gd name="T3" fmla="*/ 1213 h 1213"/>
              <a:gd name="T4" fmla="*/ 856 w 856"/>
              <a:gd name="T5" fmla="*/ 962 h 1213"/>
              <a:gd name="T6" fmla="*/ 605 w 856"/>
              <a:gd name="T7" fmla="*/ 711 h 1213"/>
              <a:gd name="T8" fmla="*/ 431 w 856"/>
              <a:gd name="T9" fmla="*/ 782 h 1213"/>
              <a:gd name="T10" fmla="*/ 425 w 856"/>
              <a:gd name="T11" fmla="*/ 787 h 1213"/>
              <a:gd name="T12" fmla="*/ 251 w 856"/>
              <a:gd name="T13" fmla="*/ 858 h 1213"/>
              <a:gd name="T14" fmla="*/ 0 w 856"/>
              <a:gd name="T15" fmla="*/ 607 h 1213"/>
              <a:gd name="T16" fmla="*/ 251 w 856"/>
              <a:gd name="T17" fmla="*/ 356 h 1213"/>
              <a:gd name="T18" fmla="*/ 425 w 856"/>
              <a:gd name="T19" fmla="*/ 426 h 1213"/>
              <a:gd name="T20" fmla="*/ 431 w 856"/>
              <a:gd name="T21" fmla="*/ 432 h 1213"/>
              <a:gd name="T22" fmla="*/ 605 w 856"/>
              <a:gd name="T23" fmla="*/ 502 h 1213"/>
              <a:gd name="T24" fmla="*/ 856 w 856"/>
              <a:gd name="T25" fmla="*/ 251 h 1213"/>
              <a:gd name="T26" fmla="*/ 605 w 856"/>
              <a:gd name="T27" fmla="*/ 0 h 1213"/>
              <a:gd name="T28" fmla="*/ 431 w 856"/>
              <a:gd name="T29" fmla="*/ 70 h 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6" h="1213">
                <a:moveTo>
                  <a:pt x="431" y="1143"/>
                </a:moveTo>
                <a:cubicBezTo>
                  <a:pt x="476" y="1187"/>
                  <a:pt x="538" y="1213"/>
                  <a:pt x="605" y="1213"/>
                </a:cubicBezTo>
                <a:cubicBezTo>
                  <a:pt x="744" y="1213"/>
                  <a:pt x="856" y="1101"/>
                  <a:pt x="856" y="962"/>
                </a:cubicBezTo>
                <a:cubicBezTo>
                  <a:pt x="856" y="824"/>
                  <a:pt x="744" y="711"/>
                  <a:pt x="605" y="711"/>
                </a:cubicBezTo>
                <a:cubicBezTo>
                  <a:pt x="538" y="711"/>
                  <a:pt x="476" y="738"/>
                  <a:pt x="431" y="782"/>
                </a:cubicBezTo>
                <a:cubicBezTo>
                  <a:pt x="425" y="787"/>
                  <a:pt x="425" y="787"/>
                  <a:pt x="425" y="787"/>
                </a:cubicBezTo>
                <a:cubicBezTo>
                  <a:pt x="380" y="831"/>
                  <a:pt x="319" y="858"/>
                  <a:pt x="251" y="858"/>
                </a:cubicBezTo>
                <a:cubicBezTo>
                  <a:pt x="113" y="858"/>
                  <a:pt x="0" y="745"/>
                  <a:pt x="0" y="607"/>
                </a:cubicBezTo>
                <a:cubicBezTo>
                  <a:pt x="0" y="468"/>
                  <a:pt x="113" y="356"/>
                  <a:pt x="251" y="356"/>
                </a:cubicBezTo>
                <a:cubicBezTo>
                  <a:pt x="319" y="356"/>
                  <a:pt x="380" y="382"/>
                  <a:pt x="425" y="426"/>
                </a:cubicBezTo>
                <a:cubicBezTo>
                  <a:pt x="431" y="432"/>
                  <a:pt x="431" y="432"/>
                  <a:pt x="431" y="432"/>
                </a:cubicBezTo>
                <a:cubicBezTo>
                  <a:pt x="476" y="475"/>
                  <a:pt x="538" y="502"/>
                  <a:pt x="605" y="502"/>
                </a:cubicBezTo>
                <a:cubicBezTo>
                  <a:pt x="744" y="502"/>
                  <a:pt x="856" y="389"/>
                  <a:pt x="856" y="251"/>
                </a:cubicBezTo>
                <a:cubicBezTo>
                  <a:pt x="856" y="112"/>
                  <a:pt x="744" y="0"/>
                  <a:pt x="605" y="0"/>
                </a:cubicBezTo>
                <a:cubicBezTo>
                  <a:pt x="538" y="0"/>
                  <a:pt x="476" y="27"/>
                  <a:pt x="431" y="70"/>
                </a:cubicBez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0C7D18C0-48D4-1466-6B40-F29363769B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9126" y="1185988"/>
            <a:ext cx="1128607" cy="1091306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FE065B4F-70D5-2422-7F68-E83A925AB2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6727" y="2305485"/>
            <a:ext cx="1129728" cy="1092389"/>
          </a:xfrm>
          <a:prstGeom prst="ellipse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B40A2DC4-5C1D-F82C-991A-5A0B84CD20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9126" y="3422929"/>
            <a:ext cx="1128607" cy="1091306"/>
          </a:xfrm>
          <a:prstGeom prst="ellipse">
            <a:avLst/>
          </a:prstGeom>
          <a:solidFill>
            <a:schemeClr val="accent3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6C3989-8387-6634-47B7-F00482422599}"/>
              </a:ext>
            </a:extLst>
          </p:cNvPr>
          <p:cNvCxnSpPr/>
          <p:nvPr userDrawn="1"/>
        </p:nvCxnSpPr>
        <p:spPr>
          <a:xfrm>
            <a:off x="2235163" y="1731641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405DCE-0E51-BCF9-35D5-F0CA1BB320C0}"/>
              </a:ext>
            </a:extLst>
          </p:cNvPr>
          <p:cNvCxnSpPr/>
          <p:nvPr userDrawn="1"/>
        </p:nvCxnSpPr>
        <p:spPr>
          <a:xfrm>
            <a:off x="4306456" y="2851680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906360-1A3C-D7BD-534E-65B02E3CFFA0}"/>
              </a:ext>
            </a:extLst>
          </p:cNvPr>
          <p:cNvCxnSpPr/>
          <p:nvPr userDrawn="1"/>
        </p:nvCxnSpPr>
        <p:spPr>
          <a:xfrm>
            <a:off x="2235163" y="3968582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61AC212-1AFB-B016-07B5-DA34A71288A7}"/>
              </a:ext>
            </a:extLst>
          </p:cNvPr>
          <p:cNvSpPr/>
          <p:nvPr userDrawn="1"/>
        </p:nvSpPr>
        <p:spPr>
          <a:xfrm>
            <a:off x="1165317" y="1294566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2D884B06-B69A-3601-5ABA-6650FDD8F3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15216" y="1467513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DA8F53-D561-414B-E3BE-39BCB9F2B243}"/>
              </a:ext>
            </a:extLst>
          </p:cNvPr>
          <p:cNvSpPr/>
          <p:nvPr userDrawn="1"/>
        </p:nvSpPr>
        <p:spPr>
          <a:xfrm>
            <a:off x="6558532" y="2400509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447766C4-93E7-0759-CCB4-51006A7ACA2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08431" y="2573456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D5784E-A6C0-8A3A-89FD-359B31FD10EE}"/>
              </a:ext>
            </a:extLst>
          </p:cNvPr>
          <p:cNvSpPr/>
          <p:nvPr userDrawn="1"/>
        </p:nvSpPr>
        <p:spPr>
          <a:xfrm>
            <a:off x="1189724" y="3555018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E977BBC7-242E-8A07-9ED8-6A3A24B719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39623" y="3727965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646451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A2B3-42AD-15BE-DDE3-409F18E4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B58DF-C805-8433-B81F-1E8A8BDE7929}"/>
              </a:ext>
            </a:extLst>
          </p:cNvPr>
          <p:cNvSpPr txBox="1"/>
          <p:nvPr/>
        </p:nvSpPr>
        <p:spPr>
          <a:xfrm>
            <a:off x="2851355" y="-347980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2B629-8E64-D073-4E1E-AC6CEE01F313}"/>
              </a:ext>
            </a:extLst>
          </p:cNvPr>
          <p:cNvSpPr txBox="1"/>
          <p:nvPr userDrawn="1"/>
        </p:nvSpPr>
        <p:spPr>
          <a:xfrm>
            <a:off x="2851355" y="-347980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9E9CE-7DF5-A990-F642-604B0336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5739" y="4593204"/>
            <a:ext cx="1439843" cy="43041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EA20-F578-35A8-739D-A647E2C904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3812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50818-7B33-E9F3-BB6A-B9D4E27BE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90422-4989-104C-3102-05767DAB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CB5C73A-E21C-D46F-654F-0D573C8E3D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35050" y="1157288"/>
            <a:ext cx="4475163" cy="3082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76393C-F462-3449-C6C6-11E9CFC39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57775" y="1739900"/>
            <a:ext cx="3654425" cy="1617663"/>
          </a:xfrm>
          <a:solidFill>
            <a:schemeClr val="accent3">
              <a:alpha val="51000"/>
            </a:schemeClr>
          </a:solidFill>
        </p:spPr>
        <p:txBody>
          <a:bodyPr lIns="72000" rIns="72000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331452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A9207-260B-D9F2-0E01-865F5857CA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718511"/>
            <a:ext cx="8243886" cy="29283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Presenter name and/or email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1FB8B76-7754-7D78-1C06-25D784320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2" y="3250133"/>
            <a:ext cx="8243887" cy="29283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Co-authors and/or references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AA3FB-49E2-A58E-392E-D98F1C9635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227" y="1899580"/>
            <a:ext cx="8243886" cy="49371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Thank you for your attention</a:t>
            </a:r>
            <a:endParaRPr lang="de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41405-7A39-9C2A-30A6-144A9B1D33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39173-0151-28B1-95CC-6FF726E9E7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0799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w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3444" y="934423"/>
            <a:ext cx="8238756" cy="33867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16" y="4658190"/>
            <a:ext cx="187268" cy="273844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262DC-A476-C090-3274-C391B53779F6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7425843" y="4496579"/>
            <a:ext cx="1439843" cy="4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0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57" r:id="rId2"/>
    <p:sldLayoutId id="2147483739" r:id="rId3"/>
    <p:sldLayoutId id="2147483740" r:id="rId4"/>
    <p:sldLayoutId id="2147483741" r:id="rId5"/>
    <p:sldLayoutId id="2147483762" r:id="rId6"/>
    <p:sldLayoutId id="2147483742" r:id="rId7"/>
    <p:sldLayoutId id="2147483771" r:id="rId8"/>
    <p:sldLayoutId id="2147483763" r:id="rId9"/>
    <p:sldLayoutId id="2147483743" r:id="rId10"/>
    <p:sldLayoutId id="2147483751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55" r:id="rId17"/>
    <p:sldLayoutId id="2147483756" r:id="rId18"/>
    <p:sldLayoutId id="2147483749" r:id="rId19"/>
    <p:sldLayoutId id="2147483750" r:id="rId20"/>
    <p:sldLayoutId id="2147483764" r:id="rId21"/>
    <p:sldLayoutId id="2147483758" r:id="rId22"/>
    <p:sldLayoutId id="2147483759" r:id="rId23"/>
    <p:sldLayoutId id="2147483760" r:id="rId24"/>
    <p:sldLayoutId id="2147483761" r:id="rId25"/>
    <p:sldLayoutId id="2147483765" r:id="rId26"/>
    <p:sldLayoutId id="2147483768" r:id="rId27"/>
    <p:sldLayoutId id="2147483766" r:id="rId28"/>
    <p:sldLayoutId id="2147483767" r:id="rId29"/>
    <p:sldLayoutId id="2147483770" r:id="rId30"/>
    <p:sldLayoutId id="2147483752" r:id="rId31"/>
    <p:sldLayoutId id="2147483772" r:id="rId32"/>
    <p:sldLayoutId id="2147483753" r:id="rId33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spcAft>
          <a:spcPts val="400"/>
        </a:spcAft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577" userDrawn="1">
          <p15:clr>
            <a:srgbClr val="F26B43"/>
          </p15:clr>
        </p15:guide>
        <p15:guide id="8" pos="295" userDrawn="1">
          <p15:clr>
            <a:srgbClr val="F26B43"/>
          </p15:clr>
        </p15:guide>
        <p15:guide id="9" pos="2857" userDrawn="1">
          <p15:clr>
            <a:srgbClr val="F26B43"/>
          </p15:clr>
        </p15:guide>
        <p15:guide id="10" pos="5488" userDrawn="1">
          <p15:clr>
            <a:srgbClr val="F26B43"/>
          </p15:clr>
        </p15:guide>
        <p15:guide id="11" orient="horz" pos="1620" userDrawn="1">
          <p15:clr>
            <a:srgbClr val="F26B43"/>
          </p15:clr>
        </p15:guide>
        <p15:guide id="12" orient="horz" pos="3049" userDrawn="1">
          <p15:clr>
            <a:srgbClr val="F26B43"/>
          </p15:clr>
        </p15:guide>
        <p15:guide id="13" orient="horz" pos="2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B178251-B71D-1507-5363-1A822839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36" y="2078032"/>
            <a:ext cx="8243264" cy="1744460"/>
          </a:xfrm>
        </p:spPr>
        <p:txBody>
          <a:bodyPr/>
          <a:lstStyle/>
          <a:p>
            <a:r>
              <a:rPr lang="en-US" dirty="0"/>
              <a:t>Evaluating the Community Effects of LLINs Across Transmission Intensities</a:t>
            </a:r>
            <a:endParaRPr lang="de-CH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A2594B3-75C2-211F-3814-1A2A4B2505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936" y="4073062"/>
            <a:ext cx="4428711" cy="3025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Zenabu Suboi</a:t>
            </a:r>
          </a:p>
          <a:p>
            <a:endParaRPr lang="de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CDF82-18E9-AE29-176B-21EBD2F07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/>
          <a:p>
            <a:r>
              <a:rPr lang="en-US" dirty="0"/>
              <a:t>19</a:t>
            </a:r>
            <a:r>
              <a:rPr lang="en-US" baseline="30000" dirty="0"/>
              <a:t>th</a:t>
            </a:r>
            <a:r>
              <a:rPr lang="en-US" dirty="0"/>
              <a:t> May, 2026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6414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840A-50CA-56FB-6BA2-6FBA265A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Agenda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9B375-93F2-D1CA-A66E-93DC0E6A7BB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</a:t>
            </a:fld>
            <a:endParaRPr lang="de-CH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21630B-E9E9-8D97-E8A3-D50F9D377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1252"/>
              </p:ext>
            </p:extLst>
          </p:nvPr>
        </p:nvGraphicFramePr>
        <p:xfrm>
          <a:off x="473445" y="913482"/>
          <a:ext cx="8215545" cy="3001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5545">
                  <a:extLst>
                    <a:ext uri="{9D8B030D-6E8A-4147-A177-3AD203B41FA5}">
                      <a16:colId xmlns:a16="http://schemas.microsoft.com/office/drawing/2014/main" val="2505335421"/>
                    </a:ext>
                  </a:extLst>
                </a:gridCol>
              </a:tblGrid>
              <a:tr h="3729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/>
                        </a:rPr>
                        <a:t>Topic</a:t>
                      </a:r>
                    </a:p>
                  </a:txBody>
                  <a:tcPr marL="91182" marR="91182" marT="45591" marB="45591" anchor="ctr">
                    <a:solidFill>
                      <a:srgbClr val="432B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464925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Introduction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345861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Methods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65525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Results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0667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Key messages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616690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Recommendations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4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61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C34C-1B48-EA73-35CB-45BE4864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7DC28-6502-CF1B-BA63-E769B25B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Introduction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2630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CAE29D-E39E-1629-6018-434BC561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 anchor="t">
            <a:normAutofit/>
          </a:bodyPr>
          <a:lstStyle/>
          <a:p>
            <a:r>
              <a:rPr lang="en-US" dirty="0"/>
              <a:t>LLIN effectiveness</a:t>
            </a:r>
            <a:endParaRPr lang="de-C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1DADC0-2DD0-A971-BDC1-4130236F2A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3444" y="922338"/>
            <a:ext cx="3944569" cy="3521075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lasting insecticidal nets (LLINs) have been attributed with averting 663 million clinical cases from 2000 –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effectiveness</a:t>
            </a:r>
            <a:r>
              <a:rPr lang="en-CH" dirty="0"/>
              <a:t> of </a:t>
            </a:r>
            <a:r>
              <a:rPr lang="en-CH" dirty="0" err="1"/>
              <a:t>LLINs</a:t>
            </a:r>
            <a:r>
              <a:rPr lang="en-CH" dirty="0"/>
              <a:t> arises from two complementary mechanisms:</a:t>
            </a:r>
            <a:endParaRPr lang="en-US" dirty="0"/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CH" sz="1800" b="1" dirty="0"/>
              <a:t>physical prevention </a:t>
            </a:r>
            <a:r>
              <a:rPr lang="en-CH" sz="1800" dirty="0"/>
              <a:t>of mosquito bites </a:t>
            </a:r>
            <a:endParaRPr lang="en-US" sz="1800" dirty="0"/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CH" sz="1800" b="1" dirty="0"/>
              <a:t>insecticidal action </a:t>
            </a:r>
            <a:r>
              <a:rPr lang="en-CH" sz="1800" dirty="0"/>
              <a:t>that </a:t>
            </a:r>
            <a:r>
              <a:rPr lang="en-CH" sz="1800" b="1" dirty="0"/>
              <a:t>kills</a:t>
            </a:r>
            <a:r>
              <a:rPr lang="en-CH" sz="1800" dirty="0"/>
              <a:t> or </a:t>
            </a:r>
            <a:r>
              <a:rPr lang="en-CH" sz="1800" b="1" dirty="0"/>
              <a:t>deters</a:t>
            </a:r>
            <a:r>
              <a:rPr lang="en-CH" sz="1800" dirty="0"/>
              <a:t> mosquitoes</a:t>
            </a:r>
            <a:endParaRPr lang="en-US" sz="1800" dirty="0"/>
          </a:p>
          <a:p>
            <a:pPr marL="906463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Protecting both </a:t>
            </a:r>
            <a:r>
              <a:rPr lang="en-US" sz="1600" dirty="0">
                <a:solidFill>
                  <a:srgbClr val="00B0F0"/>
                </a:solidFill>
              </a:rPr>
              <a:t>users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FF9900"/>
                </a:solidFill>
              </a:rPr>
              <a:t>non-users</a:t>
            </a:r>
          </a:p>
          <a:p>
            <a:pPr lvl="1" indent="0">
              <a:buNone/>
            </a:pPr>
            <a:endParaRPr lang="en-US" sz="1800" dirty="0"/>
          </a:p>
          <a:p>
            <a:pPr marL="0" indent="0"/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4F343-ECD4-C157-D70B-D2DE3BB65D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84316" y="4658190"/>
            <a:ext cx="187268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14D7B56-9DF5-4E8D-B448-5569FA30FAB2}" type="slidenum">
              <a:rPr lang="de-CH" smtClean="0"/>
              <a:pPr>
                <a:spcAft>
                  <a:spcPts val="600"/>
                </a:spcAft>
              </a:pPr>
              <a:t>4</a:t>
            </a:fld>
            <a:endParaRPr lang="de-CH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0C20A98-7B33-3BC4-BBEC-8FC46D74441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0" b="6000"/>
          <a:stretch/>
        </p:blipFill>
        <p:spPr>
          <a:xfrm>
            <a:off x="4716463" y="922339"/>
            <a:ext cx="4427538" cy="3155948"/>
          </a:xfrm>
          <a:prstGeom prst="rect">
            <a:avLst/>
          </a:prstGeom>
          <a:noFill/>
        </p:spPr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1FBCED2-2713-CD03-6B93-559F0759F8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16463" y="4220810"/>
            <a:ext cx="3972527" cy="20676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Source: https://link.springer.com/article/10.1186/s12936-020-03321-6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5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8F8073A-A4F4-27A2-DE0F-A3D7F8F0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DE152C5-60C4-B4E1-4AC4-E280914EE6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72208-E81B-C7F8-FFB1-E1861E216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5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B5CFE3-D269-F990-3F53-D28ECA0E6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4B83A104-F2DC-4BF7-BB45-1532E2E8BCA7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08636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9754A-9B8B-B3E2-28A1-3453B9E5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ED63DC-E48E-CC2B-F264-C745CCA1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15EBF7-BDD6-4874-A09D-43B4C90FC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net-users</a:t>
            </a:r>
            <a:r>
              <a:rPr lang="en-US" dirty="0"/>
              <a:t> receive personal protection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A5BAC-0175-35DE-455E-EF58A6165D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6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35DE49-4144-FC8A-364D-8BCE40C37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225B6FAE-6627-0F32-40F4-E1CBCFC1FCAB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8A850C6-1ECE-7E9D-14F4-0FEAF16B8D1B}"/>
              </a:ext>
            </a:extLst>
          </p:cNvPr>
          <p:cNvSpPr txBox="1">
            <a:spLocks/>
          </p:cNvSpPr>
          <p:nvPr/>
        </p:nvSpPr>
        <p:spPr>
          <a:xfrm>
            <a:off x="7043696" y="2868420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X% LLIN use</a:t>
            </a:r>
            <a:endParaRPr lang="en-GB" sz="1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70D0ED-CBE0-A6BF-5D51-789AD942DF53}"/>
              </a:ext>
            </a:extLst>
          </p:cNvPr>
          <p:cNvCxnSpPr>
            <a:cxnSpLocks/>
          </p:cNvCxnSpPr>
          <p:nvPr/>
        </p:nvCxnSpPr>
        <p:spPr>
          <a:xfrm flipH="1">
            <a:off x="7452320" y="1923678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54138B4-E530-8DEC-8F30-5F667020C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49" y="2067094"/>
            <a:ext cx="933498" cy="8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8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DAEB-A58C-C4C6-670D-AEE5839B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E0807F1-2D7F-4F2A-633D-2C3AF7789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B83B3-CCB7-BF8F-0078-AF3B6BDBE8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net-users</a:t>
            </a:r>
            <a:r>
              <a:rPr lang="en-US" dirty="0"/>
              <a:t> receive personal protection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</a:t>
            </a:r>
            <a:r>
              <a:rPr lang="en-US" b="1" dirty="0">
                <a:solidFill>
                  <a:srgbClr val="0070C0"/>
                </a:solidFill>
              </a:rPr>
              <a:t>users</a:t>
            </a:r>
            <a:r>
              <a:rPr lang="en-US" dirty="0"/>
              <a:t> and </a:t>
            </a:r>
            <a:r>
              <a:rPr lang="en-US" b="1" dirty="0">
                <a:solidFill>
                  <a:srgbClr val="FF9900"/>
                </a:solidFill>
              </a:rPr>
              <a:t>non-users</a:t>
            </a:r>
            <a:r>
              <a:rPr lang="en-US" dirty="0"/>
              <a:t> benefit from </a:t>
            </a:r>
            <a:r>
              <a:rPr lang="en-US" b="1" dirty="0"/>
              <a:t>reduced transmission</a:t>
            </a:r>
          </a:p>
          <a:p>
            <a:pPr marL="661988" lvl="1" indent="-285750">
              <a:buFont typeface="Arial" panose="020B0604020202020204" pitchFamily="34" charset="0"/>
              <a:buChar char="•"/>
            </a:pPr>
            <a:r>
              <a:rPr lang="en-CH" dirty="0"/>
              <a:t>reduced mosquito density, lifespan, and proportion of infectious mosquitoes</a:t>
            </a:r>
            <a:endParaRPr lang="en-US" dirty="0"/>
          </a:p>
          <a:p>
            <a:pPr marL="457200" indent="-285750"/>
            <a:r>
              <a:rPr lang="en-US" dirty="0"/>
              <a:t>This concept has been established as </a:t>
            </a:r>
            <a:r>
              <a:rPr lang="en-US" b="1" dirty="0"/>
              <a:t>community (indirect)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C763D-EFF3-2A2E-2D96-D952E7DF483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7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7A2C22-2E86-2FA7-BAD2-6288AB916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8894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2F21C90-0973-C506-9BB0-1B974BFD863E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ED71CFF-EC8B-0349-123B-5DE51D7B6D2B}"/>
              </a:ext>
            </a:extLst>
          </p:cNvPr>
          <p:cNvSpPr txBox="1">
            <a:spLocks/>
          </p:cNvSpPr>
          <p:nvPr/>
        </p:nvSpPr>
        <p:spPr>
          <a:xfrm>
            <a:off x="7043696" y="2868420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X% LLIN use</a:t>
            </a:r>
            <a:endParaRPr lang="en-GB" sz="1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802B2A-ED18-63FC-DA97-CDE07AACEB04}"/>
              </a:ext>
            </a:extLst>
          </p:cNvPr>
          <p:cNvCxnSpPr>
            <a:cxnSpLocks/>
          </p:cNvCxnSpPr>
          <p:nvPr/>
        </p:nvCxnSpPr>
        <p:spPr>
          <a:xfrm flipH="1">
            <a:off x="7452320" y="1923678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1A19E89-C3DA-E4A3-3BAB-F6756E35A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49" y="2067094"/>
            <a:ext cx="933498" cy="844593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E321FA4-3048-08FB-E83A-081BBE967EC5}"/>
              </a:ext>
            </a:extLst>
          </p:cNvPr>
          <p:cNvSpPr txBox="1">
            <a:spLocks/>
          </p:cNvSpPr>
          <p:nvPr/>
        </p:nvSpPr>
        <p:spPr>
          <a:xfrm>
            <a:off x="6648138" y="4278988"/>
            <a:ext cx="2443396" cy="1998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Source: Adapted from Unwin et. al ,2023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9F7DED-440D-58A0-8F62-8A3E9615127D}"/>
              </a:ext>
            </a:extLst>
          </p:cNvPr>
          <p:cNvCxnSpPr>
            <a:cxnSpLocks/>
          </p:cNvCxnSpPr>
          <p:nvPr/>
        </p:nvCxnSpPr>
        <p:spPr>
          <a:xfrm flipH="1">
            <a:off x="7477403" y="3067167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F927C710-3E48-4CB3-A81A-838EC2654CDC}"/>
              </a:ext>
            </a:extLst>
          </p:cNvPr>
          <p:cNvSpPr txBox="1">
            <a:spLocks/>
          </p:cNvSpPr>
          <p:nvPr/>
        </p:nvSpPr>
        <p:spPr>
          <a:xfrm>
            <a:off x="6924900" y="4024239"/>
            <a:ext cx="1242607" cy="23232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Increased LLIN use</a:t>
            </a:r>
            <a:endParaRPr lang="en-GB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CA45D7-9B0C-2B51-50BD-E23AF28BB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548" y="3202993"/>
            <a:ext cx="989243" cy="87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2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B0794-B30F-FD94-D546-E734ABE1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878023D-84C9-DB58-C869-C0DF4C1D8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Evidence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48FA05-5D23-1FB3-7D78-69BB81D607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8238622" cy="3632506"/>
          </a:xfrm>
        </p:spPr>
        <p:txBody>
          <a:bodyPr/>
          <a:lstStyle/>
          <a:p>
            <a:r>
              <a:rPr lang="en-CH" dirty="0"/>
              <a:t>Evidence from both </a:t>
            </a:r>
            <a:r>
              <a:rPr lang="en-CH" b="1" dirty="0"/>
              <a:t>empirical</a:t>
            </a:r>
            <a:r>
              <a:rPr lang="en-US" dirty="0"/>
              <a:t> (Hawley et al., 2003 , </a:t>
            </a:r>
            <a:r>
              <a:rPr lang="en-US" dirty="0" err="1"/>
              <a:t>Lukole</a:t>
            </a:r>
            <a:r>
              <a:rPr lang="en-US" dirty="0"/>
              <a:t> </a:t>
            </a:r>
            <a:r>
              <a:rPr lang="en-US" i="1" dirty="0"/>
              <a:t>et al.</a:t>
            </a:r>
            <a:r>
              <a:rPr lang="en-US" dirty="0"/>
              <a:t>, 2025)</a:t>
            </a:r>
            <a:r>
              <a:rPr lang="en-CH" dirty="0"/>
              <a:t> and </a:t>
            </a:r>
            <a:r>
              <a:rPr lang="en-CH" b="1" dirty="0"/>
              <a:t>modelling</a:t>
            </a:r>
            <a:r>
              <a:rPr lang="en-CH" dirty="0"/>
              <a:t> studies</a:t>
            </a:r>
            <a:r>
              <a:rPr lang="en-US" dirty="0"/>
              <a:t> (Killeen </a:t>
            </a:r>
            <a:r>
              <a:rPr lang="en-US" i="1" dirty="0"/>
              <a:t>et al.</a:t>
            </a:r>
            <a:r>
              <a:rPr lang="en-US" dirty="0"/>
              <a:t>, 2007, Unwin </a:t>
            </a:r>
            <a:r>
              <a:rPr lang="en-US" i="1" dirty="0"/>
              <a:t>et al.</a:t>
            </a:r>
            <a:r>
              <a:rPr lang="en-US" dirty="0"/>
              <a:t>, 2023)</a:t>
            </a:r>
          </a:p>
          <a:p>
            <a:endParaRPr lang="en-US" dirty="0"/>
          </a:p>
          <a:p>
            <a:r>
              <a:rPr lang="en-US" dirty="0"/>
              <a:t>These </a:t>
            </a:r>
            <a:r>
              <a:rPr lang="en-CH" dirty="0"/>
              <a:t>evidence</a:t>
            </a:r>
            <a:r>
              <a:rPr lang="en-US" dirty="0"/>
              <a:t>s</a:t>
            </a:r>
            <a:r>
              <a:rPr lang="en-CH" dirty="0"/>
              <a:t> indicate that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vary</a:t>
            </a:r>
            <a:r>
              <a:rPr lang="en-CH" dirty="0"/>
              <a:t> by </a:t>
            </a:r>
            <a:r>
              <a:rPr lang="en-CH" b="1" dirty="0"/>
              <a:t>spatial scale </a:t>
            </a:r>
            <a:r>
              <a:rPr lang="en-CH" dirty="0"/>
              <a:t>and </a:t>
            </a:r>
            <a:r>
              <a:rPr lang="en-CH" b="1" dirty="0"/>
              <a:t>local coverage levels</a:t>
            </a:r>
            <a:r>
              <a:rPr lang="en-US" b="1" dirty="0"/>
              <a:t> </a:t>
            </a:r>
            <a:r>
              <a:rPr lang="en-US" dirty="0"/>
              <a:t>(Hawley et al., 2003)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on </a:t>
            </a:r>
            <a:r>
              <a:rPr lang="en-US" b="1" dirty="0"/>
              <a:t>proximity</a:t>
            </a:r>
            <a:r>
              <a:rPr lang="en-US" dirty="0"/>
              <a:t> with </a:t>
            </a:r>
            <a:r>
              <a:rPr lang="en-US" b="1" dirty="0"/>
              <a:t>treated net users </a:t>
            </a:r>
            <a:r>
              <a:rPr lang="en-US" dirty="0"/>
              <a:t>(Hawley et al., 2003)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heterogeneous</a:t>
            </a:r>
            <a:r>
              <a:rPr lang="en-CH" dirty="0"/>
              <a:t> and sensitive </a:t>
            </a:r>
            <a:r>
              <a:rPr lang="en-CH" b="1" dirty="0"/>
              <a:t>to local transmission </a:t>
            </a:r>
            <a:r>
              <a:rPr lang="en-CH" dirty="0"/>
              <a:t>dynamics, </a:t>
            </a:r>
            <a:r>
              <a:rPr lang="en-CH" b="1" dirty="0"/>
              <a:t>intervention coverage</a:t>
            </a:r>
            <a:r>
              <a:rPr lang="en-CH" dirty="0"/>
              <a:t>, and </a:t>
            </a:r>
            <a:r>
              <a:rPr lang="en-CH" b="1" dirty="0"/>
              <a:t>vector ecology</a:t>
            </a:r>
            <a:r>
              <a:rPr lang="en-US" b="1" dirty="0"/>
              <a:t> </a:t>
            </a:r>
            <a:r>
              <a:rPr lang="en-US" dirty="0"/>
              <a:t>(Killeen </a:t>
            </a:r>
            <a:r>
              <a:rPr lang="en-US" i="1" dirty="0"/>
              <a:t>et al. 2007, Unwin et al,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present</a:t>
            </a:r>
            <a:r>
              <a:rPr lang="en-US" dirty="0"/>
              <a:t> in settings with </a:t>
            </a:r>
            <a:r>
              <a:rPr lang="en-US" b="1" dirty="0"/>
              <a:t>pyrethroid resistance </a:t>
            </a:r>
            <a:r>
              <a:rPr lang="en-US" dirty="0"/>
              <a:t>depending on </a:t>
            </a:r>
            <a:r>
              <a:rPr lang="en-US" b="1" dirty="0"/>
              <a:t>net type </a:t>
            </a:r>
            <a:r>
              <a:rPr lang="en-US" dirty="0"/>
              <a:t>(</a:t>
            </a:r>
            <a:r>
              <a:rPr lang="en-US" dirty="0" err="1"/>
              <a:t>Lukole</a:t>
            </a:r>
            <a:r>
              <a:rPr lang="en-US" dirty="0"/>
              <a:t>, et al., 2025, </a:t>
            </a:r>
            <a:r>
              <a:rPr lang="en-US" i="1" dirty="0"/>
              <a:t>Unwin et al, 2023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482E9-EA04-8A98-E15A-270875543FC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802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DFB4-F487-FCE1-C159-5F89A606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F67310-BF87-B023-ADE8-940E1F29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What this study focuses 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E51004-825F-0A38-501A-1B3A8806B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7" y="1081261"/>
            <a:ext cx="8550501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the </a:t>
            </a:r>
            <a:r>
              <a:rPr lang="en-CH" b="1" dirty="0"/>
              <a:t>magnitude</a:t>
            </a:r>
            <a:r>
              <a:rPr lang="en-CH" dirty="0"/>
              <a:t> and </a:t>
            </a:r>
            <a:r>
              <a:rPr lang="en-US" b="1" dirty="0"/>
              <a:t>robustness</a:t>
            </a:r>
            <a:r>
              <a:rPr lang="en-CH" dirty="0"/>
              <a:t> of community protection remain incompletely </a:t>
            </a:r>
            <a:r>
              <a:rPr lang="en-US" dirty="0"/>
              <a:t>evaluated</a:t>
            </a:r>
            <a:r>
              <a:rPr lang="en-CH" dirty="0"/>
              <a:t> across epidemiological settings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we use </a:t>
            </a:r>
            <a:r>
              <a:rPr lang="en-US" dirty="0" err="1"/>
              <a:t>OpenMalaria</a:t>
            </a:r>
            <a:r>
              <a:rPr lang="en-CH" dirty="0"/>
              <a:t> to quantify the </a:t>
            </a:r>
            <a:r>
              <a:rPr lang="en-US" dirty="0"/>
              <a:t>effects of </a:t>
            </a:r>
            <a:r>
              <a:rPr lang="en-CH" b="1" dirty="0"/>
              <a:t>LLIN usage</a:t>
            </a:r>
            <a:r>
              <a:rPr lang="en-US" b="1" dirty="0"/>
              <a:t> </a:t>
            </a:r>
            <a:r>
              <a:rPr lang="en-US" dirty="0"/>
              <a:t>on</a:t>
            </a:r>
            <a:r>
              <a:rPr lang="en-CH" dirty="0"/>
              <a:t> </a:t>
            </a:r>
            <a:r>
              <a:rPr lang="en-US" b="1" dirty="0">
                <a:solidFill>
                  <a:srgbClr val="00B0F0"/>
                </a:solidFill>
              </a:rPr>
              <a:t>LLIN users</a:t>
            </a:r>
            <a:r>
              <a:rPr lang="en-CH" b="1" dirty="0">
                <a:solidFill>
                  <a:srgbClr val="00B0F0"/>
                </a:solidFill>
              </a:rPr>
              <a:t> </a:t>
            </a:r>
            <a:r>
              <a:rPr lang="en-CH" dirty="0"/>
              <a:t>and </a:t>
            </a:r>
            <a:r>
              <a:rPr lang="en-US" b="1" dirty="0">
                <a:solidFill>
                  <a:srgbClr val="FF9900"/>
                </a:solidFill>
              </a:rPr>
              <a:t>non-users</a:t>
            </a:r>
            <a:r>
              <a:rPr lang="en-CH" b="1" dirty="0"/>
              <a:t> </a:t>
            </a:r>
            <a:r>
              <a:rPr lang="en-CH" dirty="0"/>
              <a:t>across a wide </a:t>
            </a:r>
            <a:r>
              <a:rPr lang="en-CH" b="1" dirty="0"/>
              <a:t>range</a:t>
            </a:r>
            <a:r>
              <a:rPr lang="en-CH" dirty="0"/>
              <a:t> of </a:t>
            </a:r>
            <a:r>
              <a:rPr lang="en-CH" b="1" dirty="0"/>
              <a:t>transmission intensities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effective usage levels.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4E89C-4E51-DD8F-B047-7CB53B6983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288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2E8F-4292-B873-CE75-CCEE4994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C8E7E0-C22A-07DF-2346-85E43F0A8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7199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05A1A-BD9A-4FEE-5D04-44AE0EA0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51E32-09F4-CB67-4729-2D7F72B512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11</a:t>
            </a:fld>
            <a:endParaRPr lang="de-CH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C937FFA-E77E-336D-9FE3-F19D248163AA}"/>
              </a:ext>
            </a:extLst>
          </p:cNvPr>
          <p:cNvSpPr/>
          <p:nvPr/>
        </p:nvSpPr>
        <p:spPr>
          <a:xfrm>
            <a:off x="6048149" y="30371"/>
            <a:ext cx="113102" cy="73719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E301B-4374-E99E-48DE-258A4B47FD27}"/>
              </a:ext>
            </a:extLst>
          </p:cNvPr>
          <p:cNvSpPr txBox="1"/>
          <p:nvPr/>
        </p:nvSpPr>
        <p:spPr>
          <a:xfrm>
            <a:off x="6161251" y="229689"/>
            <a:ext cx="1528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Ghana context</a:t>
            </a:r>
            <a:endParaRPr lang="en-CH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3F9F7A-CDF9-3866-2D70-1EB4BCF08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19C12D-97EC-6CC2-D2B8-769E870D4341}"/>
              </a:ext>
            </a:extLst>
          </p:cNvPr>
          <p:cNvSpPr/>
          <p:nvPr/>
        </p:nvSpPr>
        <p:spPr>
          <a:xfrm>
            <a:off x="3175592" y="842088"/>
            <a:ext cx="3317022" cy="427104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87762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C53B-2A91-17DB-695C-BD909CC1C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513D01-80E6-C6B4-D409-43F16BD9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10AA0-7D9C-1A45-C057-B0AB4E3A44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12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CA2D08-DC75-6F0A-1EAF-495C023CA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D7E8A63-37E2-F265-769D-EB95170E1174}"/>
              </a:ext>
            </a:extLst>
          </p:cNvPr>
          <p:cNvSpPr/>
          <p:nvPr/>
        </p:nvSpPr>
        <p:spPr>
          <a:xfrm>
            <a:off x="3196856" y="1573622"/>
            <a:ext cx="3295757" cy="348989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685898-AE63-6C09-1AE6-CE5443853BFD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7786699-63E6-7139-2490-23BDF51A7BAF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Arrow: Right 7">
            <a:extLst>
              <a:ext uri="{FF2B5EF4-FFF2-40B4-BE49-F238E27FC236}">
                <a16:creationId xmlns:a16="http://schemas.microsoft.com/office/drawing/2014/main" id="{1D77D87C-7C80-67B5-D1CC-A792FCFF4AC6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5110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830B9-909B-6CB0-0E1C-D4C11B8C5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05C2E0-190A-2153-842A-EF6069AF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65978-DA7F-975D-25CE-08B791567A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13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FE3818-A012-7B3A-4E67-957786388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D27FC0-C011-EC07-0CF0-6D58026496CF}"/>
              </a:ext>
            </a:extLst>
          </p:cNvPr>
          <p:cNvSpPr/>
          <p:nvPr/>
        </p:nvSpPr>
        <p:spPr>
          <a:xfrm>
            <a:off x="2856614" y="2294459"/>
            <a:ext cx="3636000" cy="274070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4BACFD-B4DC-A78D-12FE-254CD6D8D12B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A482A5A-C518-13C6-2400-0F7B3A4E1DE2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67E355-5D42-546B-40BC-3716D1FC8D44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24A11F-6451-1D8E-41AF-055124CF0977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F384086-72F3-60FE-A83C-4934EFB30E69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02022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F4F3-3522-813B-1CDF-99BE03EE0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786D8A-CE1D-6479-4562-C705A04F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4156C-FC7C-751D-61C9-2696D5429E5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14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F09413-6187-3FDF-8FC2-B25241092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EE1B00-050C-E805-0A4A-9B6EC75F30B5}"/>
              </a:ext>
            </a:extLst>
          </p:cNvPr>
          <p:cNvSpPr/>
          <p:nvPr/>
        </p:nvSpPr>
        <p:spPr>
          <a:xfrm>
            <a:off x="2920410" y="3083445"/>
            <a:ext cx="3572204" cy="19375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56CC75-C394-7480-FA59-F7CDEE920F8D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5E3A697-433C-158F-01F3-705BD9BAA1B0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D998D1-9A8B-6DC0-B9E4-8E93303B5A21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FE6D12-D2E4-E33F-FA8C-8315D673575D}"/>
              </a:ext>
            </a:extLst>
          </p:cNvPr>
          <p:cNvCxnSpPr>
            <a:cxnSpLocks/>
          </p:cNvCxnSpPr>
          <p:nvPr/>
        </p:nvCxnSpPr>
        <p:spPr>
          <a:xfrm>
            <a:off x="3046195" y="2689112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3F9FBFE-BE49-74BD-A175-D5750CF9F6EE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C56AD2-3638-F856-787F-38D8EE621742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680666A-0353-1D01-E4FE-B589BE7C8F4A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6159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EE021-9DC1-42AB-6C4A-A6132F737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9AA2D4-5F5F-22E4-392E-EB6BBFFC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ACF98-18FA-F0DB-96A4-7D0F70340F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15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433F20-41B4-0F99-B93E-B5FB231DF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AFBD23-C16E-D339-F9D9-029FC1A032DB}"/>
              </a:ext>
            </a:extLst>
          </p:cNvPr>
          <p:cNvSpPr/>
          <p:nvPr/>
        </p:nvSpPr>
        <p:spPr>
          <a:xfrm>
            <a:off x="2920409" y="3885169"/>
            <a:ext cx="3572205" cy="11420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06C23B5-DA60-EAE9-4078-C5EF20CB43E0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9698F30-84F5-2BC0-77BF-2BF6964F50F0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4C4DF4-ED00-0D70-278D-D410682A8190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14B23D-D635-F8EC-2501-DEC345CCB7CA}"/>
              </a:ext>
            </a:extLst>
          </p:cNvPr>
          <p:cNvCxnSpPr>
            <a:cxnSpLocks/>
          </p:cNvCxnSpPr>
          <p:nvPr/>
        </p:nvCxnSpPr>
        <p:spPr>
          <a:xfrm>
            <a:off x="3046195" y="2696200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2ED5C8-4C23-9A9E-FBCB-A753895C30D7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F758A1-873C-0FD1-51D8-2B6914E28CB7}"/>
              </a:ext>
            </a:extLst>
          </p:cNvPr>
          <p:cNvCxnSpPr>
            <a:cxnSpLocks/>
          </p:cNvCxnSpPr>
          <p:nvPr/>
        </p:nvCxnSpPr>
        <p:spPr>
          <a:xfrm flipH="1" flipV="1">
            <a:off x="5255631" y="3584531"/>
            <a:ext cx="440631" cy="143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50B3A66-6D19-A753-F286-FA20C226738D}"/>
              </a:ext>
            </a:extLst>
          </p:cNvPr>
          <p:cNvSpPr/>
          <p:nvPr/>
        </p:nvSpPr>
        <p:spPr>
          <a:xfrm>
            <a:off x="5741868" y="3350832"/>
            <a:ext cx="2157723" cy="6107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Intervention Years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Treatment:</a:t>
            </a:r>
            <a:r>
              <a:rPr lang="en-US" sz="1050" dirty="0">
                <a:solidFill>
                  <a:schemeClr val="tx1"/>
                </a:solidFill>
              </a:rPr>
              <a:t> 2000-2031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IG2 net:</a:t>
            </a:r>
            <a:r>
              <a:rPr lang="en-US" sz="1050" dirty="0">
                <a:solidFill>
                  <a:schemeClr val="tx1"/>
                </a:solidFill>
              </a:rPr>
              <a:t> 2023, 2026, 2029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0BD35F-FD38-E5F0-9A07-F1D3B127FD65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4A6A2AD-727D-2D0B-3645-DA15F91918CF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5624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B29A-C9C5-C516-AB40-D77AEDA01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FB1E7B-2F91-61BC-453E-77A0D6182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80243-4C81-10E3-7424-6D405195EB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16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50D8D7-4E20-BEC5-8C42-790393720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CA3EBC-0566-9BAB-4CC9-98E86B7A367A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89037A7-7148-46FD-76BE-3B5267F875AE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6B76FE-41CA-0799-E913-E4B0369E8F23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9B39B3-5E8F-B9D9-5E6E-57445014EB75}"/>
              </a:ext>
            </a:extLst>
          </p:cNvPr>
          <p:cNvCxnSpPr>
            <a:cxnSpLocks/>
          </p:cNvCxnSpPr>
          <p:nvPr/>
        </p:nvCxnSpPr>
        <p:spPr>
          <a:xfrm>
            <a:off x="3046195" y="2689112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EF27E15-537C-0651-02FF-F54FD28E8B73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F880E4-1BC6-CCB2-7369-E9DACE284051}"/>
              </a:ext>
            </a:extLst>
          </p:cNvPr>
          <p:cNvCxnSpPr>
            <a:cxnSpLocks/>
          </p:cNvCxnSpPr>
          <p:nvPr/>
        </p:nvCxnSpPr>
        <p:spPr>
          <a:xfrm flipH="1" flipV="1">
            <a:off x="5255631" y="3584531"/>
            <a:ext cx="440631" cy="143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768CB2B-C2AB-0A3A-82E9-60E0729278CE}"/>
              </a:ext>
            </a:extLst>
          </p:cNvPr>
          <p:cNvSpPr/>
          <p:nvPr/>
        </p:nvSpPr>
        <p:spPr>
          <a:xfrm>
            <a:off x="5741868" y="3350832"/>
            <a:ext cx="2157723" cy="6107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Intervention Years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Treatment:</a:t>
            </a:r>
            <a:r>
              <a:rPr lang="en-US" sz="1050" dirty="0">
                <a:solidFill>
                  <a:schemeClr val="tx1"/>
                </a:solidFill>
              </a:rPr>
              <a:t> 2000-2031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IG2 net:</a:t>
            </a:r>
            <a:r>
              <a:rPr lang="en-US" sz="1050" dirty="0">
                <a:solidFill>
                  <a:schemeClr val="tx1"/>
                </a:solidFill>
              </a:rPr>
              <a:t> 2023, 2026, 2029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6A18DA-ECBF-1197-7720-04381D3A037B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C4FCF42-8C0C-845C-C787-C552EED86765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8079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18BC-CED5-2C70-46A9-362D192B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D56FDF-D74D-65C8-8B69-1932CEBE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Results 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80649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52C11-776E-E8A8-834B-B23F9EE8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B29E0-CA45-28A2-5D7E-5794CB9E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67457"/>
            <a:ext cx="8238756" cy="700106"/>
          </a:xfrm>
        </p:spPr>
        <p:txBody>
          <a:bodyPr/>
          <a:lstStyle/>
          <a:p>
            <a:r>
              <a:rPr lang="en-US" dirty="0"/>
              <a:t>community protection varies with usage and transmission intensity but not with time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71547-B2A5-5569-3F8F-C66C539515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18</a:t>
            </a:fld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2D2AC-B06B-7EE1-C8BA-EBC7B31E4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4" y="799332"/>
            <a:ext cx="7865215" cy="427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7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A684-3E6F-AB2F-22BD-7B0A5BA6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65A867C-9185-A54D-7435-60B539F60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746882"/>
          </a:xfrm>
        </p:spPr>
        <p:txBody>
          <a:bodyPr/>
          <a:lstStyle/>
          <a:p>
            <a:r>
              <a:rPr lang="en-US" dirty="0"/>
              <a:t>Impact definitions and estimates: </a:t>
            </a:r>
            <a:r>
              <a:rPr lang="en-US" dirty="0">
                <a:solidFill>
                  <a:srgbClr val="00B0F0"/>
                </a:solidFill>
              </a:rPr>
              <a:t>User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</a:t>
            </a:r>
            <a:r>
              <a:rPr lang="en-US" dirty="0"/>
              <a:t> protection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49AB1898-AB45-58F1-D16D-E32A04DD7BA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254201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Protection</a:t>
                </a:r>
                <a:r>
                  <a:rPr lang="en-US" dirty="0"/>
                  <a:t>: Relative reduction in prevalence</a:t>
                </a:r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F0"/>
                    </a:solidFill>
                  </a:rPr>
                  <a:t>User protection</a:t>
                </a:r>
                <a:r>
                  <a:rPr lang="en-US" dirty="0"/>
                  <a:t>: Relative</a:t>
                </a:r>
                <a:r>
                  <a:rPr lang="en-US" b="1" dirty="0"/>
                  <a:t> </a:t>
                </a:r>
                <a:r>
                  <a:rPr lang="en-US" dirty="0"/>
                  <a:t>reduction in prevalence among LLIN users: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H" i="1">
                          <a:latin typeface="Cambria Math" panose="02040503050406030204" pitchFamily="18" charset="0"/>
                        </a:rPr>
                        <m:t>100∗</m:t>
                      </m:r>
                      <m:f>
                        <m:f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𝑐𝑜𝑢𝑛𝑡𝑒𝑟𝑓𝑎𝑐𝑡𝑢𝑎𝑙</m:t>
                              </m:r>
                            </m:sub>
                          </m:sSub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H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𝑈𝑠𝑒𝑟𝑠</m:t>
                              </m:r>
                            </m:sub>
                          </m:sSub>
                          <m:d>
                            <m:dPr>
                              <m:ctrlP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𝑐𝑜𝑢𝑛𝑡𝑒𝑟𝑓𝑎𝑐𝑡𝑢𝑎𝑙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FF9900"/>
                    </a:solidFill>
                  </a:rPr>
                  <a:t>Non-user protection</a:t>
                </a:r>
                <a:r>
                  <a:rPr lang="en-US" dirty="0"/>
                  <a:t>: Relative reduction in prevalence among non-users:</a:t>
                </a:r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  <m:r>
                          <a:rPr lang="en-CH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i="1" smtClean="0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𝑁𝑜𝑛</m:t>
                            </m:r>
                            <m:r>
                              <a:rPr lang="en-US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𝑢𝑠𝑒𝑟𝑠</m:t>
                            </m:r>
                          </m:sub>
                        </m:sSub>
                        <m:d>
                          <m:dPr>
                            <m:ctrlPr>
                              <a:rPr lang="en-CH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49AB1898-AB45-58F1-D16D-E32A04DD7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254201"/>
              </a:xfrm>
              <a:blipFill>
                <a:blip r:embed="rId3"/>
                <a:stretch>
                  <a:fillRect l="-1569" t="-168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ECC4A-9E06-B391-41CD-B2CA9CD712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19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06D5D6-9E39-1796-6B8F-455B462B3B5D}"/>
              </a:ext>
            </a:extLst>
          </p:cNvPr>
          <p:cNvSpPr txBox="1"/>
          <p:nvPr/>
        </p:nvSpPr>
        <p:spPr>
          <a:xfrm>
            <a:off x="7174692" y="2148324"/>
            <a:ext cx="1860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 =effective usage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221164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89FA-614A-D76B-45C0-8E78CC58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782D9E-EFB5-6C81-12E0-957754BC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767562"/>
          </a:xfrm>
        </p:spPr>
        <p:txBody>
          <a:bodyPr/>
          <a:lstStyle/>
          <a:p>
            <a:r>
              <a:rPr lang="en-US" dirty="0"/>
              <a:t>community protection plateaus with usage in low and moderate but not in high transmission setting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A8B5E-FE12-A401-ADED-9B00C00BD1C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20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E10E75-2FE5-997E-E450-F187857A6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859313"/>
            <a:ext cx="7878965" cy="428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33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07460-41C7-AC66-85B9-1C90C7C9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C436DB-CB51-FE77-6D89-ABDA136D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550500" cy="493718"/>
          </a:xfrm>
        </p:spPr>
        <p:txBody>
          <a:bodyPr/>
          <a:lstStyle/>
          <a:p>
            <a:r>
              <a:rPr lang="en-US" dirty="0"/>
              <a:t>Impact definitions and estimates: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protected from infection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CC00E5B7-5DF3-7D93-2FB1-73929DF3DF7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850773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F0"/>
                    </a:solidFill>
                  </a:rPr>
                  <a:t>Users</a:t>
                </a:r>
                <a:r>
                  <a:rPr lang="en-US" b="1" dirty="0"/>
                  <a:t> protected from infection </a:t>
                </a:r>
                <a:r>
                  <a:rPr lang="en-US" dirty="0"/>
                  <a:t>= 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 smtClean="0">
                        <a:solidFill>
                          <a:srgbClr val="00B0F0"/>
                        </a:solidFill>
                      </a:rPr>
                      <m:t>User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00B0F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00B0F0"/>
                        </a:solidFill>
                      </a:rPr>
                      <m:t>protection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𝑢𝑠𝑒𝑟𝑠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FF9900"/>
                    </a:solidFill>
                  </a:rPr>
                  <a:t>Non-users</a:t>
                </a:r>
                <a:r>
                  <a:rPr lang="en-US" b="1" dirty="0"/>
                  <a:t> protected from infection = 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on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FF9900"/>
                        </a:solidFill>
                      </a:rPr>
                      <m:t>ser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FF99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FF9900"/>
                        </a:solidFill>
                      </a:rPr>
                      <m:t>protection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𝑛𝑜𝑛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𝑢𝑠𝑒𝑟𝑠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9900"/>
                    </a:solidFill>
                  </a:rPr>
                  <a:t> 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Non-users protected from infection per LLIN user</a:t>
                </a:r>
              </a:p>
              <a:p>
                <a:pPr algn="ctr"/>
                <a:r>
                  <a:rPr lang="en-US" b="1" dirty="0"/>
                  <a:t> 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9900"/>
                            </a:solidFill>
                          </a:rPr>
                          <m:t>Non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9900"/>
                            </a:solidFill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9900"/>
                            </a:solidFill>
                          </a:rPr>
                          <m:t>users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99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9900"/>
                            </a:solidFill>
                          </a:rPr>
                          <m:t>protected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99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9900"/>
                            </a:solidFill>
                          </a:rPr>
                          <m:t>from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99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9900"/>
                            </a:solidFill>
                          </a:rPr>
                          <m:t>infection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rgbClr val="00B0F0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rgbClr val="00B0F0"/>
                            </a:solidFill>
                          </a:rPr>
                          <m:t>umber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rgbClr val="00B0F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rgbClr val="00B0F0"/>
                            </a:solidFill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rgbClr val="00B0F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rgbClr val="00B0F0"/>
                            </a:solidFill>
                          </a:rPr>
                          <m:t>users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CC00E5B7-5DF3-7D93-2FB1-73929DF3D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850773"/>
              </a:xfrm>
              <a:blipFill>
                <a:blip r:embed="rId3"/>
                <a:stretch>
                  <a:fillRect l="-1569" t="-142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7EAF8-8219-48F1-D652-E4424CDD14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21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09A20-65C3-FDB4-311F-71116BE8680C}"/>
              </a:ext>
            </a:extLst>
          </p:cNvPr>
          <p:cNvSpPr txBox="1"/>
          <p:nvPr/>
        </p:nvSpPr>
        <p:spPr>
          <a:xfrm>
            <a:off x="7082543" y="1141775"/>
            <a:ext cx="1860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 =effective usage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121207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ADB9B-6D00-3E3A-1247-C83F1BB5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B323EA-95EF-574F-82CC-35B689E1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084038" cy="767562"/>
          </a:xfrm>
        </p:spPr>
        <p:txBody>
          <a:bodyPr/>
          <a:lstStyle/>
          <a:p>
            <a:r>
              <a:rPr lang="en-US" dirty="0"/>
              <a:t>Usage level at which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benefit maximally shifts toward high levels with increasing </a:t>
            </a:r>
            <a:r>
              <a:rPr lang="en-US" dirty="0" err="1"/>
              <a:t>PfPR</a:t>
            </a:r>
            <a:r>
              <a:rPr lang="en-US" dirty="0"/>
              <a:t> (20   40   50%)</a:t>
            </a:r>
            <a:endParaRPr lang="en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48AE6-E4E3-6349-EDE2-7ACC5FE990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22</a:t>
            </a:fld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BC14F6-1466-5283-94E5-F9D419C64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55" y="767562"/>
            <a:ext cx="7928196" cy="431095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43D424E-B1CB-2D0C-D4DC-3D07A7F9506A}"/>
              </a:ext>
            </a:extLst>
          </p:cNvPr>
          <p:cNvCxnSpPr>
            <a:cxnSpLocks/>
          </p:cNvCxnSpPr>
          <p:nvPr/>
        </p:nvCxnSpPr>
        <p:spPr>
          <a:xfrm>
            <a:off x="6882063" y="556890"/>
            <a:ext cx="1650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DFBD74-9330-57E9-5E80-217316091433}"/>
              </a:ext>
            </a:extLst>
          </p:cNvPr>
          <p:cNvCxnSpPr>
            <a:cxnSpLocks/>
          </p:cNvCxnSpPr>
          <p:nvPr/>
        </p:nvCxnSpPr>
        <p:spPr>
          <a:xfrm>
            <a:off x="7515726" y="556890"/>
            <a:ext cx="1650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852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97F1-DFE8-D28E-C57E-40F13A97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107DF8-3F7C-31E8-2C87-56697A90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6" y="0"/>
            <a:ext cx="9024077" cy="767562"/>
          </a:xfrm>
        </p:spPr>
        <p:txBody>
          <a:bodyPr/>
          <a:lstStyle/>
          <a:p>
            <a:r>
              <a:rPr lang="en-US" dirty="0"/>
              <a:t>community protection compensates for moderate coverage in low (40%) and moderate (60%) transmission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4F041-0CFE-172C-B9A1-A04A698E42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23</a:t>
            </a:fld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6C44FE-E038-418C-3846-FF1503B66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79" y="767562"/>
            <a:ext cx="7885841" cy="428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39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81506-0CA6-668C-2570-A6895FD6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8DEB37-822E-E6BB-EDDE-8240AE69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7562"/>
          </a:xfrm>
        </p:spPr>
        <p:txBody>
          <a:bodyPr/>
          <a:lstStyle/>
          <a:p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protected from infection per LLIN </a:t>
            </a:r>
            <a:r>
              <a:rPr lang="en-US" dirty="0">
                <a:solidFill>
                  <a:srgbClr val="00B0F0"/>
                </a:solidFill>
              </a:rPr>
              <a:t>user</a:t>
            </a:r>
            <a:r>
              <a:rPr lang="en-US" dirty="0"/>
              <a:t> decreases with increasing usage across transmission intensities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CFCB-EAB9-38F4-330B-D1B8F4938E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24</a:t>
            </a:fld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A83863-BAE1-024F-75DA-87D703955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77" y="1124738"/>
            <a:ext cx="7390827" cy="401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45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5BBB-8E0A-9806-FB7A-A5B1FB37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6CDEFF-FDBB-9115-A955-489D5BF2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516530"/>
          </a:xfrm>
        </p:spPr>
        <p:txBody>
          <a:bodyPr/>
          <a:lstStyle/>
          <a:p>
            <a:r>
              <a:rPr lang="de-CH" dirty="0"/>
              <a:t>Comparison with literature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B3F2C-84C3-AB17-2F93-9F49FE5AE5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25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BC4F3-F26F-CF40-A359-2821E80920EA}"/>
              </a:ext>
            </a:extLst>
          </p:cNvPr>
          <p:cNvSpPr txBox="1"/>
          <p:nvPr/>
        </p:nvSpPr>
        <p:spPr>
          <a:xfrm>
            <a:off x="484315" y="516530"/>
            <a:ext cx="53706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Moderate to high transmission</a:t>
            </a:r>
            <a:r>
              <a:rPr lang="en-US" dirty="0"/>
              <a:t> setting - </a:t>
            </a:r>
            <a:r>
              <a:rPr lang="en-US" b="1" dirty="0"/>
              <a:t>Tanzania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Chlorphenapyr</a:t>
            </a:r>
            <a:r>
              <a:rPr lang="en-US" dirty="0"/>
              <a:t> arm (IG2) provides protection among non-users with cluster usage below </a:t>
            </a:r>
            <a:r>
              <a:rPr lang="en-US" b="1" dirty="0"/>
              <a:t>40% </a:t>
            </a:r>
            <a:r>
              <a:rPr lang="en-US" dirty="0"/>
              <a:t>(</a:t>
            </a:r>
            <a:r>
              <a:rPr lang="en-US" dirty="0" err="1"/>
              <a:t>Lukole</a:t>
            </a:r>
            <a:r>
              <a:rPr lang="en-US" dirty="0"/>
              <a:t> et al., 2025)</a:t>
            </a:r>
          </a:p>
          <a:p>
            <a:endParaRPr lang="en-US" dirty="0"/>
          </a:p>
          <a:p>
            <a:r>
              <a:rPr lang="en-US" b="1" dirty="0"/>
              <a:t>high</a:t>
            </a:r>
            <a:r>
              <a:rPr lang="en-US" dirty="0"/>
              <a:t> </a:t>
            </a:r>
            <a:r>
              <a:rPr lang="en-US" b="1" dirty="0"/>
              <a:t>transmission</a:t>
            </a:r>
            <a:r>
              <a:rPr lang="en-US" dirty="0"/>
              <a:t> setting – </a:t>
            </a:r>
            <a:r>
              <a:rPr lang="en-US" b="1" dirty="0"/>
              <a:t>Western</a:t>
            </a:r>
            <a:r>
              <a:rPr lang="en-US" dirty="0"/>
              <a:t> </a:t>
            </a:r>
            <a:r>
              <a:rPr lang="en-US" b="1" dirty="0"/>
              <a:t>Kenya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least </a:t>
            </a:r>
            <a:r>
              <a:rPr lang="en-US" b="1" dirty="0"/>
              <a:t>35% </a:t>
            </a:r>
            <a:r>
              <a:rPr lang="en-US" dirty="0"/>
              <a:t>community coverage of nets is required to </a:t>
            </a:r>
            <a:r>
              <a:rPr lang="en-US" b="1" dirty="0"/>
              <a:t>protect non-users </a:t>
            </a:r>
            <a:r>
              <a:rPr lang="en-US" dirty="0"/>
              <a:t>(Osuke et al., 2012)</a:t>
            </a:r>
          </a:p>
          <a:p>
            <a:endParaRPr lang="en-US" dirty="0"/>
          </a:p>
          <a:p>
            <a:r>
              <a:rPr lang="en-US" u="sng" dirty="0"/>
              <a:t>modeling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35–65% </a:t>
            </a:r>
            <a:r>
              <a:rPr lang="en-US" dirty="0"/>
              <a:t>would be needed to achieve community-wide benefits (Killeen et al., 2007)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one LLIN user </a:t>
            </a:r>
            <a:r>
              <a:rPr lang="en-US" dirty="0"/>
              <a:t>provides some </a:t>
            </a:r>
            <a:r>
              <a:rPr lang="en-US" b="1" dirty="0"/>
              <a:t>protection </a:t>
            </a:r>
            <a:r>
              <a:rPr lang="en-US" dirty="0"/>
              <a:t>to</a:t>
            </a:r>
            <a:r>
              <a:rPr lang="en-US" b="1" dirty="0"/>
              <a:t> non-users </a:t>
            </a:r>
            <a:r>
              <a:rPr lang="en-US" dirty="0"/>
              <a:t>(Unwin et al., 2023)</a:t>
            </a:r>
            <a:endParaRPr lang="en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63A57-C1ED-80BB-BAC3-B3B233ED3D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731" y="1409366"/>
            <a:ext cx="3687236" cy="200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5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2990-C25A-A142-FB18-22B08BFE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3A88CDA-9A59-35F3-12E9-DD233C8D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670556" cy="493718"/>
          </a:xfrm>
        </p:spPr>
        <p:txBody>
          <a:bodyPr/>
          <a:lstStyle/>
          <a:p>
            <a:r>
              <a:rPr lang="en-US" dirty="0"/>
              <a:t>Impact definitions and estimates: cost-effectiveness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398DEC49-2CFE-0749-81FE-18DD7A319C2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84316" y="854433"/>
                <a:ext cx="8550501" cy="3958572"/>
              </a:xfrm>
            </p:spPr>
            <p:txBody>
              <a:bodyPr/>
              <a:lstStyle/>
              <a:p>
                <a:r>
                  <a:rPr lang="en-US" b="1" u="sng" dirty="0"/>
                  <a:t>3 cost structure assumptions: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Decreasing cost (Economies of scale)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U-shaped cost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H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𝑜𝑡𝑎𝑙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H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𝑜𝑠𝑡</m:t>
                      </m:r>
                      <m:d>
                        <m:d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𝑢𝑛𝑖𝑡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H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𝑜𝑠𝑡</m:t>
                      </m:r>
                      <m:d>
                        <m:d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F0"/>
                    </a:solidFill>
                  </a:rPr>
                  <a:t>Users protected </a:t>
                </a:r>
                <a:r>
                  <a:rPr lang="en-US" b="1" dirty="0"/>
                  <a:t>from infection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H" b="1"/>
                      <m:t>per</m:t>
                    </m:r>
                    <m:r>
                      <m:rPr>
                        <m:nor/>
                      </m:rPr>
                      <a:rPr lang="en-CH" b="1"/>
                      <m:t> </m:t>
                    </m:r>
                    <m:r>
                      <m:rPr>
                        <m:nor/>
                      </m:rPr>
                      <a:rPr lang="en-CH" b="1"/>
                      <m:t>dollar</m:t>
                    </m:r>
                    <m:r>
                      <m:rPr>
                        <m:nor/>
                      </m:rPr>
                      <a:rPr lang="en-CH" b="1"/>
                      <m:t> </m:t>
                    </m:r>
                    <m:r>
                      <m:rPr>
                        <m:nor/>
                      </m:rPr>
                      <a:rPr lang="en-CH" b="1"/>
                      <m:t>spent</m:t>
                    </m:r>
                    <m:r>
                      <a:rPr lang="en-CH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00B0F0"/>
                              </a:solidFill>
                            </a:rPr>
                            <m:t>users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00B0F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00B0F0"/>
                              </a:solidFill>
                            </a:rPr>
                            <m:t>protected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</a:rPr>
                            <m:t>from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</a:rPr>
                            <m:t>infection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00B0F0"/>
                              </a:solidFill>
                            </a:rPr>
                            <m:t> </m:t>
                          </m:r>
                          <m:r>
                            <a:rPr lang="en-CH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CH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𝑇𝐶</m:t>
                          </m:r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CH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H" b="1" smtClean="0">
                        <a:solidFill>
                          <a:srgbClr val="FF9900"/>
                        </a:solidFill>
                      </a:rPr>
                      <m:t>non</m:t>
                    </m:r>
                    <m:r>
                      <m:rPr>
                        <m:nor/>
                      </m:rPr>
                      <a:rPr lang="en-CH" b="1" smtClean="0">
                        <a:solidFill>
                          <a:srgbClr val="FF9900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CH" b="1" smtClean="0">
                        <a:solidFill>
                          <a:srgbClr val="FF9900"/>
                        </a:solidFill>
                      </a:rPr>
                      <m:t>users</m:t>
                    </m:r>
                    <m:r>
                      <m:rPr>
                        <m:nor/>
                      </m:rPr>
                      <a:rPr lang="en-CH" b="1" smtClean="0">
                        <a:solidFill>
                          <a:srgbClr val="FF99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CH" b="1" smtClean="0">
                        <a:solidFill>
                          <a:srgbClr val="FF9900"/>
                        </a:solidFill>
                      </a:rPr>
                      <m:t>protected</m:t>
                    </m:r>
                    <m:r>
                      <m:rPr>
                        <m:nor/>
                      </m:rPr>
                      <a:rPr lang="en-CH" b="1" smtClean="0">
                        <a:solidFill>
                          <a:srgbClr val="FF99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i="0" smtClean="0"/>
                      <m:t>from</m:t>
                    </m:r>
                    <m:r>
                      <m:rPr>
                        <m:nor/>
                      </m:rPr>
                      <a:rPr lang="en-US" b="1" i="0" smtClean="0"/>
                      <m:t> </m:t>
                    </m:r>
                    <m:r>
                      <m:rPr>
                        <m:nor/>
                      </m:rPr>
                      <a:rPr lang="en-US" b="1" i="0" smtClean="0"/>
                      <m:t>infection</m:t>
                    </m:r>
                    <m:r>
                      <m:rPr>
                        <m:nor/>
                      </m:rPr>
                      <a:rPr lang="en-US" b="1" i="0" smtClean="0"/>
                      <m:t> </m:t>
                    </m:r>
                    <m:r>
                      <m:rPr>
                        <m:nor/>
                      </m:rPr>
                      <a:rPr lang="en-CH" b="1" smtClean="0"/>
                      <m:t>per</m:t>
                    </m:r>
                    <m:r>
                      <m:rPr>
                        <m:nor/>
                      </m:rPr>
                      <a:rPr lang="en-CH" b="1" smtClean="0"/>
                      <m:t> </m:t>
                    </m:r>
                    <m:r>
                      <m:rPr>
                        <m:nor/>
                      </m:rPr>
                      <a:rPr lang="en-CH" b="1" smtClean="0"/>
                      <m:t>dollar</m:t>
                    </m:r>
                    <m:r>
                      <m:rPr>
                        <m:nor/>
                      </m:rPr>
                      <a:rPr lang="en-CH" b="1" smtClean="0"/>
                      <m:t> </m:t>
                    </m:r>
                    <m:r>
                      <m:rPr>
                        <m:nor/>
                      </m:rPr>
                      <a:rPr lang="en-CH" b="1" smtClean="0"/>
                      <m:t>spent</m:t>
                    </m:r>
                    <m:r>
                      <a:rPr lang="en-CH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9900"/>
                              </a:solidFill>
                            </a:rPr>
                            <m:t>non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9900"/>
                              </a:solidFill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9900"/>
                              </a:solidFill>
                            </a:rPr>
                            <m:t>users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99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9900"/>
                              </a:solidFill>
                            </a:rPr>
                            <m:t>protected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99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9900"/>
                              </a:solidFill>
                            </a:rPr>
                            <m:t>from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99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9900"/>
                              </a:solidFill>
                            </a:rPr>
                            <m:t>infection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9900"/>
                              </a:solidFill>
                            </a:rPr>
                            <m:t> </m:t>
                          </m:r>
                          <m:r>
                            <a:rPr lang="en-CH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CH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𝑇𝐶</m:t>
                          </m:r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398DEC49-2CFE-0749-81FE-18DD7A319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84316" y="854433"/>
                <a:ext cx="8550501" cy="3958572"/>
              </a:xfrm>
              <a:blipFill>
                <a:blip r:embed="rId3"/>
                <a:stretch>
                  <a:fillRect l="-1639" t="-138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5E0A2-73E1-9889-C7FD-A2C7480AE7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26</a:t>
            </a:fld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3FC32F-453A-4A7A-4431-D9BE9636643D}"/>
              </a:ext>
            </a:extLst>
          </p:cNvPr>
          <p:cNvSpPr txBox="1"/>
          <p:nvPr/>
        </p:nvSpPr>
        <p:spPr>
          <a:xfrm>
            <a:off x="7174692" y="2148324"/>
            <a:ext cx="1860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 =effective usage</a:t>
            </a:r>
            <a:endParaRPr lang="en-CH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E04F92-C18F-7342-013E-666FA758F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54190"/>
            <a:ext cx="3381153" cy="160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3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F3717-4362-8F9F-A003-30603C24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81B06F-CCE8-F5B8-DE92-5EA4893A2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16" y="0"/>
            <a:ext cx="8881672" cy="767562"/>
          </a:xfrm>
        </p:spPr>
        <p:txBody>
          <a:bodyPr/>
          <a:lstStyle/>
          <a:p>
            <a:r>
              <a:rPr lang="en-US" dirty="0"/>
              <a:t>LLINs are most cost-effective in low and moderate PfPR setting regardless of the cost structure or usage status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2CB14-7D23-B97B-95D3-9907AB8EDA4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27</a:t>
            </a:fld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07EEEC-4387-E184-83F9-ADF54DE36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03" y="767562"/>
            <a:ext cx="7875181" cy="428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39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68D68B-E354-B7F5-BE1D-9307D457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F3DF9E-7958-95B7-3297-61EDD99A8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28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29F106-CF55-4C6D-9F8F-85A745852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varies</a:t>
            </a:r>
            <a:r>
              <a:rPr lang="en-US" dirty="0"/>
              <a:t> with </a:t>
            </a:r>
            <a:r>
              <a:rPr lang="en-US" b="1" dirty="0"/>
              <a:t>usage</a:t>
            </a:r>
            <a:r>
              <a:rPr lang="en-US" dirty="0"/>
              <a:t> and </a:t>
            </a:r>
            <a:r>
              <a:rPr lang="en-US" b="1" dirty="0"/>
              <a:t>transmission intensity</a:t>
            </a:r>
            <a:r>
              <a:rPr lang="en-US" dirty="0"/>
              <a:t>, but </a:t>
            </a:r>
            <a:r>
              <a:rPr lang="en-US" b="1" dirty="0"/>
              <a:t>not</a:t>
            </a:r>
            <a:r>
              <a:rPr lang="en-US" dirty="0"/>
              <a:t> with </a:t>
            </a:r>
            <a:r>
              <a:rPr lang="en-US" b="1" dirty="0"/>
              <a:t>time</a:t>
            </a:r>
            <a:r>
              <a:rPr lang="en-US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2F0BD5-36DE-CF59-819E-336143886A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plateaus</a:t>
            </a:r>
            <a:r>
              <a:rPr lang="en-US" dirty="0"/>
              <a:t> in </a:t>
            </a:r>
            <a:r>
              <a:rPr lang="en-US" b="1" dirty="0"/>
              <a:t>low</a:t>
            </a:r>
            <a:r>
              <a:rPr lang="en-US" dirty="0"/>
              <a:t> and </a:t>
            </a:r>
            <a:r>
              <a:rPr lang="en-US" b="1" dirty="0"/>
              <a:t>moderate</a:t>
            </a:r>
            <a:r>
              <a:rPr lang="en-US" dirty="0"/>
              <a:t> but </a:t>
            </a:r>
            <a:r>
              <a:rPr lang="en-US" b="1" dirty="0"/>
              <a:t>not</a:t>
            </a:r>
            <a:r>
              <a:rPr lang="en-US" dirty="0"/>
              <a:t> in </a:t>
            </a:r>
            <a:r>
              <a:rPr lang="en-US" b="1" dirty="0"/>
              <a:t>high transmission </a:t>
            </a:r>
            <a:r>
              <a:rPr lang="en-US" dirty="0"/>
              <a:t>intensity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6625B6-8502-E5D6-941E-2149F9EBDC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Non-users</a:t>
            </a:r>
            <a:r>
              <a:rPr lang="en-US" dirty="0"/>
              <a:t> benefit </a:t>
            </a:r>
            <a:r>
              <a:rPr lang="en-US" b="1" dirty="0"/>
              <a:t>maximally</a:t>
            </a:r>
            <a:r>
              <a:rPr lang="en-US" dirty="0"/>
              <a:t> from community protection at </a:t>
            </a:r>
            <a:r>
              <a:rPr lang="en-US" b="1" dirty="0"/>
              <a:t>~50% </a:t>
            </a:r>
            <a:r>
              <a:rPr lang="en-US" dirty="0"/>
              <a:t>usage in </a:t>
            </a:r>
            <a:r>
              <a:rPr lang="en-US" b="1" dirty="0"/>
              <a:t>moderate</a:t>
            </a:r>
            <a:r>
              <a:rPr lang="en-US" dirty="0"/>
              <a:t> and </a:t>
            </a:r>
            <a:r>
              <a:rPr lang="en-US" b="1" dirty="0"/>
              <a:t>high</a:t>
            </a:r>
            <a:r>
              <a:rPr lang="en-US" dirty="0"/>
              <a:t> </a:t>
            </a:r>
            <a:r>
              <a:rPr lang="en-US" b="1" dirty="0"/>
              <a:t>PfPR</a:t>
            </a:r>
            <a:r>
              <a:rPr lang="en-US" dirty="0"/>
              <a:t>, and at </a:t>
            </a:r>
            <a:r>
              <a:rPr lang="en-US" b="1" dirty="0"/>
              <a:t>~20% </a:t>
            </a:r>
            <a:r>
              <a:rPr lang="en-US" dirty="0"/>
              <a:t>in</a:t>
            </a:r>
            <a:r>
              <a:rPr lang="en-US" b="1" dirty="0"/>
              <a:t> low</a:t>
            </a:r>
          </a:p>
        </p:txBody>
      </p:sp>
    </p:spTree>
    <p:extLst>
      <p:ext uri="{BB962C8B-B14F-4D97-AF65-F5344CB8AC3E}">
        <p14:creationId xmlns:p14="http://schemas.microsoft.com/office/powerpoint/2010/main" val="863581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BC600-22D9-1AE2-3894-5D8FDF3F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B7C995-4B8B-1CB7-75B5-77CAD46C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3BA83-75EB-7961-2C79-D74EA78D6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29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694F79-1106-F4E8-7516-CD834055E5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</a:t>
            </a:r>
            <a:r>
              <a:rPr lang="en-US" b="1" dirty="0"/>
              <a:t> total number of people </a:t>
            </a:r>
            <a:r>
              <a:rPr lang="en-US" dirty="0"/>
              <a:t>protected from infection</a:t>
            </a:r>
            <a:r>
              <a:rPr lang="en-US" b="1" dirty="0"/>
              <a:t> plateaus</a:t>
            </a:r>
            <a:r>
              <a:rPr lang="en-US" dirty="0"/>
              <a:t> in </a:t>
            </a:r>
            <a:r>
              <a:rPr lang="en-US" b="1" dirty="0"/>
              <a:t>low </a:t>
            </a:r>
            <a:r>
              <a:rPr lang="en-US" b="1" dirty="0" err="1"/>
              <a:t>PfPR</a:t>
            </a:r>
            <a:r>
              <a:rPr lang="en-US" b="1" dirty="0"/>
              <a:t> </a:t>
            </a:r>
            <a:r>
              <a:rPr lang="en-US" dirty="0"/>
              <a:t>at</a:t>
            </a:r>
            <a:r>
              <a:rPr lang="en-US" b="1" dirty="0"/>
              <a:t> 40%</a:t>
            </a:r>
            <a:r>
              <a:rPr lang="en-US" dirty="0"/>
              <a:t> and plateaus in </a:t>
            </a:r>
            <a:r>
              <a:rPr lang="en-US" b="1" dirty="0"/>
              <a:t>moderate </a:t>
            </a:r>
            <a:r>
              <a:rPr lang="en-US" b="1" dirty="0" err="1"/>
              <a:t>PfPR</a:t>
            </a:r>
            <a:r>
              <a:rPr lang="en-US" b="1" dirty="0"/>
              <a:t> at 60%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B7A7DC-29ED-FC21-E283-76A02D2257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0A1879-3ABE-DE6F-87DE-DFABD5DCBA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3435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DE3B4-EB95-5FE8-BCD2-2E38D104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D0AEEE-F7F0-E5F4-BC20-0E141992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F4314-8BEF-265A-B441-EE9B1DC69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30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708CB2-0A40-4767-5C82-B8D0478D56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4892859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compensates for low (~30%) and moderate (~50%) </a:t>
            </a:r>
            <a:r>
              <a:rPr lang="en-US" dirty="0"/>
              <a:t>usage in </a:t>
            </a:r>
            <a:r>
              <a:rPr lang="en-US" b="1" dirty="0"/>
              <a:t>low and moderate </a:t>
            </a:r>
            <a:r>
              <a:rPr lang="en-US" dirty="0"/>
              <a:t>transmission intensities respectively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7F7571-D49D-0914-28D8-B13C15C69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Non-users protected </a:t>
            </a:r>
            <a:r>
              <a:rPr lang="en-US" dirty="0"/>
              <a:t>from infection </a:t>
            </a:r>
            <a:r>
              <a:rPr lang="en-US" b="1" dirty="0"/>
              <a:t>per LLIN user</a:t>
            </a:r>
            <a:r>
              <a:rPr lang="en-US" dirty="0"/>
              <a:t> </a:t>
            </a:r>
            <a:r>
              <a:rPr lang="en-US" b="1" dirty="0"/>
              <a:t>decreases</a:t>
            </a:r>
            <a:r>
              <a:rPr lang="en-US" dirty="0"/>
              <a:t> with </a:t>
            </a:r>
            <a:r>
              <a:rPr lang="en-US" b="1" dirty="0"/>
              <a:t>increasing usage </a:t>
            </a:r>
            <a:r>
              <a:rPr lang="en-US" dirty="0"/>
              <a:t>across all transmission intensities</a:t>
            </a:r>
            <a:endParaRPr lang="en-US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F1EB75-C9D8-925C-7398-85322E514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513" y="3304018"/>
            <a:ext cx="5339427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LLINs are most </a:t>
            </a:r>
            <a:r>
              <a:rPr lang="en-US" b="1" dirty="0"/>
              <a:t>cost-effective</a:t>
            </a:r>
            <a:r>
              <a:rPr lang="en-US" dirty="0"/>
              <a:t> in </a:t>
            </a:r>
            <a:r>
              <a:rPr lang="en-US" b="1" dirty="0"/>
              <a:t>low and moderate transmission</a:t>
            </a:r>
            <a:r>
              <a:rPr lang="en-US" dirty="0"/>
              <a:t> settings </a:t>
            </a:r>
            <a:r>
              <a:rPr lang="en-US" b="1" dirty="0"/>
              <a:t>(with moderate effective usage)</a:t>
            </a:r>
            <a:r>
              <a:rPr lang="en-US" dirty="0"/>
              <a:t>, irrespective of the cost structure or LLIN usage status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93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F0A5-831F-2A5A-9FF8-0FF0C712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49E616-9BF8-A7AA-1BB0-E32AB9EB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278"/>
            <a:ext cx="4631961" cy="1196320"/>
          </a:xfrm>
        </p:spPr>
        <p:txBody>
          <a:bodyPr/>
          <a:lstStyle/>
          <a:p>
            <a:r>
              <a:rPr lang="en-US" dirty="0"/>
              <a:t>Recommendations: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0C190F-5108-0417-44AB-9EADF37D3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31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AFE5AB-3D24-F51A-58C3-92078AEE5E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5372021" cy="100488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low to moderate </a:t>
            </a:r>
            <a:r>
              <a:rPr lang="en-US" dirty="0"/>
              <a:t>effective usage </a:t>
            </a:r>
            <a:r>
              <a:rPr lang="en-US" b="1" dirty="0"/>
              <a:t>~(30% - 40%) is recommended </a:t>
            </a:r>
            <a:r>
              <a:rPr lang="en-US" dirty="0"/>
              <a:t>in </a:t>
            </a:r>
            <a:r>
              <a:rPr lang="en-US" b="1" dirty="0"/>
              <a:t>low transmission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247136-BCFC-467F-A02B-429422D917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b="1" dirty="0"/>
              <a:t>moderate</a:t>
            </a:r>
            <a:r>
              <a:rPr lang="en-US" dirty="0"/>
              <a:t> effective usage (</a:t>
            </a:r>
            <a:r>
              <a:rPr lang="en-US" b="1" dirty="0"/>
              <a:t>~50% - 60%)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/>
              <a:t>recommended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/>
              <a:t>moderate transmission</a:t>
            </a:r>
            <a:endParaRPr lang="en-CH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D7EFA2-9001-9C42-3B41-0819A2FB5E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high transmission, </a:t>
            </a:r>
            <a:r>
              <a:rPr lang="en-US" b="1" dirty="0"/>
              <a:t>high </a:t>
            </a:r>
            <a:r>
              <a:rPr lang="en-US" dirty="0"/>
              <a:t>effective usage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b="1" dirty="0"/>
              <a:t>recommended</a:t>
            </a:r>
            <a:r>
              <a:rPr lang="en-US" dirty="0"/>
              <a:t> as gains continue to increase with increasing coverage (no plateau)</a:t>
            </a:r>
          </a:p>
        </p:txBody>
      </p:sp>
    </p:spTree>
    <p:extLst>
      <p:ext uri="{BB962C8B-B14F-4D97-AF65-F5344CB8AC3E}">
        <p14:creationId xmlns:p14="http://schemas.microsoft.com/office/powerpoint/2010/main" val="1453467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D593-3281-4015-0E03-26F131139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37BDD-E736-30EC-7CC7-8ED311D6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278"/>
            <a:ext cx="4631961" cy="1196320"/>
          </a:xfrm>
        </p:spPr>
        <p:txBody>
          <a:bodyPr/>
          <a:lstStyle/>
          <a:p>
            <a:r>
              <a:rPr lang="en-US" dirty="0"/>
              <a:t>Recommendations: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C0F7CC-92CE-6F34-FE0B-9921D1549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32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C50D0B-702C-6958-F999-F251CF2E17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5372021" cy="100488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LLINs </a:t>
            </a:r>
            <a:r>
              <a:rPr lang="en-US" dirty="0"/>
              <a:t>should be </a:t>
            </a:r>
            <a:r>
              <a:rPr lang="en-US" b="1" dirty="0"/>
              <a:t>targeted </a:t>
            </a:r>
            <a:r>
              <a:rPr lang="en-US" dirty="0"/>
              <a:t>to</a:t>
            </a:r>
            <a:r>
              <a:rPr lang="en-US" b="1" dirty="0"/>
              <a:t> low and transmission intensities </a:t>
            </a:r>
            <a:r>
              <a:rPr lang="en-US" dirty="0"/>
              <a:t>where they are </a:t>
            </a:r>
            <a:r>
              <a:rPr lang="en-US" b="1" dirty="0"/>
              <a:t>most cost-effective </a:t>
            </a:r>
            <a:r>
              <a:rPr lang="en-US" dirty="0"/>
              <a:t>with less resources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5779EA-3FB9-3986-3DE5-7D3944CA6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9513" y="2005228"/>
            <a:ext cx="5140952" cy="1004887"/>
          </a:xfrm>
        </p:spPr>
        <p:txBody>
          <a:bodyPr/>
          <a:lstStyle/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dirty="0"/>
              <a:t>LLINs should be </a:t>
            </a:r>
            <a:r>
              <a:rPr lang="en-US" b="1" dirty="0"/>
              <a:t>complimented </a:t>
            </a:r>
            <a:r>
              <a:rPr lang="en-US" dirty="0"/>
              <a:t>with other </a:t>
            </a:r>
            <a:r>
              <a:rPr lang="en-US" b="1" dirty="0"/>
              <a:t>malaria control interventions, </a:t>
            </a:r>
            <a:r>
              <a:rPr lang="en-US" dirty="0"/>
              <a:t>especially in </a:t>
            </a:r>
            <a:r>
              <a:rPr lang="en-US" b="1" dirty="0"/>
              <a:t>high transmission</a:t>
            </a:r>
            <a:endParaRPr lang="en-CH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1A5949-329D-C7D1-6460-CD2E64079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641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B7E9-A338-A725-0720-C2BEB529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026AD2-1E6A-9D94-3336-E0613A0C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6" y="188447"/>
            <a:ext cx="8238756" cy="767562"/>
          </a:xfrm>
        </p:spPr>
        <p:txBody>
          <a:bodyPr/>
          <a:lstStyle/>
          <a:p>
            <a:r>
              <a:rPr lang="de-CH" dirty="0" err="1"/>
              <a:t>Limitations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98704-BBB7-C366-5427-A8C3617B12E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33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4DDF43-5428-4B2C-A397-102BBB46A719}"/>
              </a:ext>
            </a:extLst>
          </p:cNvPr>
          <p:cNvSpPr txBox="1"/>
          <p:nvPr/>
        </p:nvSpPr>
        <p:spPr>
          <a:xfrm>
            <a:off x="427018" y="956009"/>
            <a:ext cx="858880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simplifies reality, and may not fully capture all </a:t>
            </a:r>
            <a:r>
              <a:rPr lang="en-US" b="1" dirty="0"/>
              <a:t>sources of heterogeneity </a:t>
            </a:r>
            <a:r>
              <a:rPr lang="en-US" dirty="0"/>
              <a:t>present in </a:t>
            </a:r>
            <a:r>
              <a:rPr lang="en-US" b="1" dirty="0"/>
              <a:t>real-world</a:t>
            </a:r>
            <a:r>
              <a:rPr lang="en-US" dirty="0"/>
              <a:t> contexts,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variations in human behaviour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Activity patterns </a:t>
            </a:r>
            <a:r>
              <a:rPr lang="en-US" sz="1600"/>
              <a:t>of vectors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durability of nets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intervention adherence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spatial heterogeneity </a:t>
            </a:r>
          </a:p>
          <a:p>
            <a:pPr lvl="1"/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assume that users and non-users are in close enough proximity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effect of the spread of pyrethroid resistance was not considered here which could alter the LLIN effects estimated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22137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DCCEB-8F1E-9062-EDEC-003DBB7206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CH" dirty="0"/>
              <a:t>zenabu.suboi@swisstph.ch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D5647C-62F4-A838-DF32-383A8BDC2D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CH" dirty="0"/>
              <a:t>Supervisors: Christian Selinger, Emilie Pothin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A576679-FE2C-9702-8E88-E4D04A4AA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27" y="1899580"/>
            <a:ext cx="8243886" cy="493718"/>
          </a:xfrm>
        </p:spPr>
        <p:txBody>
          <a:bodyPr/>
          <a:lstStyle/>
          <a:p>
            <a:r>
              <a:rPr lang="en-US" sz="3600" dirty="0"/>
              <a:t>Thank you for your attention</a:t>
            </a:r>
            <a:endParaRPr lang="de-CH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84F93-942C-5B3F-9D22-EDE1997543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92031928"/>
      </p:ext>
    </p:extLst>
  </p:cSld>
  <p:clrMapOvr>
    <a:masterClrMapping/>
  </p:clrMapOvr>
</p:sld>
</file>

<file path=ppt/theme/theme1.xml><?xml version="1.0" encoding="utf-8"?>
<a:theme xmlns:a="http://schemas.openxmlformats.org/drawingml/2006/main" name="SwissTPH2026">
  <a:themeElements>
    <a:clrScheme name="Swiss TPH 2026">
      <a:dk1>
        <a:srgbClr val="000000"/>
      </a:dk1>
      <a:lt1>
        <a:srgbClr val="FFFFFF"/>
      </a:lt1>
      <a:dk2>
        <a:srgbClr val="432CA1"/>
      </a:dk2>
      <a:lt2>
        <a:srgbClr val="D3D2FE"/>
      </a:lt2>
      <a:accent1>
        <a:srgbClr val="432CA1"/>
      </a:accent1>
      <a:accent2>
        <a:srgbClr val="D3D2FE"/>
      </a:accent2>
      <a:accent3>
        <a:srgbClr val="DDE24A"/>
      </a:accent3>
      <a:accent4>
        <a:srgbClr val="EA6674"/>
      </a:accent4>
      <a:accent5>
        <a:srgbClr val="998CFE"/>
      </a:accent5>
      <a:accent6>
        <a:srgbClr val="3A0176"/>
      </a:accent6>
      <a:hlink>
        <a:srgbClr val="0000AA"/>
      </a:hlink>
      <a:folHlink>
        <a:srgbClr val="658BE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C5608FE3-6D95-44AA-A4EA-49F2914986DF}" vid="{E970452D-856E-43E7-A9E2-B38CC9707A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927CB58-2FFC-4B78-AC08-97E966F5DA3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11307bd4-e41c-49f8-822d-4ebafbb77bf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0ba1161-8fcf-4648-a98a-8cbde4cee383" xsi:nil="true"/>
    <lcf76f155ced4ddcb4097134ff3c332f xmlns="ee9d2b9f-9545-45fa-9117-0d8c20be045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3271A4D6A8A4F824758BD8F4739A3" ma:contentTypeVersion="13" ma:contentTypeDescription="Create a new document." ma:contentTypeScope="" ma:versionID="a1c0693b607dd6f91e6177489631d03c">
  <xsd:schema xmlns:xsd="http://www.w3.org/2001/XMLSchema" xmlns:xs="http://www.w3.org/2001/XMLSchema" xmlns:p="http://schemas.microsoft.com/office/2006/metadata/properties" xmlns:ns2="ee9d2b9f-9545-45fa-9117-0d8c20be045f" xmlns:ns3="50ba1161-8fcf-4648-a98a-8cbde4cee383" targetNamespace="http://schemas.microsoft.com/office/2006/metadata/properties" ma:root="true" ma:fieldsID="2589725228f1db46fc508b989fd01238" ns2:_="" ns3:_="">
    <xsd:import namespace="ee9d2b9f-9545-45fa-9117-0d8c20be045f"/>
    <xsd:import namespace="50ba1161-8fcf-4648-a98a-8cbde4cee3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9d2b9f-9545-45fa-9117-0d8c20be04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6808ac5-9ffb-4475-b3a9-4acfa5ab9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a1161-8fcf-4648-a98a-8cbde4cee38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a452a50-ab64-4a12-895f-08752ca94582}" ma:internalName="TaxCatchAll" ma:showField="CatchAllData" ma:web="50ba1161-8fcf-4648-a98a-8cbde4cee3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5AE8BB-A4BB-4E89-B55D-B4E5604730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10BB5C-7355-4D41-B1BB-CFD6F211FEDD}">
  <ds:schemaRefs>
    <ds:schemaRef ds:uri="http://schemas.microsoft.com/office/2006/documentManagement/types"/>
    <ds:schemaRef ds:uri="http://schemas.microsoft.com/office/infopath/2007/PartnerControls"/>
    <ds:schemaRef ds:uri="ee9d2b9f-9545-45fa-9117-0d8c20be045f"/>
    <ds:schemaRef ds:uri="50ba1161-8fcf-4648-a98a-8cbde4cee383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F540628-D5CF-4AAC-907E-1AA0480893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9d2b9f-9545-45fa-9117-0d8c20be045f"/>
    <ds:schemaRef ds:uri="50ba1161-8fcf-4648-a98a-8cbde4cee3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42cdcd0-f576-4592-acdb-6fc911aee612}" enabled="1" method="Privileged" siteId="{9bb8b9bd-971a-4fd3-90c3-c394e2feb8b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SwissTPH_PowerPoint_Template16x9_2026</Template>
  <TotalTime>0</TotalTime>
  <Words>1495</Words>
  <Application>Microsoft Office PowerPoint</Application>
  <PresentationFormat>On-screen Show (16:9)</PresentationFormat>
  <Paragraphs>270</Paragraphs>
  <Slides>34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Arial</vt:lpstr>
      <vt:lpstr>Cambria Math</vt:lpstr>
      <vt:lpstr>Courier New</vt:lpstr>
      <vt:lpstr>Symbol</vt:lpstr>
      <vt:lpstr>Wingdings</vt:lpstr>
      <vt:lpstr>SwissTPH2026</vt:lpstr>
      <vt:lpstr>Evaluating the Community Effects of LLINs Across Transmission Intensities</vt:lpstr>
      <vt:lpstr>Agenda</vt:lpstr>
      <vt:lpstr>Introduction</vt:lpstr>
      <vt:lpstr>LLIN effectiveness</vt:lpstr>
      <vt:lpstr>The concept of community protection</vt:lpstr>
      <vt:lpstr>The concept of community protection</vt:lpstr>
      <vt:lpstr>The concept of community protection</vt:lpstr>
      <vt:lpstr>Evidence of community protection</vt:lpstr>
      <vt:lpstr>What this study focuses on</vt:lpstr>
      <vt:lpstr>Methods </vt:lpstr>
      <vt:lpstr>Methods </vt:lpstr>
      <vt:lpstr>Methods </vt:lpstr>
      <vt:lpstr>Methods </vt:lpstr>
      <vt:lpstr>Methods </vt:lpstr>
      <vt:lpstr>Methods </vt:lpstr>
      <vt:lpstr>Methods </vt:lpstr>
      <vt:lpstr>Results  </vt:lpstr>
      <vt:lpstr>community protection varies with usage and transmission intensity but not with time</vt:lpstr>
      <vt:lpstr>Impact definitions and estimates: User and Non-user protection</vt:lpstr>
      <vt:lpstr>community protection plateaus with usage in low and moderate but not in high transmission setting</vt:lpstr>
      <vt:lpstr>Impact definitions and estimates: Users and Non-users protected from infection</vt:lpstr>
      <vt:lpstr>Usage level at which non-users benefit maximally shifts toward high levels with increasing PfPR (20   40   50%)</vt:lpstr>
      <vt:lpstr>community protection compensates for moderate coverage in low (40%) and moderate (60%) transmission</vt:lpstr>
      <vt:lpstr>Non-users protected from infection per LLIN user decreases with increasing usage across transmission intensities</vt:lpstr>
      <vt:lpstr>Comparison with literature</vt:lpstr>
      <vt:lpstr>Impact definitions and estimates: cost-effectiveness</vt:lpstr>
      <vt:lpstr>LLINs are most cost-effective in low and moderate PfPR setting regardless of the cost structure or usage status</vt:lpstr>
      <vt:lpstr>Key messages</vt:lpstr>
      <vt:lpstr>Key messages</vt:lpstr>
      <vt:lpstr>Key messages</vt:lpstr>
      <vt:lpstr>Recommendations:</vt:lpstr>
      <vt:lpstr>Recommendations:</vt:lpstr>
      <vt:lpstr>Limitations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162</cp:revision>
  <dcterms:created xsi:type="dcterms:W3CDTF">2026-05-13T11:03:27Z</dcterms:created>
  <dcterms:modified xsi:type="dcterms:W3CDTF">2026-05-28T11:01:54Z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0x0101007183271A4D6A8A4F824758BD8F4739A3</vt:lpwstr>
  </property>
  <property fmtid="{D5CDD505-2E9C-101B-9397-08002B2CF9AE}" pid="3" name="MediaServiceImageTags">
    <vt:lpwstr/>
  </property>
</Properties>
</file>