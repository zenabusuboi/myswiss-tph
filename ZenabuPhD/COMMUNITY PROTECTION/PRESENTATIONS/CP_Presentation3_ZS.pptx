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16" r:id="rId4"/>
  </p:sldMasterIdLst>
  <p:notesMasterIdLst>
    <p:notesMasterId r:id="rId30"/>
  </p:notesMasterIdLst>
  <p:handoutMasterIdLst>
    <p:handoutMasterId r:id="rId31"/>
  </p:handoutMasterIdLst>
  <p:sldIdLst>
    <p:sldId id="555" r:id="rId5"/>
    <p:sldId id="2038" r:id="rId6"/>
    <p:sldId id="2069" r:id="rId7"/>
    <p:sldId id="2074" r:id="rId8"/>
    <p:sldId id="2086" r:id="rId9"/>
    <p:sldId id="2089" r:id="rId10"/>
    <p:sldId id="2088" r:id="rId11"/>
    <p:sldId id="2084" r:id="rId12"/>
    <p:sldId id="2085" r:id="rId13"/>
    <p:sldId id="2111" r:id="rId14"/>
    <p:sldId id="2077" r:id="rId15"/>
    <p:sldId id="2087" r:id="rId16"/>
    <p:sldId id="2095" r:id="rId17"/>
    <p:sldId id="2096" r:id="rId18"/>
    <p:sldId id="2097" r:id="rId19"/>
    <p:sldId id="2100" r:id="rId20"/>
    <p:sldId id="2105" r:id="rId21"/>
    <p:sldId id="2078" r:id="rId22"/>
    <p:sldId id="2090" r:id="rId23"/>
    <p:sldId id="2101" r:id="rId24"/>
    <p:sldId id="2108" r:id="rId25"/>
    <p:sldId id="2113" r:id="rId26"/>
    <p:sldId id="2093" r:id="rId27"/>
    <p:sldId id="2107" r:id="rId28"/>
    <p:sldId id="2052" r:id="rId29"/>
  </p:sldIdLst>
  <p:sldSz cx="9144000" cy="5143500" type="screen16x9"/>
  <p:notesSz cx="7099300" cy="10234613"/>
  <p:defaultTextStyle>
    <a:lvl1pPr defTabSz="363800">
      <a:lnSpc>
        <a:spcPct val="93000"/>
      </a:lnSpc>
      <a:defRPr>
        <a:latin typeface="Calibri"/>
        <a:ea typeface="Calibri"/>
        <a:cs typeface="Calibri"/>
        <a:sym typeface="Calibri"/>
      </a:defRPr>
    </a:lvl1pPr>
    <a:lvl2pPr indent="370225" defTabSz="363800">
      <a:lnSpc>
        <a:spcPct val="93000"/>
      </a:lnSpc>
      <a:defRPr>
        <a:latin typeface="Calibri"/>
        <a:ea typeface="Calibri"/>
        <a:cs typeface="Calibri"/>
        <a:sym typeface="Calibri"/>
      </a:defRPr>
    </a:lvl2pPr>
    <a:lvl3pPr indent="740451" defTabSz="363800">
      <a:lnSpc>
        <a:spcPct val="93000"/>
      </a:lnSpc>
      <a:defRPr>
        <a:latin typeface="Calibri"/>
        <a:ea typeface="Calibri"/>
        <a:cs typeface="Calibri"/>
        <a:sym typeface="Calibri"/>
      </a:defRPr>
    </a:lvl3pPr>
    <a:lvl4pPr indent="1110679" defTabSz="363800">
      <a:lnSpc>
        <a:spcPct val="93000"/>
      </a:lnSpc>
      <a:defRPr>
        <a:latin typeface="Calibri"/>
        <a:ea typeface="Calibri"/>
        <a:cs typeface="Calibri"/>
        <a:sym typeface="Calibri"/>
      </a:defRPr>
    </a:lvl4pPr>
    <a:lvl5pPr indent="1480905" defTabSz="363800">
      <a:lnSpc>
        <a:spcPct val="93000"/>
      </a:lnSpc>
      <a:defRPr>
        <a:latin typeface="Calibri"/>
        <a:ea typeface="Calibri"/>
        <a:cs typeface="Calibri"/>
        <a:sym typeface="Calibri"/>
      </a:defRPr>
    </a:lvl5pPr>
    <a:lvl6pPr indent="1851132" defTabSz="363800">
      <a:lnSpc>
        <a:spcPct val="93000"/>
      </a:lnSpc>
      <a:defRPr>
        <a:latin typeface="Calibri"/>
        <a:ea typeface="Calibri"/>
        <a:cs typeface="Calibri"/>
        <a:sym typeface="Calibri"/>
      </a:defRPr>
    </a:lvl6pPr>
    <a:lvl7pPr indent="2221358" defTabSz="363800">
      <a:lnSpc>
        <a:spcPct val="93000"/>
      </a:lnSpc>
      <a:defRPr>
        <a:latin typeface="Calibri"/>
        <a:ea typeface="Calibri"/>
        <a:cs typeface="Calibri"/>
        <a:sym typeface="Calibri"/>
      </a:defRPr>
    </a:lvl7pPr>
    <a:lvl8pPr indent="2591585" defTabSz="363800">
      <a:lnSpc>
        <a:spcPct val="93000"/>
      </a:lnSpc>
      <a:defRPr>
        <a:latin typeface="Calibri"/>
        <a:ea typeface="Calibri"/>
        <a:cs typeface="Calibri"/>
        <a:sym typeface="Calibri"/>
      </a:defRPr>
    </a:lvl8pPr>
    <a:lvl9pPr indent="2961812" defTabSz="363800">
      <a:lnSpc>
        <a:spcPct val="93000"/>
      </a:lnSpc>
      <a:defRPr>
        <a:latin typeface="Calibri"/>
        <a:ea typeface="Calibri"/>
        <a:cs typeface="Calibri"/>
        <a:sym typeface="Calibri"/>
      </a:defRPr>
    </a:lvl9pPr>
  </p:defaultTextStyle>
  <p:extLst>
    <p:ext uri="{521415D9-36F7-43E2-AB2F-B90AF26B5E84}">
      <p14:sectionLst xmlns:p14="http://schemas.microsoft.com/office/powerpoint/2010/main">
        <p14:section name="Title Slides" id="{8994D358-6C20-4FA8-AA41-025EF578AB32}">
          <p14:sldIdLst>
            <p14:sldId id="555"/>
            <p14:sldId id="2038"/>
            <p14:sldId id="2069"/>
            <p14:sldId id="2074"/>
            <p14:sldId id="2086"/>
            <p14:sldId id="2089"/>
            <p14:sldId id="2088"/>
            <p14:sldId id="2084"/>
            <p14:sldId id="2085"/>
            <p14:sldId id="2111"/>
            <p14:sldId id="2077"/>
            <p14:sldId id="2087"/>
            <p14:sldId id="2095"/>
            <p14:sldId id="2096"/>
            <p14:sldId id="2097"/>
            <p14:sldId id="2100"/>
            <p14:sldId id="2105"/>
            <p14:sldId id="2078"/>
            <p14:sldId id="2090"/>
            <p14:sldId id="2101"/>
            <p14:sldId id="2108"/>
            <p14:sldId id="2113"/>
            <p14:sldId id="2093"/>
            <p14:sldId id="2107"/>
            <p14:sldId id="20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45" userDrawn="1">
          <p15:clr>
            <a:srgbClr val="A4A3A4"/>
          </p15:clr>
        </p15:guide>
        <p15:guide id="2" pos="3606" userDrawn="1">
          <p15:clr>
            <a:srgbClr val="A4A3A4"/>
          </p15:clr>
        </p15:guide>
        <p15:guide id="3" orient="horz" pos="2164" userDrawn="1">
          <p15:clr>
            <a:srgbClr val="A4A3A4"/>
          </p15:clr>
        </p15:guide>
        <p15:guide id="4" orient="horz" pos="1302" userDrawn="1">
          <p15:clr>
            <a:srgbClr val="A4A3A4"/>
          </p15:clr>
        </p15:guide>
        <p15:guide id="5" pos="24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avid Edwards" initials="DE" lastIdx="11" clrIdx="0"/>
  <p:cmAuthor id="1" name="Danielle Powell" initials="DP" lastIdx="91" clrIdx="1">
    <p:extLst>
      <p:ext uri="{19B8F6BF-5375-455C-9EA6-DF929625EA0E}">
        <p15:presenceInfo xmlns:p15="http://schemas.microsoft.com/office/powerpoint/2012/main" userId="Danielle Powell" providerId="None"/>
      </p:ext>
    </p:extLst>
  </p:cmAuthor>
  <p:cmAuthor id="2" name="Mark Tecson" initials="MT" lastIdx="54" clrIdx="2">
    <p:extLst>
      <p:ext uri="{19B8F6BF-5375-455C-9EA6-DF929625EA0E}">
        <p15:presenceInfo xmlns:p15="http://schemas.microsoft.com/office/powerpoint/2012/main" userId="Mark Tecs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1F2F2"/>
    <a:srgbClr val="468AB2"/>
    <a:srgbClr val="717073"/>
    <a:srgbClr val="222222"/>
    <a:srgbClr val="000000"/>
    <a:srgbClr val="898989"/>
    <a:srgbClr val="B4D1E1"/>
    <a:srgbClr val="FFCC66"/>
    <a:srgbClr val="55C3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C7B018BB-80A7-4F77-B60F-C8B233D01FF8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4F81BD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9BBB59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79646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F81BD"/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4F81BD"/>
          </a:solidFill>
        </a:fill>
      </a:tcStyle>
    </a:firstRow>
  </a:tblStyle>
  <a:tblStyle styleId="{2708684C-4D16-4618-839F-0558EEFCDFE6}" styleName="">
    <a:tblBg/>
    <a:wholeTb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3875" autoAdjust="0"/>
  </p:normalViewPr>
  <p:slideViewPr>
    <p:cSldViewPr>
      <p:cViewPr varScale="1">
        <p:scale>
          <a:sx n="92" d="100"/>
          <a:sy n="92" d="100"/>
        </p:scale>
        <p:origin x="440" y="60"/>
      </p:cViewPr>
      <p:guideLst>
        <p:guide orient="horz" pos="2845"/>
        <p:guide pos="3606"/>
        <p:guide orient="horz" pos="2164"/>
        <p:guide orient="horz" pos="1302"/>
        <p:guide pos="2426"/>
      </p:guideLst>
    </p:cSldViewPr>
  </p:slideViewPr>
  <p:outlineViewPr>
    <p:cViewPr>
      <p:scale>
        <a:sx n="33" d="100"/>
        <a:sy n="33" d="100"/>
      </p:scale>
      <p:origin x="0" y="-126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44" d="100"/>
          <a:sy n="44" d="100"/>
        </p:scale>
        <p:origin x="274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B59EEB45-F85B-45AF-AE0C-0FFBEB08690C}" type="datetimeFigureOut">
              <a:rPr lang="en-GB" smtClean="0">
                <a:latin typeface="Arial" panose="020B0604020202020204" pitchFamily="34" charset="0"/>
                <a:cs typeface="Arial" panose="020B0604020202020204" pitchFamily="34" charset="0"/>
              </a:rPr>
              <a:t>26/03/2026</a:t>
            </a:fld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6D219380-B934-4D92-B156-F3E17E027301}" type="slidenum">
              <a:rPr lang="en-GB" smtClean="0"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8758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</p:spPr>
        <p:txBody>
          <a:bodyPr lIns="94768" tIns="47384" rIns="94768" bIns="47384"/>
          <a:lstStyle/>
          <a:p>
            <a:pPr lvl="0"/>
            <a:endParaRPr dirty="0"/>
          </a:p>
        </p:txBody>
      </p:sp>
      <p:sp>
        <p:nvSpPr>
          <p:cNvPr id="80" name="Shape 80"/>
          <p:cNvSpPr>
            <a:spLocks noGrp="1"/>
          </p:cNvSpPr>
          <p:nvPr>
            <p:ph type="body" sz="quarter" idx="1"/>
          </p:nvPr>
        </p:nvSpPr>
        <p:spPr>
          <a:xfrm>
            <a:off x="946574" y="4861442"/>
            <a:ext cx="5206154" cy="4605576"/>
          </a:xfrm>
          <a:prstGeom prst="rect">
            <a:avLst/>
          </a:prstGeom>
        </p:spPr>
        <p:txBody>
          <a:bodyPr lIns="94768" tIns="47384" rIns="94768" bIns="47384"/>
          <a:lstStyle/>
          <a:p>
            <a:pPr lv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260491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defTabSz="457200">
      <a:lnSpc>
        <a:spcPct val="117999"/>
      </a:lnSpc>
      <a:defRPr sz="2200" b="0" i="0">
        <a:latin typeface="Arial" panose="020B0604020202020204" pitchFamily="34" charset="0"/>
        <a:ea typeface="+mj-ea"/>
        <a:cs typeface="Arial" panose="020B0604020202020204" pitchFamily="34" charset="0"/>
        <a:sym typeface="Helvetica Neue"/>
      </a:defRPr>
    </a:lvl1pPr>
    <a:lvl2pPr indent="2286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200" b="0" i="0" dirty="0"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rPr>
              <a:t>Within </a:t>
            </a:r>
            <a:r>
              <a:rPr lang="en-CH" sz="2200" b="0" i="0" dirty="0" err="1"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rPr>
              <a:t>OpenMalaria</a:t>
            </a:r>
            <a:r>
              <a:rPr lang="en-CH" sz="2200" b="0" i="0" dirty="0"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rPr>
              <a:t>, bed nets act by modifying parameters of the mosquito feeding cycle model. </a:t>
            </a:r>
            <a:endParaRPr lang="en-US" sz="2200" b="0" i="0" dirty="0">
              <a:effectLst/>
              <a:latin typeface="Arial" panose="020B0604020202020204" pitchFamily="34" charset="0"/>
              <a:ea typeface="+mj-ea"/>
              <a:cs typeface="Arial" panose="020B0604020202020204" pitchFamily="34" charset="0"/>
              <a:sym typeface="Helvetica Neu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200" b="0" i="0" dirty="0"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rPr>
              <a:t>They reduce host availability, </a:t>
            </a:r>
            <a:endParaRPr lang="en-US" sz="2200" b="0" i="0" dirty="0">
              <a:effectLst/>
              <a:latin typeface="Arial" panose="020B0604020202020204" pitchFamily="34" charset="0"/>
              <a:ea typeface="+mj-ea"/>
              <a:cs typeface="Arial" panose="020B0604020202020204" pitchFamily="34" charset="0"/>
              <a:sym typeface="Helvetica Neu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200" b="0" i="0" dirty="0"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rPr>
              <a:t>decrease the probability of successful blood feeding following host contact, and </a:t>
            </a:r>
            <a:endParaRPr lang="en-US" sz="2200" b="0" i="0" dirty="0">
              <a:effectLst/>
              <a:latin typeface="Arial" panose="020B0604020202020204" pitchFamily="34" charset="0"/>
              <a:ea typeface="+mj-ea"/>
              <a:cs typeface="Arial" panose="020B0604020202020204" pitchFamily="34" charset="0"/>
              <a:sym typeface="Helvetica Neu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200" b="0" i="0" dirty="0"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rPr>
              <a:t>reduce the probability that a mosquito successfully finds a resting place after feeding 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140215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63563" marR="0" lvl="1" indent="-28575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/>
              <a:t>Western Kenya – EIR~60, </a:t>
            </a:r>
            <a:r>
              <a:rPr lang="en-US" sz="1400" i="1" dirty="0"/>
              <a:t>[Unwin et al., 2023]</a:t>
            </a:r>
            <a:endParaRPr lang="en-US" sz="1400" dirty="0"/>
          </a:p>
          <a:p>
            <a:pPr marL="563563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Northern Ghana – EIR100-300, </a:t>
            </a:r>
          </a:p>
          <a:p>
            <a:pPr marL="563563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modeling study -10, 100 </a:t>
            </a:r>
            <a:r>
              <a:rPr lang="en-US" sz="1400" i="1" dirty="0"/>
              <a:t>[Unwin et al., 2023]</a:t>
            </a:r>
          </a:p>
          <a:p>
            <a:pPr marL="563563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Multi-country DHS analysis – </a:t>
            </a:r>
            <a:r>
              <a:rPr lang="en-CH" sz="1400" dirty="0" err="1"/>
              <a:t>PfPR</a:t>
            </a:r>
            <a:r>
              <a:rPr lang="en-CH" sz="1400" dirty="0"/>
              <a:t> equivalent to </a:t>
            </a:r>
            <a:r>
              <a:rPr lang="en-US" sz="1400" dirty="0"/>
              <a:t>EIR: &lt;20, 20-80, &gt;80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545686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3EAF-731A-4C51-4BB9-80DCF96D2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0E4E4-B94A-4141-E77D-242C7C759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A42BE-A9BB-650F-7599-60FE08B54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Started from one district in the Oti region of Ghana – Nkwanta South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893323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51C7C-CA00-5EC1-E85E-DF25D4CC8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7D1C6-A1A5-E584-84A0-A184B8704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CE5A68-EBFA-09DB-8ACB-5E74BE7FC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Nobody uses a net in the control scenario, and this is used as the counterfactual 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compare the other scenarios (users and non-users at LLIN usage&gt;0 and different EIR values ) against counterfactual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010181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4DCF8-7DE7-8068-260F-3946E50E3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875393-FE36-D666-0550-8FE43FD19A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EB6AD8-605C-098C-A49E-A4F93AB81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H" sz="2200" b="0" i="0" dirty="0"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rPr>
              <a:t>In </a:t>
            </a:r>
            <a:r>
              <a:rPr lang="en-CH" sz="2200" b="0" i="0" dirty="0" err="1"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rPr>
              <a:t>Openmalaria</a:t>
            </a:r>
            <a:r>
              <a:rPr lang="en-CH" sz="2200" b="0" i="0" dirty="0"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rPr>
              <a:t>, a </a:t>
            </a:r>
            <a:r>
              <a:rPr lang="en-CH" sz="2200" b="1" i="0" dirty="0"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rPr>
              <a:t>cohort</a:t>
            </a:r>
            <a:r>
              <a:rPr lang="en-CH" sz="2200" b="0" i="0" dirty="0">
                <a:effectLst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Helvetica Neue"/>
              </a:rPr>
              <a:t> is a sub-population which can be monitored separately and can used to target intervention deployment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Nobody uses a net in the control scenario, and this is used as the counterfactual to compare the other scenarios (users and non-users at LLIN usage&gt;0 and different EIR values ) against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810178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44D4F-24DA-4C96-2373-579B22E93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25F0A5-0EF7-7B26-AE4B-32CDC6A11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FCD5E-53B6-2B01-EB75-360A36790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Nobody uses a net in the control scenario, and this is used as the counterfactual 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compare the other scenarios (users and non-users at LLIN usage&gt;0 and different EIR values ) against counterfactual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151915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D9CFD-8B4C-B63F-3F19-4C9E47183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86E08-CD01-7FF0-60CF-F43F55392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E9726A-8651-44F1-0FA8-60801C2D7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Nobody uses a net in the control scenario, and this is used as the counterfactual 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compare the other scenarios (users and non-users at LLIN usage&gt;0 and different EIR values ) against counterfactual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3207934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F29FD-5799-3F4C-AB8E-246F20479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90579-E131-0F30-24A0-66A697B35A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C4FC2B-B0F9-6DEE-8D9B-4EDE3523B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–moderate transmission intensity = averaged across EIRs, at one coverage, </a:t>
            </a: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usage = 60%</a:t>
            </a:r>
          </a:p>
          <a:p>
            <a:pPr marL="0" marR="0" lvl="0" indent="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 - moderate transmission intensity = averaged across EIRs and 3 years</a:t>
            </a:r>
          </a:p>
          <a:p>
            <a:pPr marL="342900" marR="0" lvl="0" indent="-342900" defTabSz="45720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LLIN impact on prevalence averaged across one  distribution cycle (2026-2028)</a:t>
            </a:r>
          </a:p>
          <a:p>
            <a:endParaRPr lang="en-US" dirty="0"/>
          </a:p>
          <a:p>
            <a:r>
              <a:rPr lang="en-US" dirty="0"/>
              <a:t>C – prevalence averaged across 3 years -  distribution cycle (2026-2028), at one coverage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Usage = 60%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405899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FBD06-80B1-CE1F-AC0E-3A67E74B2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182EF-39D2-6DB1-42FC-25B6E8425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6C1312-2474-8FC6-AA6B-8D348F4A6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8218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A6A3A-8168-2E1F-45AC-2B802F276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EC455A-DF9D-5801-4DE5-D3081BDBC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1BD06-D2AC-7047-15D3-20802233A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thresholds for highest incremental benefits and predefined levels of protection differ across transmission intensities</a:t>
            </a:r>
          </a:p>
          <a:p>
            <a:r>
              <a:rPr lang="en-US" dirty="0"/>
              <a:t>A –</a:t>
            </a:r>
          </a:p>
          <a:p>
            <a:r>
              <a:rPr lang="en-US" dirty="0"/>
              <a:t>B – </a:t>
            </a:r>
          </a:p>
          <a:p>
            <a:r>
              <a:rPr lang="en-US" dirty="0"/>
              <a:t>C - </a:t>
            </a:r>
            <a:r>
              <a:rPr lang="en-US" sz="2400" dirty="0">
                <a:cs typeface="Arial" panose="020B0604020202020204" pitchFamily="34" charset="0"/>
                <a:sym typeface="Helvetica Neue"/>
              </a:rPr>
              <a:t>More resources are required to achieve </a:t>
            </a:r>
            <a:r>
              <a:rPr lang="en-US" sz="2400" dirty="0"/>
              <a:t>comparable levels </a:t>
            </a:r>
            <a:r>
              <a:rPr lang="en-US" sz="2400" dirty="0">
                <a:cs typeface="Arial" panose="020B0604020202020204" pitchFamily="34" charset="0"/>
                <a:sym typeface="Helvetica Neue"/>
              </a:rPr>
              <a:t>of protection as transmission intensity increases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8707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0C759-6622-2221-8DAE-DEFB785EB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EA08D5-DA96-350B-1A8E-9A720CA07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3A201A-5032-FF6E-0CD7-E038D5FDF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047918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E186E-236A-D25F-8CE4-5F55F6F08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E8517-4910-D5F7-A2C7-34F9AA4EE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A0B449-488E-750C-7F2C-5CF0F9C8C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magnitude and efficiency of community-level protection from LLINs are strongly transmission-dependent, with substantial indirect effects at low-to-moderate EIR but diminishing returns in high transmission settings, implying that optimal coverage targets must be tailored to baseline transmission intensity.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251601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AFA5D51-036A-41DE-B449-6FAC5FBD88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920" y="2704935"/>
            <a:ext cx="4785668" cy="8749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78" name="Text Placeholder 4">
            <a:extLst>
              <a:ext uri="{FF2B5EF4-FFF2-40B4-BE49-F238E27FC236}">
                <a16:creationId xmlns:a16="http://schemas.microsoft.com/office/drawing/2014/main" id="{FE86138B-22AB-524D-B99B-1D15537B55C1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851920" y="4083918"/>
            <a:ext cx="4785668" cy="2890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Day Month Year</a:t>
            </a:r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1E10C56-7618-B944-A305-B8B18B4960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3851920" y="1283159"/>
            <a:ext cx="3100868" cy="856543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FA0BD56-8EF0-624B-906C-D201253B76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3161576" cy="5143500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ADA4B75-C733-AA4E-A796-B7D79C91F6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920" y="3661942"/>
            <a:ext cx="4785668" cy="349968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363800">
              <a:lnSpc>
                <a:spcPct val="93000"/>
              </a:lnSpc>
              <a:buNone/>
              <a:defRPr lang="en-GB" sz="1800" dirty="0">
                <a:solidFill>
                  <a:schemeClr val="accent2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363800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705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55" userDrawn="1">
          <p15:clr>
            <a:srgbClr val="FBAE40"/>
          </p15:clr>
        </p15:guide>
        <p15:guide id="2" pos="242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C36F888B-A049-4E4F-8601-4102B0AA32BF}"/>
              </a:ext>
            </a:extLst>
          </p:cNvPr>
          <p:cNvGrpSpPr/>
          <p:nvPr userDrawn="1"/>
        </p:nvGrpSpPr>
        <p:grpSpPr>
          <a:xfrm>
            <a:off x="0" y="0"/>
            <a:ext cx="9141087" cy="5155928"/>
            <a:chOff x="0" y="-1"/>
            <a:chExt cx="9141087" cy="5155928"/>
          </a:xfrm>
          <a:solidFill>
            <a:schemeClr val="accent1"/>
          </a:solidFill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2820F1A7-A0B4-CC4B-BD4C-5CB901C715CB}"/>
                </a:ext>
              </a:extLst>
            </p:cNvPr>
            <p:cNvSpPr/>
            <p:nvPr userDrawn="1"/>
          </p:nvSpPr>
          <p:spPr>
            <a:xfrm>
              <a:off x="0" y="0"/>
              <a:ext cx="2348678" cy="3502791"/>
            </a:xfrm>
            <a:custGeom>
              <a:avLst/>
              <a:gdLst>
                <a:gd name="connsiteX0" fmla="*/ 0 w 2348678"/>
                <a:gd name="connsiteY0" fmla="*/ 0 h 3502791"/>
                <a:gd name="connsiteX1" fmla="*/ 525537 w 2348678"/>
                <a:gd name="connsiteY1" fmla="*/ 0 h 3502791"/>
                <a:gd name="connsiteX2" fmla="*/ 477649 w 2348678"/>
                <a:gd name="connsiteY2" fmla="*/ 11761 h 3502791"/>
                <a:gd name="connsiteX3" fmla="*/ 62225 w 2348678"/>
                <a:gd name="connsiteY3" fmla="*/ 183642 h 3502791"/>
                <a:gd name="connsiteX4" fmla="*/ 59890 w 2348678"/>
                <a:gd name="connsiteY4" fmla="*/ 190324 h 3502791"/>
                <a:gd name="connsiteX5" fmla="*/ 66959 w 2348678"/>
                <a:gd name="connsiteY5" fmla="*/ 192199 h 3502791"/>
                <a:gd name="connsiteX6" fmla="*/ 1402010 w 2348678"/>
                <a:gd name="connsiteY6" fmla="*/ 154763 h 3502791"/>
                <a:gd name="connsiteX7" fmla="*/ 2229032 w 2348678"/>
                <a:gd name="connsiteY7" fmla="*/ 2734319 h 3502791"/>
                <a:gd name="connsiteX8" fmla="*/ 2191499 w 2348678"/>
                <a:gd name="connsiteY8" fmla="*/ 2849202 h 3502791"/>
                <a:gd name="connsiteX9" fmla="*/ 2121922 w 2348678"/>
                <a:gd name="connsiteY9" fmla="*/ 2804073 h 3502791"/>
                <a:gd name="connsiteX10" fmla="*/ 1003565 w 2348678"/>
                <a:gd name="connsiteY10" fmla="*/ 2198977 h 3502791"/>
                <a:gd name="connsiteX11" fmla="*/ 995646 w 2348678"/>
                <a:gd name="connsiteY11" fmla="*/ 2201009 h 3502791"/>
                <a:gd name="connsiteX12" fmla="*/ 998896 w 2348678"/>
                <a:gd name="connsiteY12" fmla="*/ 2208929 h 3502791"/>
                <a:gd name="connsiteX13" fmla="*/ 2137892 w 2348678"/>
                <a:gd name="connsiteY13" fmla="*/ 2923903 h 3502791"/>
                <a:gd name="connsiteX14" fmla="*/ 2161363 w 2348678"/>
                <a:gd name="connsiteY14" fmla="*/ 2941446 h 3502791"/>
                <a:gd name="connsiteX15" fmla="*/ 2151199 w 2348678"/>
                <a:gd name="connsiteY15" fmla="*/ 2972556 h 3502791"/>
                <a:gd name="connsiteX16" fmla="*/ 2053361 w 2348678"/>
                <a:gd name="connsiteY16" fmla="*/ 3209803 h 3502791"/>
                <a:gd name="connsiteX17" fmla="*/ 1938019 w 2348678"/>
                <a:gd name="connsiteY17" fmla="*/ 3438996 h 3502791"/>
                <a:gd name="connsiteX18" fmla="*/ 1899637 w 2348678"/>
                <a:gd name="connsiteY18" fmla="*/ 3502791 h 3502791"/>
                <a:gd name="connsiteX19" fmla="*/ 1749744 w 2348678"/>
                <a:gd name="connsiteY19" fmla="*/ 3459348 h 3502791"/>
                <a:gd name="connsiteX20" fmla="*/ 1608111 w 2348678"/>
                <a:gd name="connsiteY20" fmla="*/ 3415107 h 3502791"/>
                <a:gd name="connsiteX21" fmla="*/ 352814 w 2348678"/>
                <a:gd name="connsiteY21" fmla="*/ 2919107 h 3502791"/>
                <a:gd name="connsiteX22" fmla="*/ 129384 w 2348678"/>
                <a:gd name="connsiteY22" fmla="*/ 2815026 h 3502791"/>
                <a:gd name="connsiteX23" fmla="*/ 0 w 2348678"/>
                <a:gd name="connsiteY23" fmla="*/ 2752034 h 3502791"/>
                <a:gd name="connsiteX24" fmla="*/ 0 w 2348678"/>
                <a:gd name="connsiteY24" fmla="*/ 0 h 350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48678" h="3502791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486529D-59C1-F54C-9C29-A95A26E13DE8}"/>
                </a:ext>
              </a:extLst>
            </p:cNvPr>
            <p:cNvSpPr/>
            <p:nvPr userDrawn="1"/>
          </p:nvSpPr>
          <p:spPr>
            <a:xfrm>
              <a:off x="0" y="-1"/>
              <a:ext cx="9141087" cy="5155928"/>
            </a:xfrm>
            <a:custGeom>
              <a:avLst/>
              <a:gdLst>
                <a:gd name="connsiteX0" fmla="*/ 1526153 w 9141087"/>
                <a:gd name="connsiteY0" fmla="*/ 0 h 5155928"/>
                <a:gd name="connsiteX1" fmla="*/ 9141087 w 9141087"/>
                <a:gd name="connsiteY1" fmla="*/ 0 h 5155928"/>
                <a:gd name="connsiteX2" fmla="*/ 9141087 w 9141087"/>
                <a:gd name="connsiteY2" fmla="*/ 5154827 h 5155928"/>
                <a:gd name="connsiteX3" fmla="*/ 0 w 9141087"/>
                <a:gd name="connsiteY3" fmla="*/ 5154827 h 5155928"/>
                <a:gd name="connsiteX4" fmla="*/ 0 w 9141087"/>
                <a:gd name="connsiteY4" fmla="*/ 5146451 h 5155928"/>
                <a:gd name="connsiteX5" fmla="*/ 75637 w 9141087"/>
                <a:gd name="connsiteY5" fmla="*/ 5154368 h 5155928"/>
                <a:gd name="connsiteX6" fmla="*/ 2058507 w 9141087"/>
                <a:gd name="connsiteY6" fmla="*/ 4098986 h 5155928"/>
                <a:gd name="connsiteX7" fmla="*/ 2157322 w 9141087"/>
                <a:gd name="connsiteY7" fmla="*/ 3961433 h 5155928"/>
                <a:gd name="connsiteX8" fmla="*/ 2164242 w 9141087"/>
                <a:gd name="connsiteY8" fmla="*/ 3962746 h 5155928"/>
                <a:gd name="connsiteX9" fmla="*/ 2202530 w 9141087"/>
                <a:gd name="connsiteY9" fmla="*/ 3971148 h 5155928"/>
                <a:gd name="connsiteX10" fmla="*/ 2280575 w 9141087"/>
                <a:gd name="connsiteY10" fmla="*/ 3984804 h 5155928"/>
                <a:gd name="connsiteX11" fmla="*/ 2326734 w 9141087"/>
                <a:gd name="connsiteY11" fmla="*/ 3993557 h 5155928"/>
                <a:gd name="connsiteX12" fmla="*/ 2326992 w 9141087"/>
                <a:gd name="connsiteY12" fmla="*/ 3992927 h 5155928"/>
                <a:gd name="connsiteX13" fmla="*/ 2387013 w 9141087"/>
                <a:gd name="connsiteY13" fmla="*/ 4003429 h 5155928"/>
                <a:gd name="connsiteX14" fmla="*/ 3145582 w 9141087"/>
                <a:gd name="connsiteY14" fmla="*/ 3885282 h 5155928"/>
                <a:gd name="connsiteX15" fmla="*/ 2630604 w 9141087"/>
                <a:gd name="connsiteY15" fmla="*/ 3157424 h 5155928"/>
                <a:gd name="connsiteX16" fmla="*/ 2590729 w 9141087"/>
                <a:gd name="connsiteY16" fmla="*/ 3127515 h 5155928"/>
                <a:gd name="connsiteX17" fmla="*/ 2667774 w 9141087"/>
                <a:gd name="connsiteY17" fmla="*/ 2889009 h 5155928"/>
                <a:gd name="connsiteX18" fmla="*/ 1719839 w 9141087"/>
                <a:gd name="connsiteY18" fmla="*/ 73550 h 5155928"/>
                <a:gd name="connsiteX19" fmla="*/ 1526153 w 9141087"/>
                <a:gd name="connsiteY19" fmla="*/ 0 h 5155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141087" h="5155928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A7C4EAA-15CA-B247-A4DF-3A5765D3B2A3}"/>
                </a:ext>
              </a:extLst>
            </p:cNvPr>
            <p:cNvSpPr/>
            <p:nvPr userDrawn="1"/>
          </p:nvSpPr>
          <p:spPr>
            <a:xfrm>
              <a:off x="0" y="3174823"/>
              <a:ext cx="1677049" cy="1665275"/>
            </a:xfrm>
            <a:custGeom>
              <a:avLst/>
              <a:gdLst>
                <a:gd name="connsiteX0" fmla="*/ 0 w 1677049"/>
                <a:gd name="connsiteY0" fmla="*/ 0 h 1665275"/>
                <a:gd name="connsiteX1" fmla="*/ 55062 w 1677049"/>
                <a:gd name="connsiteY1" fmla="*/ 27525 h 1665275"/>
                <a:gd name="connsiteX2" fmla="*/ 314915 w 1677049"/>
                <a:gd name="connsiteY2" fmla="*/ 149684 h 1665275"/>
                <a:gd name="connsiteX3" fmla="*/ 1331241 w 1677049"/>
                <a:gd name="connsiteY3" fmla="*/ 555564 h 1665275"/>
                <a:gd name="connsiteX4" fmla="*/ 1521376 w 1677049"/>
                <a:gd name="connsiteY4" fmla="*/ 617362 h 1665275"/>
                <a:gd name="connsiteX5" fmla="*/ 1521140 w 1677049"/>
                <a:gd name="connsiteY5" fmla="*/ 617775 h 1665275"/>
                <a:gd name="connsiteX6" fmla="*/ 1540381 w 1677049"/>
                <a:gd name="connsiteY6" fmla="*/ 623539 h 1665275"/>
                <a:gd name="connsiteX7" fmla="*/ 1566219 w 1677049"/>
                <a:gd name="connsiteY7" fmla="*/ 631937 h 1665275"/>
                <a:gd name="connsiteX8" fmla="*/ 1666079 w 1677049"/>
                <a:gd name="connsiteY8" fmla="*/ 661195 h 1665275"/>
                <a:gd name="connsiteX9" fmla="*/ 1677049 w 1677049"/>
                <a:gd name="connsiteY9" fmla="*/ 664481 h 1665275"/>
                <a:gd name="connsiteX10" fmla="*/ 1667186 w 1677049"/>
                <a:gd name="connsiteY10" fmla="*/ 678371 h 1665275"/>
                <a:gd name="connsiteX11" fmla="*/ 58278 w 1677049"/>
                <a:gd name="connsiteY11" fmla="*/ 1663563 h 1665275"/>
                <a:gd name="connsiteX12" fmla="*/ 0 w 1677049"/>
                <a:gd name="connsiteY12" fmla="*/ 1665275 h 1665275"/>
                <a:gd name="connsiteX13" fmla="*/ 0 w 1677049"/>
                <a:gd name="connsiteY13" fmla="*/ 0 h 166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7049" h="1665275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3FCA222-E6B9-6C49-932E-60FCB5D8C5DD}"/>
                </a:ext>
              </a:extLst>
            </p:cNvPr>
            <p:cNvSpPr/>
            <p:nvPr userDrawn="1"/>
          </p:nvSpPr>
          <p:spPr>
            <a:xfrm>
              <a:off x="2376848" y="3253687"/>
              <a:ext cx="343930" cy="361770"/>
            </a:xfrm>
            <a:custGeom>
              <a:avLst/>
              <a:gdLst>
                <a:gd name="connsiteX0" fmla="*/ 163744 w 343930"/>
                <a:gd name="connsiteY0" fmla="*/ 0 h 361770"/>
                <a:gd name="connsiteX1" fmla="*/ 178396 w 343930"/>
                <a:gd name="connsiteY1" fmla="*/ 13750 h 361770"/>
                <a:gd name="connsiteX2" fmla="*/ 337605 w 343930"/>
                <a:gd name="connsiteY2" fmla="*/ 297178 h 361770"/>
                <a:gd name="connsiteX3" fmla="*/ 189169 w 343930"/>
                <a:gd name="connsiteY3" fmla="*/ 361598 h 361770"/>
                <a:gd name="connsiteX4" fmla="*/ 101228 w 343930"/>
                <a:gd name="connsiteY4" fmla="*/ 361770 h 361770"/>
                <a:gd name="connsiteX5" fmla="*/ 94227 w 343930"/>
                <a:gd name="connsiteY5" fmla="*/ 361237 h 361770"/>
                <a:gd name="connsiteX6" fmla="*/ 4676 w 343930"/>
                <a:gd name="connsiteY6" fmla="*/ 352915 h 361770"/>
                <a:gd name="connsiteX7" fmla="*/ 0 w 343930"/>
                <a:gd name="connsiteY7" fmla="*/ 352321 h 361770"/>
                <a:gd name="connsiteX8" fmla="*/ 101987 w 343930"/>
                <a:gd name="connsiteY8" fmla="*/ 150236 h 361770"/>
                <a:gd name="connsiteX9" fmla="*/ 163744 w 343930"/>
                <a:gd name="connsiteY9" fmla="*/ 0 h 36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3930" h="36177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102BFF8-1253-4DC4-8F0F-A614EC0FC5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920" y="2704935"/>
            <a:ext cx="4785668" cy="8749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133B29-7CA3-4E8A-BDE7-6F7FBE7777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920" y="3661942"/>
            <a:ext cx="4785668" cy="349968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363800">
              <a:lnSpc>
                <a:spcPct val="93000"/>
              </a:lnSpc>
              <a:buNone/>
              <a:defRPr lang="en-GB" sz="1800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363800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008EF2C-2929-4353-8A9D-ACDC182F6D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3851920" y="1283159"/>
            <a:ext cx="3100868" cy="85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03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C36F888B-A049-4E4F-8601-4102B0AA32BF}"/>
              </a:ext>
            </a:extLst>
          </p:cNvPr>
          <p:cNvGrpSpPr/>
          <p:nvPr userDrawn="1"/>
        </p:nvGrpSpPr>
        <p:grpSpPr>
          <a:xfrm>
            <a:off x="0" y="0"/>
            <a:ext cx="9141087" cy="5155928"/>
            <a:chOff x="0" y="-1"/>
            <a:chExt cx="9141087" cy="5155928"/>
          </a:xfrm>
          <a:solidFill>
            <a:srgbClr val="B4D1E1"/>
          </a:solidFill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2820F1A7-A0B4-CC4B-BD4C-5CB901C715CB}"/>
                </a:ext>
              </a:extLst>
            </p:cNvPr>
            <p:cNvSpPr/>
            <p:nvPr userDrawn="1"/>
          </p:nvSpPr>
          <p:spPr>
            <a:xfrm>
              <a:off x="0" y="0"/>
              <a:ext cx="2348678" cy="3502791"/>
            </a:xfrm>
            <a:custGeom>
              <a:avLst/>
              <a:gdLst>
                <a:gd name="connsiteX0" fmla="*/ 0 w 2348678"/>
                <a:gd name="connsiteY0" fmla="*/ 0 h 3502791"/>
                <a:gd name="connsiteX1" fmla="*/ 525537 w 2348678"/>
                <a:gd name="connsiteY1" fmla="*/ 0 h 3502791"/>
                <a:gd name="connsiteX2" fmla="*/ 477649 w 2348678"/>
                <a:gd name="connsiteY2" fmla="*/ 11761 h 3502791"/>
                <a:gd name="connsiteX3" fmla="*/ 62225 w 2348678"/>
                <a:gd name="connsiteY3" fmla="*/ 183642 h 3502791"/>
                <a:gd name="connsiteX4" fmla="*/ 59890 w 2348678"/>
                <a:gd name="connsiteY4" fmla="*/ 190324 h 3502791"/>
                <a:gd name="connsiteX5" fmla="*/ 66959 w 2348678"/>
                <a:gd name="connsiteY5" fmla="*/ 192199 h 3502791"/>
                <a:gd name="connsiteX6" fmla="*/ 1402010 w 2348678"/>
                <a:gd name="connsiteY6" fmla="*/ 154763 h 3502791"/>
                <a:gd name="connsiteX7" fmla="*/ 2229032 w 2348678"/>
                <a:gd name="connsiteY7" fmla="*/ 2734319 h 3502791"/>
                <a:gd name="connsiteX8" fmla="*/ 2191499 w 2348678"/>
                <a:gd name="connsiteY8" fmla="*/ 2849202 h 3502791"/>
                <a:gd name="connsiteX9" fmla="*/ 2121922 w 2348678"/>
                <a:gd name="connsiteY9" fmla="*/ 2804073 h 3502791"/>
                <a:gd name="connsiteX10" fmla="*/ 1003565 w 2348678"/>
                <a:gd name="connsiteY10" fmla="*/ 2198977 h 3502791"/>
                <a:gd name="connsiteX11" fmla="*/ 995646 w 2348678"/>
                <a:gd name="connsiteY11" fmla="*/ 2201009 h 3502791"/>
                <a:gd name="connsiteX12" fmla="*/ 998896 w 2348678"/>
                <a:gd name="connsiteY12" fmla="*/ 2208929 h 3502791"/>
                <a:gd name="connsiteX13" fmla="*/ 2137892 w 2348678"/>
                <a:gd name="connsiteY13" fmla="*/ 2923903 h 3502791"/>
                <a:gd name="connsiteX14" fmla="*/ 2161363 w 2348678"/>
                <a:gd name="connsiteY14" fmla="*/ 2941446 h 3502791"/>
                <a:gd name="connsiteX15" fmla="*/ 2151199 w 2348678"/>
                <a:gd name="connsiteY15" fmla="*/ 2972556 h 3502791"/>
                <a:gd name="connsiteX16" fmla="*/ 2053361 w 2348678"/>
                <a:gd name="connsiteY16" fmla="*/ 3209803 h 3502791"/>
                <a:gd name="connsiteX17" fmla="*/ 1938019 w 2348678"/>
                <a:gd name="connsiteY17" fmla="*/ 3438996 h 3502791"/>
                <a:gd name="connsiteX18" fmla="*/ 1899637 w 2348678"/>
                <a:gd name="connsiteY18" fmla="*/ 3502791 h 3502791"/>
                <a:gd name="connsiteX19" fmla="*/ 1749744 w 2348678"/>
                <a:gd name="connsiteY19" fmla="*/ 3459348 h 3502791"/>
                <a:gd name="connsiteX20" fmla="*/ 1608111 w 2348678"/>
                <a:gd name="connsiteY20" fmla="*/ 3415107 h 3502791"/>
                <a:gd name="connsiteX21" fmla="*/ 352814 w 2348678"/>
                <a:gd name="connsiteY21" fmla="*/ 2919107 h 3502791"/>
                <a:gd name="connsiteX22" fmla="*/ 129384 w 2348678"/>
                <a:gd name="connsiteY22" fmla="*/ 2815026 h 3502791"/>
                <a:gd name="connsiteX23" fmla="*/ 0 w 2348678"/>
                <a:gd name="connsiteY23" fmla="*/ 2752034 h 3502791"/>
                <a:gd name="connsiteX24" fmla="*/ 0 w 2348678"/>
                <a:gd name="connsiteY24" fmla="*/ 0 h 350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48678" h="3502791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486529D-59C1-F54C-9C29-A95A26E13DE8}"/>
                </a:ext>
              </a:extLst>
            </p:cNvPr>
            <p:cNvSpPr/>
            <p:nvPr userDrawn="1"/>
          </p:nvSpPr>
          <p:spPr>
            <a:xfrm>
              <a:off x="0" y="-1"/>
              <a:ext cx="9141087" cy="5155928"/>
            </a:xfrm>
            <a:custGeom>
              <a:avLst/>
              <a:gdLst>
                <a:gd name="connsiteX0" fmla="*/ 1526153 w 9141087"/>
                <a:gd name="connsiteY0" fmla="*/ 0 h 5155928"/>
                <a:gd name="connsiteX1" fmla="*/ 9141087 w 9141087"/>
                <a:gd name="connsiteY1" fmla="*/ 0 h 5155928"/>
                <a:gd name="connsiteX2" fmla="*/ 9141087 w 9141087"/>
                <a:gd name="connsiteY2" fmla="*/ 5154827 h 5155928"/>
                <a:gd name="connsiteX3" fmla="*/ 0 w 9141087"/>
                <a:gd name="connsiteY3" fmla="*/ 5154827 h 5155928"/>
                <a:gd name="connsiteX4" fmla="*/ 0 w 9141087"/>
                <a:gd name="connsiteY4" fmla="*/ 5146451 h 5155928"/>
                <a:gd name="connsiteX5" fmla="*/ 75637 w 9141087"/>
                <a:gd name="connsiteY5" fmla="*/ 5154368 h 5155928"/>
                <a:gd name="connsiteX6" fmla="*/ 2058507 w 9141087"/>
                <a:gd name="connsiteY6" fmla="*/ 4098986 h 5155928"/>
                <a:gd name="connsiteX7" fmla="*/ 2157322 w 9141087"/>
                <a:gd name="connsiteY7" fmla="*/ 3961433 h 5155928"/>
                <a:gd name="connsiteX8" fmla="*/ 2164242 w 9141087"/>
                <a:gd name="connsiteY8" fmla="*/ 3962746 h 5155928"/>
                <a:gd name="connsiteX9" fmla="*/ 2202530 w 9141087"/>
                <a:gd name="connsiteY9" fmla="*/ 3971148 h 5155928"/>
                <a:gd name="connsiteX10" fmla="*/ 2280575 w 9141087"/>
                <a:gd name="connsiteY10" fmla="*/ 3984804 h 5155928"/>
                <a:gd name="connsiteX11" fmla="*/ 2326734 w 9141087"/>
                <a:gd name="connsiteY11" fmla="*/ 3993557 h 5155928"/>
                <a:gd name="connsiteX12" fmla="*/ 2326992 w 9141087"/>
                <a:gd name="connsiteY12" fmla="*/ 3992927 h 5155928"/>
                <a:gd name="connsiteX13" fmla="*/ 2387013 w 9141087"/>
                <a:gd name="connsiteY13" fmla="*/ 4003429 h 5155928"/>
                <a:gd name="connsiteX14" fmla="*/ 3145582 w 9141087"/>
                <a:gd name="connsiteY14" fmla="*/ 3885282 h 5155928"/>
                <a:gd name="connsiteX15" fmla="*/ 2630604 w 9141087"/>
                <a:gd name="connsiteY15" fmla="*/ 3157424 h 5155928"/>
                <a:gd name="connsiteX16" fmla="*/ 2590729 w 9141087"/>
                <a:gd name="connsiteY16" fmla="*/ 3127515 h 5155928"/>
                <a:gd name="connsiteX17" fmla="*/ 2667774 w 9141087"/>
                <a:gd name="connsiteY17" fmla="*/ 2889009 h 5155928"/>
                <a:gd name="connsiteX18" fmla="*/ 1719839 w 9141087"/>
                <a:gd name="connsiteY18" fmla="*/ 73550 h 5155928"/>
                <a:gd name="connsiteX19" fmla="*/ 1526153 w 9141087"/>
                <a:gd name="connsiteY19" fmla="*/ 0 h 5155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141087" h="5155928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A7C4EAA-15CA-B247-A4DF-3A5765D3B2A3}"/>
                </a:ext>
              </a:extLst>
            </p:cNvPr>
            <p:cNvSpPr/>
            <p:nvPr userDrawn="1"/>
          </p:nvSpPr>
          <p:spPr>
            <a:xfrm>
              <a:off x="0" y="3174823"/>
              <a:ext cx="1677049" cy="1665275"/>
            </a:xfrm>
            <a:custGeom>
              <a:avLst/>
              <a:gdLst>
                <a:gd name="connsiteX0" fmla="*/ 0 w 1677049"/>
                <a:gd name="connsiteY0" fmla="*/ 0 h 1665275"/>
                <a:gd name="connsiteX1" fmla="*/ 55062 w 1677049"/>
                <a:gd name="connsiteY1" fmla="*/ 27525 h 1665275"/>
                <a:gd name="connsiteX2" fmla="*/ 314915 w 1677049"/>
                <a:gd name="connsiteY2" fmla="*/ 149684 h 1665275"/>
                <a:gd name="connsiteX3" fmla="*/ 1331241 w 1677049"/>
                <a:gd name="connsiteY3" fmla="*/ 555564 h 1665275"/>
                <a:gd name="connsiteX4" fmla="*/ 1521376 w 1677049"/>
                <a:gd name="connsiteY4" fmla="*/ 617362 h 1665275"/>
                <a:gd name="connsiteX5" fmla="*/ 1521140 w 1677049"/>
                <a:gd name="connsiteY5" fmla="*/ 617775 h 1665275"/>
                <a:gd name="connsiteX6" fmla="*/ 1540381 w 1677049"/>
                <a:gd name="connsiteY6" fmla="*/ 623539 h 1665275"/>
                <a:gd name="connsiteX7" fmla="*/ 1566219 w 1677049"/>
                <a:gd name="connsiteY7" fmla="*/ 631937 h 1665275"/>
                <a:gd name="connsiteX8" fmla="*/ 1666079 w 1677049"/>
                <a:gd name="connsiteY8" fmla="*/ 661195 h 1665275"/>
                <a:gd name="connsiteX9" fmla="*/ 1677049 w 1677049"/>
                <a:gd name="connsiteY9" fmla="*/ 664481 h 1665275"/>
                <a:gd name="connsiteX10" fmla="*/ 1667186 w 1677049"/>
                <a:gd name="connsiteY10" fmla="*/ 678371 h 1665275"/>
                <a:gd name="connsiteX11" fmla="*/ 58278 w 1677049"/>
                <a:gd name="connsiteY11" fmla="*/ 1663563 h 1665275"/>
                <a:gd name="connsiteX12" fmla="*/ 0 w 1677049"/>
                <a:gd name="connsiteY12" fmla="*/ 1665275 h 1665275"/>
                <a:gd name="connsiteX13" fmla="*/ 0 w 1677049"/>
                <a:gd name="connsiteY13" fmla="*/ 0 h 166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7049" h="1665275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3FCA222-E6B9-6C49-932E-60FCB5D8C5DD}"/>
                </a:ext>
              </a:extLst>
            </p:cNvPr>
            <p:cNvSpPr/>
            <p:nvPr userDrawn="1"/>
          </p:nvSpPr>
          <p:spPr>
            <a:xfrm>
              <a:off x="2376848" y="3253687"/>
              <a:ext cx="343930" cy="361770"/>
            </a:xfrm>
            <a:custGeom>
              <a:avLst/>
              <a:gdLst>
                <a:gd name="connsiteX0" fmla="*/ 163744 w 343930"/>
                <a:gd name="connsiteY0" fmla="*/ 0 h 361770"/>
                <a:gd name="connsiteX1" fmla="*/ 178396 w 343930"/>
                <a:gd name="connsiteY1" fmla="*/ 13750 h 361770"/>
                <a:gd name="connsiteX2" fmla="*/ 337605 w 343930"/>
                <a:gd name="connsiteY2" fmla="*/ 297178 h 361770"/>
                <a:gd name="connsiteX3" fmla="*/ 189169 w 343930"/>
                <a:gd name="connsiteY3" fmla="*/ 361598 h 361770"/>
                <a:gd name="connsiteX4" fmla="*/ 101228 w 343930"/>
                <a:gd name="connsiteY4" fmla="*/ 361770 h 361770"/>
                <a:gd name="connsiteX5" fmla="*/ 94227 w 343930"/>
                <a:gd name="connsiteY5" fmla="*/ 361237 h 361770"/>
                <a:gd name="connsiteX6" fmla="*/ 4676 w 343930"/>
                <a:gd name="connsiteY6" fmla="*/ 352915 h 361770"/>
                <a:gd name="connsiteX7" fmla="*/ 0 w 343930"/>
                <a:gd name="connsiteY7" fmla="*/ 352321 h 361770"/>
                <a:gd name="connsiteX8" fmla="*/ 101987 w 343930"/>
                <a:gd name="connsiteY8" fmla="*/ 150236 h 361770"/>
                <a:gd name="connsiteX9" fmla="*/ 163744 w 343930"/>
                <a:gd name="connsiteY9" fmla="*/ 0 h 36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3930" h="36177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58DC5DB-561F-4D50-9ECB-E5F82C45270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920" y="2704935"/>
            <a:ext cx="4785668" cy="8749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DE7E6BC7-3841-41CA-A574-B63C0E5A14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920" y="3661942"/>
            <a:ext cx="4785668" cy="349968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363800">
              <a:lnSpc>
                <a:spcPct val="93000"/>
              </a:lnSpc>
              <a:buNone/>
              <a:defRPr lang="en-GB" sz="1800" dirty="0">
                <a:solidFill>
                  <a:srgbClr val="0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363800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10089E-490E-4CD6-B36D-DAE4420A9C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3851920" y="1283159"/>
            <a:ext cx="3100868" cy="85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08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C36F888B-A049-4E4F-8601-4102B0AA32BF}"/>
              </a:ext>
            </a:extLst>
          </p:cNvPr>
          <p:cNvGrpSpPr/>
          <p:nvPr userDrawn="1"/>
        </p:nvGrpSpPr>
        <p:grpSpPr>
          <a:xfrm>
            <a:off x="0" y="0"/>
            <a:ext cx="9141087" cy="5155928"/>
            <a:chOff x="0" y="-1"/>
            <a:chExt cx="9141087" cy="5155928"/>
          </a:xfrm>
          <a:solidFill>
            <a:schemeClr val="accent2"/>
          </a:solidFill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2820F1A7-A0B4-CC4B-BD4C-5CB901C715CB}"/>
                </a:ext>
              </a:extLst>
            </p:cNvPr>
            <p:cNvSpPr/>
            <p:nvPr userDrawn="1"/>
          </p:nvSpPr>
          <p:spPr>
            <a:xfrm>
              <a:off x="0" y="0"/>
              <a:ext cx="2348678" cy="3502791"/>
            </a:xfrm>
            <a:custGeom>
              <a:avLst/>
              <a:gdLst>
                <a:gd name="connsiteX0" fmla="*/ 0 w 2348678"/>
                <a:gd name="connsiteY0" fmla="*/ 0 h 3502791"/>
                <a:gd name="connsiteX1" fmla="*/ 525537 w 2348678"/>
                <a:gd name="connsiteY1" fmla="*/ 0 h 3502791"/>
                <a:gd name="connsiteX2" fmla="*/ 477649 w 2348678"/>
                <a:gd name="connsiteY2" fmla="*/ 11761 h 3502791"/>
                <a:gd name="connsiteX3" fmla="*/ 62225 w 2348678"/>
                <a:gd name="connsiteY3" fmla="*/ 183642 h 3502791"/>
                <a:gd name="connsiteX4" fmla="*/ 59890 w 2348678"/>
                <a:gd name="connsiteY4" fmla="*/ 190324 h 3502791"/>
                <a:gd name="connsiteX5" fmla="*/ 66959 w 2348678"/>
                <a:gd name="connsiteY5" fmla="*/ 192199 h 3502791"/>
                <a:gd name="connsiteX6" fmla="*/ 1402010 w 2348678"/>
                <a:gd name="connsiteY6" fmla="*/ 154763 h 3502791"/>
                <a:gd name="connsiteX7" fmla="*/ 2229032 w 2348678"/>
                <a:gd name="connsiteY7" fmla="*/ 2734319 h 3502791"/>
                <a:gd name="connsiteX8" fmla="*/ 2191499 w 2348678"/>
                <a:gd name="connsiteY8" fmla="*/ 2849202 h 3502791"/>
                <a:gd name="connsiteX9" fmla="*/ 2121922 w 2348678"/>
                <a:gd name="connsiteY9" fmla="*/ 2804073 h 3502791"/>
                <a:gd name="connsiteX10" fmla="*/ 1003565 w 2348678"/>
                <a:gd name="connsiteY10" fmla="*/ 2198977 h 3502791"/>
                <a:gd name="connsiteX11" fmla="*/ 995646 w 2348678"/>
                <a:gd name="connsiteY11" fmla="*/ 2201009 h 3502791"/>
                <a:gd name="connsiteX12" fmla="*/ 998896 w 2348678"/>
                <a:gd name="connsiteY12" fmla="*/ 2208929 h 3502791"/>
                <a:gd name="connsiteX13" fmla="*/ 2137892 w 2348678"/>
                <a:gd name="connsiteY13" fmla="*/ 2923903 h 3502791"/>
                <a:gd name="connsiteX14" fmla="*/ 2161363 w 2348678"/>
                <a:gd name="connsiteY14" fmla="*/ 2941446 h 3502791"/>
                <a:gd name="connsiteX15" fmla="*/ 2151199 w 2348678"/>
                <a:gd name="connsiteY15" fmla="*/ 2972556 h 3502791"/>
                <a:gd name="connsiteX16" fmla="*/ 2053361 w 2348678"/>
                <a:gd name="connsiteY16" fmla="*/ 3209803 h 3502791"/>
                <a:gd name="connsiteX17" fmla="*/ 1938019 w 2348678"/>
                <a:gd name="connsiteY17" fmla="*/ 3438996 h 3502791"/>
                <a:gd name="connsiteX18" fmla="*/ 1899637 w 2348678"/>
                <a:gd name="connsiteY18" fmla="*/ 3502791 h 3502791"/>
                <a:gd name="connsiteX19" fmla="*/ 1749744 w 2348678"/>
                <a:gd name="connsiteY19" fmla="*/ 3459348 h 3502791"/>
                <a:gd name="connsiteX20" fmla="*/ 1608111 w 2348678"/>
                <a:gd name="connsiteY20" fmla="*/ 3415107 h 3502791"/>
                <a:gd name="connsiteX21" fmla="*/ 352814 w 2348678"/>
                <a:gd name="connsiteY21" fmla="*/ 2919107 h 3502791"/>
                <a:gd name="connsiteX22" fmla="*/ 129384 w 2348678"/>
                <a:gd name="connsiteY22" fmla="*/ 2815026 h 3502791"/>
                <a:gd name="connsiteX23" fmla="*/ 0 w 2348678"/>
                <a:gd name="connsiteY23" fmla="*/ 2752034 h 3502791"/>
                <a:gd name="connsiteX24" fmla="*/ 0 w 2348678"/>
                <a:gd name="connsiteY24" fmla="*/ 0 h 3502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348678" h="3502791">
                  <a:moveTo>
                    <a:pt x="0" y="0"/>
                  </a:moveTo>
                  <a:lnTo>
                    <a:pt x="525537" y="0"/>
                  </a:lnTo>
                  <a:lnTo>
                    <a:pt x="477649" y="11761"/>
                  </a:lnTo>
                  <a:cubicBezTo>
                    <a:pt x="337298" y="54090"/>
                    <a:pt x="198160" y="111742"/>
                    <a:pt x="62225" y="183642"/>
                  </a:cubicBezTo>
                  <a:cubicBezTo>
                    <a:pt x="62225" y="183642"/>
                    <a:pt x="58176" y="186913"/>
                    <a:pt x="59890" y="190324"/>
                  </a:cubicBezTo>
                  <a:cubicBezTo>
                    <a:pt x="61604" y="193735"/>
                    <a:pt x="66959" y="192199"/>
                    <a:pt x="66959" y="192199"/>
                  </a:cubicBezTo>
                  <a:cubicBezTo>
                    <a:pt x="514156" y="-7207"/>
                    <a:pt x="986540" y="-35167"/>
                    <a:pt x="1402010" y="154763"/>
                  </a:cubicBezTo>
                  <a:cubicBezTo>
                    <a:pt x="2220361" y="528726"/>
                    <a:pt x="2546084" y="1622623"/>
                    <a:pt x="2229032" y="2734319"/>
                  </a:cubicBezTo>
                  <a:lnTo>
                    <a:pt x="2191499" y="2849202"/>
                  </a:lnTo>
                  <a:lnTo>
                    <a:pt x="2121922" y="2804073"/>
                  </a:lnTo>
                  <a:cubicBezTo>
                    <a:pt x="1801129" y="2602569"/>
                    <a:pt x="1421055" y="2395579"/>
                    <a:pt x="1003565" y="2198977"/>
                  </a:cubicBezTo>
                  <a:cubicBezTo>
                    <a:pt x="1003565" y="2198977"/>
                    <a:pt x="997199" y="2196820"/>
                    <a:pt x="995646" y="2201009"/>
                  </a:cubicBezTo>
                  <a:cubicBezTo>
                    <a:pt x="994090" y="2205199"/>
                    <a:pt x="998896" y="2208929"/>
                    <a:pt x="998896" y="2208929"/>
                  </a:cubicBezTo>
                  <a:cubicBezTo>
                    <a:pt x="1434380" y="2451555"/>
                    <a:pt x="1833684" y="2702502"/>
                    <a:pt x="2137892" y="2923903"/>
                  </a:cubicBezTo>
                  <a:lnTo>
                    <a:pt x="2161363" y="2941446"/>
                  </a:lnTo>
                  <a:lnTo>
                    <a:pt x="2151199" y="2972556"/>
                  </a:lnTo>
                  <a:cubicBezTo>
                    <a:pt x="2121939" y="3051889"/>
                    <a:pt x="2089344" y="3131057"/>
                    <a:pt x="2053361" y="3209803"/>
                  </a:cubicBezTo>
                  <a:cubicBezTo>
                    <a:pt x="2017373" y="3288530"/>
                    <a:pt x="1978850" y="3364970"/>
                    <a:pt x="1938019" y="3438996"/>
                  </a:cubicBezTo>
                  <a:lnTo>
                    <a:pt x="1899637" y="3502791"/>
                  </a:lnTo>
                  <a:lnTo>
                    <a:pt x="1749744" y="3459348"/>
                  </a:lnTo>
                  <a:lnTo>
                    <a:pt x="1608111" y="3415107"/>
                  </a:lnTo>
                  <a:cubicBezTo>
                    <a:pt x="1239845" y="3295233"/>
                    <a:pt x="807151" y="3126085"/>
                    <a:pt x="352814" y="2919107"/>
                  </a:cubicBezTo>
                  <a:cubicBezTo>
                    <a:pt x="277091" y="2884611"/>
                    <a:pt x="202558" y="2849879"/>
                    <a:pt x="129384" y="2815026"/>
                  </a:cubicBezTo>
                  <a:lnTo>
                    <a:pt x="0" y="275203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0486529D-59C1-F54C-9C29-A95A26E13DE8}"/>
                </a:ext>
              </a:extLst>
            </p:cNvPr>
            <p:cNvSpPr/>
            <p:nvPr userDrawn="1"/>
          </p:nvSpPr>
          <p:spPr>
            <a:xfrm>
              <a:off x="0" y="-1"/>
              <a:ext cx="9141087" cy="5155928"/>
            </a:xfrm>
            <a:custGeom>
              <a:avLst/>
              <a:gdLst>
                <a:gd name="connsiteX0" fmla="*/ 1526153 w 9141087"/>
                <a:gd name="connsiteY0" fmla="*/ 0 h 5155928"/>
                <a:gd name="connsiteX1" fmla="*/ 9141087 w 9141087"/>
                <a:gd name="connsiteY1" fmla="*/ 0 h 5155928"/>
                <a:gd name="connsiteX2" fmla="*/ 9141087 w 9141087"/>
                <a:gd name="connsiteY2" fmla="*/ 5154827 h 5155928"/>
                <a:gd name="connsiteX3" fmla="*/ 0 w 9141087"/>
                <a:gd name="connsiteY3" fmla="*/ 5154827 h 5155928"/>
                <a:gd name="connsiteX4" fmla="*/ 0 w 9141087"/>
                <a:gd name="connsiteY4" fmla="*/ 5146451 h 5155928"/>
                <a:gd name="connsiteX5" fmla="*/ 75637 w 9141087"/>
                <a:gd name="connsiteY5" fmla="*/ 5154368 h 5155928"/>
                <a:gd name="connsiteX6" fmla="*/ 2058507 w 9141087"/>
                <a:gd name="connsiteY6" fmla="*/ 4098986 h 5155928"/>
                <a:gd name="connsiteX7" fmla="*/ 2157322 w 9141087"/>
                <a:gd name="connsiteY7" fmla="*/ 3961433 h 5155928"/>
                <a:gd name="connsiteX8" fmla="*/ 2164242 w 9141087"/>
                <a:gd name="connsiteY8" fmla="*/ 3962746 h 5155928"/>
                <a:gd name="connsiteX9" fmla="*/ 2202530 w 9141087"/>
                <a:gd name="connsiteY9" fmla="*/ 3971148 h 5155928"/>
                <a:gd name="connsiteX10" fmla="*/ 2280575 w 9141087"/>
                <a:gd name="connsiteY10" fmla="*/ 3984804 h 5155928"/>
                <a:gd name="connsiteX11" fmla="*/ 2326734 w 9141087"/>
                <a:gd name="connsiteY11" fmla="*/ 3993557 h 5155928"/>
                <a:gd name="connsiteX12" fmla="*/ 2326992 w 9141087"/>
                <a:gd name="connsiteY12" fmla="*/ 3992927 h 5155928"/>
                <a:gd name="connsiteX13" fmla="*/ 2387013 w 9141087"/>
                <a:gd name="connsiteY13" fmla="*/ 4003429 h 5155928"/>
                <a:gd name="connsiteX14" fmla="*/ 3145582 w 9141087"/>
                <a:gd name="connsiteY14" fmla="*/ 3885282 h 5155928"/>
                <a:gd name="connsiteX15" fmla="*/ 2630604 w 9141087"/>
                <a:gd name="connsiteY15" fmla="*/ 3157424 h 5155928"/>
                <a:gd name="connsiteX16" fmla="*/ 2590729 w 9141087"/>
                <a:gd name="connsiteY16" fmla="*/ 3127515 h 5155928"/>
                <a:gd name="connsiteX17" fmla="*/ 2667774 w 9141087"/>
                <a:gd name="connsiteY17" fmla="*/ 2889009 h 5155928"/>
                <a:gd name="connsiteX18" fmla="*/ 1719839 w 9141087"/>
                <a:gd name="connsiteY18" fmla="*/ 73550 h 5155928"/>
                <a:gd name="connsiteX19" fmla="*/ 1526153 w 9141087"/>
                <a:gd name="connsiteY19" fmla="*/ 0 h 5155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141087" h="5155928">
                  <a:moveTo>
                    <a:pt x="1526153" y="0"/>
                  </a:moveTo>
                  <a:lnTo>
                    <a:pt x="9141087" y="0"/>
                  </a:lnTo>
                  <a:lnTo>
                    <a:pt x="9141087" y="5154827"/>
                  </a:lnTo>
                  <a:lnTo>
                    <a:pt x="0" y="5154827"/>
                  </a:lnTo>
                  <a:lnTo>
                    <a:pt x="0" y="5146451"/>
                  </a:lnTo>
                  <a:lnTo>
                    <a:pt x="75637" y="5154368"/>
                  </a:lnTo>
                  <a:cubicBezTo>
                    <a:pt x="776345" y="5184094"/>
                    <a:pt x="1521473" y="4787639"/>
                    <a:pt x="2058507" y="4098986"/>
                  </a:cubicBezTo>
                  <a:lnTo>
                    <a:pt x="2157322" y="3961433"/>
                  </a:lnTo>
                  <a:lnTo>
                    <a:pt x="2164242" y="3962746"/>
                  </a:lnTo>
                  <a:lnTo>
                    <a:pt x="2202530" y="3971148"/>
                  </a:lnTo>
                  <a:lnTo>
                    <a:pt x="2280575" y="3984804"/>
                  </a:lnTo>
                  <a:lnTo>
                    <a:pt x="2326734" y="3993557"/>
                  </a:lnTo>
                  <a:lnTo>
                    <a:pt x="2326992" y="3992927"/>
                  </a:lnTo>
                  <a:lnTo>
                    <a:pt x="2387013" y="4003429"/>
                  </a:lnTo>
                  <a:cubicBezTo>
                    <a:pt x="2799150" y="4065178"/>
                    <a:pt x="3079131" y="4031158"/>
                    <a:pt x="3145582" y="3885282"/>
                  </a:cubicBezTo>
                  <a:cubicBezTo>
                    <a:pt x="3218973" y="3724445"/>
                    <a:pt x="3017460" y="3460150"/>
                    <a:pt x="2630604" y="3157424"/>
                  </a:cubicBezTo>
                  <a:lnTo>
                    <a:pt x="2590729" y="3127515"/>
                  </a:lnTo>
                  <a:lnTo>
                    <a:pt x="2667774" y="2889009"/>
                  </a:lnTo>
                  <a:cubicBezTo>
                    <a:pt x="3005732" y="1683964"/>
                    <a:pt x="2631698" y="490305"/>
                    <a:pt x="1719839" y="73550"/>
                  </a:cubicBezTo>
                  <a:lnTo>
                    <a:pt x="1526153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5A7C4EAA-15CA-B247-A4DF-3A5765D3B2A3}"/>
                </a:ext>
              </a:extLst>
            </p:cNvPr>
            <p:cNvSpPr/>
            <p:nvPr userDrawn="1"/>
          </p:nvSpPr>
          <p:spPr>
            <a:xfrm>
              <a:off x="0" y="3174823"/>
              <a:ext cx="1677049" cy="1665275"/>
            </a:xfrm>
            <a:custGeom>
              <a:avLst/>
              <a:gdLst>
                <a:gd name="connsiteX0" fmla="*/ 0 w 1677049"/>
                <a:gd name="connsiteY0" fmla="*/ 0 h 1665275"/>
                <a:gd name="connsiteX1" fmla="*/ 55062 w 1677049"/>
                <a:gd name="connsiteY1" fmla="*/ 27525 h 1665275"/>
                <a:gd name="connsiteX2" fmla="*/ 314915 w 1677049"/>
                <a:gd name="connsiteY2" fmla="*/ 149684 h 1665275"/>
                <a:gd name="connsiteX3" fmla="*/ 1331241 w 1677049"/>
                <a:gd name="connsiteY3" fmla="*/ 555564 h 1665275"/>
                <a:gd name="connsiteX4" fmla="*/ 1521376 w 1677049"/>
                <a:gd name="connsiteY4" fmla="*/ 617362 h 1665275"/>
                <a:gd name="connsiteX5" fmla="*/ 1521140 w 1677049"/>
                <a:gd name="connsiteY5" fmla="*/ 617775 h 1665275"/>
                <a:gd name="connsiteX6" fmla="*/ 1540381 w 1677049"/>
                <a:gd name="connsiteY6" fmla="*/ 623539 h 1665275"/>
                <a:gd name="connsiteX7" fmla="*/ 1566219 w 1677049"/>
                <a:gd name="connsiteY7" fmla="*/ 631937 h 1665275"/>
                <a:gd name="connsiteX8" fmla="*/ 1666079 w 1677049"/>
                <a:gd name="connsiteY8" fmla="*/ 661195 h 1665275"/>
                <a:gd name="connsiteX9" fmla="*/ 1677049 w 1677049"/>
                <a:gd name="connsiteY9" fmla="*/ 664481 h 1665275"/>
                <a:gd name="connsiteX10" fmla="*/ 1667186 w 1677049"/>
                <a:gd name="connsiteY10" fmla="*/ 678371 h 1665275"/>
                <a:gd name="connsiteX11" fmla="*/ 58278 w 1677049"/>
                <a:gd name="connsiteY11" fmla="*/ 1663563 h 1665275"/>
                <a:gd name="connsiteX12" fmla="*/ 0 w 1677049"/>
                <a:gd name="connsiteY12" fmla="*/ 1665275 h 1665275"/>
                <a:gd name="connsiteX13" fmla="*/ 0 w 1677049"/>
                <a:gd name="connsiteY13" fmla="*/ 0 h 166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77049" h="1665275">
                  <a:moveTo>
                    <a:pt x="0" y="0"/>
                  </a:moveTo>
                  <a:lnTo>
                    <a:pt x="55062" y="27525"/>
                  </a:lnTo>
                  <a:cubicBezTo>
                    <a:pt x="140029" y="68726"/>
                    <a:pt x="226710" y="109496"/>
                    <a:pt x="314915" y="149684"/>
                  </a:cubicBezTo>
                  <a:cubicBezTo>
                    <a:pt x="667741" y="310496"/>
                    <a:pt x="1011578" y="446790"/>
                    <a:pt x="1331241" y="555564"/>
                  </a:cubicBezTo>
                  <a:lnTo>
                    <a:pt x="1521376" y="617362"/>
                  </a:lnTo>
                  <a:lnTo>
                    <a:pt x="1521140" y="617775"/>
                  </a:lnTo>
                  <a:lnTo>
                    <a:pt x="1540381" y="623539"/>
                  </a:lnTo>
                  <a:lnTo>
                    <a:pt x="1566219" y="631937"/>
                  </a:lnTo>
                  <a:lnTo>
                    <a:pt x="1666079" y="661195"/>
                  </a:lnTo>
                  <a:lnTo>
                    <a:pt x="1677049" y="664481"/>
                  </a:lnTo>
                  <a:lnTo>
                    <a:pt x="1667186" y="678371"/>
                  </a:lnTo>
                  <a:cubicBezTo>
                    <a:pt x="1224914" y="1253212"/>
                    <a:pt x="632916" y="1612206"/>
                    <a:pt x="58278" y="1663563"/>
                  </a:cubicBezTo>
                  <a:lnTo>
                    <a:pt x="0" y="16652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3FCA222-E6B9-6C49-932E-60FCB5D8C5DD}"/>
                </a:ext>
              </a:extLst>
            </p:cNvPr>
            <p:cNvSpPr/>
            <p:nvPr userDrawn="1"/>
          </p:nvSpPr>
          <p:spPr>
            <a:xfrm>
              <a:off x="2376848" y="3253687"/>
              <a:ext cx="343930" cy="361770"/>
            </a:xfrm>
            <a:custGeom>
              <a:avLst/>
              <a:gdLst>
                <a:gd name="connsiteX0" fmla="*/ 163744 w 343930"/>
                <a:gd name="connsiteY0" fmla="*/ 0 h 361770"/>
                <a:gd name="connsiteX1" fmla="*/ 178396 w 343930"/>
                <a:gd name="connsiteY1" fmla="*/ 13750 h 361770"/>
                <a:gd name="connsiteX2" fmla="*/ 337605 w 343930"/>
                <a:gd name="connsiteY2" fmla="*/ 297178 h 361770"/>
                <a:gd name="connsiteX3" fmla="*/ 189169 w 343930"/>
                <a:gd name="connsiteY3" fmla="*/ 361598 h 361770"/>
                <a:gd name="connsiteX4" fmla="*/ 101228 w 343930"/>
                <a:gd name="connsiteY4" fmla="*/ 361770 h 361770"/>
                <a:gd name="connsiteX5" fmla="*/ 94227 w 343930"/>
                <a:gd name="connsiteY5" fmla="*/ 361237 h 361770"/>
                <a:gd name="connsiteX6" fmla="*/ 4676 w 343930"/>
                <a:gd name="connsiteY6" fmla="*/ 352915 h 361770"/>
                <a:gd name="connsiteX7" fmla="*/ 0 w 343930"/>
                <a:gd name="connsiteY7" fmla="*/ 352321 h 361770"/>
                <a:gd name="connsiteX8" fmla="*/ 101987 w 343930"/>
                <a:gd name="connsiteY8" fmla="*/ 150236 h 361770"/>
                <a:gd name="connsiteX9" fmla="*/ 163744 w 343930"/>
                <a:gd name="connsiteY9" fmla="*/ 0 h 36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3930" h="361770">
                  <a:moveTo>
                    <a:pt x="163744" y="0"/>
                  </a:moveTo>
                  <a:lnTo>
                    <a:pt x="178396" y="13750"/>
                  </a:lnTo>
                  <a:cubicBezTo>
                    <a:pt x="304317" y="138942"/>
                    <a:pt x="364544" y="238018"/>
                    <a:pt x="337605" y="297178"/>
                  </a:cubicBezTo>
                  <a:cubicBezTo>
                    <a:pt x="320278" y="335262"/>
                    <a:pt x="269017" y="356259"/>
                    <a:pt x="189169" y="361598"/>
                  </a:cubicBezTo>
                  <a:lnTo>
                    <a:pt x="101228" y="361770"/>
                  </a:lnTo>
                  <a:lnTo>
                    <a:pt x="94227" y="361237"/>
                  </a:lnTo>
                  <a:lnTo>
                    <a:pt x="4676" y="352915"/>
                  </a:lnTo>
                  <a:lnTo>
                    <a:pt x="0" y="352321"/>
                  </a:lnTo>
                  <a:lnTo>
                    <a:pt x="101987" y="150236"/>
                  </a:lnTo>
                  <a:lnTo>
                    <a:pt x="163744" y="0"/>
                  </a:lnTo>
                  <a:close/>
                </a:path>
              </a:pathLst>
            </a:custGeom>
            <a:grpFill/>
            <a:ln w="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B689345-0E5B-4961-BFA5-D74794CC73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51920" y="2704935"/>
            <a:ext cx="4785668" cy="8749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6B88576-B387-417A-9787-6A314FE149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51920" y="3661942"/>
            <a:ext cx="4785668" cy="349968"/>
          </a:xfrm>
          <a:prstGeom prst="rect">
            <a:avLst/>
          </a:prstGeom>
          <a:ln>
            <a:noFill/>
          </a:ln>
        </p:spPr>
        <p:txBody>
          <a:bodyPr wrap="square" lIns="0">
            <a:noAutofit/>
          </a:bodyPr>
          <a:lstStyle>
            <a:lvl1pPr marL="0" indent="0" algn="l" defTabSz="363800">
              <a:lnSpc>
                <a:spcPct val="93000"/>
              </a:lnSpc>
              <a:buNone/>
              <a:defRPr lang="en-GB" sz="1800" dirty="0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</a:lstStyle>
          <a:p>
            <a:pPr marL="0" lvl="0" indent="0" defTabSz="363800">
              <a:lnSpc>
                <a:spcPct val="93000"/>
              </a:lnSpc>
              <a:buNone/>
            </a:pPr>
            <a:r>
              <a:rPr lang="en-US" dirty="0"/>
              <a:t>Subtitle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7E07E-BB8C-4881-A45D-5CE30F35E4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284"/>
          <a:stretch/>
        </p:blipFill>
        <p:spPr>
          <a:xfrm>
            <a:off x="3851920" y="1283159"/>
            <a:ext cx="3100868" cy="85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034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42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A601E91-1DE9-6E40-B1A6-EA79B046D4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0063" y="1321548"/>
            <a:ext cx="8137525" cy="2913447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/>
            </a:lvl1pPr>
            <a:lvl2pPr marL="277813" indent="0" algn="l">
              <a:buNone/>
              <a:defRPr/>
            </a:lvl2pPr>
            <a:lvl3pPr marL="547688" indent="0" algn="l">
              <a:buNone/>
              <a:defRPr/>
            </a:lvl3pPr>
            <a:lvl4pPr marL="815975" indent="0" algn="l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AB6443E-3DD6-0D48-94B8-D7DD1B6761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0062" y="915566"/>
            <a:ext cx="8137525" cy="32385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rgbClr val="22222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7C0B51-2590-4977-8BCF-5BC1B1C0A5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06412" y="4241819"/>
            <a:ext cx="8124917" cy="38621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05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500063" y="1014414"/>
            <a:ext cx="5800129" cy="32131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6444208" y="1014414"/>
            <a:ext cx="2193380" cy="3213100"/>
          </a:xfrm>
          <a:prstGeom prst="rect">
            <a:avLst/>
          </a:prstGeom>
        </p:spPr>
        <p:txBody>
          <a:bodyPr vert="horz" tIns="0" rIns="0" bIns="0" anchor="t"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[image text]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CC3B6D4-4DC9-4D12-8D95-806CE8586CA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06412" y="4241819"/>
            <a:ext cx="8124917" cy="38621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159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500063" y="1014413"/>
            <a:ext cx="8137525" cy="27813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99233" y="3812367"/>
            <a:ext cx="8145533" cy="422628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600">
                <a:solidFill>
                  <a:srgbClr val="717073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3EF494-034D-44F8-A974-C98E1DDFD87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06412" y="4241819"/>
            <a:ext cx="8124917" cy="38621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866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9BD2E2A0-ACED-0A47-9B9C-66FCC582C9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24698" y="1015676"/>
            <a:ext cx="3907238" cy="2780038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4401D111-1A4C-BE4F-8DE5-C2A874A703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24698" y="3823714"/>
            <a:ext cx="3915473" cy="403603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9BD2E2A0-ACED-0A47-9B9C-66FCC582C9B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8231" y="1015676"/>
            <a:ext cx="3927244" cy="2780038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4401D111-1A4C-BE4F-8DE5-C2A874A7036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7558" y="3821321"/>
            <a:ext cx="3915473" cy="403603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07B79C-D28E-4C15-972E-338680BEC6F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06412" y="4241819"/>
            <a:ext cx="8124917" cy="38621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551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Captions and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9A0F972-6BC7-42BC-AFE5-97C86679B87E}"/>
              </a:ext>
            </a:extLst>
          </p:cNvPr>
          <p:cNvSpPr/>
          <p:nvPr userDrawn="1"/>
        </p:nvSpPr>
        <p:spPr>
          <a:xfrm>
            <a:off x="508231" y="2877621"/>
            <a:ext cx="3927244" cy="1346528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B259A0-C5BF-4615-9DF0-1C33FC6423D9}"/>
              </a:ext>
            </a:extLst>
          </p:cNvPr>
          <p:cNvSpPr/>
          <p:nvPr userDrawn="1"/>
        </p:nvSpPr>
        <p:spPr>
          <a:xfrm>
            <a:off x="4732548" y="2877621"/>
            <a:ext cx="3899388" cy="1346528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9BD2E2A0-ACED-0A47-9B9C-66FCC582C9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24698" y="1015675"/>
            <a:ext cx="3907238" cy="1861127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9BD2E2A0-ACED-0A47-9B9C-66FCC582C9B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8231" y="1015675"/>
            <a:ext cx="3927244" cy="1871973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07B79C-D28E-4C15-972E-338680BEC6F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06412" y="4241819"/>
            <a:ext cx="8124917" cy="38621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C13FF-C155-4919-8919-34228E9F85C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84213" y="3021837"/>
            <a:ext cx="3600450" cy="1212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66E5765-AFF9-454D-B3E4-B95BB4B1525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879732" y="3021837"/>
            <a:ext cx="3600450" cy="1212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A56BEC-90D2-435D-8367-0E3A5F8262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8231" y="2373565"/>
            <a:ext cx="3927244" cy="503237"/>
          </a:xfrm>
          <a:solidFill>
            <a:schemeClr val="accent1">
              <a:alpha val="80000"/>
            </a:schemeClr>
          </a:solidFill>
        </p:spPr>
        <p:txBody>
          <a:bodyPr lIns="180000" anchor="ctr"/>
          <a:lstStyle>
            <a:lvl1pPr marL="0" indent="0"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4F963DD-B50B-4248-9374-A146E531485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32548" y="2373565"/>
            <a:ext cx="3899388" cy="503237"/>
          </a:xfrm>
          <a:solidFill>
            <a:schemeClr val="accent1">
              <a:alpha val="80000"/>
            </a:schemeClr>
          </a:solidFill>
        </p:spPr>
        <p:txBody>
          <a:bodyPr lIns="180000" anchor="ctr"/>
          <a:lstStyle>
            <a:lvl1pPr marL="0" indent="0">
              <a:buNone/>
              <a:defRPr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124978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1" hasCustomPrompt="1"/>
          </p:nvPr>
        </p:nvSpPr>
        <p:spPr>
          <a:xfrm>
            <a:off x="516616" y="1014413"/>
            <a:ext cx="2615224" cy="2781300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516616" y="3795713"/>
            <a:ext cx="2615224" cy="431800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7291C38-6307-7D44-9B10-00CDF2E61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CD11574-6994-C542-A1AD-1118FE1AA89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239827" y="1014412"/>
            <a:ext cx="2639785" cy="278130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127FB44-8702-2E4A-AB5F-E13C696274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9827" y="3795713"/>
            <a:ext cx="2639785" cy="431800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0EEF36B-2413-A544-991B-10AA2B78C18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7599" y="1014412"/>
            <a:ext cx="2639785" cy="278130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86A408FD-BECD-3443-BB24-6FC2318203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87599" y="3795713"/>
            <a:ext cx="2639785" cy="431800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A300C0-DBF9-4E76-A96E-820DB299D36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06412" y="4241819"/>
            <a:ext cx="8124917" cy="38621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530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6A601E91-1DE9-6E40-B1A6-EA79B046D4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0063" y="1014414"/>
            <a:ext cx="2631777" cy="32206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FA2406D8-9BE4-8543-AD51-0423FE272F4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3275856" y="1014414"/>
            <a:ext cx="5368083" cy="322058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E27E797-65BC-354F-BBB0-6487EBA8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5D3A6C4-B2B4-46A4-BE60-14F5BD4FB2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6412" y="4241819"/>
            <a:ext cx="8124917" cy="38621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028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FA2406D8-9BE4-8543-AD51-0423FE272F4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500064" y="1356744"/>
            <a:ext cx="8143876" cy="287825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E27E797-65BC-354F-BBB0-6487EBA8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32C476E-51FA-B142-B805-2B1D7A05AE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2055" y="915988"/>
            <a:ext cx="8151884" cy="33039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AC71AE-A779-45DA-84FB-230AB359DDB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06412" y="4241819"/>
            <a:ext cx="8124917" cy="38621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307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601E91-1DE9-6E40-B1A6-EA79B046D4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0063" y="1014414"/>
            <a:ext cx="8137525" cy="32205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1D33E0-EF10-44C7-97ED-4419E599841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06412" y="4241819"/>
            <a:ext cx="8124917" cy="38621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476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88F8353-7F4B-4AB2-8678-0275B71DCD7E}"/>
              </a:ext>
            </a:extLst>
          </p:cNvPr>
          <p:cNvSpPr/>
          <p:nvPr userDrawn="1"/>
        </p:nvSpPr>
        <p:spPr>
          <a:xfrm>
            <a:off x="4572000" y="1"/>
            <a:ext cx="4572000" cy="506695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601E91-1DE9-6E40-B1A6-EA79B046D4E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0064" y="1014414"/>
            <a:ext cx="3935412" cy="32205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0227F-4512-44D1-9D9B-B77D363351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6463" y="1014414"/>
            <a:ext cx="3921125" cy="3220582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A97563-23FD-4705-A4F4-2B08A537BD6B}"/>
              </a:ext>
            </a:extLst>
          </p:cNvPr>
          <p:cNvCxnSpPr>
            <a:cxnSpLocks/>
          </p:cNvCxnSpPr>
          <p:nvPr userDrawn="1"/>
        </p:nvCxnSpPr>
        <p:spPr>
          <a:xfrm>
            <a:off x="8184621" y="4728567"/>
            <a:ext cx="0" cy="26492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CC8194-D780-400B-85F5-DE5F0003BCA5}"/>
              </a:ext>
            </a:extLst>
          </p:cNvPr>
          <p:cNvSpPr txBox="1">
            <a:spLocks/>
          </p:cNvSpPr>
          <p:nvPr userDrawn="1"/>
        </p:nvSpPr>
        <p:spPr>
          <a:xfrm>
            <a:off x="8219956" y="4723710"/>
            <a:ext cx="411383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363800">
              <a:lnSpc>
                <a:spcPct val="93000"/>
              </a:lnSpc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  <a:lvl2pPr indent="37022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740451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110679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148090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1851132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2221358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259158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2961812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F3EC332E-FB62-3242-BB6A-EC0EFC19912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76E361C-716A-465F-B091-EA57F773F15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06412" y="4241819"/>
            <a:ext cx="8124917" cy="38621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554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D8973B-8366-4A7A-9D42-382FF01BDED3}"/>
              </a:ext>
            </a:extLst>
          </p:cNvPr>
          <p:cNvSpPr txBox="1"/>
          <p:nvPr userDrawn="1"/>
        </p:nvSpPr>
        <p:spPr>
          <a:xfrm>
            <a:off x="2848181" y="-223827"/>
            <a:ext cx="3441290" cy="3695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8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B899D1-0243-411C-BC03-A2F921902D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6412" y="4241819"/>
            <a:ext cx="8124917" cy="38621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3248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p-up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22932854-4032-2042-B2A7-CAC30407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6A066E7-5573-564E-80E6-FFF5A20254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4590" y="1036029"/>
            <a:ext cx="3571873" cy="662539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39F8771B-79B5-5E44-8EE5-05B94368AF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87123" y="1036029"/>
            <a:ext cx="3571873" cy="662539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52DC5879-943B-FB4F-ADAC-2CD7A8A9403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4590" y="2143883"/>
            <a:ext cx="3571873" cy="662539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0C0A1BDB-B6A9-6A4B-910C-B61617F00C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87123" y="2143883"/>
            <a:ext cx="3571873" cy="662539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D2313A87-358B-C041-8B7E-F6B81E3165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4590" y="3251738"/>
            <a:ext cx="3571873" cy="662539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0CF54D8E-D4FA-7D43-B32A-87ABB4649C7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87123" y="3251738"/>
            <a:ext cx="3571873" cy="662539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PH" dirty="0">
                <a:solidFill>
                  <a:schemeClr val="tx1"/>
                </a:solidFill>
                <a:latin typeface="Arial" panose="020B0604020202020204" pitchFamily="34" charset="0"/>
              </a:rPr>
              <a:t>Use this as a normal pop-up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B2DB555-C07E-4AD1-8918-A045D96FF03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06412" y="4241819"/>
            <a:ext cx="8124917" cy="38621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8571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A0E8E579-8029-9140-ABF3-F9D545846CF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0063" y="1338263"/>
            <a:ext cx="3935411" cy="2889671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83A2FDE9-97B9-0D4C-A044-587D3779E2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08528" y="1338263"/>
            <a:ext cx="3935411" cy="2889671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6443E-3DD6-0D48-94B8-D7DD1B6761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0063" y="915566"/>
            <a:ext cx="3935410" cy="32385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rgbClr val="22222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2C1AA4B-FF84-7D4E-9B6E-EE3C29C65A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16463" y="915566"/>
            <a:ext cx="3959993" cy="32385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rgbClr val="22222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46F896C2-AD43-1A47-BA40-5924200E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E8B13C-1060-418C-8319-C4526C0DD1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06412" y="4241819"/>
            <a:ext cx="8124917" cy="38621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714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3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A0E8E579-8029-9140-ABF3-F9D545846CF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00063" y="1338263"/>
            <a:ext cx="3935411" cy="2896732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B6443E-3DD6-0D48-94B8-D7DD1B6761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0062" y="915566"/>
            <a:ext cx="8137525" cy="32385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46F896C2-AD43-1A47-BA40-5924200EB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3E0339E7-81F2-A040-87B8-7E7837273F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08528" y="915989"/>
            <a:ext cx="3929061" cy="288967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[image/icon/logo box]</a:t>
            </a:r>
            <a:endParaRPr lang="en-US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BF9020A-F14A-ED49-8C64-E205C6AE78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8529" y="3811636"/>
            <a:ext cx="3929060" cy="421853"/>
          </a:xfrm>
          <a:prstGeom prst="rect">
            <a:avLst/>
          </a:prstGeom>
        </p:spPr>
        <p:txBody>
          <a:bodyPr vert="horz" tIns="0" rIns="0" bIns="0" anchor="ctr"/>
          <a:lstStyle>
            <a:lvl1pPr marL="0" indent="0" algn="ctr">
              <a:buNone/>
              <a:defRPr sz="1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 dirty="0"/>
              <a:t>[image caption]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0136A46-1C94-408F-87B7-B99F84FBFA7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06412" y="4241819"/>
            <a:ext cx="8124917" cy="38621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690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erson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172EAF-17DA-AE4A-A7EE-9B92132874A3}"/>
              </a:ext>
            </a:extLst>
          </p:cNvPr>
          <p:cNvCxnSpPr>
            <a:cxnSpLocks/>
          </p:cNvCxnSpPr>
          <p:nvPr userDrawn="1"/>
        </p:nvCxnSpPr>
        <p:spPr>
          <a:xfrm>
            <a:off x="2699792" y="1653835"/>
            <a:ext cx="504056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9F98007-12E5-1347-86D2-FD1631C42F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9792" y="1139340"/>
            <a:ext cx="593779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10B3AB-4B7B-AC43-9902-ADB77F1438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99792" y="1413332"/>
            <a:ext cx="593779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3C10258-D7B1-8247-B5A8-DD703D381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99792" y="1683746"/>
            <a:ext cx="5937796" cy="2227393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0" name="Picture Placeholder 36">
            <a:extLst>
              <a:ext uri="{FF2B5EF4-FFF2-40B4-BE49-F238E27FC236}">
                <a16:creationId xmlns:a16="http://schemas.microsoft.com/office/drawing/2014/main" id="{6BBDCC44-E649-7042-9BAB-A64BA50061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00063" y="1137670"/>
            <a:ext cx="1767681" cy="17676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1C448B77-40C1-BA4B-9EBD-F6806BE83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C6B6D8-1F26-49EB-8B11-3E83626E9AD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506412" y="4241819"/>
            <a:ext cx="8124917" cy="38621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437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erson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172EAF-17DA-AE4A-A7EE-9B92132874A3}"/>
              </a:ext>
            </a:extLst>
          </p:cNvPr>
          <p:cNvCxnSpPr>
            <a:cxnSpLocks/>
          </p:cNvCxnSpPr>
          <p:nvPr userDrawn="1"/>
        </p:nvCxnSpPr>
        <p:spPr>
          <a:xfrm>
            <a:off x="500063" y="2682018"/>
            <a:ext cx="504056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9F98007-12E5-1347-86D2-FD1631C42F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62" y="2167523"/>
            <a:ext cx="2515363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10B3AB-4B7B-AC43-9902-ADB77F1438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62" y="2441515"/>
            <a:ext cx="2515363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3C10258-D7B1-8247-B5A8-DD703D381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062" y="2711930"/>
            <a:ext cx="2515363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0" name="Picture Placeholder 36">
            <a:extLst>
              <a:ext uri="{FF2B5EF4-FFF2-40B4-BE49-F238E27FC236}">
                <a16:creationId xmlns:a16="http://schemas.microsoft.com/office/drawing/2014/main" id="{6BBDCC44-E649-7042-9BAB-A64BA50061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00063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8439D20-BAEE-3A46-9F93-18FED5D8DD98}"/>
              </a:ext>
            </a:extLst>
          </p:cNvPr>
          <p:cNvCxnSpPr>
            <a:cxnSpLocks/>
          </p:cNvCxnSpPr>
          <p:nvPr userDrawn="1"/>
        </p:nvCxnSpPr>
        <p:spPr>
          <a:xfrm>
            <a:off x="3305850" y="2682018"/>
            <a:ext cx="504056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A3FDEDF0-1056-0C47-AD69-FE9D014D9D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05849" y="2167523"/>
            <a:ext cx="2515363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41A579EA-2168-BA49-AB8F-310CB7F9CA0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05849" y="2441515"/>
            <a:ext cx="2515363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A2FEF0F1-661C-654B-9E89-06752809DF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05849" y="2711930"/>
            <a:ext cx="2515363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7" name="Picture Placeholder 36">
            <a:extLst>
              <a:ext uri="{FF2B5EF4-FFF2-40B4-BE49-F238E27FC236}">
                <a16:creationId xmlns:a16="http://schemas.microsoft.com/office/drawing/2014/main" id="{A9D82A10-3AD7-1446-8F46-37E0058A88A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305850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7EF184F-6686-6D49-9419-BA1D272AC81D}"/>
              </a:ext>
            </a:extLst>
          </p:cNvPr>
          <p:cNvCxnSpPr>
            <a:cxnSpLocks/>
          </p:cNvCxnSpPr>
          <p:nvPr userDrawn="1"/>
        </p:nvCxnSpPr>
        <p:spPr>
          <a:xfrm>
            <a:off x="6111639" y="2682018"/>
            <a:ext cx="504056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1019358D-0868-DE4E-8C10-294977BB65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11638" y="2167523"/>
            <a:ext cx="2515363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65975E78-D73C-2B47-B71F-4E0B606A00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11638" y="2441515"/>
            <a:ext cx="2515363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4B92EB00-D56B-7A41-881D-393490E9520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11638" y="2711930"/>
            <a:ext cx="2515363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52" name="Picture Placeholder 36">
            <a:extLst>
              <a:ext uri="{FF2B5EF4-FFF2-40B4-BE49-F238E27FC236}">
                <a16:creationId xmlns:a16="http://schemas.microsoft.com/office/drawing/2014/main" id="{3F0A8FF6-A378-E944-BB45-55FC0D68046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111639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E27787B3-D9AF-D940-8323-B8918F6A7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B1114C-E04D-4F69-BC84-F54E17E815E7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>
          <a:xfrm>
            <a:off x="506412" y="4241819"/>
            <a:ext cx="8124917" cy="38621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4700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Person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172EAF-17DA-AE4A-A7EE-9B92132874A3}"/>
              </a:ext>
            </a:extLst>
          </p:cNvPr>
          <p:cNvCxnSpPr>
            <a:cxnSpLocks/>
          </p:cNvCxnSpPr>
          <p:nvPr userDrawn="1"/>
        </p:nvCxnSpPr>
        <p:spPr>
          <a:xfrm>
            <a:off x="500063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9F98007-12E5-1347-86D2-FD1631C42F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62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10B3AB-4B7B-AC43-9902-ADB77F1438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62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3C10258-D7B1-8247-B5A8-DD703D381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062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0" name="Picture Placeholder 36">
            <a:extLst>
              <a:ext uri="{FF2B5EF4-FFF2-40B4-BE49-F238E27FC236}">
                <a16:creationId xmlns:a16="http://schemas.microsoft.com/office/drawing/2014/main" id="{6BBDCC44-E649-7042-9BAB-A64BA50061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00063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E27787B3-D9AF-D940-8323-B8918F6A7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C740405-3142-3E41-8C6D-A8A1E34E9905}"/>
              </a:ext>
            </a:extLst>
          </p:cNvPr>
          <p:cNvCxnSpPr>
            <a:cxnSpLocks/>
          </p:cNvCxnSpPr>
          <p:nvPr userDrawn="1"/>
        </p:nvCxnSpPr>
        <p:spPr>
          <a:xfrm>
            <a:off x="2587047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9B34579-E92E-C345-9574-CD4A4C19722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87046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58BA616A-D2A8-2947-89EC-AD5CAD12A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87046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19709921-4F93-054C-913B-3206038FEE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87046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644AF5B-5241-9F48-A875-B2F5F442AD32}"/>
              </a:ext>
            </a:extLst>
          </p:cNvPr>
          <p:cNvCxnSpPr>
            <a:cxnSpLocks/>
          </p:cNvCxnSpPr>
          <p:nvPr userDrawn="1"/>
        </p:nvCxnSpPr>
        <p:spPr>
          <a:xfrm>
            <a:off x="4674031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0A0A9FE5-4414-BC45-9945-5F498E212AC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74030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8ED5D7B2-689B-2B4C-A43D-D02E83F947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74030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1C1EEEB8-A0CF-574A-9ADA-0AF9C5F90B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74030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2747001-8EC9-C94D-8496-0D147669DF33}"/>
              </a:ext>
            </a:extLst>
          </p:cNvPr>
          <p:cNvCxnSpPr>
            <a:cxnSpLocks/>
          </p:cNvCxnSpPr>
          <p:nvPr userDrawn="1"/>
        </p:nvCxnSpPr>
        <p:spPr>
          <a:xfrm>
            <a:off x="6761014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1BB302A5-7E2E-1C42-8D5D-038AFC7E6C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61013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55E365EA-E806-794E-A01A-1781C7CB69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61013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B84882D0-76FD-3641-827B-BFF1B43612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61013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73" name="Picture Placeholder 36">
            <a:extLst>
              <a:ext uri="{FF2B5EF4-FFF2-40B4-BE49-F238E27FC236}">
                <a16:creationId xmlns:a16="http://schemas.microsoft.com/office/drawing/2014/main" id="{EBFCBB6A-B0D6-9F42-91B5-8D147859F63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587046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74" name="Picture Placeholder 36">
            <a:extLst>
              <a:ext uri="{FF2B5EF4-FFF2-40B4-BE49-F238E27FC236}">
                <a16:creationId xmlns:a16="http://schemas.microsoft.com/office/drawing/2014/main" id="{CAE03149-D6A1-604B-AA12-50D258C53D1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674030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75" name="Picture Placeholder 36">
            <a:extLst>
              <a:ext uri="{FF2B5EF4-FFF2-40B4-BE49-F238E27FC236}">
                <a16:creationId xmlns:a16="http://schemas.microsoft.com/office/drawing/2014/main" id="{555B8286-1166-8844-8C35-F00F2B33B98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761013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048CD4-BFF7-4D36-87EF-253A3F1B3E79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506412" y="4241819"/>
            <a:ext cx="8124917" cy="38621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3323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erson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172EAF-17DA-AE4A-A7EE-9B92132874A3}"/>
              </a:ext>
            </a:extLst>
          </p:cNvPr>
          <p:cNvCxnSpPr>
            <a:cxnSpLocks/>
          </p:cNvCxnSpPr>
          <p:nvPr userDrawn="1"/>
        </p:nvCxnSpPr>
        <p:spPr>
          <a:xfrm>
            <a:off x="500063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29F98007-12E5-1347-86D2-FD1631C42F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62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10B3AB-4B7B-AC43-9902-ADB77F14381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62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3C10258-D7B1-8247-B5A8-DD703D3812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062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40" name="Picture Placeholder 36">
            <a:extLst>
              <a:ext uri="{FF2B5EF4-FFF2-40B4-BE49-F238E27FC236}">
                <a16:creationId xmlns:a16="http://schemas.microsoft.com/office/drawing/2014/main" id="{6BBDCC44-E649-7042-9BAB-A64BA500612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00063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E27787B3-D9AF-D940-8323-B8918F6A7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C740405-3142-3E41-8C6D-A8A1E34E9905}"/>
              </a:ext>
            </a:extLst>
          </p:cNvPr>
          <p:cNvCxnSpPr>
            <a:cxnSpLocks/>
          </p:cNvCxnSpPr>
          <p:nvPr userDrawn="1"/>
        </p:nvCxnSpPr>
        <p:spPr>
          <a:xfrm>
            <a:off x="2587047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9B34579-E92E-C345-9574-CD4A4C19722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87046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58BA616A-D2A8-2947-89EC-AD5CAD12A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87046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19709921-4F93-054C-913B-3206038FEE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587046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644AF5B-5241-9F48-A875-B2F5F442AD32}"/>
              </a:ext>
            </a:extLst>
          </p:cNvPr>
          <p:cNvCxnSpPr>
            <a:cxnSpLocks/>
          </p:cNvCxnSpPr>
          <p:nvPr userDrawn="1"/>
        </p:nvCxnSpPr>
        <p:spPr>
          <a:xfrm>
            <a:off x="4674031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0A0A9FE5-4414-BC45-9945-5F498E212AC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74030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8ED5D7B2-689B-2B4C-A43D-D02E83F947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74030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1C1EEEB8-A0CF-574A-9ADA-0AF9C5F90BE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74030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F2747001-8EC9-C94D-8496-0D147669DF33}"/>
              </a:ext>
            </a:extLst>
          </p:cNvPr>
          <p:cNvCxnSpPr>
            <a:cxnSpLocks/>
          </p:cNvCxnSpPr>
          <p:nvPr userDrawn="1"/>
        </p:nvCxnSpPr>
        <p:spPr>
          <a:xfrm>
            <a:off x="6761014" y="2682018"/>
            <a:ext cx="378365" cy="0"/>
          </a:xfrm>
          <a:prstGeom prst="line">
            <a:avLst/>
          </a:prstGeom>
          <a:ln w="12700" cap="rnd">
            <a:solidFill>
              <a:schemeClr val="accen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1BB302A5-7E2E-1C42-8D5D-038AFC7E6C1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61013" y="2167523"/>
            <a:ext cx="1888136" cy="264047"/>
          </a:xfrm>
        </p:spPr>
        <p:txBody>
          <a:bodyPr tIns="0" rIns="0" bIns="0" anchor="b"/>
          <a:lstStyle>
            <a:lvl1pPr marL="0" indent="0">
              <a:buFont typeface="Arial" panose="020B0604020202020204" pitchFamily="34" charset="0"/>
              <a:buNone/>
              <a:defRPr sz="1600" b="1" i="0">
                <a:solidFill>
                  <a:schemeClr val="accent2">
                    <a:lumMod val="100000"/>
                  </a:schemeClr>
                </a:solidFill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55E365EA-E806-794E-A01A-1781C7CB69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61013" y="2441515"/>
            <a:ext cx="1888136" cy="260469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B84882D0-76FD-3641-827B-BFF1B43612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61013" y="2711930"/>
            <a:ext cx="1888136" cy="504532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73" name="Picture Placeholder 36">
            <a:extLst>
              <a:ext uri="{FF2B5EF4-FFF2-40B4-BE49-F238E27FC236}">
                <a16:creationId xmlns:a16="http://schemas.microsoft.com/office/drawing/2014/main" id="{EBFCBB6A-B0D6-9F42-91B5-8D147859F63B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587046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74" name="Picture Placeholder 36">
            <a:extLst>
              <a:ext uri="{FF2B5EF4-FFF2-40B4-BE49-F238E27FC236}">
                <a16:creationId xmlns:a16="http://schemas.microsoft.com/office/drawing/2014/main" id="{CAE03149-D6A1-604B-AA12-50D258C53D1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674030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75" name="Picture Placeholder 36">
            <a:extLst>
              <a:ext uri="{FF2B5EF4-FFF2-40B4-BE49-F238E27FC236}">
                <a16:creationId xmlns:a16="http://schemas.microsoft.com/office/drawing/2014/main" id="{555B8286-1166-8844-8C35-F00F2B33B98B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761013" y="1012743"/>
            <a:ext cx="1134814" cy="11348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Photo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048CD4-BFF7-4D36-87EF-253A3F1B3E79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506412" y="4241819"/>
            <a:ext cx="8124917" cy="38621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4771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act U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7">
            <a:extLst>
              <a:ext uri="{FF2B5EF4-FFF2-40B4-BE49-F238E27FC236}">
                <a16:creationId xmlns:a16="http://schemas.microsoft.com/office/drawing/2014/main" id="{3A1060D7-15E0-B149-B9D6-37E4A0672A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3519"/>
          <a:stretch/>
        </p:blipFill>
        <p:spPr>
          <a:xfrm>
            <a:off x="500063" y="1789613"/>
            <a:ext cx="2518723" cy="67771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2FC95F1-815D-2D4B-8AFC-63AA196BAEF6}"/>
              </a:ext>
            </a:extLst>
          </p:cNvPr>
          <p:cNvGrpSpPr/>
          <p:nvPr userDrawn="1"/>
        </p:nvGrpSpPr>
        <p:grpSpPr>
          <a:xfrm>
            <a:off x="3175" y="5071254"/>
            <a:ext cx="9144000" cy="78318"/>
            <a:chOff x="0" y="5071254"/>
            <a:chExt cx="9144000" cy="7831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4214FF2-E8CC-8947-AA41-46AA3CE8727A}"/>
                </a:ext>
              </a:extLst>
            </p:cNvPr>
            <p:cNvSpPr/>
            <p:nvPr userDrawn="1"/>
          </p:nvSpPr>
          <p:spPr>
            <a:xfrm>
              <a:off x="0" y="5071254"/>
              <a:ext cx="2016000" cy="783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latin typeface="Simplon Norm" panose="020B0500030000000000" pitchFamily="34" charset="77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6F3B95-639B-5B44-8E76-C141A9B2DCE5}"/>
                </a:ext>
              </a:extLst>
            </p:cNvPr>
            <p:cNvSpPr/>
            <p:nvPr userDrawn="1"/>
          </p:nvSpPr>
          <p:spPr>
            <a:xfrm>
              <a:off x="2016000" y="5071254"/>
              <a:ext cx="7128000" cy="783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latin typeface="Simplon Norm" panose="020B0500030000000000" pitchFamily="34" charset="77"/>
              </a:endParaRPr>
            </a:p>
          </p:txBody>
        </p:sp>
      </p:grp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7ED7C95-B496-764A-A62B-7AEE64F0AF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0062" y="2660590"/>
            <a:ext cx="8137525" cy="6181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800" baseline="0"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 dirty="0"/>
              <a:t>Thank You.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3644064-E3FD-0045-A137-F0CF630DF8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0065" y="3306205"/>
            <a:ext cx="8137523" cy="2873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Presenter name and/or email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E86138B-22AB-524D-B99B-1D15537B55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0061" y="3728481"/>
            <a:ext cx="8137525" cy="28342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aseline="0"/>
            </a:lvl1pPr>
          </a:lstStyle>
          <a:p>
            <a:pPr lvl="0"/>
            <a:r>
              <a:rPr lang="en-US" dirty="0"/>
              <a:t>Co-authors and/or references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8849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B4C3202-59EE-2340-B38A-4E5E3A2DD1D8}"/>
              </a:ext>
            </a:extLst>
          </p:cNvPr>
          <p:cNvCxnSpPr>
            <a:cxnSpLocks/>
          </p:cNvCxnSpPr>
          <p:nvPr userDrawn="1"/>
        </p:nvCxnSpPr>
        <p:spPr>
          <a:xfrm>
            <a:off x="8339862" y="4728567"/>
            <a:ext cx="0" cy="26492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74FA6C-9F76-7940-ABD6-8AE29935C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063" y="1014413"/>
            <a:ext cx="8137524" cy="321310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7C86E9-FDA0-4C4D-A68F-6E3891ABEC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2800"/>
          <a:stretch/>
        </p:blipFill>
        <p:spPr>
          <a:xfrm>
            <a:off x="512661" y="4673626"/>
            <a:ext cx="1114768" cy="304593"/>
          </a:xfrm>
          <a:prstGeom prst="rect">
            <a:avLst/>
          </a:prstGeom>
        </p:spPr>
      </p:pic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8EFF88D6-3D0D-1241-9CCB-64DB5A04A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13" y="274639"/>
            <a:ext cx="8137524" cy="569100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AADC478-0D1F-4E10-932D-F91CE6CE0C53}"/>
              </a:ext>
            </a:extLst>
          </p:cNvPr>
          <p:cNvSpPr txBox="1">
            <a:spLocks/>
          </p:cNvSpPr>
          <p:nvPr userDrawn="1"/>
        </p:nvSpPr>
        <p:spPr>
          <a:xfrm>
            <a:off x="8452674" y="4749040"/>
            <a:ext cx="191263" cy="290924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 defTabSz="363800">
              <a:lnSpc>
                <a:spcPct val="93000"/>
              </a:lnSpc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defRPr>
            </a:lvl1pPr>
            <a:lvl2pPr indent="37022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740451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1110679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148090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1851132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2221358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2591585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2961812" defTabSz="363800">
              <a:lnSpc>
                <a:spcPct val="93000"/>
              </a:lnSpc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/>
            <a:fld id="{F3EC332E-FB62-3242-BB6A-EC0EFC19912F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FA2C01E-D7C1-4136-B16E-E0E3E44A9967}"/>
              </a:ext>
            </a:extLst>
          </p:cNvPr>
          <p:cNvSpPr txBox="1">
            <a:spLocks/>
          </p:cNvSpPr>
          <p:nvPr userDrawn="1"/>
        </p:nvSpPr>
        <p:spPr>
          <a:xfrm>
            <a:off x="1547664" y="4673630"/>
            <a:ext cx="6768747" cy="44438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Evaluating the Direct, Indirect and Population-Level Effects of LLINs Across Transmission Intensities</a:t>
            </a:r>
            <a:endParaRPr lang="en-US" dirty="0">
              <a:solidFill>
                <a:srgbClr val="898989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7AED518-D582-9A4F-8C12-6E2C06E7A8AA}"/>
              </a:ext>
            </a:extLst>
          </p:cNvPr>
          <p:cNvGrpSpPr/>
          <p:nvPr userDrawn="1"/>
        </p:nvGrpSpPr>
        <p:grpSpPr>
          <a:xfrm>
            <a:off x="3175" y="5071254"/>
            <a:ext cx="9144000" cy="78318"/>
            <a:chOff x="0" y="5071254"/>
            <a:chExt cx="9144000" cy="7831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FFBD448-4703-CA48-88BE-FC90FC84C9BF}"/>
                </a:ext>
              </a:extLst>
            </p:cNvPr>
            <p:cNvSpPr/>
            <p:nvPr userDrawn="1"/>
          </p:nvSpPr>
          <p:spPr>
            <a:xfrm>
              <a:off x="0" y="5071254"/>
              <a:ext cx="2016000" cy="783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latin typeface="Simplon Norm" panose="020B0500030000000000" pitchFamily="34" charset="77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1480782-CDA4-E241-80E9-8887C60CB37B}"/>
                </a:ext>
              </a:extLst>
            </p:cNvPr>
            <p:cNvSpPr/>
            <p:nvPr userDrawn="1"/>
          </p:nvSpPr>
          <p:spPr>
            <a:xfrm>
              <a:off x="2016000" y="5071254"/>
              <a:ext cx="7128000" cy="7831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latin typeface="Simplon Norm" panose="020B0500030000000000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7968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82" r:id="rId2"/>
    <p:sldLayoutId id="2147483823" r:id="rId3"/>
    <p:sldLayoutId id="2147483783" r:id="rId4"/>
    <p:sldLayoutId id="2147483825" r:id="rId5"/>
    <p:sldLayoutId id="2147483801" r:id="rId6"/>
    <p:sldLayoutId id="2147483802" r:id="rId7"/>
    <p:sldLayoutId id="2147483804" r:id="rId8"/>
    <p:sldLayoutId id="2147483827" r:id="rId9"/>
    <p:sldLayoutId id="2147483803" r:id="rId10"/>
    <p:sldLayoutId id="2147483737" r:id="rId11"/>
    <p:sldLayoutId id="2147483806" r:id="rId12"/>
    <p:sldLayoutId id="2147483744" r:id="rId13"/>
    <p:sldLayoutId id="2147483826" r:id="rId14"/>
    <p:sldLayoutId id="2147483824" r:id="rId15"/>
    <p:sldLayoutId id="2147483793" r:id="rId16"/>
    <p:sldLayoutId id="2147483818" r:id="rId17"/>
    <p:sldLayoutId id="2147483807" r:id="rId18"/>
    <p:sldLayoutId id="2147483810" r:id="rId19"/>
    <p:sldLayoutId id="2147483809" r:id="rId20"/>
    <p:sldLayoutId id="2147483828" r:id="rId21"/>
    <p:sldLayoutId id="2147483811" r:id="rId22"/>
    <p:sldLayoutId id="2147483773" r:id="rId23"/>
  </p:sldLayoutIdLs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400" b="0" i="0" kern="1200">
          <a:solidFill>
            <a:schemeClr val="accent1">
              <a:lumMod val="100000"/>
            </a:schemeClr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00000"/>
        </a:lnSpc>
        <a:spcBef>
          <a:spcPts val="300"/>
        </a:spcBef>
        <a:buClr>
          <a:srgbClr val="BF3227"/>
        </a:buClr>
        <a:buSzPct val="125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449263" indent="-171450" algn="l" defTabSz="914400" rtl="0" eaLnBrk="1" latinLnBrk="0" hangingPunct="1">
        <a:lnSpc>
          <a:spcPct val="100000"/>
        </a:lnSpc>
        <a:spcBef>
          <a:spcPts val="300"/>
        </a:spcBef>
        <a:buClr>
          <a:srgbClr val="BF3227"/>
        </a:buClr>
        <a:buSzPct val="125000"/>
        <a:buFont typeface="System Font Regular"/>
        <a:buChar char="-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719138" indent="-171450" algn="l" defTabSz="914400" rtl="0" eaLnBrk="1" latinLnBrk="0" hangingPunct="1">
        <a:lnSpc>
          <a:spcPct val="100000"/>
        </a:lnSpc>
        <a:spcBef>
          <a:spcPts val="300"/>
        </a:spcBef>
        <a:buClr>
          <a:srgbClr val="BF3227"/>
        </a:buClr>
        <a:buSzPct val="125000"/>
        <a:buFont typeface="Wingdings" panose="05000000000000000000" pitchFamily="2" charset="2"/>
        <a:buChar char="§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987425" indent="-171450" algn="l" defTabSz="914400" rtl="0" eaLnBrk="1" latinLnBrk="0" hangingPunct="1">
        <a:lnSpc>
          <a:spcPct val="100000"/>
        </a:lnSpc>
        <a:spcBef>
          <a:spcPts val="300"/>
        </a:spcBef>
        <a:buClr>
          <a:schemeClr val="accent2"/>
        </a:buClr>
        <a:buSzPct val="125000"/>
        <a:buFont typeface="System Font Regular"/>
        <a:buChar char="-"/>
        <a:defRPr sz="1600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4pPr>
      <a:lvl5pPr marL="1680210" indent="-171450" algn="l" defTabSz="914400" rtl="0" eaLnBrk="1" latinLnBrk="0" hangingPunct="1">
        <a:lnSpc>
          <a:spcPct val="100000"/>
        </a:lnSpc>
        <a:spcBef>
          <a:spcPts val="300"/>
        </a:spcBef>
        <a:buClr>
          <a:schemeClr val="accent2"/>
        </a:buClr>
        <a:buSzPct val="125000"/>
        <a:buFont typeface="System Font Regular"/>
        <a:buChar char="-"/>
        <a:defRPr sz="1050" b="0" i="0" kern="1200">
          <a:solidFill>
            <a:schemeClr val="accent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5" userDrawn="1">
          <p15:clr>
            <a:srgbClr val="F26B43"/>
          </p15:clr>
        </p15:guide>
        <p15:guide id="2" pos="315" userDrawn="1">
          <p15:clr>
            <a:srgbClr val="F26B43"/>
          </p15:clr>
        </p15:guide>
        <p15:guide id="3" pos="5441" userDrawn="1">
          <p15:clr>
            <a:srgbClr val="F26B43"/>
          </p15:clr>
        </p15:guide>
        <p15:guide id="4" orient="horz" pos="639" userDrawn="1">
          <p15:clr>
            <a:srgbClr val="F26B43"/>
          </p15:clr>
        </p15:guide>
        <p15:guide id="5" orient="horz" pos="2911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94" userDrawn="1">
          <p15:clr>
            <a:srgbClr val="F26B43"/>
          </p15:clr>
        </p15:guide>
        <p15:guide id="8" pos="2971" userDrawn="1">
          <p15:clr>
            <a:srgbClr val="F26B43"/>
          </p15:clr>
        </p15:guide>
        <p15:guide id="9" orient="horz" pos="577" userDrawn="1">
          <p15:clr>
            <a:srgbClr val="F26B43"/>
          </p15:clr>
        </p15:guide>
        <p15:guide id="10" orient="horz" pos="2754" userDrawn="1">
          <p15:clr>
            <a:srgbClr val="F26B43"/>
          </p15:clr>
        </p15:guide>
        <p15:guide id="11" orient="horz" pos="2663" userDrawn="1">
          <p15:clr>
            <a:srgbClr val="F26B43"/>
          </p15:clr>
        </p15:guide>
        <p15:guide id="12" orient="horz" pos="239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A2C23A9-DC7B-A144-81E4-7022EC44C7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51920" y="2427735"/>
            <a:ext cx="5184576" cy="1152128"/>
          </a:xfrm>
        </p:spPr>
        <p:txBody>
          <a:bodyPr/>
          <a:lstStyle/>
          <a:p>
            <a:r>
              <a:rPr lang="en-US" sz="2400" dirty="0"/>
              <a:t>Evaluating</a:t>
            </a:r>
            <a:r>
              <a:rPr lang="en-US" sz="2400" dirty="0">
                <a:solidFill>
                  <a:schemeClr val="accent1">
                    <a:lumMod val="100000"/>
                  </a:schemeClr>
                </a:solidFill>
              </a:rPr>
              <a:t> the Direct, Indirect, and Population-level Effects of LLINs across Transmission </a:t>
            </a:r>
            <a:r>
              <a:rPr lang="en-US" sz="2400" dirty="0"/>
              <a:t>I</a:t>
            </a:r>
            <a:r>
              <a:rPr lang="en-US" sz="2400" dirty="0">
                <a:solidFill>
                  <a:schemeClr val="accent1">
                    <a:lumMod val="100000"/>
                  </a:schemeClr>
                </a:solidFill>
              </a:rPr>
              <a:t>ntensities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51920" y="4118982"/>
            <a:ext cx="4785668" cy="289076"/>
          </a:xfrm>
        </p:spPr>
        <p:txBody>
          <a:bodyPr/>
          <a:lstStyle/>
          <a:p>
            <a:r>
              <a:rPr lang="en-US" sz="1600" dirty="0"/>
              <a:t>Zenabu Suboi </a:t>
            </a:r>
          </a:p>
          <a:p>
            <a:endParaRPr lang="en-US" sz="1600" dirty="0"/>
          </a:p>
          <a:p>
            <a:r>
              <a:rPr lang="en-US" sz="1600" dirty="0"/>
              <a:t>26</a:t>
            </a:r>
            <a:r>
              <a:rPr lang="en-US" sz="1600" baseline="30000" dirty="0"/>
              <a:t>th</a:t>
            </a:r>
            <a:r>
              <a:rPr lang="en-US" sz="1600" dirty="0"/>
              <a:t> March</a:t>
            </a:r>
            <a:r>
              <a:rPr lang="en-US" dirty="0"/>
              <a:t> 2026</a:t>
            </a:r>
            <a:endParaRPr lang="en-US" sz="16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67C7BD-25F9-FE4B-A8FA-4B784C1472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51920" y="3589934"/>
            <a:ext cx="4785668" cy="349968"/>
          </a:xfrm>
        </p:spPr>
        <p:txBody>
          <a:bodyPr anchor="t" anchorCtr="0"/>
          <a:lstStyle/>
          <a:p>
            <a:r>
              <a:rPr lang="en-US" sz="2000" dirty="0"/>
              <a:t>PhD Update</a:t>
            </a:r>
          </a:p>
        </p:txBody>
      </p:sp>
    </p:spTree>
    <p:extLst>
      <p:ext uri="{BB962C8B-B14F-4D97-AF65-F5344CB8AC3E}">
        <p14:creationId xmlns:p14="http://schemas.microsoft.com/office/powerpoint/2010/main" val="2960017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535D03-B2B0-7A46-BCD5-00D549DEC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>
                    <a:lumMod val="100000"/>
                  </a:schemeClr>
                </a:solidFill>
              </a:rPr>
              <a:t>Outline</a:t>
            </a:r>
            <a:endParaRPr lang="en-US" dirty="0">
              <a:solidFill>
                <a:schemeClr val="accent1">
                  <a:lumMod val="100000"/>
                </a:schemeClr>
              </a:solidFill>
            </a:endParaRPr>
          </a:p>
        </p:txBody>
      </p:sp>
      <p:graphicFrame>
        <p:nvGraphicFramePr>
          <p:cNvPr id="11" name="Tabelle 5">
            <a:extLst>
              <a:ext uri="{FF2B5EF4-FFF2-40B4-BE49-F238E27FC236}">
                <a16:creationId xmlns:a16="http://schemas.microsoft.com/office/drawing/2014/main" id="{97B9DA84-D48C-4AE6-8B97-450CB62D1EE3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2894053635"/>
              </p:ext>
            </p:extLst>
          </p:nvPr>
        </p:nvGraphicFramePr>
        <p:xfrm>
          <a:off x="500063" y="1014413"/>
          <a:ext cx="8137525" cy="1817280"/>
        </p:xfrm>
        <a:graphic>
          <a:graphicData uri="http://schemas.openxmlformats.org/drawingml/2006/table">
            <a:tbl>
              <a:tblPr bandRow="1">
                <a:tableStyleId>{C083E6E3-FA7D-4D7B-A595-EF9225AFEA82}</a:tableStyleId>
              </a:tblPr>
              <a:tblGrid>
                <a:gridCol w="813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576">
                <a:tc>
                  <a:txBody>
                    <a:bodyPr/>
                    <a:lstStyle/>
                    <a:p>
                      <a:pPr algn="l"/>
                      <a:r>
                        <a:rPr lang="en-GB" dirty="0"/>
                        <a:t>Introduction</a:t>
                      </a:r>
                      <a:endParaRPr lang="en-GB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4000" marR="144000" marT="90000" marB="9000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576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Methods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4000" marR="144000" marT="90000" marB="90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576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Results</a:t>
                      </a:r>
                      <a:endParaRPr lang="en-GB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4000" marR="144000" marT="90000" marB="90000" anchor="ctr"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576">
                <a:tc>
                  <a:txBody>
                    <a:bodyPr/>
                    <a:lstStyle/>
                    <a:p>
                      <a:pPr algn="l"/>
                      <a:r>
                        <a:rPr lang="en-GB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messages and recommendations</a:t>
                      </a:r>
                    </a:p>
                  </a:txBody>
                  <a:tcPr marL="144000" marR="144000" marT="90000" marB="90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4328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4F25520-8E84-7D42-BCB2-7AE7EACF42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GB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857561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</p:spPr>
        <p:txBody>
          <a:bodyPr anchor="ctr">
            <a:normAutofit/>
          </a:bodyPr>
          <a:lstStyle/>
          <a:p>
            <a:r>
              <a:rPr lang="en-GB" sz="2000" dirty="0"/>
              <a:t>Background – LLIN effectiveness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/>
          </p:nvPr>
        </p:nvSpPr>
        <p:spPr>
          <a:xfrm>
            <a:off x="500062" y="1014414"/>
            <a:ext cx="4287961" cy="3220582"/>
          </a:xfrm>
        </p:spPr>
        <p:txBody>
          <a:bodyPr>
            <a:normAutofit/>
          </a:bodyPr>
          <a:lstStyle/>
          <a:p>
            <a:pPr marL="285750" indent="-285750">
              <a:lnSpc>
                <a:spcPct val="90000"/>
              </a:lnSpc>
            </a:pPr>
            <a:r>
              <a:rPr lang="en-US" dirty="0"/>
              <a:t>Long lasting insecticidal nets (LLINs) have been attributed with averting </a:t>
            </a:r>
            <a:r>
              <a:rPr lang="en-US" sz="1700" dirty="0"/>
              <a:t>663 million clinical cases from 2000 – 2015</a:t>
            </a:r>
          </a:p>
          <a:p>
            <a:pPr marL="285750" indent="-285750">
              <a:lnSpc>
                <a:spcPct val="90000"/>
              </a:lnSpc>
            </a:pPr>
            <a:r>
              <a:rPr lang="en-CH" b="1" dirty="0"/>
              <a:t>effectiveness</a:t>
            </a:r>
            <a:r>
              <a:rPr lang="en-CH" dirty="0"/>
              <a:t> of </a:t>
            </a:r>
            <a:r>
              <a:rPr lang="en-CH" dirty="0" err="1"/>
              <a:t>LLINs</a:t>
            </a:r>
            <a:r>
              <a:rPr lang="en-CH" dirty="0"/>
              <a:t> arises from two complementary mechanisms: </a:t>
            </a:r>
            <a:endParaRPr lang="en-US" dirty="0"/>
          </a:p>
          <a:p>
            <a:pPr marL="563563" lvl="1" indent="-285750">
              <a:lnSpc>
                <a:spcPct val="90000"/>
              </a:lnSpc>
            </a:pPr>
            <a:r>
              <a:rPr lang="en-CH" b="1" dirty="0"/>
              <a:t>physical prevention </a:t>
            </a:r>
            <a:r>
              <a:rPr lang="en-CH" dirty="0"/>
              <a:t>of mosquito bites </a:t>
            </a:r>
            <a:endParaRPr lang="en-US" dirty="0"/>
          </a:p>
          <a:p>
            <a:pPr marL="563563" lvl="1" indent="-285750">
              <a:lnSpc>
                <a:spcPct val="90000"/>
              </a:lnSpc>
            </a:pPr>
            <a:r>
              <a:rPr lang="en-CH" b="1" dirty="0"/>
              <a:t>insecticidal action </a:t>
            </a:r>
            <a:r>
              <a:rPr lang="en-CH" dirty="0"/>
              <a:t>that </a:t>
            </a:r>
            <a:r>
              <a:rPr lang="en-CH" b="1" dirty="0"/>
              <a:t>kills</a:t>
            </a:r>
            <a:r>
              <a:rPr lang="en-CH" dirty="0"/>
              <a:t> or </a:t>
            </a:r>
            <a:r>
              <a:rPr lang="en-CH" b="1" dirty="0"/>
              <a:t>deters</a:t>
            </a:r>
            <a:r>
              <a:rPr lang="en-CH" dirty="0"/>
              <a:t> mosquitoes</a:t>
            </a:r>
            <a:endParaRPr lang="en-US" sz="1500" dirty="0"/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9F6356F2-9C7B-F6C1-6943-F8C58B48B61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8625" y="4067661"/>
            <a:ext cx="3915313" cy="174157"/>
          </a:xfrm>
        </p:spPr>
        <p:txBody>
          <a:bodyPr/>
          <a:lstStyle/>
          <a:p>
            <a:r>
              <a:rPr lang="en-US" sz="1000" dirty="0"/>
              <a:t>Source: https://link.springer.com/article/10.1186/s12936-020-03321-6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E9DB58-5F74-4E5A-2B46-65D4EC005F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78" r="12394" b="-3"/>
          <a:stretch>
            <a:fillRect/>
          </a:stretch>
        </p:blipFill>
        <p:spPr>
          <a:xfrm>
            <a:off x="4889405" y="1021927"/>
            <a:ext cx="3740099" cy="30313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7556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A3B87-EA06-ABD0-871F-C9102C554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EAB802-58EE-66A4-7689-ED17211B5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</p:spPr>
        <p:txBody>
          <a:bodyPr anchor="ctr">
            <a:normAutofit/>
          </a:bodyPr>
          <a:lstStyle/>
          <a:p>
            <a:r>
              <a:rPr lang="en-GB" sz="2000" dirty="0"/>
              <a:t>the concept of community protection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D22F94-3C52-7039-109D-B226E9A54E7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0061" y="1014415"/>
            <a:ext cx="6304185" cy="1773360"/>
          </a:xfrm>
        </p:spPr>
        <p:txBody>
          <a:bodyPr>
            <a:normAutofit/>
          </a:bodyPr>
          <a:lstStyle/>
          <a:p>
            <a:pPr marL="457200" indent="-285750"/>
            <a:r>
              <a:rPr lang="en-US" dirty="0"/>
              <a:t>LLINs offer different benefits for users and non-users within a population</a:t>
            </a:r>
          </a:p>
          <a:p>
            <a:pPr indent="0">
              <a:buNone/>
            </a:pPr>
            <a:endParaRPr lang="en-US" dirty="0"/>
          </a:p>
          <a:p>
            <a:pPr marL="457200" indent="-285750"/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BA614B88-8F13-1779-EA9D-1C54FF8C97F7}"/>
              </a:ext>
            </a:extLst>
          </p:cNvPr>
          <p:cNvSpPr txBox="1">
            <a:spLocks/>
          </p:cNvSpPr>
          <p:nvPr/>
        </p:nvSpPr>
        <p:spPr>
          <a:xfrm>
            <a:off x="7020273" y="1707653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No LLIN use</a:t>
            </a:r>
            <a:endParaRPr lang="en-GB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F234DF1-6E95-FC2C-537D-A5DFE57E0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00" y="942019"/>
            <a:ext cx="920797" cy="83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638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9FEF8-AD96-3C1B-6FDC-8474D45B2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BD948E-3DCE-A271-15B1-DA382E43A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</p:spPr>
        <p:txBody>
          <a:bodyPr anchor="ctr">
            <a:normAutofit/>
          </a:bodyPr>
          <a:lstStyle/>
          <a:p>
            <a:r>
              <a:rPr lang="en-GB" sz="2000" dirty="0"/>
              <a:t>the concept of community protection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985DAA-A86D-D01C-BCDC-7F10BBA31F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0061" y="1014414"/>
            <a:ext cx="6304185" cy="3053247"/>
          </a:xfrm>
        </p:spPr>
        <p:txBody>
          <a:bodyPr>
            <a:normAutofit/>
          </a:bodyPr>
          <a:lstStyle/>
          <a:p>
            <a:pPr marL="457200" indent="-285750"/>
            <a:r>
              <a:rPr lang="en-US" dirty="0"/>
              <a:t>LLINs offer different benefits for users and non-users within a population</a:t>
            </a:r>
          </a:p>
          <a:p>
            <a:pPr marL="735013" lvl="1" indent="-285750"/>
            <a:r>
              <a:rPr lang="en-US" b="1" dirty="0">
                <a:solidFill>
                  <a:srgbClr val="0070C0"/>
                </a:solidFill>
              </a:rPr>
              <a:t>net-users</a:t>
            </a:r>
            <a:r>
              <a:rPr lang="en-US" dirty="0"/>
              <a:t> receive personal protection </a:t>
            </a:r>
          </a:p>
          <a:p>
            <a:pPr indent="0">
              <a:buNone/>
            </a:pPr>
            <a:endParaRPr lang="en-US" dirty="0"/>
          </a:p>
          <a:p>
            <a:pPr marL="457200" indent="-285750"/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CCFA797D-E8B4-60CD-D5BE-41FC6037F479}"/>
              </a:ext>
            </a:extLst>
          </p:cNvPr>
          <p:cNvSpPr txBox="1">
            <a:spLocks/>
          </p:cNvSpPr>
          <p:nvPr/>
        </p:nvSpPr>
        <p:spPr>
          <a:xfrm>
            <a:off x="7020273" y="1707653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No LLIN use</a:t>
            </a:r>
            <a:endParaRPr lang="en-GB" sz="1000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DE80BF9F-4A8C-8732-2629-A8A4185FCBEB}"/>
              </a:ext>
            </a:extLst>
          </p:cNvPr>
          <p:cNvSpPr txBox="1">
            <a:spLocks/>
          </p:cNvSpPr>
          <p:nvPr/>
        </p:nvSpPr>
        <p:spPr>
          <a:xfrm>
            <a:off x="7043696" y="2868420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X% LLIN use</a:t>
            </a:r>
            <a:endParaRPr lang="en-GB" sz="10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0840FF-73DE-A4D3-7524-8D82E13A82CE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7452320" y="1923678"/>
            <a:ext cx="1" cy="160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A3721E3E-3580-3ED9-1A0C-52463D88B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00" y="942019"/>
            <a:ext cx="920797" cy="8382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0499B16-9B20-C9B2-A8ED-F846D4012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549" y="2067094"/>
            <a:ext cx="933498" cy="84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811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AFEC9-C4E8-7933-C6DD-BEB76E32A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B75764-FE2D-BE4D-8A11-376987832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274639"/>
            <a:ext cx="8137525" cy="558795"/>
          </a:xfrm>
        </p:spPr>
        <p:txBody>
          <a:bodyPr anchor="ctr">
            <a:normAutofit/>
          </a:bodyPr>
          <a:lstStyle/>
          <a:p>
            <a:r>
              <a:rPr lang="en-GB" sz="2000" dirty="0"/>
              <a:t>the concept of community protection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9DD356-C4AB-5DE7-3653-A87A124749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00061" y="1014415"/>
            <a:ext cx="6304185" cy="2637456"/>
          </a:xfrm>
        </p:spPr>
        <p:txBody>
          <a:bodyPr>
            <a:normAutofit/>
          </a:bodyPr>
          <a:lstStyle/>
          <a:p>
            <a:pPr marL="457200" indent="-285750"/>
            <a:r>
              <a:rPr lang="en-US" dirty="0"/>
              <a:t>LLINs offer different benefits for users and non-users within a population</a:t>
            </a:r>
          </a:p>
          <a:p>
            <a:pPr marL="735013" lvl="1" indent="-285750"/>
            <a:r>
              <a:rPr lang="en-US" b="1" dirty="0">
                <a:solidFill>
                  <a:srgbClr val="0070C0"/>
                </a:solidFill>
              </a:rPr>
              <a:t>net-users</a:t>
            </a:r>
            <a:r>
              <a:rPr lang="en-US" dirty="0"/>
              <a:t> receive personal protection </a:t>
            </a:r>
          </a:p>
          <a:p>
            <a:pPr marL="735013" lvl="1" indent="-285750"/>
            <a:r>
              <a:rPr lang="en-US" dirty="0"/>
              <a:t>both </a:t>
            </a:r>
            <a:r>
              <a:rPr lang="en-US" b="1" dirty="0">
                <a:solidFill>
                  <a:srgbClr val="0070C0"/>
                </a:solidFill>
              </a:rPr>
              <a:t>users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non-users</a:t>
            </a:r>
            <a:r>
              <a:rPr lang="en-US" dirty="0"/>
              <a:t> benefit from </a:t>
            </a:r>
            <a:r>
              <a:rPr lang="en-US" b="1" dirty="0"/>
              <a:t>indirect (</a:t>
            </a:r>
            <a:r>
              <a:rPr lang="en-CH" b="1" dirty="0"/>
              <a:t>community</a:t>
            </a:r>
            <a:r>
              <a:rPr lang="en-US" b="1" dirty="0"/>
              <a:t>)</a:t>
            </a:r>
            <a:r>
              <a:rPr lang="en-CH" b="1" dirty="0"/>
              <a:t> </a:t>
            </a:r>
            <a:r>
              <a:rPr lang="en-US" b="1" dirty="0"/>
              <a:t>protection</a:t>
            </a:r>
          </a:p>
          <a:p>
            <a:pPr marL="1004888" lvl="2" indent="-285750"/>
            <a:r>
              <a:rPr lang="en-CH" dirty="0"/>
              <a:t>reduced mosquito density, lifespan, and proportion of infectious mosquitoes</a:t>
            </a:r>
            <a:endParaRPr lang="en-US" dirty="0"/>
          </a:p>
          <a:p>
            <a:pPr marL="457200" indent="-285750"/>
            <a:r>
              <a:rPr lang="en-US" dirty="0"/>
              <a:t>This concept has been established as </a:t>
            </a:r>
            <a:r>
              <a:rPr lang="en-US" b="1" dirty="0"/>
              <a:t>community protection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FBEAB7FF-32D4-6C0C-7332-03B358B09B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04246" y="4287886"/>
            <a:ext cx="2007609" cy="216025"/>
          </a:xfrm>
        </p:spPr>
        <p:txBody>
          <a:bodyPr/>
          <a:lstStyle/>
          <a:p>
            <a:r>
              <a:rPr lang="en-US" sz="1000" dirty="0"/>
              <a:t>Source: Adapted from Unwin et. al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B6C4640-9491-C49C-9B0E-C49CB6400298}"/>
              </a:ext>
            </a:extLst>
          </p:cNvPr>
          <p:cNvSpPr txBox="1">
            <a:spLocks/>
          </p:cNvSpPr>
          <p:nvPr/>
        </p:nvSpPr>
        <p:spPr>
          <a:xfrm>
            <a:off x="7020273" y="1707653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No LLIN use</a:t>
            </a:r>
            <a:endParaRPr lang="en-GB" sz="1000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2E34E315-89C4-A764-F525-B04AD9EBAFC1}"/>
              </a:ext>
            </a:extLst>
          </p:cNvPr>
          <p:cNvSpPr txBox="1">
            <a:spLocks/>
          </p:cNvSpPr>
          <p:nvPr/>
        </p:nvSpPr>
        <p:spPr>
          <a:xfrm>
            <a:off x="7043696" y="2868420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X% LLIN use</a:t>
            </a:r>
            <a:endParaRPr lang="en-GB" sz="10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F1D428-BF7B-92F8-4401-E9A16AFFF5E0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7452320" y="1923678"/>
            <a:ext cx="1" cy="160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159AF29-86CE-D572-C67F-BFDFD5AF820B}"/>
              </a:ext>
            </a:extLst>
          </p:cNvPr>
          <p:cNvCxnSpPr>
            <a:cxnSpLocks/>
          </p:cNvCxnSpPr>
          <p:nvPr/>
        </p:nvCxnSpPr>
        <p:spPr>
          <a:xfrm flipH="1">
            <a:off x="7477403" y="3067167"/>
            <a:ext cx="1" cy="160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60C1399F-B1EF-DD64-DEA7-C5CCC163B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900" y="942019"/>
            <a:ext cx="920797" cy="8382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BDAA832-F57C-E57A-C8DE-9E4D03842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549" y="2067094"/>
            <a:ext cx="933498" cy="844593"/>
          </a:xfrm>
          <a:prstGeom prst="rect">
            <a:avLst/>
          </a:prstGeom>
        </p:spPr>
      </p:pic>
      <p:sp>
        <p:nvSpPr>
          <p:cNvPr id="22" name="Content Placeholder 4">
            <a:extLst>
              <a:ext uri="{FF2B5EF4-FFF2-40B4-BE49-F238E27FC236}">
                <a16:creationId xmlns:a16="http://schemas.microsoft.com/office/drawing/2014/main" id="{DF2BC150-F9E1-29FD-A636-75E64BFF825A}"/>
              </a:ext>
            </a:extLst>
          </p:cNvPr>
          <p:cNvSpPr txBox="1">
            <a:spLocks/>
          </p:cNvSpPr>
          <p:nvPr/>
        </p:nvSpPr>
        <p:spPr>
          <a:xfrm>
            <a:off x="6924900" y="4024239"/>
            <a:ext cx="1242607" cy="232323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Increased LLIN use</a:t>
            </a:r>
            <a:endParaRPr lang="en-GB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AD99B-1D83-8189-F9ED-C77F3F311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8548" y="3202993"/>
            <a:ext cx="989243" cy="87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473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7BD42-A7CF-F430-7EE6-6592E055D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B9C126-65A5-FA25-E29A-CB2E51424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>
                <a:solidFill>
                  <a:schemeClr val="accent1">
                    <a:lumMod val="100000"/>
                  </a:schemeClr>
                </a:solidFill>
              </a:rPr>
              <a:t>evidence of community protection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89F501-0CD5-893C-75D4-D68F204C7C8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8676" y="987574"/>
            <a:ext cx="8137525" cy="3384376"/>
          </a:xfrm>
        </p:spPr>
        <p:txBody>
          <a:bodyPr/>
          <a:lstStyle/>
          <a:p>
            <a:r>
              <a:rPr lang="en-CH" dirty="0"/>
              <a:t>Evidence from both empirical and modelling studies</a:t>
            </a:r>
            <a:endParaRPr lang="en-US" dirty="0"/>
          </a:p>
          <a:p>
            <a:r>
              <a:rPr lang="en-US" dirty="0"/>
              <a:t>These </a:t>
            </a:r>
            <a:r>
              <a:rPr lang="en-CH" dirty="0"/>
              <a:t>evidence</a:t>
            </a:r>
            <a:r>
              <a:rPr lang="en-US" dirty="0"/>
              <a:t>s</a:t>
            </a:r>
            <a:r>
              <a:rPr lang="en-CH" dirty="0"/>
              <a:t> indicate that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indirect effects are </a:t>
            </a:r>
            <a:r>
              <a:rPr lang="en-CH" b="1" dirty="0"/>
              <a:t>heterogeneous</a:t>
            </a:r>
            <a:r>
              <a:rPr lang="en-CH" dirty="0"/>
              <a:t> and sensitive </a:t>
            </a:r>
            <a:r>
              <a:rPr lang="en-CH" b="1" dirty="0"/>
              <a:t>to local transmission </a:t>
            </a:r>
            <a:r>
              <a:rPr lang="en-CH" dirty="0"/>
              <a:t>dynamics, intervention coverage, and vector ecology</a:t>
            </a:r>
            <a:r>
              <a:rPr lang="en-US" dirty="0"/>
              <a:t> (</a:t>
            </a:r>
            <a:r>
              <a:rPr lang="en-US" dirty="0" err="1"/>
              <a:t>eg</a:t>
            </a:r>
            <a:r>
              <a:rPr lang="en-US" dirty="0"/>
              <a:t>: EIR 10, 100 – Unwin </a:t>
            </a:r>
            <a:r>
              <a:rPr lang="en-US" i="1" dirty="0"/>
              <a:t>et al.)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community protection from nets vary by spatial scale and local coverage levels in multiple African settings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95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A1B0B-0F46-A0B8-4814-F9BE44CC1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932026-FA93-6281-DDA9-847CFDB85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>
                <a:solidFill>
                  <a:schemeClr val="accent1">
                    <a:lumMod val="100000"/>
                  </a:schemeClr>
                </a:solidFill>
              </a:rPr>
              <a:t>what this study </a:t>
            </a:r>
            <a:r>
              <a:rPr lang="en-GB" sz="2000" dirty="0"/>
              <a:t>focuses on</a:t>
            </a:r>
            <a:endParaRPr lang="en-GB" sz="2000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52E21-F850-CBC8-895E-1D20073D680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3568" y="987574"/>
            <a:ext cx="7912633" cy="367240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the </a:t>
            </a:r>
            <a:r>
              <a:rPr lang="en-CH" b="1" dirty="0"/>
              <a:t>magnitude</a:t>
            </a:r>
            <a:r>
              <a:rPr lang="en-CH" dirty="0"/>
              <a:t> and </a:t>
            </a:r>
            <a:r>
              <a:rPr lang="en-CH" b="1" dirty="0"/>
              <a:t>reliability</a:t>
            </a:r>
            <a:r>
              <a:rPr lang="en-CH" dirty="0"/>
              <a:t> of community protection from </a:t>
            </a:r>
            <a:r>
              <a:rPr lang="en-CH" dirty="0" err="1"/>
              <a:t>LLINs</a:t>
            </a:r>
            <a:r>
              <a:rPr lang="en-CH" dirty="0"/>
              <a:t> remain incompletely </a:t>
            </a:r>
            <a:r>
              <a:rPr lang="en-US" dirty="0"/>
              <a:t>evaluated</a:t>
            </a:r>
            <a:r>
              <a:rPr lang="en-CH" dirty="0"/>
              <a:t> across epidemiological settings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we use </a:t>
            </a:r>
            <a:r>
              <a:rPr lang="en-US" dirty="0"/>
              <a:t>OpenMalaria</a:t>
            </a:r>
            <a:r>
              <a:rPr lang="en-CH" dirty="0"/>
              <a:t> to quantify the </a:t>
            </a:r>
            <a:r>
              <a:rPr lang="en-CH" b="1" dirty="0"/>
              <a:t>direct</a:t>
            </a:r>
            <a:r>
              <a:rPr lang="en-US" b="1" dirty="0"/>
              <a:t> (user)</a:t>
            </a:r>
            <a:r>
              <a:rPr lang="en-CH" b="1" dirty="0"/>
              <a:t> </a:t>
            </a:r>
            <a:r>
              <a:rPr lang="en-CH" dirty="0"/>
              <a:t>and </a:t>
            </a:r>
            <a:r>
              <a:rPr lang="en-CH" b="1" dirty="0"/>
              <a:t>indirect</a:t>
            </a:r>
            <a:r>
              <a:rPr lang="en-US" b="1" dirty="0"/>
              <a:t> (non-user)</a:t>
            </a:r>
            <a:r>
              <a:rPr lang="en-CH" b="1" dirty="0"/>
              <a:t> </a:t>
            </a:r>
            <a:r>
              <a:rPr lang="en-CH" dirty="0"/>
              <a:t>effects of </a:t>
            </a:r>
            <a:r>
              <a:rPr lang="en-CH" b="1" dirty="0"/>
              <a:t>LLIN usage </a:t>
            </a:r>
            <a:r>
              <a:rPr lang="en-CH" dirty="0"/>
              <a:t>across a wide range of transmission intensities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171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8FB1A-E50F-9152-1A16-A09AB953E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8CE5C1-3F5F-B83A-45B8-0955F9666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>
                <a:solidFill>
                  <a:schemeClr val="accent1">
                    <a:lumMod val="100000"/>
                  </a:schemeClr>
                </a:solidFill>
              </a:rPr>
              <a:t>Research question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4BC085-C34B-92B9-952A-10BC843A9A0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4476" y="833434"/>
            <a:ext cx="8574027" cy="3898556"/>
          </a:xfrm>
        </p:spPr>
        <p:txBody>
          <a:bodyPr/>
          <a:lstStyle/>
          <a:p>
            <a:r>
              <a:rPr lang="en-US" dirty="0"/>
              <a:t>How do the </a:t>
            </a:r>
            <a:r>
              <a:rPr lang="en-US" b="1" dirty="0"/>
              <a:t>protection</a:t>
            </a:r>
            <a:r>
              <a:rPr lang="en-US" dirty="0"/>
              <a:t> offered by LLINs to </a:t>
            </a:r>
            <a:r>
              <a:rPr lang="en-US" b="1" dirty="0"/>
              <a:t>user</a:t>
            </a:r>
            <a:r>
              <a:rPr lang="en-US" dirty="0"/>
              <a:t>, </a:t>
            </a:r>
            <a:r>
              <a:rPr lang="en-US" b="1" dirty="0"/>
              <a:t>non-user, </a:t>
            </a:r>
            <a:r>
              <a:rPr lang="en-US" dirty="0"/>
              <a:t>and the overall </a:t>
            </a:r>
            <a:r>
              <a:rPr lang="en-US" b="1" dirty="0"/>
              <a:t>population </a:t>
            </a:r>
            <a:r>
              <a:rPr lang="en-US" dirty="0"/>
              <a:t>vary across </a:t>
            </a:r>
            <a:r>
              <a:rPr lang="en-US" b="1" dirty="0"/>
              <a:t>transmission intensity </a:t>
            </a:r>
            <a:r>
              <a:rPr lang="en-US" dirty="0"/>
              <a:t>and </a:t>
            </a:r>
            <a:r>
              <a:rPr lang="en-US" b="1" dirty="0"/>
              <a:t>usage</a:t>
            </a:r>
            <a:r>
              <a:rPr lang="en-US" dirty="0"/>
              <a:t>, and what is the </a:t>
            </a:r>
            <a:r>
              <a:rPr lang="en-US" b="1" dirty="0"/>
              <a:t>optimal coverage window </a:t>
            </a:r>
            <a:r>
              <a:rPr lang="en-US" dirty="0"/>
              <a:t>where </a:t>
            </a:r>
            <a:r>
              <a:rPr lang="en-US" b="1" dirty="0"/>
              <a:t>incremental benefits </a:t>
            </a:r>
            <a:r>
              <a:rPr lang="en-US" dirty="0"/>
              <a:t>per additional person protected</a:t>
            </a:r>
            <a:r>
              <a:rPr lang="en-US" b="1" dirty="0"/>
              <a:t> </a:t>
            </a:r>
            <a:r>
              <a:rPr lang="en-US" dirty="0"/>
              <a:t>are highest?</a:t>
            </a:r>
          </a:p>
          <a:p>
            <a:endParaRPr lang="en-US" dirty="0"/>
          </a:p>
          <a:p>
            <a:r>
              <a:rPr lang="en-US" dirty="0"/>
              <a:t>coverage thresholds are required to achieve the same benefits across different transmission intensities?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397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E9E66-FEBC-4BDE-B78F-B9CF293F3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646B847-D41E-EE34-EEA9-96994CF1BF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dirty="0">
                <a:cs typeface="Arial" panose="020B0604020202020204" pitchFamily="34" charset="0"/>
              </a:rPr>
              <a:t>Methods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5443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9E814-1FD6-31C1-33EF-12CB5ED9A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E9F401-EDED-8654-A393-B0D3BE75F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>
                <a:solidFill>
                  <a:schemeClr val="accent1">
                    <a:lumMod val="100000"/>
                  </a:schemeClr>
                </a:solidFill>
              </a:rPr>
              <a:t>Methods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6BB7099-0CBE-4888-FB15-2A3951D3B1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0"/>
            <a:ext cx="2814761" cy="5004019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8867247-8480-8762-314B-45D3DD107F17}"/>
              </a:ext>
            </a:extLst>
          </p:cNvPr>
          <p:cNvSpPr/>
          <p:nvPr/>
        </p:nvSpPr>
        <p:spPr>
          <a:xfrm>
            <a:off x="3203848" y="1203598"/>
            <a:ext cx="3168352" cy="357180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105468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8BA2C-566E-FFAD-2ABF-3922ED536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9C895D-56C0-55C3-5F34-216D6F19D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/>
              <a:t>Methods</a:t>
            </a:r>
            <a:endParaRPr lang="en-GB" sz="2000" dirty="0">
              <a:solidFill>
                <a:schemeClr val="accent1">
                  <a:lumMod val="10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5261909-90B1-2D40-3FDB-F85C401F3C45}"/>
                  </a:ext>
                </a:extLst>
              </p:cNvPr>
              <p:cNvSpPr/>
              <p:nvPr/>
            </p:nvSpPr>
            <p:spPr>
              <a:xfrm>
                <a:off x="6059666" y="833434"/>
                <a:ext cx="2743798" cy="105360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en-US" sz="1050" b="1" dirty="0">
                    <a:solidFill>
                      <a:schemeClr val="tx1"/>
                    </a:solidFill>
                  </a:rPr>
                  <a:t>EIR</a:t>
                </a:r>
                <a:r>
                  <a:rPr lang="en-US" sz="1050" dirty="0">
                    <a:solidFill>
                      <a:schemeClr val="tx1"/>
                    </a:solidFill>
                  </a:rPr>
                  <a:t>: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FFFF"/>
                    </a:highlight>
                  </a:rPr>
                  <a:t>2,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8000"/>
                    </a:highlight>
                  </a:rPr>
                  <a:t> 4, 8,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8080"/>
                    </a:highlight>
                  </a:rPr>
                  <a:t> 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FF00"/>
                    </a:highlight>
                  </a:rPr>
                  <a:t>16, 24, 32, 48, 60, 80, 100</a:t>
                </a:r>
              </a:p>
              <a:p>
                <a:pPr algn="l"/>
                <a:endParaRPr lang="en-US" sz="1050" dirty="0">
                  <a:solidFill>
                    <a:schemeClr val="tx1"/>
                  </a:solidFill>
                  <a:highlight>
                    <a:srgbClr val="00FF00"/>
                  </a:highlight>
                </a:endParaRPr>
              </a:p>
              <a:p>
                <a:pPr algn="l"/>
                <a:r>
                  <a:rPr lang="en-US" sz="1050" b="1" dirty="0">
                    <a:solidFill>
                      <a:schemeClr val="tx1"/>
                    </a:solidFill>
                  </a:rPr>
                  <a:t>Low</a:t>
                </a:r>
                <a:r>
                  <a:rPr lang="en-US" sz="1050" dirty="0">
                    <a:solidFill>
                      <a:schemeClr val="tx1"/>
                    </a:solidFill>
                  </a:rPr>
                  <a:t>: 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FFFF"/>
                    </a:highlight>
                  </a:rPr>
                  <a:t>&lt;4 </a:t>
                </a:r>
                <a:r>
                  <a:rPr lang="en-US" sz="1050" dirty="0">
                    <a:solidFill>
                      <a:schemeClr val="tx1"/>
                    </a:solidFill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𝑃𝑓𝑃𝑅</m:t>
                        </m:r>
                      </m:e>
                      <m:sub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0−100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chemeClr val="tx1"/>
                    </a:solidFill>
                  </a:rPr>
                  <a:t> [0.03-0.05]</a:t>
                </a:r>
              </a:p>
              <a:p>
                <a:pPr algn="l"/>
                <a:endParaRPr lang="en-US" sz="1050" dirty="0">
                  <a:solidFill>
                    <a:schemeClr val="tx1"/>
                  </a:solidFill>
                  <a:highlight>
                    <a:srgbClr val="00FFFF"/>
                  </a:highlight>
                </a:endParaRPr>
              </a:p>
              <a:p>
                <a:pPr algn="l"/>
                <a:r>
                  <a:rPr lang="en-US" sz="1050" b="1" dirty="0">
                    <a:solidFill>
                      <a:schemeClr val="tx1"/>
                    </a:solidFill>
                  </a:rPr>
                  <a:t>Moderate</a:t>
                </a:r>
                <a:r>
                  <a:rPr lang="en-US" sz="1050" dirty="0">
                    <a:solidFill>
                      <a:schemeClr val="tx1"/>
                    </a:solidFill>
                  </a:rPr>
                  <a:t>: 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8080"/>
                    </a:highlight>
                  </a:rPr>
                  <a:t>4-8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𝑃𝑓𝑃𝑅</m:t>
                        </m:r>
                      </m:e>
                      <m:sub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0−100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chemeClr val="tx1"/>
                    </a:solidFill>
                  </a:rPr>
                  <a:t> [0.19-0.34]</a:t>
                </a:r>
              </a:p>
              <a:p>
                <a:pPr algn="l"/>
                <a:endParaRPr lang="en-US" sz="1050" dirty="0">
                  <a:solidFill>
                    <a:schemeClr val="tx1"/>
                  </a:solidFill>
                  <a:highlight>
                    <a:srgbClr val="008080"/>
                  </a:highlight>
                </a:endParaRPr>
              </a:p>
              <a:p>
                <a:pPr algn="l"/>
                <a:r>
                  <a:rPr lang="en-US" sz="1050" b="1" dirty="0">
                    <a:solidFill>
                      <a:schemeClr val="tx1"/>
                    </a:solidFill>
                  </a:rPr>
                  <a:t>High</a:t>
                </a:r>
                <a:r>
                  <a:rPr lang="en-US" sz="1050" dirty="0">
                    <a:solidFill>
                      <a:schemeClr val="tx1"/>
                    </a:solidFill>
                  </a:rPr>
                  <a:t>: 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FF00"/>
                    </a:highlight>
                  </a:rPr>
                  <a:t>&gt;8</a:t>
                </a:r>
                <a:r>
                  <a:rPr lang="en-US" sz="1050" dirty="0">
                    <a:solidFill>
                      <a:schemeClr val="tx1"/>
                    </a:solidFill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𝑃𝑓𝑃𝑅</m:t>
                        </m:r>
                      </m:e>
                      <m:sub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0−100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chemeClr val="tx1"/>
                    </a:solidFill>
                  </a:rPr>
                  <a:t> [0.38-0.46]</a:t>
                </a:r>
                <a:endParaRPr lang="en-CH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5261909-90B1-2D40-3FDB-F85C401F3C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9666" y="833434"/>
                <a:ext cx="2743798" cy="1053605"/>
              </a:xfrm>
              <a:prstGeom prst="rect">
                <a:avLst/>
              </a:prstGeom>
              <a:blipFill>
                <a:blip r:embed="rId3"/>
                <a:stretch>
                  <a:fillRect t="-4000" b="-6286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617133-604D-EE3D-BF37-3A3F62C08AC5}"/>
              </a:ext>
            </a:extLst>
          </p:cNvPr>
          <p:cNvCxnSpPr>
            <a:cxnSpLocks/>
          </p:cNvCxnSpPr>
          <p:nvPr/>
        </p:nvCxnSpPr>
        <p:spPr>
          <a:xfrm>
            <a:off x="5411693" y="1491630"/>
            <a:ext cx="5284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F096DC78-07BD-7903-938F-589471C3B6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0"/>
            <a:ext cx="2814761" cy="5004019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394008A-FED3-AD88-B7DC-34B6FAE01CB6}"/>
              </a:ext>
            </a:extLst>
          </p:cNvPr>
          <p:cNvSpPr/>
          <p:nvPr/>
        </p:nvSpPr>
        <p:spPr>
          <a:xfrm>
            <a:off x="3203848" y="1923678"/>
            <a:ext cx="3223782" cy="297129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8B2E128-58BC-ACD9-C774-056D10A1C125}"/>
              </a:ext>
            </a:extLst>
          </p:cNvPr>
          <p:cNvCxnSpPr>
            <a:cxnSpLocks/>
          </p:cNvCxnSpPr>
          <p:nvPr/>
        </p:nvCxnSpPr>
        <p:spPr>
          <a:xfrm>
            <a:off x="5613269" y="156363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43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0E9A6-E640-DE59-75B9-B56ED8E87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E9F063-C5C1-63F1-088E-1CBE4FA23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/>
              <a:t>Methods</a:t>
            </a:r>
            <a:endParaRPr lang="en-GB" sz="2000" dirty="0">
              <a:solidFill>
                <a:schemeClr val="accent1">
                  <a:lumMod val="100000"/>
                </a:schemeClr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2BD1876-61B5-98CB-A991-E5BCC3F06E90}"/>
              </a:ext>
            </a:extLst>
          </p:cNvPr>
          <p:cNvCxnSpPr>
            <a:cxnSpLocks/>
          </p:cNvCxnSpPr>
          <p:nvPr/>
        </p:nvCxnSpPr>
        <p:spPr>
          <a:xfrm>
            <a:off x="5613269" y="156363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E8B6671-06FA-4EB3-BBA8-C39D3586FA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0"/>
            <a:ext cx="2814761" cy="5004019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3C0BF82-0007-C742-BD1E-CD173A728F8D}"/>
              </a:ext>
            </a:extLst>
          </p:cNvPr>
          <p:cNvSpPr/>
          <p:nvPr/>
        </p:nvSpPr>
        <p:spPr>
          <a:xfrm>
            <a:off x="2929189" y="2787774"/>
            <a:ext cx="3069584" cy="207527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09913BE-75B4-908E-A0B0-EB358E6F96EF}"/>
              </a:ext>
            </a:extLst>
          </p:cNvPr>
          <p:cNvCxnSpPr>
            <a:cxnSpLocks/>
          </p:cNvCxnSpPr>
          <p:nvPr/>
        </p:nvCxnSpPr>
        <p:spPr>
          <a:xfrm>
            <a:off x="5599882" y="1635646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27D2040-43B1-7B17-D397-5CC7348F19EF}"/>
              </a:ext>
            </a:extLst>
          </p:cNvPr>
          <p:cNvSpPr/>
          <p:nvPr/>
        </p:nvSpPr>
        <p:spPr>
          <a:xfrm>
            <a:off x="1367266" y="1796932"/>
            <a:ext cx="1654852" cy="5587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Cohort Implementation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LLIN users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Non-users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6431116-4F09-C1B1-B538-801B85FCDA05}"/>
              </a:ext>
            </a:extLst>
          </p:cNvPr>
          <p:cNvCxnSpPr>
            <a:cxnSpLocks/>
          </p:cNvCxnSpPr>
          <p:nvPr/>
        </p:nvCxnSpPr>
        <p:spPr>
          <a:xfrm>
            <a:off x="3042646" y="2189275"/>
            <a:ext cx="322403" cy="76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9C8CC90E-B2E9-03DE-665A-53F0180B9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4325" y="2067695"/>
            <a:ext cx="768389" cy="7112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D5EEF46-CC6C-E500-88EA-7D2AE52A441E}"/>
                  </a:ext>
                </a:extLst>
              </p:cNvPr>
              <p:cNvSpPr/>
              <p:nvPr/>
            </p:nvSpPr>
            <p:spPr>
              <a:xfrm>
                <a:off x="6059666" y="833434"/>
                <a:ext cx="2743798" cy="105360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en-US" sz="1050" b="1" dirty="0">
                    <a:solidFill>
                      <a:schemeClr val="tx1"/>
                    </a:solidFill>
                  </a:rPr>
                  <a:t>EIR</a:t>
                </a:r>
                <a:r>
                  <a:rPr lang="en-US" sz="1050" dirty="0">
                    <a:solidFill>
                      <a:schemeClr val="tx1"/>
                    </a:solidFill>
                  </a:rPr>
                  <a:t>: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FFFF"/>
                    </a:highlight>
                  </a:rPr>
                  <a:t>2,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8000"/>
                    </a:highlight>
                  </a:rPr>
                  <a:t> 4, 8,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8080"/>
                    </a:highlight>
                  </a:rPr>
                  <a:t> 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FF00"/>
                    </a:highlight>
                  </a:rPr>
                  <a:t>16, 24, 32, 48, 60, 80, 100</a:t>
                </a:r>
              </a:p>
              <a:p>
                <a:pPr algn="l"/>
                <a:endParaRPr lang="en-US" sz="1050" dirty="0">
                  <a:solidFill>
                    <a:schemeClr val="tx1"/>
                  </a:solidFill>
                  <a:highlight>
                    <a:srgbClr val="00FF00"/>
                  </a:highlight>
                </a:endParaRPr>
              </a:p>
              <a:p>
                <a:pPr algn="l"/>
                <a:r>
                  <a:rPr lang="en-US" sz="1050" b="1" dirty="0">
                    <a:solidFill>
                      <a:schemeClr val="tx1"/>
                    </a:solidFill>
                  </a:rPr>
                  <a:t>Low</a:t>
                </a:r>
                <a:r>
                  <a:rPr lang="en-US" sz="1050" dirty="0">
                    <a:solidFill>
                      <a:schemeClr val="tx1"/>
                    </a:solidFill>
                  </a:rPr>
                  <a:t>: 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FFFF"/>
                    </a:highlight>
                  </a:rPr>
                  <a:t>&lt;4 </a:t>
                </a:r>
                <a:r>
                  <a:rPr lang="en-US" sz="1050" dirty="0">
                    <a:solidFill>
                      <a:schemeClr val="tx1"/>
                    </a:solidFill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𝑃𝑓𝑃𝑅</m:t>
                        </m:r>
                      </m:e>
                      <m:sub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0−100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chemeClr val="tx1"/>
                    </a:solidFill>
                  </a:rPr>
                  <a:t> [0.03-0.05]</a:t>
                </a:r>
              </a:p>
              <a:p>
                <a:pPr algn="l"/>
                <a:endParaRPr lang="en-US" sz="1050" dirty="0">
                  <a:solidFill>
                    <a:schemeClr val="tx1"/>
                  </a:solidFill>
                  <a:highlight>
                    <a:srgbClr val="00FFFF"/>
                  </a:highlight>
                </a:endParaRPr>
              </a:p>
              <a:p>
                <a:pPr algn="l"/>
                <a:r>
                  <a:rPr lang="en-US" sz="1050" b="1" dirty="0">
                    <a:solidFill>
                      <a:schemeClr val="tx1"/>
                    </a:solidFill>
                  </a:rPr>
                  <a:t>Moderate</a:t>
                </a:r>
                <a:r>
                  <a:rPr lang="en-US" sz="1050" dirty="0">
                    <a:solidFill>
                      <a:schemeClr val="tx1"/>
                    </a:solidFill>
                  </a:rPr>
                  <a:t>: 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8080"/>
                    </a:highlight>
                  </a:rPr>
                  <a:t>4-8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𝑃𝑓𝑃𝑅</m:t>
                        </m:r>
                      </m:e>
                      <m:sub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0−100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chemeClr val="tx1"/>
                    </a:solidFill>
                  </a:rPr>
                  <a:t> [0.19-0.34]</a:t>
                </a:r>
              </a:p>
              <a:p>
                <a:pPr algn="l"/>
                <a:endParaRPr lang="en-US" sz="1050" dirty="0">
                  <a:solidFill>
                    <a:schemeClr val="tx1"/>
                  </a:solidFill>
                  <a:highlight>
                    <a:srgbClr val="008080"/>
                  </a:highlight>
                </a:endParaRPr>
              </a:p>
              <a:p>
                <a:pPr algn="l"/>
                <a:r>
                  <a:rPr lang="en-US" sz="1050" b="1" dirty="0">
                    <a:solidFill>
                      <a:schemeClr val="tx1"/>
                    </a:solidFill>
                  </a:rPr>
                  <a:t>High</a:t>
                </a:r>
                <a:r>
                  <a:rPr lang="en-US" sz="1050" dirty="0">
                    <a:solidFill>
                      <a:schemeClr val="tx1"/>
                    </a:solidFill>
                  </a:rPr>
                  <a:t>: 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FF00"/>
                    </a:highlight>
                  </a:rPr>
                  <a:t>&gt;8</a:t>
                </a:r>
                <a:r>
                  <a:rPr lang="en-US" sz="1050" dirty="0">
                    <a:solidFill>
                      <a:schemeClr val="tx1"/>
                    </a:solidFill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𝑃𝑓𝑃𝑅</m:t>
                        </m:r>
                      </m:e>
                      <m:sub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0−100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chemeClr val="tx1"/>
                    </a:solidFill>
                  </a:rPr>
                  <a:t> [0.38-0.46]</a:t>
                </a:r>
                <a:endParaRPr lang="en-CH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D5EEF46-CC6C-E500-88EA-7D2AE52A44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9666" y="833434"/>
                <a:ext cx="2743798" cy="1053605"/>
              </a:xfrm>
              <a:prstGeom prst="rect">
                <a:avLst/>
              </a:prstGeom>
              <a:blipFill>
                <a:blip r:embed="rId5"/>
                <a:stretch>
                  <a:fillRect t="-4000" b="-6286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0380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3C43D-3C48-762E-2F12-09C665CE2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BD4B91-18B1-CB92-2721-7A01940A8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/>
              <a:t>Methods</a:t>
            </a:r>
            <a:endParaRPr lang="en-GB" sz="2000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998899-E632-74DE-1DF6-9620FDFB8133}"/>
              </a:ext>
            </a:extLst>
          </p:cNvPr>
          <p:cNvSpPr/>
          <p:nvPr/>
        </p:nvSpPr>
        <p:spPr>
          <a:xfrm>
            <a:off x="6122242" y="2822010"/>
            <a:ext cx="1978150" cy="4814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Pop size: </a:t>
            </a:r>
            <a:r>
              <a:rPr lang="en-US" sz="1050" dirty="0">
                <a:solidFill>
                  <a:schemeClr val="tx1"/>
                </a:solidFill>
              </a:rPr>
              <a:t>10’000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Age groups: </a:t>
            </a:r>
            <a:r>
              <a:rPr lang="en-US" sz="1050" dirty="0">
                <a:solidFill>
                  <a:schemeClr val="tx1"/>
                </a:solidFill>
              </a:rPr>
              <a:t>0-5, 0-10, 0-100</a:t>
            </a:r>
            <a:r>
              <a:rPr lang="en-US" sz="105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endParaRPr lang="en-CH" sz="105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EC6E56-411A-DF60-0491-763F9BD3C391}"/>
              </a:ext>
            </a:extLst>
          </p:cNvPr>
          <p:cNvSpPr/>
          <p:nvPr/>
        </p:nvSpPr>
        <p:spPr>
          <a:xfrm>
            <a:off x="1280902" y="2820222"/>
            <a:ext cx="1902063" cy="7906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Interventions Implemented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CM:</a:t>
            </a:r>
            <a:r>
              <a:rPr lang="en-US" sz="1050" dirty="0">
                <a:solidFill>
                  <a:schemeClr val="tx1"/>
                </a:solidFill>
              </a:rPr>
              <a:t> 2003-2022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IG2 net:</a:t>
            </a:r>
            <a:r>
              <a:rPr lang="en-US" sz="1050" dirty="0">
                <a:solidFill>
                  <a:schemeClr val="tx1"/>
                </a:solidFill>
              </a:rPr>
              <a:t> 2023, 2026, 2029</a:t>
            </a:r>
          </a:p>
          <a:p>
            <a:pPr algn="l"/>
            <a:endParaRPr lang="en-US" sz="1050" dirty="0">
              <a:solidFill>
                <a:schemeClr val="tx1"/>
              </a:solidFill>
            </a:endParaRP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Seed</a:t>
            </a:r>
            <a:r>
              <a:rPr lang="en-US" sz="1050" dirty="0">
                <a:solidFill>
                  <a:schemeClr val="tx1"/>
                </a:solidFill>
              </a:rPr>
              <a:t> = 10</a:t>
            </a:r>
            <a:endParaRPr lang="en-CH" sz="105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88B25ED-6FDD-22D4-7F72-CED4F7872632}"/>
              </a:ext>
            </a:extLst>
          </p:cNvPr>
          <p:cNvCxnSpPr>
            <a:cxnSpLocks/>
          </p:cNvCxnSpPr>
          <p:nvPr/>
        </p:nvCxnSpPr>
        <p:spPr>
          <a:xfrm>
            <a:off x="5490487" y="1491630"/>
            <a:ext cx="5216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8A61C9-2050-76D8-702D-C17361082F3E}"/>
              </a:ext>
            </a:extLst>
          </p:cNvPr>
          <p:cNvCxnSpPr>
            <a:cxnSpLocks/>
          </p:cNvCxnSpPr>
          <p:nvPr/>
        </p:nvCxnSpPr>
        <p:spPr>
          <a:xfrm>
            <a:off x="5613269" y="3147814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F4D7505-7399-3EFD-4FCD-F01550A0F1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0"/>
            <a:ext cx="2814761" cy="5004019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75528DA-5AD0-9B62-0E69-A0B8F44593B8}"/>
              </a:ext>
            </a:extLst>
          </p:cNvPr>
          <p:cNvCxnSpPr>
            <a:cxnSpLocks/>
          </p:cNvCxnSpPr>
          <p:nvPr/>
        </p:nvCxnSpPr>
        <p:spPr>
          <a:xfrm flipH="1" flipV="1">
            <a:off x="3275856" y="3252718"/>
            <a:ext cx="338984" cy="107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03E7719-F8E5-9C30-147F-B20BBD6EBFC8}"/>
              </a:ext>
            </a:extLst>
          </p:cNvPr>
          <p:cNvCxnSpPr>
            <a:cxnSpLocks/>
          </p:cNvCxnSpPr>
          <p:nvPr/>
        </p:nvCxnSpPr>
        <p:spPr>
          <a:xfrm flipV="1">
            <a:off x="5637194" y="3159459"/>
            <a:ext cx="443283" cy="73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B831BBE-7A6E-6CE6-0BA6-82E1EB34ECBB}"/>
              </a:ext>
            </a:extLst>
          </p:cNvPr>
          <p:cNvCxnSpPr>
            <a:cxnSpLocks/>
          </p:cNvCxnSpPr>
          <p:nvPr/>
        </p:nvCxnSpPr>
        <p:spPr>
          <a:xfrm>
            <a:off x="5490487" y="1635646"/>
            <a:ext cx="4496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DDD99F0-1ABE-138E-0F77-F7F3E667095B}"/>
              </a:ext>
            </a:extLst>
          </p:cNvPr>
          <p:cNvSpPr/>
          <p:nvPr/>
        </p:nvSpPr>
        <p:spPr>
          <a:xfrm>
            <a:off x="3100215" y="3651870"/>
            <a:ext cx="2792917" cy="112254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9423A8-30C1-F8AD-BEF2-7DA1D3F357C8}"/>
              </a:ext>
            </a:extLst>
          </p:cNvPr>
          <p:cNvSpPr/>
          <p:nvPr/>
        </p:nvSpPr>
        <p:spPr>
          <a:xfrm>
            <a:off x="1367266" y="1796932"/>
            <a:ext cx="1654852" cy="5587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Cohort Implementation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LLIN users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Non-users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16D9F90-4F77-98F7-3DFB-A81E00B0AF2F}"/>
              </a:ext>
            </a:extLst>
          </p:cNvPr>
          <p:cNvCxnSpPr>
            <a:cxnSpLocks/>
          </p:cNvCxnSpPr>
          <p:nvPr/>
        </p:nvCxnSpPr>
        <p:spPr>
          <a:xfrm>
            <a:off x="3042646" y="2189275"/>
            <a:ext cx="322403" cy="76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069603C9-632B-C3A6-E9A7-E172AB4FF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4325" y="2060437"/>
            <a:ext cx="768389" cy="7112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51C91B6-E271-0F83-53F7-CED534F28148}"/>
                  </a:ext>
                </a:extLst>
              </p:cNvPr>
              <p:cNvSpPr/>
              <p:nvPr/>
            </p:nvSpPr>
            <p:spPr>
              <a:xfrm>
                <a:off x="6059666" y="833434"/>
                <a:ext cx="2743798" cy="105360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en-US" sz="1050" b="1" dirty="0">
                    <a:solidFill>
                      <a:schemeClr val="tx1"/>
                    </a:solidFill>
                  </a:rPr>
                  <a:t>EIR</a:t>
                </a:r>
                <a:r>
                  <a:rPr lang="en-US" sz="1050" dirty="0">
                    <a:solidFill>
                      <a:schemeClr val="tx1"/>
                    </a:solidFill>
                  </a:rPr>
                  <a:t>: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FFFF"/>
                    </a:highlight>
                  </a:rPr>
                  <a:t>2,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8000"/>
                    </a:highlight>
                  </a:rPr>
                  <a:t> 4, 8,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8080"/>
                    </a:highlight>
                  </a:rPr>
                  <a:t> 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FF00"/>
                    </a:highlight>
                  </a:rPr>
                  <a:t>16, 24, 32, 48, 60, 80, 100</a:t>
                </a:r>
              </a:p>
              <a:p>
                <a:pPr algn="l"/>
                <a:endParaRPr lang="en-US" sz="1050" dirty="0">
                  <a:solidFill>
                    <a:schemeClr val="tx1"/>
                  </a:solidFill>
                  <a:highlight>
                    <a:srgbClr val="00FF00"/>
                  </a:highlight>
                </a:endParaRPr>
              </a:p>
              <a:p>
                <a:pPr algn="l"/>
                <a:r>
                  <a:rPr lang="en-US" sz="1050" b="1" dirty="0">
                    <a:solidFill>
                      <a:schemeClr val="tx1"/>
                    </a:solidFill>
                  </a:rPr>
                  <a:t>Low</a:t>
                </a:r>
                <a:r>
                  <a:rPr lang="en-US" sz="1050" dirty="0">
                    <a:solidFill>
                      <a:schemeClr val="tx1"/>
                    </a:solidFill>
                  </a:rPr>
                  <a:t>: 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FFFF"/>
                    </a:highlight>
                  </a:rPr>
                  <a:t>&lt;4 </a:t>
                </a:r>
                <a:r>
                  <a:rPr lang="en-US" sz="1050" dirty="0">
                    <a:solidFill>
                      <a:schemeClr val="tx1"/>
                    </a:solidFill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𝑃𝑓𝑃𝑅</m:t>
                        </m:r>
                      </m:e>
                      <m:sub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0−100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chemeClr val="tx1"/>
                    </a:solidFill>
                  </a:rPr>
                  <a:t> [0.03-0.05]</a:t>
                </a:r>
              </a:p>
              <a:p>
                <a:pPr algn="l"/>
                <a:endParaRPr lang="en-US" sz="1050" dirty="0">
                  <a:solidFill>
                    <a:schemeClr val="tx1"/>
                  </a:solidFill>
                  <a:highlight>
                    <a:srgbClr val="00FFFF"/>
                  </a:highlight>
                </a:endParaRPr>
              </a:p>
              <a:p>
                <a:pPr algn="l"/>
                <a:r>
                  <a:rPr lang="en-US" sz="1050" b="1" dirty="0">
                    <a:solidFill>
                      <a:schemeClr val="tx1"/>
                    </a:solidFill>
                  </a:rPr>
                  <a:t>Moderate</a:t>
                </a:r>
                <a:r>
                  <a:rPr lang="en-US" sz="1050" dirty="0">
                    <a:solidFill>
                      <a:schemeClr val="tx1"/>
                    </a:solidFill>
                  </a:rPr>
                  <a:t>: 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8080"/>
                    </a:highlight>
                  </a:rPr>
                  <a:t>4-8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𝑃𝑓𝑃𝑅</m:t>
                        </m:r>
                      </m:e>
                      <m:sub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0−100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chemeClr val="tx1"/>
                    </a:solidFill>
                  </a:rPr>
                  <a:t> [0.19-0.34]</a:t>
                </a:r>
              </a:p>
              <a:p>
                <a:pPr algn="l"/>
                <a:endParaRPr lang="en-US" sz="1050" dirty="0">
                  <a:solidFill>
                    <a:schemeClr val="tx1"/>
                  </a:solidFill>
                  <a:highlight>
                    <a:srgbClr val="008080"/>
                  </a:highlight>
                </a:endParaRPr>
              </a:p>
              <a:p>
                <a:pPr algn="l"/>
                <a:r>
                  <a:rPr lang="en-US" sz="1050" b="1" dirty="0">
                    <a:solidFill>
                      <a:schemeClr val="tx1"/>
                    </a:solidFill>
                  </a:rPr>
                  <a:t>High</a:t>
                </a:r>
                <a:r>
                  <a:rPr lang="en-US" sz="1050" dirty="0">
                    <a:solidFill>
                      <a:schemeClr val="tx1"/>
                    </a:solidFill>
                  </a:rPr>
                  <a:t>: 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FF00"/>
                    </a:highlight>
                  </a:rPr>
                  <a:t>&gt;8</a:t>
                </a:r>
                <a:r>
                  <a:rPr lang="en-US" sz="1050" dirty="0">
                    <a:solidFill>
                      <a:schemeClr val="tx1"/>
                    </a:solidFill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𝑃𝑓𝑃𝑅</m:t>
                        </m:r>
                      </m:e>
                      <m:sub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0−100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chemeClr val="tx1"/>
                    </a:solidFill>
                  </a:rPr>
                  <a:t> [0.38-0.46]</a:t>
                </a:r>
                <a:endParaRPr lang="en-CH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51C91B6-E271-0F83-53F7-CED534F281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9666" y="833434"/>
                <a:ext cx="2743798" cy="1053605"/>
              </a:xfrm>
              <a:prstGeom prst="rect">
                <a:avLst/>
              </a:prstGeom>
              <a:blipFill>
                <a:blip r:embed="rId5"/>
                <a:stretch>
                  <a:fillRect t="-4000" b="-6286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06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BCFA7-CB59-22C9-4839-82572B177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4E7A0A-2F5F-C2B8-FBFB-A70FA4194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/>
              <a:t>Methods</a:t>
            </a:r>
            <a:endParaRPr lang="en-GB" sz="2000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9A3ACC-CEC6-478A-02D0-575287522D0E}"/>
              </a:ext>
            </a:extLst>
          </p:cNvPr>
          <p:cNvSpPr/>
          <p:nvPr/>
        </p:nvSpPr>
        <p:spPr>
          <a:xfrm>
            <a:off x="6059666" y="2914358"/>
            <a:ext cx="2000763" cy="4669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Pop size</a:t>
            </a:r>
            <a:r>
              <a:rPr lang="en-US" sz="1050" dirty="0">
                <a:solidFill>
                  <a:schemeClr val="tx1"/>
                </a:solidFill>
              </a:rPr>
              <a:t>: 10’000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Age groups: </a:t>
            </a:r>
            <a:r>
              <a:rPr lang="en-US" sz="1050" dirty="0">
                <a:solidFill>
                  <a:schemeClr val="tx1"/>
                </a:solidFill>
              </a:rPr>
              <a:t>0-5, 0-10, 0-100</a:t>
            </a:r>
            <a:r>
              <a:rPr lang="en-US" sz="105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endParaRPr lang="en-CH" sz="105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548E94-37C0-0639-D49B-EED696E31458}"/>
              </a:ext>
            </a:extLst>
          </p:cNvPr>
          <p:cNvSpPr/>
          <p:nvPr/>
        </p:nvSpPr>
        <p:spPr>
          <a:xfrm>
            <a:off x="1301784" y="2830948"/>
            <a:ext cx="1902063" cy="7906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Interventions Implemented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CM:</a:t>
            </a:r>
            <a:r>
              <a:rPr lang="en-US" sz="1050" dirty="0">
                <a:solidFill>
                  <a:schemeClr val="tx1"/>
                </a:solidFill>
              </a:rPr>
              <a:t> 2003-2022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IG2 net:</a:t>
            </a:r>
            <a:r>
              <a:rPr lang="en-US" sz="1050" dirty="0">
                <a:solidFill>
                  <a:schemeClr val="tx1"/>
                </a:solidFill>
              </a:rPr>
              <a:t> 2023, 2026, 2029</a:t>
            </a:r>
          </a:p>
          <a:p>
            <a:pPr algn="l"/>
            <a:endParaRPr lang="en-US" sz="1050" dirty="0">
              <a:solidFill>
                <a:schemeClr val="tx1"/>
              </a:solidFill>
            </a:endParaRP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Seed</a:t>
            </a:r>
            <a:r>
              <a:rPr lang="en-US" sz="1050" dirty="0">
                <a:solidFill>
                  <a:schemeClr val="tx1"/>
                </a:solidFill>
              </a:rPr>
              <a:t> = 10</a:t>
            </a:r>
            <a:endParaRPr lang="en-CH" sz="1050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A04B0E8-AD0D-C231-4F36-76157FC105D5}"/>
              </a:ext>
            </a:extLst>
          </p:cNvPr>
          <p:cNvCxnSpPr>
            <a:cxnSpLocks/>
          </p:cNvCxnSpPr>
          <p:nvPr/>
        </p:nvCxnSpPr>
        <p:spPr>
          <a:xfrm flipH="1" flipV="1">
            <a:off x="3255785" y="3238037"/>
            <a:ext cx="340815" cy="143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D61B9B8F-5650-DED2-F519-DF4833FC149F}"/>
              </a:ext>
            </a:extLst>
          </p:cNvPr>
          <p:cNvSpPr/>
          <p:nvPr/>
        </p:nvSpPr>
        <p:spPr>
          <a:xfrm>
            <a:off x="1367266" y="1796932"/>
            <a:ext cx="1654852" cy="5587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Cohort Implementation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LLIN users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Non-users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3F6CD73-36C5-2E68-79A5-FA2B607CA2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5785" y="71318"/>
            <a:ext cx="2743798" cy="4877863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B1B49A2-BB8F-B631-77F8-73F276BAF00A}"/>
              </a:ext>
            </a:extLst>
          </p:cNvPr>
          <p:cNvCxnSpPr>
            <a:cxnSpLocks/>
          </p:cNvCxnSpPr>
          <p:nvPr/>
        </p:nvCxnSpPr>
        <p:spPr>
          <a:xfrm flipV="1">
            <a:off x="5580886" y="3138319"/>
            <a:ext cx="418697" cy="99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CD9DE9D-E47A-3AC6-EC47-C25999D5DECD}"/>
              </a:ext>
            </a:extLst>
          </p:cNvPr>
          <p:cNvCxnSpPr>
            <a:cxnSpLocks/>
          </p:cNvCxnSpPr>
          <p:nvPr/>
        </p:nvCxnSpPr>
        <p:spPr>
          <a:xfrm flipV="1">
            <a:off x="5508104" y="1539429"/>
            <a:ext cx="418697" cy="99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6ECE14A-8FCB-0C77-7F58-1A4050282E43}"/>
              </a:ext>
            </a:extLst>
          </p:cNvPr>
          <p:cNvCxnSpPr>
            <a:cxnSpLocks/>
          </p:cNvCxnSpPr>
          <p:nvPr/>
        </p:nvCxnSpPr>
        <p:spPr>
          <a:xfrm flipH="1" flipV="1">
            <a:off x="3255785" y="3244009"/>
            <a:ext cx="443974" cy="161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889E93D-671B-B7C5-E9F6-D0BBD4D86317}"/>
              </a:ext>
            </a:extLst>
          </p:cNvPr>
          <p:cNvCxnSpPr>
            <a:cxnSpLocks/>
          </p:cNvCxnSpPr>
          <p:nvPr/>
        </p:nvCxnSpPr>
        <p:spPr>
          <a:xfrm>
            <a:off x="3068615" y="2236116"/>
            <a:ext cx="322403" cy="76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3332330-C072-D8D9-527F-CBC8E3F40E65}"/>
                  </a:ext>
                </a:extLst>
              </p:cNvPr>
              <p:cNvSpPr/>
              <p:nvPr/>
            </p:nvSpPr>
            <p:spPr>
              <a:xfrm>
                <a:off x="6059666" y="833434"/>
                <a:ext cx="2743798" cy="105360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en-US" sz="1050" b="1" dirty="0">
                    <a:solidFill>
                      <a:schemeClr val="tx1"/>
                    </a:solidFill>
                  </a:rPr>
                  <a:t>EIR</a:t>
                </a:r>
                <a:r>
                  <a:rPr lang="en-US" sz="1050" dirty="0">
                    <a:solidFill>
                      <a:schemeClr val="tx1"/>
                    </a:solidFill>
                  </a:rPr>
                  <a:t>: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FFFF"/>
                    </a:highlight>
                  </a:rPr>
                  <a:t>2,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8000"/>
                    </a:highlight>
                  </a:rPr>
                  <a:t> 4, 8,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8080"/>
                    </a:highlight>
                  </a:rPr>
                  <a:t> 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FF00"/>
                    </a:highlight>
                  </a:rPr>
                  <a:t>16, 24, 32, 48, 60, 80, 100</a:t>
                </a:r>
              </a:p>
              <a:p>
                <a:pPr algn="l"/>
                <a:endParaRPr lang="en-US" sz="1050" dirty="0">
                  <a:solidFill>
                    <a:schemeClr val="tx1"/>
                  </a:solidFill>
                  <a:highlight>
                    <a:srgbClr val="00FF00"/>
                  </a:highlight>
                </a:endParaRPr>
              </a:p>
              <a:p>
                <a:pPr algn="l"/>
                <a:r>
                  <a:rPr lang="en-US" sz="1050" b="1" dirty="0">
                    <a:solidFill>
                      <a:schemeClr val="tx1"/>
                    </a:solidFill>
                  </a:rPr>
                  <a:t>Low</a:t>
                </a:r>
                <a:r>
                  <a:rPr lang="en-US" sz="1050" dirty="0">
                    <a:solidFill>
                      <a:schemeClr val="tx1"/>
                    </a:solidFill>
                  </a:rPr>
                  <a:t>: 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FFFF"/>
                    </a:highlight>
                  </a:rPr>
                  <a:t>&lt;4 </a:t>
                </a:r>
                <a:r>
                  <a:rPr lang="en-US" sz="1050" dirty="0">
                    <a:solidFill>
                      <a:schemeClr val="tx1"/>
                    </a:solidFill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105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𝑃𝑓𝑃𝑅</m:t>
                        </m:r>
                      </m:e>
                      <m:sub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0−100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chemeClr val="tx1"/>
                    </a:solidFill>
                  </a:rPr>
                  <a:t> [0.03-0.05]</a:t>
                </a:r>
              </a:p>
              <a:p>
                <a:pPr algn="l"/>
                <a:endParaRPr lang="en-US" sz="1050" dirty="0">
                  <a:solidFill>
                    <a:schemeClr val="tx1"/>
                  </a:solidFill>
                  <a:highlight>
                    <a:srgbClr val="00FFFF"/>
                  </a:highlight>
                </a:endParaRPr>
              </a:p>
              <a:p>
                <a:pPr algn="l"/>
                <a:r>
                  <a:rPr lang="en-US" sz="1050" b="1" dirty="0">
                    <a:solidFill>
                      <a:schemeClr val="tx1"/>
                    </a:solidFill>
                  </a:rPr>
                  <a:t>Moderate</a:t>
                </a:r>
                <a:r>
                  <a:rPr lang="en-US" sz="1050" dirty="0">
                    <a:solidFill>
                      <a:schemeClr val="tx1"/>
                    </a:solidFill>
                  </a:rPr>
                  <a:t>: 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8080"/>
                    </a:highlight>
                  </a:rPr>
                  <a:t>4-8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𝑃𝑓𝑃𝑅</m:t>
                        </m:r>
                      </m:e>
                      <m:sub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0−100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chemeClr val="tx1"/>
                    </a:solidFill>
                  </a:rPr>
                  <a:t> [0.19-0.34]</a:t>
                </a:r>
              </a:p>
              <a:p>
                <a:pPr algn="l"/>
                <a:endParaRPr lang="en-US" sz="1050" dirty="0">
                  <a:solidFill>
                    <a:schemeClr val="tx1"/>
                  </a:solidFill>
                  <a:highlight>
                    <a:srgbClr val="008080"/>
                  </a:highlight>
                </a:endParaRPr>
              </a:p>
              <a:p>
                <a:pPr algn="l"/>
                <a:r>
                  <a:rPr lang="en-US" sz="1050" b="1" dirty="0">
                    <a:solidFill>
                      <a:schemeClr val="tx1"/>
                    </a:solidFill>
                  </a:rPr>
                  <a:t>High</a:t>
                </a:r>
                <a:r>
                  <a:rPr lang="en-US" sz="1050" dirty="0">
                    <a:solidFill>
                      <a:schemeClr val="tx1"/>
                    </a:solidFill>
                  </a:rPr>
                  <a:t>: </a:t>
                </a:r>
                <a:r>
                  <a:rPr lang="en-US" sz="1050" dirty="0">
                    <a:solidFill>
                      <a:schemeClr val="tx1"/>
                    </a:solidFill>
                    <a:highlight>
                      <a:srgbClr val="00FF00"/>
                    </a:highlight>
                  </a:rPr>
                  <a:t>&gt;8</a:t>
                </a:r>
                <a:r>
                  <a:rPr lang="en-US" sz="1050" dirty="0">
                    <a:solidFill>
                      <a:schemeClr val="tx1"/>
                    </a:solidFill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5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𝑃𝑓𝑃𝑅</m:t>
                        </m:r>
                      </m:e>
                      <m:sub>
                        <m:r>
                          <a:rPr lang="en-CH" sz="105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0−100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chemeClr val="tx1"/>
                    </a:solidFill>
                  </a:rPr>
                  <a:t> [0.38-0.46]</a:t>
                </a:r>
                <a:endParaRPr lang="en-CH" sz="105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3332330-C072-D8D9-527F-CBC8E3F40E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9666" y="833434"/>
                <a:ext cx="2743798" cy="1053605"/>
              </a:xfrm>
              <a:prstGeom prst="rect">
                <a:avLst/>
              </a:prstGeom>
              <a:blipFill>
                <a:blip r:embed="rId4"/>
                <a:stretch>
                  <a:fillRect t="-4000" b="-6286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7568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87DF9-915B-561D-061C-5A901B7ED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E07342-38BA-3D06-EE50-02A8EDEF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>
                <a:solidFill>
                  <a:schemeClr val="accent1">
                    <a:lumMod val="100000"/>
                  </a:schemeClr>
                </a:solidFill>
              </a:rPr>
              <a:t>Impact definition</a:t>
            </a:r>
            <a:r>
              <a:rPr lang="en-US" sz="2000" dirty="0"/>
              <a:t>s and estimates</a:t>
            </a:r>
            <a:endParaRPr lang="en-GB" sz="2000" dirty="0">
              <a:solidFill>
                <a:schemeClr val="accent1">
                  <a:lumMod val="10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FBB6B36-1655-F71A-9554-A940202DB371}"/>
                  </a:ext>
                </a:extLst>
              </p:cNvPr>
              <p:cNvSpPr>
                <a:spLocks noGrp="1"/>
              </p:cNvSpPr>
              <p:nvPr>
                <p:ph sz="quarter" idx="15"/>
              </p:nvPr>
            </p:nvSpPr>
            <p:spPr>
              <a:xfrm>
                <a:off x="500062" y="699542"/>
                <a:ext cx="8137525" cy="3960440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Protection</a:t>
                </a:r>
                <a:r>
                  <a:rPr lang="en-US" dirty="0"/>
                  <a:t>: Relative reduction in prevalence</a:t>
                </a: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Direct (user) protection</a:t>
                </a:r>
                <a:r>
                  <a:rPr lang="en-US" dirty="0"/>
                  <a:t>: Relative</a:t>
                </a:r>
                <a:r>
                  <a:rPr lang="en-US" b="1" dirty="0"/>
                  <a:t> </a:t>
                </a:r>
                <a:r>
                  <a:rPr lang="en-US" dirty="0"/>
                  <a:t>reduction in prevalence among LLIN users: </a:t>
                </a:r>
                <a14:m>
                  <m:oMath xmlns:m="http://schemas.openxmlformats.org/officeDocument/2006/math">
                    <m:r>
                      <a:rPr lang="en-CH" i="1">
                        <a:latin typeface="Cambria Math" panose="02040503050406030204" pitchFamily="18" charset="0"/>
                      </a:rPr>
                      <m:t>100∗</m:t>
                    </m:r>
                    <m:f>
                      <m:fPr>
                        <m:ctrlPr>
                          <a:rPr lang="en-CH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H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H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𝑏𝑎𝑠𝑒𝑙𝑖𝑛𝑒</m:t>
                            </m:r>
                          </m:sub>
                        </m:sSub>
                        <m:r>
                          <a:rPr lang="en-CH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H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𝑈𝑠𝑒𝑟𝑠</m:t>
                            </m:r>
                          </m:sub>
                        </m:sSub>
                        <m:d>
                          <m:dPr>
                            <m:ctrlPr>
                              <a:rPr lang="en-CH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CH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CH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𝑏𝑎𝑠𝑒𝑙𝑖𝑛𝑒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Indirect (non-user) protection</a:t>
                </a:r>
                <a:r>
                  <a:rPr lang="en-US" dirty="0"/>
                  <a:t>: Relative reduction in prevalence among non-users: </a:t>
                </a:r>
                <a14:m>
                  <m:oMath xmlns:m="http://schemas.openxmlformats.org/officeDocument/2006/math">
                    <m:r>
                      <a:rPr lang="en-CH" i="1">
                        <a:latin typeface="Cambria Math" panose="02040503050406030204" pitchFamily="18" charset="0"/>
                      </a:rPr>
                      <m:t>100∗</m:t>
                    </m:r>
                    <m:f>
                      <m:fPr>
                        <m:ctrlPr>
                          <a:rPr lang="en-CH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H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H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𝑏𝑎𝑠𝑒𝑙𝑖𝑛𝑒</m:t>
                            </m:r>
                          </m:sub>
                        </m:sSub>
                        <m:r>
                          <a:rPr lang="en-CH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H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𝑁𝑜𝑛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𝑢𝑠𝑒𝑟𝑠</m:t>
                            </m:r>
                          </m:sub>
                        </m:sSub>
                        <m:d>
                          <m:dPr>
                            <m:ctrlPr>
                              <a:rPr lang="en-CH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CH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CH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𝑏𝑎𝑠𝑒𝑙𝑖𝑛𝑒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Overall protection</a:t>
                </a:r>
                <a:r>
                  <a:rPr lang="en-US" dirty="0"/>
                  <a:t>: Relative reduction in prevalence among the overall population: </a:t>
                </a:r>
                <a14:m>
                  <m:oMath xmlns:m="http://schemas.openxmlformats.org/officeDocument/2006/math">
                    <m:r>
                      <a:rPr lang="en-CH" i="1">
                        <a:latin typeface="Cambria Math" panose="02040503050406030204" pitchFamily="18" charset="0"/>
                      </a:rPr>
                      <m:t>100∗</m:t>
                    </m:r>
                    <m:f>
                      <m:fPr>
                        <m:ctrlPr>
                          <a:rPr lang="en-CH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H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H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𝑏𝑎𝑠𝑒𝑙𝑖𝑛𝑒</m:t>
                            </m:r>
                          </m:sub>
                        </m:sSub>
                        <m:r>
                          <a:rPr lang="en-CH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H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𝑃𝑜𝑝𝑢𝑙𝑎𝑡𝑖𝑜𝑛</m:t>
                            </m:r>
                          </m:sub>
                        </m:sSub>
                        <m:d>
                          <m:dPr>
                            <m:ctrlPr>
                              <a:rPr lang="en-CH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CH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CH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H" i="1">
                                <a:latin typeface="Cambria Math" panose="02040503050406030204" pitchFamily="18" charset="0"/>
                              </a:rPr>
                              <m:t>𝑏𝑎𝑠𝑒𝑙𝑖𝑛𝑒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CH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FBB6B36-1655-F71A-9554-A940202DB3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5"/>
              </p:nvPr>
            </p:nvSpPr>
            <p:spPr>
              <a:xfrm>
                <a:off x="500062" y="699542"/>
                <a:ext cx="8137525" cy="3960440"/>
              </a:xfrm>
              <a:blipFill>
                <a:blip r:embed="rId2"/>
                <a:stretch>
                  <a:fillRect l="-2022" t="-2003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5998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87ADE-0E5B-D077-CC31-58C83E3C2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0C6B649-235C-6031-F3B0-E74684FAD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GB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555554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45FFA-7B98-ADF6-5C1D-DAABA839A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D15223C-F1C2-42CD-72F1-0FC0C6324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7" y="22304"/>
            <a:ext cx="8389243" cy="781964"/>
          </a:xfrm>
        </p:spPr>
        <p:txBody>
          <a:bodyPr/>
          <a:lstStyle/>
          <a:p>
            <a:r>
              <a:rPr lang="en-US" sz="2000" dirty="0"/>
              <a:t>I</a:t>
            </a:r>
            <a:r>
              <a:rPr lang="en-CH" sz="2000" dirty="0" err="1"/>
              <a:t>mpact</a:t>
            </a:r>
            <a:r>
              <a:rPr lang="en-CH" sz="2000" dirty="0"/>
              <a:t> of </a:t>
            </a:r>
            <a:r>
              <a:rPr lang="en-CH" sz="2000" dirty="0" err="1"/>
              <a:t>LLINs</a:t>
            </a:r>
            <a:r>
              <a:rPr lang="en-CH" sz="2000" dirty="0"/>
              <a:t> on malaria prevalence among </a:t>
            </a:r>
            <a:r>
              <a:rPr lang="en-US" sz="2000" dirty="0"/>
              <a:t>population groups stayed constant over time,</a:t>
            </a:r>
            <a:r>
              <a:rPr lang="en-CH" sz="2000" dirty="0"/>
              <a:t> decline</a:t>
            </a:r>
            <a:r>
              <a:rPr lang="en-US" sz="2000" dirty="0"/>
              <a:t>d</a:t>
            </a:r>
            <a:r>
              <a:rPr lang="en-CH" sz="2000" dirty="0"/>
              <a:t> with usage, </a:t>
            </a:r>
            <a:r>
              <a:rPr lang="en-US" sz="2000" dirty="0"/>
              <a:t>and</a:t>
            </a:r>
            <a:r>
              <a:rPr lang="en-CH" sz="2000" dirty="0"/>
              <a:t> increase</a:t>
            </a:r>
            <a:r>
              <a:rPr lang="en-US" sz="2000" dirty="0"/>
              <a:t>d</a:t>
            </a:r>
            <a:r>
              <a:rPr lang="en-CH" sz="2000" dirty="0"/>
              <a:t> with transmission intensity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48C24B-502C-867F-6ED2-3310BE8E7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699542"/>
            <a:ext cx="6060460" cy="431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281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3F60F-5CB3-D348-6F00-72EE414C8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043C3C4-2FB9-85D5-75FF-BC267EEC4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6" y="0"/>
            <a:ext cx="8824465" cy="682273"/>
          </a:xfrm>
        </p:spPr>
        <p:txBody>
          <a:bodyPr/>
          <a:lstStyle/>
          <a:p>
            <a:r>
              <a:rPr lang="en-US" sz="1800" dirty="0">
                <a:cs typeface="Arial" panose="020B0604020202020204" pitchFamily="34" charset="0"/>
                <a:sym typeface="Helvetica Neue"/>
              </a:rPr>
              <a:t>A: Protection increased with increasing usage and decreased with increasing transmission intensity. B: there is a plateau in low </a:t>
            </a:r>
            <a:r>
              <a:rPr lang="en-US" sz="1800" dirty="0" err="1">
                <a:cs typeface="Arial" panose="020B0604020202020204" pitchFamily="34" charset="0"/>
                <a:sym typeface="Helvetica Neue"/>
              </a:rPr>
              <a:t>PfPR</a:t>
            </a:r>
            <a:r>
              <a:rPr lang="en-US" sz="1800" dirty="0">
                <a:cs typeface="Arial" panose="020B0604020202020204" pitchFamily="34" charset="0"/>
                <a:sym typeface="Helvetica Neue"/>
              </a:rPr>
              <a:t>. C:</a:t>
            </a:r>
            <a:r>
              <a:rPr lang="en-CH" sz="1800" dirty="0"/>
              <a:t>Usage thresholds for incremental benefits increase</a:t>
            </a:r>
            <a:r>
              <a:rPr lang="en-US" sz="1800" dirty="0"/>
              <a:t>d</a:t>
            </a:r>
            <a:r>
              <a:rPr lang="en-CH" sz="1800" dirty="0"/>
              <a:t> with increasing</a:t>
            </a:r>
            <a:r>
              <a:rPr lang="en-US" sz="1800" dirty="0"/>
              <a:t> </a:t>
            </a:r>
            <a:r>
              <a:rPr lang="en-US" sz="1800" dirty="0">
                <a:cs typeface="Arial" panose="020B0604020202020204" pitchFamily="34" charset="0"/>
                <a:sym typeface="Helvetica Neue"/>
              </a:rPr>
              <a:t>transmission intensity</a:t>
            </a:r>
            <a:r>
              <a:rPr lang="en-CH" sz="2000" dirty="0"/>
              <a:t> </a:t>
            </a:r>
            <a:endParaRPr lang="en-US" sz="2000" dirty="0">
              <a:solidFill>
                <a:schemeClr val="accent1">
                  <a:lumMod val="10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D98455-5834-B854-6A3F-270BA7B7F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716000"/>
            <a:ext cx="7409453" cy="441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3619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BA3FE-B5C8-2FD2-1151-43168547E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8ABEE00-4D4A-FF6D-5C23-BBAFD93A8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108610"/>
            <a:ext cx="8536433" cy="558795"/>
          </a:xfrm>
        </p:spPr>
        <p:txBody>
          <a:bodyPr/>
          <a:lstStyle/>
          <a:p>
            <a:r>
              <a:rPr lang="en-CH" dirty="0"/>
              <a:t>Usage thresholds for predefined </a:t>
            </a:r>
            <a:r>
              <a:rPr lang="en-US" dirty="0"/>
              <a:t>levels of protection</a:t>
            </a:r>
            <a:r>
              <a:rPr lang="en-CH" dirty="0"/>
              <a:t> increase with increasing transmission intensity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1DC071-2456-D616-ABA5-62404E71A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729643"/>
            <a:ext cx="7259580" cy="433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3940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F728AA6-752E-28FC-6873-B07824F1B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71C962-2248-21BF-1E1A-1DE649DB35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0063" y="4129087"/>
            <a:ext cx="8145533" cy="422628"/>
          </a:xfrm>
        </p:spPr>
        <p:txBody>
          <a:bodyPr/>
          <a:lstStyle/>
          <a:p>
            <a:r>
              <a:rPr lang="en-GB" dirty="0"/>
              <a:t>Image caption title.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A29CF6A-9696-D1E2-7ACA-9C4D234F3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5" y="123478"/>
            <a:ext cx="8928992" cy="558795"/>
          </a:xfrm>
        </p:spPr>
        <p:txBody>
          <a:bodyPr/>
          <a:lstStyle/>
          <a:p>
            <a:r>
              <a:rPr lang="en-US" sz="2000" dirty="0">
                <a:solidFill>
                  <a:schemeClr val="accent1">
                    <a:lumMod val="100000"/>
                  </a:schemeClr>
                </a:solidFill>
              </a:rPr>
              <a:t>Relative risk and benefit (non-users vs pre-intervention baseline)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8CFED9-A10C-375A-0E40-1DAA065F52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19" y="682273"/>
            <a:ext cx="6093225" cy="43377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35C952-5A05-20EE-2C7F-0B78C4D93C21}"/>
              </a:ext>
            </a:extLst>
          </p:cNvPr>
          <p:cNvSpPr txBox="1"/>
          <p:nvPr/>
        </p:nvSpPr>
        <p:spPr>
          <a:xfrm>
            <a:off x="6335223" y="594863"/>
            <a:ext cx="2705924" cy="39568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dirty="0"/>
              <a:t>A. malaria infection risk among non-users compared to pre-intervention declines with increasing usage, but increases with increasing transmission intensity</a:t>
            </a:r>
            <a:endParaRPr lang="en-US" sz="1800" dirty="0"/>
          </a:p>
          <a:p>
            <a:endParaRPr lang="en-US" dirty="0"/>
          </a:p>
          <a:p>
            <a:r>
              <a:rPr lang="en-US" sz="1800" dirty="0"/>
              <a:t>B. Relative benefit offered by LLINs to non-users compared to pre-intervention increases with increasing usage, but decreases with increasing transmission intensity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6759631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E3D91-C88E-5BA6-FA0D-E50360E34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E8CDF2C-364A-F574-B29C-97F0928CD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cs typeface="Arial" panose="020B0604020202020204" pitchFamily="34" charset="0"/>
                <a:sym typeface="Helvetica Neue"/>
              </a:rPr>
              <a:t>Key messages</a:t>
            </a:r>
            <a:endParaRPr lang="en-US" sz="2000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58D0908-6F60-2CBB-B816-CF5565CDA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2" y="945970"/>
            <a:ext cx="813752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H" altLang="en-C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LLIN effects are nonlinear</a:t>
            </a:r>
            <a:endParaRPr kumimoji="0" lang="en-US" altLang="en-C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latin typeface="+mn-lt"/>
              </a:rPr>
              <a:t>The disparity in infection risk between LLIN users and non-users decreases with increasing coverage </a:t>
            </a:r>
            <a:endParaRPr kumimoji="0" lang="en-CH" altLang="en-C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C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indirect</a:t>
            </a:r>
            <a:r>
              <a:rPr kumimoji="0" lang="en-CH" altLang="en-CH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protection is transmission-dependent.</a:t>
            </a:r>
            <a:endParaRPr kumimoji="0" lang="en-US" altLang="en-C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latin typeface="+mn-lt"/>
              </a:rPr>
              <a:t>indirect protection is strongest and most efficient in low-to-moderate transmission settings and becomes harder to achieve as EIR increases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CH" altLang="en-CH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</a:t>
            </a:r>
            <a:r>
              <a:rPr kumimoji="0" lang="en-US" altLang="en-CH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en-US" altLang="en-CH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CH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plateau in low but not in moderate to high transmission settings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latin typeface="+mn-lt"/>
              </a:rPr>
              <a:t>High EIR settings do not generate strong community effects without very high coverage</a:t>
            </a:r>
            <a:endParaRPr kumimoji="0" lang="en-US" altLang="en-CH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dirty="0">
                <a:latin typeface="+mn-lt"/>
              </a:rPr>
              <a:t>Modest coverage (≈ 30%) is required in low EIR settings to achieve 20% reduction in prevalence among non-users, whereas mid-level coverage (≈50–60%) required in moderate EIR settings</a:t>
            </a:r>
            <a:endParaRPr kumimoji="0" lang="en-CH" altLang="en-CH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38206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95F4E-4095-6130-4869-B61BEC784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F75126-852C-2AA2-4AD7-A9C8FD249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000" dirty="0"/>
              <a:t>Recommendations</a:t>
            </a:r>
            <a:endParaRPr lang="en-GB" sz="2000" dirty="0">
              <a:solidFill>
                <a:schemeClr val="accent1">
                  <a:lumMod val="100000"/>
                </a:schemeClr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FDAAD0-D548-741F-7811-B7BE29250DB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8676" y="987574"/>
            <a:ext cx="8137525" cy="338437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en-CH" dirty="0"/>
              <a:t>In low </a:t>
            </a:r>
            <a:r>
              <a:rPr lang="en-US" altLang="en-CH" dirty="0" err="1"/>
              <a:t>PfPR</a:t>
            </a:r>
            <a:r>
              <a:rPr lang="en-US" altLang="en-CH" dirty="0"/>
              <a:t> settings, m</a:t>
            </a:r>
            <a:r>
              <a:rPr lang="en-US" dirty="0"/>
              <a:t>aintain </a:t>
            </a:r>
            <a:r>
              <a:rPr lang="en-US" b="1" dirty="0"/>
              <a:t>≥ 30–50% </a:t>
            </a:r>
            <a:r>
              <a:rPr lang="en-US" dirty="0"/>
              <a:t>effective usage to preserve community protection</a:t>
            </a:r>
            <a:endParaRPr lang="en-US" altLang="en-CH" dirty="0"/>
          </a:p>
          <a:p>
            <a:pPr marL="342900" indent="-342900">
              <a:buFont typeface="+mj-lt"/>
              <a:buAutoNum type="arabicPeriod"/>
            </a:pPr>
            <a:r>
              <a:rPr lang="en-US" altLang="en-CH" dirty="0"/>
              <a:t>Push </a:t>
            </a:r>
            <a:r>
              <a:rPr lang="en-US" dirty="0"/>
              <a:t>toward </a:t>
            </a:r>
            <a:r>
              <a:rPr lang="en-US" b="1" dirty="0"/>
              <a:t>≥ 50–70% </a:t>
            </a:r>
            <a:r>
              <a:rPr lang="en-US" dirty="0"/>
              <a:t>to achieve </a:t>
            </a:r>
            <a:r>
              <a:rPr lang="en-US" b="1" dirty="0"/>
              <a:t>considerable indirect effects</a:t>
            </a:r>
            <a:r>
              <a:rPr lang="en-US" dirty="0"/>
              <a:t> in moderate settings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Protect gains </a:t>
            </a:r>
            <a:r>
              <a:rPr lang="en-US" dirty="0"/>
              <a:t>in low transmission settings</a:t>
            </a:r>
          </a:p>
          <a:p>
            <a:pPr marL="620713" lvl="1" indent="-342900">
              <a:buFont typeface="Arial" panose="020B0604020202020204" pitchFamily="34" charset="0"/>
              <a:buChar char="•"/>
            </a:pPr>
            <a:r>
              <a:rPr lang="en-US" dirty="0"/>
              <a:t>Do not deprioritize LLINs low-transmission areas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en-CH" dirty="0"/>
              <a:t>Nets alone are not sufficient in high </a:t>
            </a:r>
            <a:r>
              <a:rPr lang="en-US" altLang="en-CH" dirty="0" err="1"/>
              <a:t>PfPR</a:t>
            </a:r>
            <a:r>
              <a:rPr lang="en-US" altLang="en-CH" dirty="0"/>
              <a:t> settings, </a:t>
            </a:r>
            <a:r>
              <a:rPr lang="en-US" altLang="en-CH" b="1" dirty="0"/>
              <a:t>combine with other interventions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Use modelling to guide prioritization under budget constraints</a:t>
            </a:r>
          </a:p>
          <a:p>
            <a:endParaRPr lang="en-US" altLang="en-CH" b="1" dirty="0"/>
          </a:p>
          <a:p>
            <a:endParaRPr lang="en-US" dirty="0"/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0134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30C325-7ACD-8B41-8EB5-F9572D6E947F}"/>
              </a:ext>
            </a:extLst>
          </p:cNvPr>
          <p:cNvSpPr txBox="1"/>
          <p:nvPr/>
        </p:nvSpPr>
        <p:spPr>
          <a:xfrm>
            <a:off x="500063" y="2606238"/>
            <a:ext cx="3927921" cy="542845"/>
          </a:xfrm>
          <a:prstGeom prst="rect">
            <a:avLst/>
          </a:prstGeom>
        </p:spPr>
        <p:txBody>
          <a:bodyPr vert="horz" wrap="none" lIns="0" tIns="45720" rIns="91440" bIns="45720" rtlCol="0">
            <a:noAutofit/>
          </a:bodyPr>
          <a:lstStyle/>
          <a:p>
            <a:pPr marL="0" indent="0" algn="l">
              <a:buNone/>
            </a:pPr>
            <a:endParaRPr lang="en-US" sz="2400" b="0" i="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562F6-E45C-4B36-922E-D0C1B0B5A3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0062" y="2673719"/>
            <a:ext cx="8137525" cy="618111"/>
          </a:xfrm>
        </p:spPr>
        <p:txBody>
          <a:bodyPr anchor="ctr" anchorCtr="0"/>
          <a:lstStyle/>
          <a:p>
            <a:r>
              <a:rPr lang="en-US" dirty="0">
                <a:solidFill>
                  <a:schemeClr val="accent1">
                    <a:lumMod val="100000"/>
                  </a:schemeClr>
                </a:solidFill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65400851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Swiss_TPH_New">
      <a:dk1>
        <a:srgbClr val="000000"/>
      </a:dk1>
      <a:lt1>
        <a:srgbClr val="FFFFFF"/>
      </a:lt1>
      <a:dk2>
        <a:srgbClr val="BABCBE"/>
      </a:dk2>
      <a:lt2>
        <a:srgbClr val="717073"/>
      </a:lt2>
      <a:accent1>
        <a:srgbClr val="468AB2"/>
      </a:accent1>
      <a:accent2>
        <a:srgbClr val="BF3227"/>
      </a:accent2>
      <a:accent3>
        <a:srgbClr val="B5C751"/>
      </a:accent3>
      <a:accent4>
        <a:srgbClr val="EDCD64"/>
      </a:accent4>
      <a:accent5>
        <a:srgbClr val="868686"/>
      </a:accent5>
      <a:accent6>
        <a:srgbClr val="C5D3E5"/>
      </a:accent6>
      <a:hlink>
        <a:srgbClr val="B2C654"/>
      </a:hlink>
      <a:folHlink>
        <a:srgbClr val="EBD7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>
          <a:noFill/>
        </a:ln>
      </a:spPr>
      <a:bodyPr vert="horz" wrap="square" lIns="91440" tIns="45720" rIns="91440" bIns="45720" rtlCol="0">
        <a:noAutofit/>
      </a:bodyPr>
      <a:lstStyle>
        <a:defPPr marL="0" indent="0" algn="l">
          <a:buNone/>
          <a:defRPr sz="1600" b="0" dirty="0" smtClean="0">
            <a:solidFill>
              <a:schemeClr val="accent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16x9 Swiss TPH.potx" id="{20373BB4-0324-4F16-A9B5-2460B8191979}" vid="{F2F1BD85-56D1-46D2-AF66-9996211A2EE6}"/>
    </a:ext>
  </a:extLst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4F81BD"/>
          </a:solidFill>
          <a:prstDash val="solid"/>
          <a:bevel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63800" rtl="0" fontAlgn="auto" latinLnBrk="1" hangingPunct="0">
          <a:lnSpc>
            <a:spcPct val="9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F81BD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63800" rtl="0" fontAlgn="auto" latinLnBrk="1" hangingPunct="0">
          <a:lnSpc>
            <a:spcPct val="93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C2F69649366542805CCBAF42E8EFB7" ma:contentTypeVersion="4" ma:contentTypeDescription="Create a new document." ma:contentTypeScope="" ma:versionID="60d978b5935bf3a2213058135cad3411">
  <xsd:schema xmlns:xsd="http://www.w3.org/2001/XMLSchema" xmlns:xs="http://www.w3.org/2001/XMLSchema" xmlns:p="http://schemas.microsoft.com/office/2006/metadata/properties" xmlns:ns2="63ffaa22-7d8e-4240-a944-afc297a842b9" targetNamespace="http://schemas.microsoft.com/office/2006/metadata/properties" ma:root="true" ma:fieldsID="12af3a03e5a82617190befc2b4010dba" ns2:_="">
    <xsd:import namespace="63ffaa22-7d8e-4240-a944-afc297a842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ffaa22-7d8e-4240-a944-afc297a842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2CC74DA-16BA-48DE-83B2-C2637755DE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52B23B-406F-4086-AB28-ADDD85E5DF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ffaa22-7d8e-4240-a944-afc297a842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B2E5366-1342-4EF4-920B-721B408001A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 16x9 Swiss TPH</Template>
  <TotalTime>0</TotalTime>
  <Words>1406</Words>
  <Application>Microsoft Office PowerPoint</Application>
  <PresentationFormat>On-screen Show (16:9)</PresentationFormat>
  <Paragraphs>165</Paragraphs>
  <Slides>25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Cambria Math</vt:lpstr>
      <vt:lpstr>Simplon Norm</vt:lpstr>
      <vt:lpstr>System Font Regular</vt:lpstr>
      <vt:lpstr>Wingdings</vt:lpstr>
      <vt:lpstr>Custom Design</vt:lpstr>
      <vt:lpstr>PowerPoint Presentation</vt:lpstr>
      <vt:lpstr>Outline</vt:lpstr>
      <vt:lpstr>PowerPoint Presentation</vt:lpstr>
      <vt:lpstr>Background – LLIN effectiveness</vt:lpstr>
      <vt:lpstr>the concept of community protection</vt:lpstr>
      <vt:lpstr>the concept of community protection</vt:lpstr>
      <vt:lpstr>the concept of community protection</vt:lpstr>
      <vt:lpstr>evidence of community protection</vt:lpstr>
      <vt:lpstr>what this study focuses on</vt:lpstr>
      <vt:lpstr>Research question</vt:lpstr>
      <vt:lpstr>PowerPoint Presentation</vt:lpstr>
      <vt:lpstr>Methods</vt:lpstr>
      <vt:lpstr>Methods</vt:lpstr>
      <vt:lpstr>Methods</vt:lpstr>
      <vt:lpstr>Methods</vt:lpstr>
      <vt:lpstr>Methods</vt:lpstr>
      <vt:lpstr>Impact definitions and estimates</vt:lpstr>
      <vt:lpstr>PowerPoint Presentation</vt:lpstr>
      <vt:lpstr>Impact of LLINs on malaria prevalence among population groups stayed constant over time, declined with usage, and increased with transmission intensity</vt:lpstr>
      <vt:lpstr>A: Protection increased with increasing usage and decreased with increasing transmission intensity. B: there is a plateau in low PfPR. C:Usage thresholds for incremental benefits increased with increasing transmission intensity </vt:lpstr>
      <vt:lpstr>Usage thresholds for predefined levels of protection increase with increasing transmission intensity </vt:lpstr>
      <vt:lpstr>Relative risk and benefit (non-users vs pre-intervention baseline)</vt:lpstr>
      <vt:lpstr>Key messages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Zenabu Suboi</dc:creator>
  <cp:lastModifiedBy>Zenabu Suboi</cp:lastModifiedBy>
  <cp:revision>294</cp:revision>
  <cp:lastPrinted>2019-06-11T17:14:57Z</cp:lastPrinted>
  <dcterms:created xsi:type="dcterms:W3CDTF">2026-02-15T20:49:34Z</dcterms:created>
  <dcterms:modified xsi:type="dcterms:W3CDTF">2026-03-31T19:16:36Z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0x010100FCC2F69649366542805CCBAF42E8EFB7</vt:lpwstr>
  </property>
</Properties>
</file>