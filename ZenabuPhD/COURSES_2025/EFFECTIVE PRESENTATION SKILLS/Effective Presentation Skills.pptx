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16" r:id="rId1"/>
  </p:sldMasterIdLst>
  <p:notesMasterIdLst>
    <p:notesMasterId r:id="rId26"/>
  </p:notesMasterIdLst>
  <p:handoutMasterIdLst>
    <p:handoutMasterId r:id="rId27"/>
  </p:handoutMasterIdLst>
  <p:sldIdLst>
    <p:sldId id="555" r:id="rId2"/>
    <p:sldId id="2077" r:id="rId3"/>
    <p:sldId id="2063" r:id="rId4"/>
    <p:sldId id="2081" r:id="rId5"/>
    <p:sldId id="2082" r:id="rId6"/>
    <p:sldId id="2085" r:id="rId7"/>
    <p:sldId id="2080" r:id="rId8"/>
    <p:sldId id="2089" r:id="rId9"/>
    <p:sldId id="2096" r:id="rId10"/>
    <p:sldId id="2094" r:id="rId11"/>
    <p:sldId id="2083" r:id="rId12"/>
    <p:sldId id="2098" r:id="rId13"/>
    <p:sldId id="2091" r:id="rId14"/>
    <p:sldId id="2092" r:id="rId15"/>
    <p:sldId id="2084" r:id="rId16"/>
    <p:sldId id="2064" r:id="rId17"/>
    <p:sldId id="2086" r:id="rId18"/>
    <p:sldId id="2076" r:id="rId19"/>
    <p:sldId id="2087" r:id="rId20"/>
    <p:sldId id="2079" r:id="rId21"/>
    <p:sldId id="2093" r:id="rId22"/>
    <p:sldId id="2088" r:id="rId23"/>
    <p:sldId id="2097" r:id="rId24"/>
    <p:sldId id="2052" r:id="rId25"/>
  </p:sldIdLst>
  <p:sldSz cx="9144000" cy="5143500" type="screen16x9"/>
  <p:notesSz cx="7099300" cy="10234613"/>
  <p:defaultTextStyle>
    <a:lvl1pPr defTabSz="363800">
      <a:lnSpc>
        <a:spcPct val="93000"/>
      </a:lnSpc>
      <a:defRPr>
        <a:latin typeface="Calibri"/>
        <a:ea typeface="Calibri"/>
        <a:cs typeface="Calibri"/>
        <a:sym typeface="Calibri"/>
      </a:defRPr>
    </a:lvl1pPr>
    <a:lvl2pPr indent="370225" defTabSz="363800">
      <a:lnSpc>
        <a:spcPct val="93000"/>
      </a:lnSpc>
      <a:defRPr>
        <a:latin typeface="Calibri"/>
        <a:ea typeface="Calibri"/>
        <a:cs typeface="Calibri"/>
        <a:sym typeface="Calibri"/>
      </a:defRPr>
    </a:lvl2pPr>
    <a:lvl3pPr indent="740451" defTabSz="363800">
      <a:lnSpc>
        <a:spcPct val="93000"/>
      </a:lnSpc>
      <a:defRPr>
        <a:latin typeface="Calibri"/>
        <a:ea typeface="Calibri"/>
        <a:cs typeface="Calibri"/>
        <a:sym typeface="Calibri"/>
      </a:defRPr>
    </a:lvl3pPr>
    <a:lvl4pPr indent="1110679" defTabSz="363800">
      <a:lnSpc>
        <a:spcPct val="93000"/>
      </a:lnSpc>
      <a:defRPr>
        <a:latin typeface="Calibri"/>
        <a:ea typeface="Calibri"/>
        <a:cs typeface="Calibri"/>
        <a:sym typeface="Calibri"/>
      </a:defRPr>
    </a:lvl4pPr>
    <a:lvl5pPr indent="1480905" defTabSz="363800">
      <a:lnSpc>
        <a:spcPct val="93000"/>
      </a:lnSpc>
      <a:defRPr>
        <a:latin typeface="Calibri"/>
        <a:ea typeface="Calibri"/>
        <a:cs typeface="Calibri"/>
        <a:sym typeface="Calibri"/>
      </a:defRPr>
    </a:lvl5pPr>
    <a:lvl6pPr indent="1851132" defTabSz="363800">
      <a:lnSpc>
        <a:spcPct val="93000"/>
      </a:lnSpc>
      <a:defRPr>
        <a:latin typeface="Calibri"/>
        <a:ea typeface="Calibri"/>
        <a:cs typeface="Calibri"/>
        <a:sym typeface="Calibri"/>
      </a:defRPr>
    </a:lvl6pPr>
    <a:lvl7pPr indent="2221358" defTabSz="363800">
      <a:lnSpc>
        <a:spcPct val="93000"/>
      </a:lnSpc>
      <a:defRPr>
        <a:latin typeface="Calibri"/>
        <a:ea typeface="Calibri"/>
        <a:cs typeface="Calibri"/>
        <a:sym typeface="Calibri"/>
      </a:defRPr>
    </a:lvl7pPr>
    <a:lvl8pPr indent="2591585" defTabSz="363800">
      <a:lnSpc>
        <a:spcPct val="93000"/>
      </a:lnSpc>
      <a:defRPr>
        <a:latin typeface="Calibri"/>
        <a:ea typeface="Calibri"/>
        <a:cs typeface="Calibri"/>
        <a:sym typeface="Calibri"/>
      </a:defRPr>
    </a:lvl8pPr>
    <a:lvl9pPr indent="2961812" defTabSz="363800">
      <a:lnSpc>
        <a:spcPct val="93000"/>
      </a:lnSpc>
      <a:defRPr>
        <a:latin typeface="Calibri"/>
        <a:ea typeface="Calibri"/>
        <a:cs typeface="Calibri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Title Slides" id="{8994D358-6C20-4FA8-AA41-025EF578AB32}">
          <p14:sldIdLst>
            <p14:sldId id="555"/>
            <p14:sldId id="2077"/>
            <p14:sldId id="2063"/>
            <p14:sldId id="2081"/>
            <p14:sldId id="2082"/>
            <p14:sldId id="2085"/>
            <p14:sldId id="2080"/>
            <p14:sldId id="2089"/>
            <p14:sldId id="2096"/>
            <p14:sldId id="2094"/>
            <p14:sldId id="2083"/>
            <p14:sldId id="2098"/>
            <p14:sldId id="2091"/>
            <p14:sldId id="2092"/>
            <p14:sldId id="2084"/>
            <p14:sldId id="2064"/>
            <p14:sldId id="2086"/>
            <p14:sldId id="2076"/>
            <p14:sldId id="2087"/>
            <p14:sldId id="2079"/>
            <p14:sldId id="2093"/>
            <p14:sldId id="2088"/>
            <p14:sldId id="2097"/>
            <p14:sldId id="20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pos="3606" userDrawn="1">
          <p15:clr>
            <a:srgbClr val="A4A3A4"/>
          </p15:clr>
        </p15:guide>
        <p15:guide id="3" orient="horz" pos="2164" userDrawn="1">
          <p15:clr>
            <a:srgbClr val="A4A3A4"/>
          </p15:clr>
        </p15:guide>
        <p15:guide id="4" orient="horz" pos="1302" userDrawn="1">
          <p15:clr>
            <a:srgbClr val="A4A3A4"/>
          </p15:clr>
        </p15:guide>
        <p15:guide id="5" pos="24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Edwards" initials="DE" lastIdx="11" clrIdx="0"/>
  <p:cmAuthor id="1" name="Danielle Powell" initials="DP" lastIdx="91" clrIdx="1">
    <p:extLst>
      <p:ext uri="{19B8F6BF-5375-455C-9EA6-DF929625EA0E}">
        <p15:presenceInfo xmlns:p15="http://schemas.microsoft.com/office/powerpoint/2012/main" userId="Danielle Powell" providerId="None"/>
      </p:ext>
    </p:extLst>
  </p:cmAuthor>
  <p:cmAuthor id="2" name="Mark Tecson" initials="MT" lastIdx="54" clrIdx="2">
    <p:extLst>
      <p:ext uri="{19B8F6BF-5375-455C-9EA6-DF929625EA0E}">
        <p15:presenceInfo xmlns:p15="http://schemas.microsoft.com/office/powerpoint/2012/main" userId="Mark Tec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227"/>
    <a:srgbClr val="468AB2"/>
    <a:srgbClr val="F1F2F2"/>
    <a:srgbClr val="717073"/>
    <a:srgbClr val="222222"/>
    <a:srgbClr val="000000"/>
    <a:srgbClr val="898989"/>
    <a:srgbClr val="B4D1E1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75" autoAdjust="0"/>
  </p:normalViewPr>
  <p:slideViewPr>
    <p:cSldViewPr>
      <p:cViewPr>
        <p:scale>
          <a:sx n="88" d="100"/>
          <a:sy n="88" d="100"/>
        </p:scale>
        <p:origin x="684" y="108"/>
      </p:cViewPr>
      <p:guideLst>
        <p:guide orient="horz" pos="2845"/>
        <p:guide pos="3606"/>
        <p:guide orient="horz" pos="2164"/>
        <p:guide orient="horz" pos="1302"/>
        <p:guide pos="2426"/>
      </p:guideLst>
    </p:cSldViewPr>
  </p:slideViewPr>
  <p:outlineViewPr>
    <p:cViewPr>
      <p:scale>
        <a:sx n="33" d="100"/>
        <a:sy n="33" d="100"/>
      </p:scale>
      <p:origin x="0" y="-12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4" d="100"/>
          <a:sy n="44" d="100"/>
        </p:scale>
        <p:origin x="274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B59EEB45-F85B-45AF-AE0C-0FFBEB08690C}" type="datetimeFigureOut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28/03/2025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6D219380-B934-4D92-B156-F3E17E027301}" type="slidenum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758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4" y="4861442"/>
            <a:ext cx="5206154" cy="4605576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2604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>
      <a:lnSpc>
        <a:spcPct val="117999"/>
      </a:lnSpc>
      <a:defRPr sz="2200" b="0" i="0">
        <a:latin typeface="Arial" panose="020B0604020202020204" pitchFamily="34" charset="0"/>
        <a:ea typeface="+mj-ea"/>
        <a:cs typeface="Arial" panose="020B0604020202020204" pitchFamily="34" charset="0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1920" y="4083918"/>
            <a:ext cx="4785668" cy="289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61576" cy="51435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056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55" userDrawn="1">
          <p15:clr>
            <a:srgbClr val="FBAE40"/>
          </p15:clr>
        </p15:guide>
        <p15:guide id="2" pos="24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102BFF8-1253-4DC4-8F0F-A614EC0FC5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133B29-7CA3-4E8A-BDE7-6F7FBE777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8EF2C-2929-4353-8A9D-ACDC182F6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031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rgbClr val="B4D1E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8DC5DB-561F-4D50-9ECB-E5F82C452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E7E6BC7-3841-41CA-A574-B63C0E5A1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0089E-490E-4CD6-B36D-DAE4420A9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86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2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689345-0E5B-4961-BFA5-D74794CC73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6B88576-B387-417A-9787-6A314FE1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7E07E-BB8C-4881-A45D-5CE30F35E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346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321548"/>
            <a:ext cx="8137525" cy="291344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/>
            </a:lvl1pPr>
            <a:lvl2pPr marL="277813" indent="0" algn="l">
              <a:buNone/>
              <a:defRPr/>
            </a:lvl2pPr>
            <a:lvl3pPr marL="547688" indent="0" algn="l">
              <a:buNone/>
              <a:defRPr/>
            </a:lvl3pPr>
            <a:lvl4pPr marL="815975" indent="0" algn="l">
              <a:buNone/>
              <a:defRPr/>
            </a:lvl4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C0B51-2590-4977-8BCF-5BC1B1C0A5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4"/>
            <a:ext cx="5800129" cy="32131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444208" y="1014414"/>
            <a:ext cx="2193380" cy="3213100"/>
          </a:xfrm>
          <a:prstGeom prst="rect">
            <a:avLst/>
          </a:prstGeom>
        </p:spPr>
        <p:txBody>
          <a:bodyPr vert="horz" tIns="0" rIns="0" bIns="0" anchor="t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[image text]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C3B6D4-4DC9-4D12-8D95-806CE8586C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5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3"/>
            <a:ext cx="8137525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99233" y="3812367"/>
            <a:ext cx="8145533" cy="422628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600">
                <a:solidFill>
                  <a:srgbClr val="717073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EF494-034D-44F8-A974-C98E1DDFD8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6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9565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6"/>
            <a:ext cx="3907238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698" y="3823714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6"/>
            <a:ext cx="3927244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58" y="3821321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514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0F972-6BC7-42BC-AFE5-97C86679B87E}"/>
              </a:ext>
            </a:extLst>
          </p:cNvPr>
          <p:cNvSpPr/>
          <p:nvPr userDrawn="1"/>
        </p:nvSpPr>
        <p:spPr>
          <a:xfrm>
            <a:off x="508231" y="2877621"/>
            <a:ext cx="3927244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259A0-C5BF-4615-9DF0-1C33FC6423D9}"/>
              </a:ext>
            </a:extLst>
          </p:cNvPr>
          <p:cNvSpPr/>
          <p:nvPr userDrawn="1"/>
        </p:nvSpPr>
        <p:spPr>
          <a:xfrm>
            <a:off x="4732548" y="2877621"/>
            <a:ext cx="3899388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5"/>
            <a:ext cx="3907238" cy="186112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5"/>
            <a:ext cx="3927244" cy="187197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C13FF-C155-4919-8919-34228E9F85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4213" y="3021837"/>
            <a:ext cx="3600450" cy="12128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6E5765-AFF9-454D-B3E4-B95BB4B152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9732" y="3021837"/>
            <a:ext cx="3600450" cy="12128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56BEC-90D2-435D-8367-0E3A5F826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231" y="2373565"/>
            <a:ext cx="3927244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F963DD-B50B-4248-9374-A146E53148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2548" y="2373565"/>
            <a:ext cx="3899388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2497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16616" y="1014413"/>
            <a:ext cx="2615224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16616" y="3795713"/>
            <a:ext cx="2615224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CD11574-6994-C542-A1AD-1118FE1AA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39827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27FB44-8702-2E4A-AB5F-E13C696274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9827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0EEF36B-2413-A544-991B-10AA2B78C1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7599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408FD-BECD-3443-BB24-6FC231820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7599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A300C0-DBF9-4E76-A96E-820DB299D3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2631777" cy="322060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275856" y="1014414"/>
            <a:ext cx="5368083" cy="32205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3A6C4-B2B4-46A4-BE60-14F5BD4FB2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02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00064" y="1356744"/>
            <a:ext cx="8143876" cy="287825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2C476E-51FA-B142-B805-2B1D7A05A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055" y="915988"/>
            <a:ext cx="8151884" cy="33039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0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8137525" cy="32205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D33E0-EF10-44C7-97ED-4419E59984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76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8F8353-7F4B-4AB2-8678-0275B71DCD7E}"/>
              </a:ext>
            </a:extLst>
          </p:cNvPr>
          <p:cNvSpPr/>
          <p:nvPr userDrawn="1"/>
        </p:nvSpPr>
        <p:spPr>
          <a:xfrm>
            <a:off x="4572000" y="1"/>
            <a:ext cx="4572000" cy="5066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4" y="1014414"/>
            <a:ext cx="3935412" cy="32205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0227F-4512-44D1-9D9B-B77D36335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014414"/>
            <a:ext cx="3921125" cy="322058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97563-23FD-4705-A4F4-2B08A537BD6B}"/>
              </a:ext>
            </a:extLst>
          </p:cNvPr>
          <p:cNvCxnSpPr>
            <a:cxnSpLocks/>
          </p:cNvCxnSpPr>
          <p:nvPr userDrawn="1"/>
        </p:nvCxnSpPr>
        <p:spPr>
          <a:xfrm>
            <a:off x="8184621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CC8194-D780-400B-85F5-DE5F0003BCA5}"/>
              </a:ext>
            </a:extLst>
          </p:cNvPr>
          <p:cNvSpPr txBox="1">
            <a:spLocks/>
          </p:cNvSpPr>
          <p:nvPr userDrawn="1"/>
        </p:nvSpPr>
        <p:spPr>
          <a:xfrm>
            <a:off x="8219956" y="4723710"/>
            <a:ext cx="4113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6E361C-716A-465F-B091-EA57F773F1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54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8973B-8366-4A7A-9D42-382FF01BDED3}"/>
              </a:ext>
            </a:extLst>
          </p:cNvPr>
          <p:cNvSpPr txBox="1"/>
          <p:nvPr userDrawn="1"/>
        </p:nvSpPr>
        <p:spPr>
          <a:xfrm>
            <a:off x="2848181" y="-223827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899D1-0243-411C-BC03-A2F921902D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24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-up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A066E7-5573-564E-80E6-FFF5A20254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4590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F8771B-79B5-5E44-8EE5-05B94368A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87123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2DC5879-943B-FB4F-ADAC-2CD7A8A940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4590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C0A1BDB-B6A9-6A4B-910C-B61617F0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87123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2313A87-358B-C041-8B7E-F6B81E316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590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CF54D8E-D4FA-7D43-B32A-87ABB4649C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7123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DB555-C07E-4AD1-8918-A045D96FF0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57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3A2FDE9-97B9-0D4C-A044-587D3779E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8528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3" y="915566"/>
            <a:ext cx="3935410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C1AA4B-FF84-7D4E-9B6E-EE3C29C65A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6463" y="915566"/>
            <a:ext cx="3959993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8B13C-1060-418C-8319-C4526C0DD1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14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9673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E0339E7-81F2-A040-87B8-7E7837273F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08528" y="915989"/>
            <a:ext cx="3929061" cy="288967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BF9020A-F14A-ED49-8C64-E205C6AE78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529" y="3811636"/>
            <a:ext cx="3929060" cy="42185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136A46-1C94-408F-87B7-B99F84FBFA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9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2699792" y="1653835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9792" y="1139340"/>
            <a:ext cx="593779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792" y="1413332"/>
            <a:ext cx="593779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99792" y="1683746"/>
            <a:ext cx="5937796" cy="2227393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137670"/>
            <a:ext cx="1767681" cy="17676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C448B77-40C1-BA4B-9EBD-F6806BE8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6B6D8-1F26-49EB-8B11-3E83626E9AD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43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439D20-BAEE-3A46-9F93-18FED5D8DD98}"/>
              </a:ext>
            </a:extLst>
          </p:cNvPr>
          <p:cNvCxnSpPr>
            <a:cxnSpLocks/>
          </p:cNvCxnSpPr>
          <p:nvPr userDrawn="1"/>
        </p:nvCxnSpPr>
        <p:spPr>
          <a:xfrm>
            <a:off x="3305850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FDEDF0-1056-0C47-AD69-FE9D014D9D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5849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1A579EA-2168-BA49-AB8F-310CB7F9C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05849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2FEF0F1-661C-654B-9E89-06752809DF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5849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7" name="Picture Placeholder 36">
            <a:extLst>
              <a:ext uri="{FF2B5EF4-FFF2-40B4-BE49-F238E27FC236}">
                <a16:creationId xmlns:a16="http://schemas.microsoft.com/office/drawing/2014/main" id="{A9D82A10-3AD7-1446-8F46-37E0058A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0585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EF184F-6686-6D49-9419-BA1D272AC81D}"/>
              </a:ext>
            </a:extLst>
          </p:cNvPr>
          <p:cNvCxnSpPr>
            <a:cxnSpLocks/>
          </p:cNvCxnSpPr>
          <p:nvPr userDrawn="1"/>
        </p:nvCxnSpPr>
        <p:spPr>
          <a:xfrm>
            <a:off x="6111639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019358D-0868-DE4E-8C10-294977BB6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1638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5975E78-D73C-2B47-B71F-4E0B606A0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11638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B92EB00-D56B-7A41-881D-393490E952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11638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52" name="Picture Placeholder 36">
            <a:extLst>
              <a:ext uri="{FF2B5EF4-FFF2-40B4-BE49-F238E27FC236}">
                <a16:creationId xmlns:a16="http://schemas.microsoft.com/office/drawing/2014/main" id="{3F0A8FF6-A378-E944-BB45-55FC0D68046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1639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114C-E04D-4F69-BC84-F54E17E815E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70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32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77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 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3A1060D7-15E0-B149-B9D6-37E4A0672A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3519"/>
          <a:stretch/>
        </p:blipFill>
        <p:spPr>
          <a:xfrm>
            <a:off x="500063" y="1789613"/>
            <a:ext cx="2518723" cy="6777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FC95F1-815D-2D4B-8AFC-63AA196BAEF6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214FF2-E8CC-8947-AA41-46AA3CE8727A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F3B95-639B-5B44-8E76-C141A9B2DCE5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7ED7C95-B496-764A-A62B-7AEE64F0A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062" y="2660590"/>
            <a:ext cx="8137525" cy="6181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aseline="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3644064-E3FD-0045-A137-F0CF630DF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5" y="3306205"/>
            <a:ext cx="8137523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Presenter name and/or email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061" y="3728481"/>
            <a:ext cx="8137525" cy="283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Co-authors and/or references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84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4C3202-59EE-2340-B38A-4E5E3A2DD1D8}"/>
              </a:ext>
            </a:extLst>
          </p:cNvPr>
          <p:cNvCxnSpPr>
            <a:cxnSpLocks/>
          </p:cNvCxnSpPr>
          <p:nvPr userDrawn="1"/>
        </p:nvCxnSpPr>
        <p:spPr>
          <a:xfrm>
            <a:off x="8339862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FA6C-9F76-7940-ABD6-8AE2993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063" y="1014413"/>
            <a:ext cx="8137524" cy="32131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C86E9-FDA0-4C4D-A68F-6E3891ABEC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512661" y="4673626"/>
            <a:ext cx="1114768" cy="304593"/>
          </a:xfrm>
          <a:prstGeom prst="rect">
            <a:avLst/>
          </a:prstGeom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EFF88D6-3D0D-1241-9CCB-64DB5A0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274639"/>
            <a:ext cx="8137524" cy="5691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F4896-1C74-471F-B1D7-D03465CE2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rgbClr val="898989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ADC478-0D1F-4E10-932D-F91CE6CE0C53}"/>
              </a:ext>
            </a:extLst>
          </p:cNvPr>
          <p:cNvSpPr txBox="1">
            <a:spLocks/>
          </p:cNvSpPr>
          <p:nvPr userDrawn="1"/>
        </p:nvSpPr>
        <p:spPr>
          <a:xfrm>
            <a:off x="8452674" y="4749040"/>
            <a:ext cx="191263" cy="29092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/>
            <a:fld id="{F3EC332E-FB62-3242-BB6A-EC0EFC19912F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FA2C01E-D7C1-4136-B16E-E0E3E44A9967}"/>
              </a:ext>
            </a:extLst>
          </p:cNvPr>
          <p:cNvSpPr txBox="1">
            <a:spLocks/>
          </p:cNvSpPr>
          <p:nvPr userDrawn="1"/>
        </p:nvSpPr>
        <p:spPr>
          <a:xfrm>
            <a:off x="1740240" y="4876006"/>
            <a:ext cx="6443883" cy="24200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Potential malaria morbidity and mortality avertable by the President’s Malaria Initiative in 2025</a:t>
            </a:r>
            <a:endParaRPr lang="en-US" dirty="0" smtClean="0">
              <a:solidFill>
                <a:schemeClr val="accent1">
                  <a:lumMod val="100000"/>
                </a:schemeClr>
              </a:solidFill>
            </a:endParaRPr>
          </a:p>
          <a:p>
            <a:pPr algn="r"/>
            <a:endParaRPr lang="en-US" dirty="0">
              <a:solidFill>
                <a:srgbClr val="898989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ED518-D582-9A4F-8C12-6E2C06E7A8AA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FBD448-4703-CA48-88BE-FC90FC84C9BF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480782-CDA4-E241-80E9-8887C60CB37B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796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82" r:id="rId2"/>
    <p:sldLayoutId id="2147483823" r:id="rId3"/>
    <p:sldLayoutId id="2147483783" r:id="rId4"/>
    <p:sldLayoutId id="2147483825" r:id="rId5"/>
    <p:sldLayoutId id="2147483801" r:id="rId6"/>
    <p:sldLayoutId id="2147483802" r:id="rId7"/>
    <p:sldLayoutId id="2147483804" r:id="rId8"/>
    <p:sldLayoutId id="2147483827" r:id="rId9"/>
    <p:sldLayoutId id="2147483803" r:id="rId10"/>
    <p:sldLayoutId id="2147483737" r:id="rId11"/>
    <p:sldLayoutId id="2147483806" r:id="rId12"/>
    <p:sldLayoutId id="2147483744" r:id="rId13"/>
    <p:sldLayoutId id="2147483826" r:id="rId14"/>
    <p:sldLayoutId id="2147483824" r:id="rId15"/>
    <p:sldLayoutId id="2147483793" r:id="rId16"/>
    <p:sldLayoutId id="2147483818" r:id="rId17"/>
    <p:sldLayoutId id="2147483807" r:id="rId18"/>
    <p:sldLayoutId id="2147483810" r:id="rId19"/>
    <p:sldLayoutId id="2147483809" r:id="rId20"/>
    <p:sldLayoutId id="2147483828" r:id="rId21"/>
    <p:sldLayoutId id="2147483811" r:id="rId22"/>
    <p:sldLayoutId id="2147483773" r:id="rId23"/>
  </p:sldLayoutIdLst>
  <p:timing>
    <p:tnLst>
      <p:par>
        <p:cTn id="1" dur="indefinite" restart="never" nodeType="tmRoot"/>
      </p:par>
    </p:tnLst>
  </p:timing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>
              <a:lumMod val="100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49263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System Font Regular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19138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987425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6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1680210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05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25" userDrawn="1">
          <p15:clr>
            <a:srgbClr val="F26B43"/>
          </p15:clr>
        </p15:guide>
        <p15:guide id="2" pos="315" userDrawn="1">
          <p15:clr>
            <a:srgbClr val="F26B43"/>
          </p15:clr>
        </p15:guide>
        <p15:guide id="3" pos="5441" userDrawn="1">
          <p15:clr>
            <a:srgbClr val="F26B43"/>
          </p15:clr>
        </p15:guide>
        <p15:guide id="4" orient="horz" pos="639" userDrawn="1">
          <p15:clr>
            <a:srgbClr val="F26B43"/>
          </p15:clr>
        </p15:guide>
        <p15:guide id="5" orient="horz" pos="2911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94" userDrawn="1">
          <p15:clr>
            <a:srgbClr val="F26B43"/>
          </p15:clr>
        </p15:guide>
        <p15:guide id="8" pos="2971" userDrawn="1">
          <p15:clr>
            <a:srgbClr val="F26B43"/>
          </p15:clr>
        </p15:guide>
        <p15:guide id="9" orient="horz" pos="577" userDrawn="1">
          <p15:clr>
            <a:srgbClr val="F26B43"/>
          </p15:clr>
        </p15:guide>
        <p15:guide id="10" orient="horz" pos="2754" userDrawn="1">
          <p15:clr>
            <a:srgbClr val="F26B43"/>
          </p15:clr>
        </p15:guide>
        <p15:guide id="11" orient="horz" pos="2663" userDrawn="1">
          <p15:clr>
            <a:srgbClr val="F26B43"/>
          </p15:clr>
        </p15:guide>
        <p15:guide id="12" orient="horz" pos="2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A2C23A9-DC7B-A144-81E4-7022EC44C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31840" y="2211710"/>
            <a:ext cx="5976664" cy="1296144"/>
          </a:xfrm>
        </p:spPr>
        <p:txBody>
          <a:bodyPr/>
          <a:lstStyle/>
          <a:p>
            <a:r>
              <a:rPr lang="en-US" dirty="0" smtClean="0"/>
              <a:t>Potential </a:t>
            </a:r>
            <a:r>
              <a:rPr lang="en-US" dirty="0"/>
              <a:t>malaria morbidity and </a:t>
            </a:r>
            <a:r>
              <a:rPr lang="en-US" dirty="0" smtClean="0"/>
              <a:t>mortality </a:t>
            </a:r>
            <a:r>
              <a:rPr lang="en-US" dirty="0"/>
              <a:t>avertable by the President’s Malaria </a:t>
            </a:r>
            <a:r>
              <a:rPr lang="en-US" dirty="0" smtClean="0"/>
              <a:t>Initiative (PMI) </a:t>
            </a:r>
            <a:r>
              <a:rPr lang="en-US" dirty="0"/>
              <a:t>in </a:t>
            </a:r>
            <a:r>
              <a:rPr lang="en-US" dirty="0" smtClean="0"/>
              <a:t>2025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51920" y="4227934"/>
            <a:ext cx="1800200" cy="288032"/>
          </a:xfrm>
        </p:spPr>
        <p:txBody>
          <a:bodyPr/>
          <a:lstStyle/>
          <a:p>
            <a:r>
              <a:rPr lang="en-US" sz="1600" dirty="0" smtClean="0"/>
              <a:t>31</a:t>
            </a:r>
            <a:r>
              <a:rPr lang="en-US" sz="1600" baseline="30000" dirty="0" smtClean="0"/>
              <a:t>st</a:t>
            </a:r>
            <a:r>
              <a:rPr lang="en-US" sz="1600" dirty="0" smtClean="0"/>
              <a:t> </a:t>
            </a:r>
            <a:r>
              <a:rPr lang="en-US" sz="1600" dirty="0" smtClean="0"/>
              <a:t>March, 2025</a:t>
            </a:r>
            <a:endParaRPr lang="en-US" sz="1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67C7BD-25F9-FE4B-A8FA-4B784C147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1920" y="3589934"/>
            <a:ext cx="4785668" cy="349968"/>
          </a:xfrm>
        </p:spPr>
        <p:txBody>
          <a:bodyPr anchor="t" anchorCtr="0"/>
          <a:lstStyle/>
          <a:p>
            <a:r>
              <a:rPr lang="en-US" sz="2000" dirty="0"/>
              <a:t>Zenabu Suboi</a:t>
            </a:r>
          </a:p>
        </p:txBody>
      </p:sp>
    </p:spTree>
    <p:extLst>
      <p:ext uri="{BB962C8B-B14F-4D97-AF65-F5344CB8AC3E}">
        <p14:creationId xmlns:p14="http://schemas.microsoft.com/office/powerpoint/2010/main" val="296001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 smtClean="0"/>
              <a:t>Background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7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987574"/>
            <a:ext cx="5832648" cy="2682166"/>
          </a:xfrm>
          <a:prstGeom prst="rect">
            <a:avLst/>
          </a:prstGeom>
        </p:spPr>
      </p:pic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48264" y="4371950"/>
            <a:ext cx="1584176" cy="216024"/>
          </a:xfrm>
        </p:spPr>
        <p:txBody>
          <a:bodyPr/>
          <a:lstStyle/>
          <a:p>
            <a:r>
              <a:rPr lang="en-GB" sz="1400" dirty="0" smtClean="0"/>
              <a:t>Source: BBC </a:t>
            </a:r>
            <a:r>
              <a:rPr lang="en-GB" sz="1400" dirty="0" smtClean="0"/>
              <a:t>news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7387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1472"/>
            <a:ext cx="3221709" cy="379384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0"/>
            <a:ext cx="8137525" cy="558795"/>
          </a:xfrm>
        </p:spPr>
        <p:txBody>
          <a:bodyPr/>
          <a:lstStyle/>
          <a:p>
            <a:r>
              <a:rPr lang="en-GB" b="1" dirty="0" smtClean="0"/>
              <a:t>Background</a:t>
            </a:r>
            <a:endParaRPr lang="en-GB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059582"/>
            <a:ext cx="2160240" cy="21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89" y="920167"/>
            <a:ext cx="2592288" cy="2582279"/>
          </a:xfrm>
          <a:prstGeom prst="rect">
            <a:avLst/>
          </a:prstGeom>
        </p:spPr>
      </p:pic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098" y="1004907"/>
            <a:ext cx="360040" cy="2232248"/>
          </a:xfrm>
        </p:spPr>
        <p:txBody>
          <a:bodyPr vert="vert270"/>
          <a:lstStyle/>
          <a:p>
            <a:r>
              <a:rPr lang="en-GB" sz="2000" dirty="0" smtClean="0">
                <a:solidFill>
                  <a:srgbClr val="468AB2"/>
                </a:solidFill>
              </a:rPr>
              <a:t>Malaria deaths</a:t>
            </a:r>
            <a:endParaRPr lang="en-GB" sz="2000" dirty="0">
              <a:solidFill>
                <a:srgbClr val="468AB2"/>
              </a:solidFill>
            </a:endParaRP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 txBox="1">
            <a:spLocks/>
          </p:cNvSpPr>
          <p:nvPr/>
        </p:nvSpPr>
        <p:spPr>
          <a:xfrm>
            <a:off x="1763688" y="3723878"/>
            <a:ext cx="648072" cy="3600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smtClean="0">
                <a:solidFill>
                  <a:srgbClr val="468AB2"/>
                </a:solidFill>
              </a:rPr>
              <a:t>Year</a:t>
            </a:r>
            <a:endParaRPr lang="en-GB" sz="2000" dirty="0">
              <a:solidFill>
                <a:srgbClr val="468AB2"/>
              </a:solidFill>
            </a:endParaRPr>
          </a:p>
        </p:txBody>
      </p:sp>
      <p:sp>
        <p:nvSpPr>
          <p:cNvPr id="31" name="Down Arrow 30"/>
          <p:cNvSpPr/>
          <p:nvPr/>
        </p:nvSpPr>
        <p:spPr>
          <a:xfrm rot="19200000">
            <a:off x="2079948" y="1332424"/>
            <a:ext cx="189476" cy="18315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40" name="Group 39"/>
          <p:cNvGrpSpPr/>
          <p:nvPr/>
        </p:nvGrpSpPr>
        <p:grpSpPr>
          <a:xfrm>
            <a:off x="1034724" y="1193142"/>
            <a:ext cx="1377036" cy="2601938"/>
            <a:chOff x="1034724" y="1193142"/>
            <a:chExt cx="1377036" cy="2601938"/>
          </a:xfrm>
        </p:grpSpPr>
        <p:sp>
          <p:nvSpPr>
            <p:cNvPr id="32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034724" y="343504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2000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  <p:sp>
          <p:nvSpPr>
            <p:cNvPr id="37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475655" y="1193142"/>
              <a:ext cx="936105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805’000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3023361" y="2650571"/>
            <a:ext cx="936105" cy="1211915"/>
            <a:chOff x="3023361" y="2650571"/>
            <a:chExt cx="936105" cy="1211915"/>
          </a:xfrm>
        </p:grpSpPr>
        <p:sp>
          <p:nvSpPr>
            <p:cNvPr id="33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113139" y="3502446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2023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  <p:sp>
          <p:nvSpPr>
            <p:cNvPr id="38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023361" y="2650571"/>
              <a:ext cx="936105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569’000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458156" y="435261"/>
            <a:ext cx="4206732" cy="2101029"/>
            <a:chOff x="4458156" y="435261"/>
            <a:chExt cx="4206732" cy="2101029"/>
          </a:xfrm>
        </p:grpSpPr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2120" y="435261"/>
              <a:ext cx="2280934" cy="2101029"/>
            </a:xfrm>
            <a:prstGeom prst="rect">
              <a:avLst/>
            </a:prstGeom>
          </p:spPr>
        </p:pic>
        <p:sp>
          <p:nvSpPr>
            <p:cNvPr id="49" name="Down Arrow 48"/>
            <p:cNvSpPr/>
            <p:nvPr/>
          </p:nvSpPr>
          <p:spPr>
            <a:xfrm rot="14160000">
              <a:off x="5040222" y="1206090"/>
              <a:ext cx="81788" cy="12459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7908338" y="1013122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2002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932655" y="2069235"/>
            <a:ext cx="4118336" cy="2351469"/>
            <a:chOff x="4932655" y="2069235"/>
            <a:chExt cx="4118336" cy="2351469"/>
          </a:xfrm>
        </p:grpSpPr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08104" y="3304267"/>
              <a:ext cx="3256274" cy="1116437"/>
            </a:xfrm>
            <a:prstGeom prst="rect">
              <a:avLst/>
            </a:prstGeom>
          </p:spPr>
        </p:pic>
        <p:sp>
          <p:nvSpPr>
            <p:cNvPr id="48" name="Down Arrow 47"/>
            <p:cNvSpPr/>
            <p:nvPr/>
          </p:nvSpPr>
          <p:spPr>
            <a:xfrm rot="19200000">
              <a:off x="4932655" y="2069235"/>
              <a:ext cx="81788" cy="12459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8294441" y="3010611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dirty="0" smtClean="0">
                  <a:solidFill>
                    <a:srgbClr val="BF3227"/>
                  </a:solidFill>
                </a:rPr>
                <a:t>2005</a:t>
              </a:r>
              <a:endParaRPr lang="en-GB" sz="2000" dirty="0">
                <a:solidFill>
                  <a:srgbClr val="BF3227"/>
                </a:solidFill>
              </a:endParaRPr>
            </a:p>
          </p:txBody>
        </p:sp>
      </p:grpSp>
      <p:sp>
        <p:nvSpPr>
          <p:cNvPr id="54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 smtClean="0"/>
              <a:t>Background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6059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29" y="744719"/>
            <a:ext cx="2720491" cy="932740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121570" y="1827106"/>
            <a:ext cx="1797605" cy="2632117"/>
            <a:chOff x="1121570" y="1827106"/>
            <a:chExt cx="1797605" cy="2632117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1570" y="3044144"/>
              <a:ext cx="1401561" cy="1072800"/>
            </a:xfrm>
            <a:prstGeom prst="rect">
              <a:avLst/>
            </a:prstGeom>
          </p:spPr>
        </p:pic>
        <p:cxnSp>
          <p:nvCxnSpPr>
            <p:cNvPr id="43" name="Straight Arrow Connector 42"/>
            <p:cNvCxnSpPr/>
            <p:nvPr/>
          </p:nvCxnSpPr>
          <p:spPr>
            <a:xfrm flipH="1">
              <a:off x="2127086" y="1827106"/>
              <a:ext cx="792089" cy="110468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7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1551281" y="4099183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 smtClean="0">
                  <a:solidFill>
                    <a:srgbClr val="BF3227"/>
                  </a:solidFill>
                </a:rPr>
                <a:t>ACTs</a:t>
              </a:r>
              <a:endParaRPr lang="en-GB" sz="2000" b="1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109129" y="1827106"/>
            <a:ext cx="1462871" cy="2630994"/>
            <a:chOff x="3109129" y="1827106"/>
            <a:chExt cx="1462871" cy="263099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9129" y="2964929"/>
              <a:ext cx="1462871" cy="1280012"/>
            </a:xfrm>
            <a:prstGeom prst="rect">
              <a:avLst/>
            </a:prstGeom>
          </p:spPr>
        </p:pic>
        <p:cxnSp>
          <p:nvCxnSpPr>
            <p:cNvPr id="46" name="Straight Arrow Connector 45"/>
            <p:cNvCxnSpPr/>
            <p:nvPr/>
          </p:nvCxnSpPr>
          <p:spPr>
            <a:xfrm>
              <a:off x="3825634" y="1827106"/>
              <a:ext cx="29858" cy="1104684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0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3563888" y="409806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 smtClean="0">
                  <a:solidFill>
                    <a:srgbClr val="BF3227"/>
                  </a:solidFill>
                </a:rPr>
                <a:t>ITNs</a:t>
              </a:r>
              <a:endParaRPr lang="en-GB" sz="2000" b="1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076056" y="1846828"/>
            <a:ext cx="1214202" cy="2611272"/>
            <a:chOff x="5076056" y="1846828"/>
            <a:chExt cx="1214202" cy="261127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6056" y="3003798"/>
              <a:ext cx="1214202" cy="1153492"/>
            </a:xfrm>
            <a:prstGeom prst="rect">
              <a:avLst/>
            </a:prstGeom>
          </p:spPr>
        </p:pic>
        <p:cxnSp>
          <p:nvCxnSpPr>
            <p:cNvPr id="47" name="Straight Arrow Connector 46"/>
            <p:cNvCxnSpPr/>
            <p:nvPr/>
          </p:nvCxnSpPr>
          <p:spPr>
            <a:xfrm>
              <a:off x="5372324" y="1846828"/>
              <a:ext cx="63772" cy="111810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1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5507068" y="4098060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 smtClean="0">
                  <a:solidFill>
                    <a:srgbClr val="BF3227"/>
                  </a:solidFill>
                </a:rPr>
                <a:t>IRS</a:t>
              </a:r>
              <a:endParaRPr lang="en-GB" sz="2000" b="1" dirty="0">
                <a:solidFill>
                  <a:srgbClr val="BF3227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5948194" y="1846828"/>
            <a:ext cx="2264357" cy="2609845"/>
            <a:chOff x="5948194" y="1846828"/>
            <a:chExt cx="2264357" cy="2609845"/>
          </a:xfrm>
        </p:grpSpPr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6256" y="3084490"/>
              <a:ext cx="1336295" cy="1072800"/>
            </a:xfrm>
            <a:prstGeom prst="rect">
              <a:avLst/>
            </a:prstGeom>
          </p:spPr>
        </p:pic>
        <p:cxnSp>
          <p:nvCxnSpPr>
            <p:cNvPr id="48" name="Straight Arrow Connector 47"/>
            <p:cNvCxnSpPr/>
            <p:nvPr/>
          </p:nvCxnSpPr>
          <p:spPr>
            <a:xfrm>
              <a:off x="5948194" y="1846828"/>
              <a:ext cx="1000069" cy="938279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2" name="Text Placeholder 10">
              <a:extLst>
                <a:ext uri="{FF2B5EF4-FFF2-40B4-BE49-F238E27FC236}">
                  <a16:creationId xmlns:a16="http://schemas.microsoft.com/office/drawing/2014/main" id="{A2802351-CF37-834F-A66C-251C638645CE}"/>
                </a:ext>
              </a:extLst>
            </p:cNvPr>
            <p:cNvSpPr txBox="1">
              <a:spLocks/>
            </p:cNvSpPr>
            <p:nvPr/>
          </p:nvSpPr>
          <p:spPr>
            <a:xfrm>
              <a:off x="7264168" y="4096633"/>
              <a:ext cx="756550" cy="36004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Arial" panose="020B0604020202020204" pitchFamily="34" charset="0"/>
                <a:buNone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49263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719138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rgbClr val="BF3227"/>
                </a:buClr>
                <a:buSzPct val="125000"/>
                <a:buFont typeface="Wingdings" panose="05000000000000000000" pitchFamily="2" charset="2"/>
                <a:buChar char="§"/>
                <a:defRPr sz="1600" b="0" i="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987425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60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680210" indent="-1714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2"/>
                </a:buClr>
                <a:buSzPct val="125000"/>
                <a:buFont typeface="System Font Regular"/>
                <a:buChar char="-"/>
                <a:defRPr sz="1050" b="0" i="0" kern="1200">
                  <a:solidFill>
                    <a:schemeClr val="accent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000" b="1" dirty="0" smtClean="0">
                  <a:solidFill>
                    <a:srgbClr val="BF3227"/>
                  </a:solidFill>
                </a:rPr>
                <a:t>SMC</a:t>
              </a:r>
              <a:endParaRPr lang="en-GB" sz="2000" b="1" dirty="0">
                <a:solidFill>
                  <a:srgbClr val="BF3227"/>
                </a:solidFill>
              </a:endParaRPr>
            </a:p>
          </p:txBody>
        </p:sp>
      </p:grpSp>
      <p:sp>
        <p:nvSpPr>
          <p:cNvPr id="63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0"/>
            <a:ext cx="8137525" cy="558795"/>
          </a:xfrm>
        </p:spPr>
        <p:txBody>
          <a:bodyPr/>
          <a:lstStyle/>
          <a:p>
            <a:r>
              <a:rPr lang="en-GB" b="1" dirty="0" smtClean="0"/>
              <a:t>Background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0080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802351-CF37-834F-A66C-251C63864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12160" y="1014414"/>
            <a:ext cx="3096344" cy="405208"/>
          </a:xfrm>
        </p:spPr>
        <p:txBody>
          <a:bodyPr/>
          <a:lstStyle/>
          <a:p>
            <a:r>
              <a:rPr lang="en-GB" sz="2400" b="1" dirty="0" smtClean="0"/>
              <a:t>27 African countries </a:t>
            </a:r>
            <a:endParaRPr lang="en-GB" sz="1800" b="1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93" y="51470"/>
            <a:ext cx="8084739" cy="558795"/>
          </a:xfrm>
        </p:spPr>
        <p:txBody>
          <a:bodyPr/>
          <a:lstStyle/>
          <a:p>
            <a:r>
              <a:rPr lang="en-GB" b="1" dirty="0" smtClean="0"/>
              <a:t>Background - PMI </a:t>
            </a:r>
            <a:r>
              <a:rPr lang="en-GB" b="1" dirty="0"/>
              <a:t>focus </a:t>
            </a:r>
            <a:r>
              <a:rPr lang="en-GB" b="1" dirty="0" smtClean="0"/>
              <a:t>countries in Africa</a:t>
            </a:r>
            <a:endParaRPr lang="en-GB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05" y="569875"/>
            <a:ext cx="3814650" cy="4208300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1734494" y="1707654"/>
            <a:ext cx="3602482" cy="2215798"/>
            <a:chOff x="1749253" y="1707654"/>
            <a:chExt cx="3602482" cy="2215798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grpSpPr>
        <p:sp>
          <p:nvSpPr>
            <p:cNvPr id="31" name="Oval 30"/>
            <p:cNvSpPr/>
            <p:nvPr/>
          </p:nvSpPr>
          <p:spPr>
            <a:xfrm>
              <a:off x="2350109" y="1816288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Oval 31"/>
            <p:cNvSpPr/>
            <p:nvPr/>
          </p:nvSpPr>
          <p:spPr>
            <a:xfrm>
              <a:off x="2041795" y="2212839"/>
              <a:ext cx="73949" cy="836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Oval 40"/>
            <p:cNvSpPr/>
            <p:nvPr/>
          </p:nvSpPr>
          <p:spPr>
            <a:xfrm>
              <a:off x="1749253" y="192364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" name="Oval 41"/>
            <p:cNvSpPr/>
            <p:nvPr/>
          </p:nvSpPr>
          <p:spPr>
            <a:xfrm>
              <a:off x="2041796" y="238198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Oval 42"/>
            <p:cNvSpPr/>
            <p:nvPr/>
          </p:nvSpPr>
          <p:spPr>
            <a:xfrm>
              <a:off x="1900980" y="230776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Oval 9"/>
            <p:cNvSpPr/>
            <p:nvPr/>
          </p:nvSpPr>
          <p:spPr>
            <a:xfrm>
              <a:off x="2511507" y="226526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Oval 20"/>
            <p:cNvSpPr/>
            <p:nvPr/>
          </p:nvSpPr>
          <p:spPr>
            <a:xfrm>
              <a:off x="2278101" y="233727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Oval 17"/>
            <p:cNvSpPr/>
            <p:nvPr/>
          </p:nvSpPr>
          <p:spPr>
            <a:xfrm>
              <a:off x="4611793" y="300361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Oval 21"/>
            <p:cNvSpPr/>
            <p:nvPr/>
          </p:nvSpPr>
          <p:spPr>
            <a:xfrm>
              <a:off x="4698871" y="2550120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Oval 12"/>
            <p:cNvSpPr/>
            <p:nvPr/>
          </p:nvSpPr>
          <p:spPr>
            <a:xfrm>
              <a:off x="3951667" y="2913338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Oval 13"/>
            <p:cNvSpPr/>
            <p:nvPr/>
          </p:nvSpPr>
          <p:spPr>
            <a:xfrm>
              <a:off x="3053226" y="221283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Oval 14"/>
            <p:cNvSpPr/>
            <p:nvPr/>
          </p:nvSpPr>
          <p:spPr>
            <a:xfrm>
              <a:off x="3252651" y="276932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Oval 15"/>
            <p:cNvSpPr/>
            <p:nvPr/>
          </p:nvSpPr>
          <p:spPr>
            <a:xfrm>
              <a:off x="3205626" y="2365239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Oval 18"/>
            <p:cNvSpPr/>
            <p:nvPr/>
          </p:nvSpPr>
          <p:spPr>
            <a:xfrm>
              <a:off x="3516402" y="341739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Oval 19"/>
            <p:cNvSpPr/>
            <p:nvPr/>
          </p:nvSpPr>
          <p:spPr>
            <a:xfrm>
              <a:off x="4416731" y="2528007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" name="Oval 22"/>
            <p:cNvSpPr/>
            <p:nvPr/>
          </p:nvSpPr>
          <p:spPr>
            <a:xfrm>
              <a:off x="4809769" y="2142271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Oval 23"/>
            <p:cNvSpPr/>
            <p:nvPr/>
          </p:nvSpPr>
          <p:spPr>
            <a:xfrm>
              <a:off x="4766284" y="3489130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" name="Oval 24"/>
            <p:cNvSpPr/>
            <p:nvPr/>
          </p:nvSpPr>
          <p:spPr>
            <a:xfrm>
              <a:off x="4095683" y="348940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Oval 25"/>
            <p:cNvSpPr/>
            <p:nvPr/>
          </p:nvSpPr>
          <p:spPr>
            <a:xfrm>
              <a:off x="4303400" y="377743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Oval 26"/>
            <p:cNvSpPr/>
            <p:nvPr/>
          </p:nvSpPr>
          <p:spPr>
            <a:xfrm>
              <a:off x="5203837" y="3704425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Oval 34"/>
            <p:cNvSpPr/>
            <p:nvPr/>
          </p:nvSpPr>
          <p:spPr>
            <a:xfrm>
              <a:off x="2748705" y="2156759"/>
              <a:ext cx="66066" cy="574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Oval 35"/>
            <p:cNvSpPr/>
            <p:nvPr/>
          </p:nvSpPr>
          <p:spPr>
            <a:xfrm>
              <a:off x="2498294" y="200602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Oval 36"/>
            <p:cNvSpPr/>
            <p:nvPr/>
          </p:nvSpPr>
          <p:spPr>
            <a:xfrm>
              <a:off x="3507400" y="2625306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Oval 37"/>
            <p:cNvSpPr/>
            <p:nvPr/>
          </p:nvSpPr>
          <p:spPr>
            <a:xfrm>
              <a:off x="3053226" y="1707654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Oval 39"/>
            <p:cNvSpPr/>
            <p:nvPr/>
          </p:nvSpPr>
          <p:spPr>
            <a:xfrm>
              <a:off x="4265833" y="2769322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" name="Oval 43"/>
            <p:cNvSpPr/>
            <p:nvPr/>
          </p:nvSpPr>
          <p:spPr>
            <a:xfrm>
              <a:off x="2701653" y="2356990"/>
              <a:ext cx="97912" cy="1261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Oval 44"/>
            <p:cNvSpPr/>
            <p:nvPr/>
          </p:nvSpPr>
          <p:spPr>
            <a:xfrm>
              <a:off x="4541024" y="3354191"/>
              <a:ext cx="147898" cy="14601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29965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 smtClean="0"/>
              <a:t>Problem</a:t>
            </a:r>
            <a:endParaRPr lang="en-GB" b="1" dirty="0"/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I</a:t>
            </a:r>
            <a:r>
              <a:rPr lang="en-US" sz="2000" b="1" dirty="0" smtClean="0">
                <a:latin typeface="+mn-lt"/>
              </a:rPr>
              <a:t>mmediate </a:t>
            </a:r>
            <a:r>
              <a:rPr lang="en-US" sz="2000" dirty="0">
                <a:latin typeface="+mn-lt"/>
              </a:rPr>
              <a:t>and</a:t>
            </a:r>
            <a:r>
              <a:rPr lang="en-US" sz="2000" b="1" dirty="0">
                <a:latin typeface="+mn-lt"/>
              </a:rPr>
              <a:t> longer-term future </a:t>
            </a:r>
            <a:r>
              <a:rPr lang="en-US" sz="2000" dirty="0">
                <a:latin typeface="+mn-lt"/>
              </a:rPr>
              <a:t>of </a:t>
            </a:r>
            <a:r>
              <a:rPr lang="en-US" sz="2000" b="1" dirty="0">
                <a:latin typeface="+mn-lt"/>
              </a:rPr>
              <a:t>PMI </a:t>
            </a:r>
            <a:r>
              <a:rPr lang="en-US" sz="2000" dirty="0">
                <a:latin typeface="+mn-lt"/>
              </a:rPr>
              <a:t>is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b="1" dirty="0" smtClean="0">
                <a:latin typeface="+mn-lt"/>
              </a:rPr>
              <a:t>uncertain</a:t>
            </a:r>
            <a:endParaRPr lang="en-US" sz="20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213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 smtClean="0"/>
              <a:t>Problem</a:t>
            </a:r>
            <a:endParaRPr lang="en-GB" b="1" dirty="0"/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176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I</a:t>
            </a:r>
            <a:r>
              <a:rPr lang="en-US" sz="2000" b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mmediate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and longer-term future of PMI is </a:t>
            </a:r>
            <a:r>
              <a:rPr lang="en-US" sz="2000" b="1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uncertain</a:t>
            </a:r>
            <a:endParaRPr lang="en-US" sz="2000" dirty="0" smtClean="0">
              <a:solidFill>
                <a:schemeClr val="bg2">
                  <a:lumMod val="20000"/>
                  <a:lumOff val="8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+mn-lt"/>
              </a:rPr>
              <a:t>presence </a:t>
            </a:r>
            <a:r>
              <a:rPr lang="en-US" sz="2000" b="1" dirty="0">
                <a:latin typeface="+mn-lt"/>
              </a:rPr>
              <a:t>or absence </a:t>
            </a:r>
            <a:r>
              <a:rPr lang="en-US" sz="2000" dirty="0">
                <a:latin typeface="+mn-lt"/>
              </a:rPr>
              <a:t>of</a:t>
            </a:r>
            <a:r>
              <a:rPr lang="en-US" sz="2000" b="1" dirty="0">
                <a:latin typeface="+mn-lt"/>
              </a:rPr>
              <a:t> PMI financing </a:t>
            </a:r>
            <a:r>
              <a:rPr lang="en-US" sz="2000" dirty="0" smtClean="0">
                <a:latin typeface="+mn-lt"/>
              </a:rPr>
              <a:t>has </a:t>
            </a:r>
            <a:r>
              <a:rPr lang="en-US" sz="2000" dirty="0">
                <a:latin typeface="+mn-lt"/>
              </a:rPr>
              <a:t>the </a:t>
            </a:r>
            <a:r>
              <a:rPr lang="en-US" sz="2000" b="1" dirty="0">
                <a:latin typeface="+mn-lt"/>
              </a:rPr>
              <a:t>potential </a:t>
            </a:r>
            <a:r>
              <a:rPr lang="en-US" sz="2000" dirty="0" smtClean="0">
                <a:latin typeface="+mn-lt"/>
              </a:rPr>
              <a:t>to </a:t>
            </a:r>
            <a:r>
              <a:rPr lang="en-US" sz="2000" b="1" dirty="0">
                <a:latin typeface="+mn-lt"/>
              </a:rPr>
              <a:t>significantly impact </a:t>
            </a:r>
            <a:r>
              <a:rPr lang="en-US" sz="2000" dirty="0">
                <a:latin typeface="+mn-lt"/>
              </a:rPr>
              <a:t>total</a:t>
            </a:r>
            <a:r>
              <a:rPr lang="en-US" sz="2000" b="1" dirty="0">
                <a:latin typeface="+mn-lt"/>
              </a:rPr>
              <a:t> malaria burden </a:t>
            </a:r>
            <a:r>
              <a:rPr lang="en-US" sz="2000" dirty="0">
                <a:latin typeface="+mn-lt"/>
              </a:rPr>
              <a:t>in Africa. </a:t>
            </a:r>
            <a:endParaRPr lang="en-US" sz="2000" dirty="0" smtClean="0">
              <a:latin typeface="+mn-lt"/>
            </a:endParaRPr>
          </a:p>
          <a:p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90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 smtClean="0"/>
              <a:t>Problem</a:t>
            </a:r>
            <a:endParaRPr lang="en-GB" b="1" dirty="0"/>
          </a:p>
        </p:txBody>
      </p:sp>
      <p:sp>
        <p:nvSpPr>
          <p:cNvPr id="2" name="Rectangle 1"/>
          <p:cNvSpPr/>
          <p:nvPr/>
        </p:nvSpPr>
        <p:spPr>
          <a:xfrm>
            <a:off x="500106" y="816575"/>
            <a:ext cx="864389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Immediate and longer-term future of PMI is uncertain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presence or absence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of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PMI financing </a:t>
            </a:r>
            <a:r>
              <a:rPr lang="en-US" sz="2000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has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potential to significantly impact total malaria burden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in Africa. </a:t>
            </a:r>
            <a:endParaRPr lang="en-US" sz="2000" b="1" dirty="0" smtClean="0">
              <a:solidFill>
                <a:schemeClr val="bg2">
                  <a:lumMod val="20000"/>
                  <a:lumOff val="80000"/>
                </a:schemeClr>
              </a:solidFill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+mn-lt"/>
              </a:rPr>
              <a:t>Estimates </a:t>
            </a:r>
            <a:r>
              <a:rPr lang="en-US" sz="2000" dirty="0">
                <a:latin typeface="+mn-lt"/>
              </a:rPr>
              <a:t>of the </a:t>
            </a:r>
            <a:r>
              <a:rPr lang="en-US" sz="2000" b="1" dirty="0">
                <a:latin typeface="+mn-lt"/>
              </a:rPr>
              <a:t>overall potential impact </a:t>
            </a:r>
            <a:r>
              <a:rPr lang="en-US" sz="2000" dirty="0" smtClean="0">
                <a:latin typeface="+mn-lt"/>
              </a:rPr>
              <a:t>of</a:t>
            </a:r>
            <a:r>
              <a:rPr lang="en-US" sz="2000" b="1" dirty="0" smtClean="0"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PMI in </a:t>
            </a:r>
            <a:r>
              <a:rPr lang="en-US" sz="2000" b="1" dirty="0" smtClean="0">
                <a:latin typeface="+mn-lt"/>
              </a:rPr>
              <a:t>2025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smtClean="0">
                <a:latin typeface="+mn-lt"/>
              </a:rPr>
              <a:t>can </a:t>
            </a:r>
            <a:r>
              <a:rPr lang="en-US" sz="2000" dirty="0">
                <a:latin typeface="+mn-lt"/>
              </a:rPr>
              <a:t>help </a:t>
            </a:r>
            <a:r>
              <a:rPr lang="en-US" sz="2000" b="1" dirty="0">
                <a:latin typeface="+mn-lt"/>
              </a:rPr>
              <a:t>inform </a:t>
            </a:r>
            <a:r>
              <a:rPr lang="en-US" sz="2000" dirty="0">
                <a:latin typeface="+mn-lt"/>
              </a:rPr>
              <a:t>ongoing</a:t>
            </a:r>
            <a:r>
              <a:rPr lang="en-US" sz="2000" b="1" dirty="0">
                <a:latin typeface="+mn-lt"/>
              </a:rPr>
              <a:t> decision </a:t>
            </a:r>
            <a:r>
              <a:rPr lang="en-US" sz="2000" b="1" dirty="0" smtClean="0">
                <a:latin typeface="+mn-lt"/>
              </a:rPr>
              <a:t>making</a:t>
            </a:r>
            <a:r>
              <a:rPr lang="en-US" sz="2000" dirty="0" smtClean="0">
                <a:latin typeface="+mn-lt"/>
              </a:rPr>
              <a:t>.</a:t>
            </a:r>
            <a:endParaRPr lang="de-CH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557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 smtClean="0"/>
              <a:t>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44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51470"/>
            <a:ext cx="8137525" cy="558795"/>
          </a:xfrm>
        </p:spPr>
        <p:txBody>
          <a:bodyPr/>
          <a:lstStyle/>
          <a:p>
            <a:r>
              <a:rPr lang="en-GB" b="1" dirty="0" smtClean="0"/>
              <a:t>Methods</a:t>
            </a:r>
            <a:endParaRPr lang="en-GB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607" y="957315"/>
            <a:ext cx="1191103" cy="12527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018" y="1034085"/>
            <a:ext cx="1402877" cy="11759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264" y="1034085"/>
            <a:ext cx="1156341" cy="11759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995699"/>
            <a:ext cx="1210955" cy="1252712"/>
          </a:xfrm>
          <a:prstGeom prst="rect">
            <a:avLst/>
          </a:prstGeom>
        </p:spPr>
      </p:pic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7048" y="1895287"/>
            <a:ext cx="1216082" cy="504056"/>
          </a:xfrm>
        </p:spPr>
        <p:txBody>
          <a:bodyPr/>
          <a:lstStyle/>
          <a:p>
            <a:pPr lvl="0"/>
            <a:r>
              <a:rPr lang="en-GB" sz="2400" b="1" dirty="0" smtClean="0">
                <a:solidFill>
                  <a:srgbClr val="BF3227"/>
                </a:solidFill>
              </a:rPr>
              <a:t>Stage </a:t>
            </a:r>
            <a:r>
              <a:rPr lang="en-GB" sz="2400" b="1" dirty="0">
                <a:solidFill>
                  <a:srgbClr val="BF3227"/>
                </a:solidFill>
              </a:rPr>
              <a:t>1</a:t>
            </a:r>
            <a:endParaRPr lang="en-GB" sz="2400" b="1" dirty="0">
              <a:solidFill>
                <a:srgbClr val="BF3227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970" y="2386102"/>
            <a:ext cx="7344816" cy="114239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94641" y="998420"/>
            <a:ext cx="1743397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tangle 18"/>
          <p:cNvSpPr/>
          <p:nvPr/>
        </p:nvSpPr>
        <p:spPr>
          <a:xfrm>
            <a:off x="3147046" y="998420"/>
            <a:ext cx="1803168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tangle 19"/>
          <p:cNvSpPr/>
          <p:nvPr/>
        </p:nvSpPr>
        <p:spPr>
          <a:xfrm>
            <a:off x="5007607" y="1008341"/>
            <a:ext cx="1796641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tangle 20"/>
          <p:cNvSpPr/>
          <p:nvPr/>
        </p:nvSpPr>
        <p:spPr>
          <a:xfrm>
            <a:off x="6891085" y="1061958"/>
            <a:ext cx="1823708" cy="2612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212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 smtClean="0"/>
              <a:t>Methods</a:t>
            </a:r>
            <a:endParaRPr lang="en-GB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15566"/>
            <a:ext cx="7267575" cy="2867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99592" y="2111104"/>
            <a:ext cx="7267575" cy="715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/>
          <p:cNvSpPr/>
          <p:nvPr/>
        </p:nvSpPr>
        <p:spPr>
          <a:xfrm>
            <a:off x="899592" y="2786777"/>
            <a:ext cx="7282780" cy="1188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73" y="1916992"/>
            <a:ext cx="1216082" cy="504056"/>
          </a:xfrm>
        </p:spPr>
        <p:txBody>
          <a:bodyPr/>
          <a:lstStyle/>
          <a:p>
            <a:pPr lvl="0"/>
            <a:r>
              <a:rPr lang="en-GB" sz="2400" b="1" dirty="0" smtClean="0">
                <a:solidFill>
                  <a:srgbClr val="BF3227"/>
                </a:solidFill>
              </a:rPr>
              <a:t>Stage </a:t>
            </a:r>
            <a:r>
              <a:rPr lang="en-GB" sz="2400" b="1" dirty="0" smtClean="0">
                <a:solidFill>
                  <a:srgbClr val="BF3227"/>
                </a:solidFill>
              </a:rPr>
              <a:t>2</a:t>
            </a:r>
            <a:endParaRPr lang="en-GB" sz="2400" b="1" dirty="0">
              <a:solidFill>
                <a:srgbClr val="BF3227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51" y="3723878"/>
            <a:ext cx="935874" cy="9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-5237"/>
            <a:ext cx="8137525" cy="558795"/>
          </a:xfrm>
        </p:spPr>
        <p:txBody>
          <a:bodyPr/>
          <a:lstStyle/>
          <a:p>
            <a:r>
              <a:rPr lang="en-GB" b="1" dirty="0" smtClean="0"/>
              <a:t>Methods</a:t>
            </a:r>
            <a:endParaRPr lang="en-GB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5486"/>
            <a:ext cx="5835749" cy="43950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11760" y="843558"/>
            <a:ext cx="5763741" cy="144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tangle 5"/>
          <p:cNvSpPr/>
          <p:nvPr/>
        </p:nvSpPr>
        <p:spPr>
          <a:xfrm>
            <a:off x="2375755" y="2283718"/>
            <a:ext cx="5763741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/>
          <p:cNvSpPr/>
          <p:nvPr/>
        </p:nvSpPr>
        <p:spPr>
          <a:xfrm>
            <a:off x="2375755" y="3404470"/>
            <a:ext cx="3492390" cy="1393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1253231"/>
            <a:ext cx="1512168" cy="504056"/>
          </a:xfrm>
        </p:spPr>
        <p:txBody>
          <a:bodyPr/>
          <a:lstStyle/>
          <a:p>
            <a:pPr lvl="0"/>
            <a:r>
              <a:rPr lang="en-GB" sz="2400" b="1" dirty="0" smtClean="0">
                <a:solidFill>
                  <a:srgbClr val="BF3227"/>
                </a:solidFill>
              </a:rPr>
              <a:t>Stage </a:t>
            </a:r>
            <a:r>
              <a:rPr lang="en-GB" sz="2400" b="1" dirty="0">
                <a:solidFill>
                  <a:srgbClr val="BF3227"/>
                </a:solidFill>
              </a:rPr>
              <a:t>3</a:t>
            </a:r>
            <a:endParaRPr lang="en-GB" sz="2400" b="1" dirty="0">
              <a:solidFill>
                <a:srgbClr val="BF3227"/>
              </a:solidFill>
            </a:endParaRP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2404586"/>
            <a:ext cx="1512168" cy="504056"/>
          </a:xfrm>
        </p:spPr>
        <p:txBody>
          <a:bodyPr/>
          <a:lstStyle/>
          <a:p>
            <a:pPr lvl="0"/>
            <a:r>
              <a:rPr lang="en-GB" sz="2400" b="1" dirty="0" smtClean="0">
                <a:solidFill>
                  <a:srgbClr val="BF3227"/>
                </a:solidFill>
              </a:rPr>
              <a:t>Stage </a:t>
            </a:r>
            <a:r>
              <a:rPr lang="en-GB" sz="2400" b="1" dirty="0" smtClean="0">
                <a:solidFill>
                  <a:srgbClr val="BF3227"/>
                </a:solidFill>
              </a:rPr>
              <a:t>4</a:t>
            </a:r>
            <a:endParaRPr lang="en-GB" sz="2400" b="1" dirty="0">
              <a:solidFill>
                <a:srgbClr val="BF3227"/>
              </a:solidFill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3099" y="3421168"/>
            <a:ext cx="1512168" cy="504056"/>
          </a:xfrm>
        </p:spPr>
        <p:txBody>
          <a:bodyPr/>
          <a:lstStyle/>
          <a:p>
            <a:pPr lvl="0"/>
            <a:r>
              <a:rPr lang="en-GB" sz="2400" b="1" dirty="0" smtClean="0">
                <a:solidFill>
                  <a:srgbClr val="BF3227"/>
                </a:solidFill>
              </a:rPr>
              <a:t>Stage </a:t>
            </a:r>
            <a:r>
              <a:rPr lang="en-GB" sz="2400" b="1" dirty="0" smtClean="0">
                <a:solidFill>
                  <a:srgbClr val="BF3227"/>
                </a:solidFill>
              </a:rPr>
              <a:t>5</a:t>
            </a:r>
            <a:endParaRPr lang="en-GB" sz="2400" b="1" dirty="0">
              <a:solidFill>
                <a:srgbClr val="BF3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1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build="p"/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 smtClean="0"/>
              <a:t>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0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51470"/>
            <a:ext cx="8137525" cy="558795"/>
          </a:xfrm>
        </p:spPr>
        <p:txBody>
          <a:bodyPr/>
          <a:lstStyle/>
          <a:p>
            <a:r>
              <a:rPr lang="en-US" dirty="0" smtClean="0"/>
              <a:t>Results - Monthly malaria cases </a:t>
            </a:r>
            <a:r>
              <a:rPr lang="en-US" dirty="0"/>
              <a:t>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771550"/>
            <a:ext cx="5836325" cy="39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8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2111"/>
            <a:ext cx="8137525" cy="558795"/>
          </a:xfrm>
        </p:spPr>
        <p:txBody>
          <a:bodyPr/>
          <a:lstStyle/>
          <a:p>
            <a:r>
              <a:rPr lang="en-US" dirty="0"/>
              <a:t>Results - </a:t>
            </a:r>
            <a:r>
              <a:rPr lang="en-US" dirty="0" smtClean="0"/>
              <a:t>Monthly malaria deaths - </a:t>
            </a:r>
            <a:r>
              <a:rPr lang="en-US" dirty="0"/>
              <a:t>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547664" y="915566"/>
            <a:ext cx="5161647" cy="3384376"/>
            <a:chOff x="1547664" y="915566"/>
            <a:chExt cx="5161647" cy="338437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7664" y="915566"/>
              <a:ext cx="5161647" cy="3384376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9752" y="1203598"/>
              <a:ext cx="1162050" cy="676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725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30612"/>
            <a:ext cx="8569086" cy="558795"/>
          </a:xfrm>
        </p:spPr>
        <p:txBody>
          <a:bodyPr/>
          <a:lstStyle/>
          <a:p>
            <a:r>
              <a:rPr lang="en-US" dirty="0"/>
              <a:t>Results - </a:t>
            </a:r>
            <a:r>
              <a:rPr lang="en-US" dirty="0" smtClean="0"/>
              <a:t>Monthly malaria cases averted </a:t>
            </a:r>
            <a:r>
              <a:rPr lang="en-US" dirty="0"/>
              <a:t>by </a:t>
            </a:r>
            <a:r>
              <a:rPr lang="en-US" dirty="0" smtClean="0"/>
              <a:t>PMI 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697998"/>
            <a:ext cx="5400600" cy="3597078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2411761" y="2198748"/>
            <a:ext cx="4646584" cy="1785921"/>
          </a:xfrm>
          <a:custGeom>
            <a:avLst/>
            <a:gdLst>
              <a:gd name="connsiteX0" fmla="*/ 188464 w 4467298"/>
              <a:gd name="connsiteY0" fmla="*/ 1409991 h 1772959"/>
              <a:gd name="connsiteX1" fmla="*/ 935341 w 4467298"/>
              <a:gd name="connsiteY1" fmla="*/ 1005142 h 1772959"/>
              <a:gd name="connsiteX2" fmla="*/ 2038205 w 4467298"/>
              <a:gd name="connsiteY2" fmla="*/ 725936 h 1772959"/>
              <a:gd name="connsiteX3" fmla="*/ 2938644 w 4467298"/>
              <a:gd name="connsiteY3" fmla="*/ 663115 h 1772959"/>
              <a:gd name="connsiteX4" fmla="*/ 4069429 w 4467298"/>
              <a:gd name="connsiteY4" fmla="*/ 0 h 1772959"/>
              <a:gd name="connsiteX5" fmla="*/ 4446357 w 4467298"/>
              <a:gd name="connsiteY5" fmla="*/ 160544 h 1772959"/>
              <a:gd name="connsiteX6" fmla="*/ 4467298 w 4467298"/>
              <a:gd name="connsiteY6" fmla="*/ 1151726 h 1772959"/>
              <a:gd name="connsiteX7" fmla="*/ 0 w 4467298"/>
              <a:gd name="connsiteY7" fmla="*/ 1772959 h 1772959"/>
              <a:gd name="connsiteX8" fmla="*/ 6980 w 4467298"/>
              <a:gd name="connsiteY8" fmla="*/ 1423951 h 1772959"/>
              <a:gd name="connsiteX9" fmla="*/ 188464 w 4467298"/>
              <a:gd name="connsiteY9" fmla="*/ 1409991 h 1772959"/>
              <a:gd name="connsiteX0" fmla="*/ 188464 w 4467298"/>
              <a:gd name="connsiteY0" fmla="*/ 1409991 h 1772959"/>
              <a:gd name="connsiteX1" fmla="*/ 935341 w 4467298"/>
              <a:gd name="connsiteY1" fmla="*/ 1005142 h 1772959"/>
              <a:gd name="connsiteX2" fmla="*/ 2038205 w 4467298"/>
              <a:gd name="connsiteY2" fmla="*/ 725936 h 1772959"/>
              <a:gd name="connsiteX3" fmla="*/ 2938644 w 4467298"/>
              <a:gd name="connsiteY3" fmla="*/ 663115 h 1772959"/>
              <a:gd name="connsiteX4" fmla="*/ 4069429 w 4467298"/>
              <a:gd name="connsiteY4" fmla="*/ 0 h 1772959"/>
              <a:gd name="connsiteX5" fmla="*/ 4446357 w 4467298"/>
              <a:gd name="connsiteY5" fmla="*/ 160544 h 1772959"/>
              <a:gd name="connsiteX6" fmla="*/ 4467298 w 4467298"/>
              <a:gd name="connsiteY6" fmla="*/ 1151726 h 1772959"/>
              <a:gd name="connsiteX7" fmla="*/ 3786815 w 4467298"/>
              <a:gd name="connsiteY7" fmla="*/ 1089902 h 1772959"/>
              <a:gd name="connsiteX8" fmla="*/ 0 w 4467298"/>
              <a:gd name="connsiteY8" fmla="*/ 1772959 h 1772959"/>
              <a:gd name="connsiteX9" fmla="*/ 6980 w 4467298"/>
              <a:gd name="connsiteY9" fmla="*/ 1423951 h 1772959"/>
              <a:gd name="connsiteX10" fmla="*/ 188464 w 4467298"/>
              <a:gd name="connsiteY10" fmla="*/ 1409991 h 1772959"/>
              <a:gd name="connsiteX0" fmla="*/ 188464 w 4612817"/>
              <a:gd name="connsiteY0" fmla="*/ 1409991 h 1772959"/>
              <a:gd name="connsiteX1" fmla="*/ 935341 w 4612817"/>
              <a:gd name="connsiteY1" fmla="*/ 1005142 h 1772959"/>
              <a:gd name="connsiteX2" fmla="*/ 2038205 w 4612817"/>
              <a:gd name="connsiteY2" fmla="*/ 725936 h 1772959"/>
              <a:gd name="connsiteX3" fmla="*/ 2938644 w 4612817"/>
              <a:gd name="connsiteY3" fmla="*/ 663115 h 1772959"/>
              <a:gd name="connsiteX4" fmla="*/ 4069429 w 4612817"/>
              <a:gd name="connsiteY4" fmla="*/ 0 h 1772959"/>
              <a:gd name="connsiteX5" fmla="*/ 4446357 w 4612817"/>
              <a:gd name="connsiteY5" fmla="*/ 160544 h 1772959"/>
              <a:gd name="connsiteX6" fmla="*/ 4612817 w 4612817"/>
              <a:gd name="connsiteY6" fmla="*/ 1102865 h 1772959"/>
              <a:gd name="connsiteX7" fmla="*/ 3786815 w 4612817"/>
              <a:gd name="connsiteY7" fmla="*/ 1089902 h 1772959"/>
              <a:gd name="connsiteX8" fmla="*/ 0 w 4612817"/>
              <a:gd name="connsiteY8" fmla="*/ 1772959 h 1772959"/>
              <a:gd name="connsiteX9" fmla="*/ 6980 w 4612817"/>
              <a:gd name="connsiteY9" fmla="*/ 1423951 h 1772959"/>
              <a:gd name="connsiteX10" fmla="*/ 188464 w 4612817"/>
              <a:gd name="connsiteY10" fmla="*/ 1409991 h 1772959"/>
              <a:gd name="connsiteX0" fmla="*/ 188464 w 4612817"/>
              <a:gd name="connsiteY0" fmla="*/ 1409991 h 1772959"/>
              <a:gd name="connsiteX1" fmla="*/ 935341 w 4612817"/>
              <a:gd name="connsiteY1" fmla="*/ 1005142 h 1772959"/>
              <a:gd name="connsiteX2" fmla="*/ 2038205 w 4612817"/>
              <a:gd name="connsiteY2" fmla="*/ 725936 h 1772959"/>
              <a:gd name="connsiteX3" fmla="*/ 2938644 w 4612817"/>
              <a:gd name="connsiteY3" fmla="*/ 663115 h 1772959"/>
              <a:gd name="connsiteX4" fmla="*/ 4069429 w 4612817"/>
              <a:gd name="connsiteY4" fmla="*/ 0 h 1772959"/>
              <a:gd name="connsiteX5" fmla="*/ 4571087 w 4612817"/>
              <a:gd name="connsiteY5" fmla="*/ 69802 h 1772959"/>
              <a:gd name="connsiteX6" fmla="*/ 4612817 w 4612817"/>
              <a:gd name="connsiteY6" fmla="*/ 1102865 h 1772959"/>
              <a:gd name="connsiteX7" fmla="*/ 3786815 w 4612817"/>
              <a:gd name="connsiteY7" fmla="*/ 1089902 h 1772959"/>
              <a:gd name="connsiteX8" fmla="*/ 0 w 4612817"/>
              <a:gd name="connsiteY8" fmla="*/ 1772959 h 1772959"/>
              <a:gd name="connsiteX9" fmla="*/ 6980 w 4612817"/>
              <a:gd name="connsiteY9" fmla="*/ 1423951 h 1772959"/>
              <a:gd name="connsiteX10" fmla="*/ 188464 w 4612817"/>
              <a:gd name="connsiteY10" fmla="*/ 1409991 h 1772959"/>
              <a:gd name="connsiteX0" fmla="*/ 188464 w 4612817"/>
              <a:gd name="connsiteY0" fmla="*/ 1409991 h 1772959"/>
              <a:gd name="connsiteX1" fmla="*/ 744797 w 4612817"/>
              <a:gd name="connsiteY1" fmla="*/ 1299307 h 1772959"/>
              <a:gd name="connsiteX2" fmla="*/ 935341 w 4612817"/>
              <a:gd name="connsiteY2" fmla="*/ 1005142 h 1772959"/>
              <a:gd name="connsiteX3" fmla="*/ 2038205 w 4612817"/>
              <a:gd name="connsiteY3" fmla="*/ 725936 h 1772959"/>
              <a:gd name="connsiteX4" fmla="*/ 2938644 w 4612817"/>
              <a:gd name="connsiteY4" fmla="*/ 663115 h 1772959"/>
              <a:gd name="connsiteX5" fmla="*/ 4069429 w 4612817"/>
              <a:gd name="connsiteY5" fmla="*/ 0 h 1772959"/>
              <a:gd name="connsiteX6" fmla="*/ 4571087 w 4612817"/>
              <a:gd name="connsiteY6" fmla="*/ 69802 h 1772959"/>
              <a:gd name="connsiteX7" fmla="*/ 4612817 w 4612817"/>
              <a:gd name="connsiteY7" fmla="*/ 1102865 h 1772959"/>
              <a:gd name="connsiteX8" fmla="*/ 3786815 w 4612817"/>
              <a:gd name="connsiteY8" fmla="*/ 1089902 h 1772959"/>
              <a:gd name="connsiteX9" fmla="*/ 0 w 4612817"/>
              <a:gd name="connsiteY9" fmla="*/ 1772959 h 1772959"/>
              <a:gd name="connsiteX10" fmla="*/ 6980 w 4612817"/>
              <a:gd name="connsiteY10" fmla="*/ 1423951 h 1772959"/>
              <a:gd name="connsiteX11" fmla="*/ 188464 w 4612817"/>
              <a:gd name="connsiteY11" fmla="*/ 1409991 h 1772959"/>
              <a:gd name="connsiteX0" fmla="*/ 188464 w 4612817"/>
              <a:gd name="connsiteY0" fmla="*/ 1409991 h 1772959"/>
              <a:gd name="connsiteX1" fmla="*/ 744797 w 4612817"/>
              <a:gd name="connsiteY1" fmla="*/ 1299307 h 1772959"/>
              <a:gd name="connsiteX2" fmla="*/ 803682 w 4612817"/>
              <a:gd name="connsiteY2" fmla="*/ 970242 h 1772959"/>
              <a:gd name="connsiteX3" fmla="*/ 2038205 w 4612817"/>
              <a:gd name="connsiteY3" fmla="*/ 725936 h 1772959"/>
              <a:gd name="connsiteX4" fmla="*/ 2938644 w 4612817"/>
              <a:gd name="connsiteY4" fmla="*/ 663115 h 1772959"/>
              <a:gd name="connsiteX5" fmla="*/ 4069429 w 4612817"/>
              <a:gd name="connsiteY5" fmla="*/ 0 h 1772959"/>
              <a:gd name="connsiteX6" fmla="*/ 4571087 w 4612817"/>
              <a:gd name="connsiteY6" fmla="*/ 69802 h 1772959"/>
              <a:gd name="connsiteX7" fmla="*/ 4612817 w 4612817"/>
              <a:gd name="connsiteY7" fmla="*/ 1102865 h 1772959"/>
              <a:gd name="connsiteX8" fmla="*/ 3786815 w 4612817"/>
              <a:gd name="connsiteY8" fmla="*/ 1089902 h 1772959"/>
              <a:gd name="connsiteX9" fmla="*/ 0 w 4612817"/>
              <a:gd name="connsiteY9" fmla="*/ 1772959 h 1772959"/>
              <a:gd name="connsiteX10" fmla="*/ 6980 w 4612817"/>
              <a:gd name="connsiteY10" fmla="*/ 1423951 h 1772959"/>
              <a:gd name="connsiteX11" fmla="*/ 188464 w 4612817"/>
              <a:gd name="connsiteY11" fmla="*/ 1409991 h 1772959"/>
              <a:gd name="connsiteX0" fmla="*/ 188464 w 4612817"/>
              <a:gd name="connsiteY0" fmla="*/ 1486772 h 1849740"/>
              <a:gd name="connsiteX1" fmla="*/ 744797 w 4612817"/>
              <a:gd name="connsiteY1" fmla="*/ 1376088 h 1849740"/>
              <a:gd name="connsiteX2" fmla="*/ 803682 w 4612817"/>
              <a:gd name="connsiteY2" fmla="*/ 1047023 h 1849740"/>
              <a:gd name="connsiteX3" fmla="*/ 2038205 w 4612817"/>
              <a:gd name="connsiteY3" fmla="*/ 802717 h 1849740"/>
              <a:gd name="connsiteX4" fmla="*/ 2938644 w 4612817"/>
              <a:gd name="connsiteY4" fmla="*/ 739896 h 1849740"/>
              <a:gd name="connsiteX5" fmla="*/ 4069429 w 4612817"/>
              <a:gd name="connsiteY5" fmla="*/ 76781 h 1849740"/>
              <a:gd name="connsiteX6" fmla="*/ 4598806 w 4612817"/>
              <a:gd name="connsiteY6" fmla="*/ 0 h 1849740"/>
              <a:gd name="connsiteX7" fmla="*/ 4612817 w 4612817"/>
              <a:gd name="connsiteY7" fmla="*/ 1179646 h 1849740"/>
              <a:gd name="connsiteX8" fmla="*/ 3786815 w 4612817"/>
              <a:gd name="connsiteY8" fmla="*/ 1166683 h 1849740"/>
              <a:gd name="connsiteX9" fmla="*/ 0 w 4612817"/>
              <a:gd name="connsiteY9" fmla="*/ 1849740 h 1849740"/>
              <a:gd name="connsiteX10" fmla="*/ 6980 w 4612817"/>
              <a:gd name="connsiteY10" fmla="*/ 1500732 h 1849740"/>
              <a:gd name="connsiteX11" fmla="*/ 188464 w 4612817"/>
              <a:gd name="connsiteY11" fmla="*/ 1486772 h 1849740"/>
              <a:gd name="connsiteX0" fmla="*/ 188464 w 4619594"/>
              <a:gd name="connsiteY0" fmla="*/ 1486772 h 1849740"/>
              <a:gd name="connsiteX1" fmla="*/ 744797 w 4619594"/>
              <a:gd name="connsiteY1" fmla="*/ 1376088 h 1849740"/>
              <a:gd name="connsiteX2" fmla="*/ 803682 w 4619594"/>
              <a:gd name="connsiteY2" fmla="*/ 1047023 h 1849740"/>
              <a:gd name="connsiteX3" fmla="*/ 2038205 w 4619594"/>
              <a:gd name="connsiteY3" fmla="*/ 802717 h 1849740"/>
              <a:gd name="connsiteX4" fmla="*/ 2938644 w 4619594"/>
              <a:gd name="connsiteY4" fmla="*/ 739896 h 1849740"/>
              <a:gd name="connsiteX5" fmla="*/ 4069429 w 4619594"/>
              <a:gd name="connsiteY5" fmla="*/ 76781 h 1849740"/>
              <a:gd name="connsiteX6" fmla="*/ 4619594 w 4619594"/>
              <a:gd name="connsiteY6" fmla="*/ 0 h 1849740"/>
              <a:gd name="connsiteX7" fmla="*/ 4612817 w 4619594"/>
              <a:gd name="connsiteY7" fmla="*/ 1179646 h 1849740"/>
              <a:gd name="connsiteX8" fmla="*/ 3786815 w 4619594"/>
              <a:gd name="connsiteY8" fmla="*/ 1166683 h 1849740"/>
              <a:gd name="connsiteX9" fmla="*/ 0 w 4619594"/>
              <a:gd name="connsiteY9" fmla="*/ 1849740 h 1849740"/>
              <a:gd name="connsiteX10" fmla="*/ 6980 w 4619594"/>
              <a:gd name="connsiteY10" fmla="*/ 1500732 h 1849740"/>
              <a:gd name="connsiteX11" fmla="*/ 188464 w 4619594"/>
              <a:gd name="connsiteY11" fmla="*/ 1486772 h 1849740"/>
              <a:gd name="connsiteX0" fmla="*/ 188464 w 4640383"/>
              <a:gd name="connsiteY0" fmla="*/ 1409991 h 1772959"/>
              <a:gd name="connsiteX1" fmla="*/ 744797 w 4640383"/>
              <a:gd name="connsiteY1" fmla="*/ 1299307 h 1772959"/>
              <a:gd name="connsiteX2" fmla="*/ 803682 w 4640383"/>
              <a:gd name="connsiteY2" fmla="*/ 970242 h 1772959"/>
              <a:gd name="connsiteX3" fmla="*/ 2038205 w 4640383"/>
              <a:gd name="connsiteY3" fmla="*/ 725936 h 1772959"/>
              <a:gd name="connsiteX4" fmla="*/ 2938644 w 4640383"/>
              <a:gd name="connsiteY4" fmla="*/ 663115 h 1772959"/>
              <a:gd name="connsiteX5" fmla="*/ 4069429 w 4640383"/>
              <a:gd name="connsiteY5" fmla="*/ 0 h 1772959"/>
              <a:gd name="connsiteX6" fmla="*/ 4640383 w 4640383"/>
              <a:gd name="connsiteY6" fmla="*/ 1 h 1772959"/>
              <a:gd name="connsiteX7" fmla="*/ 4612817 w 4640383"/>
              <a:gd name="connsiteY7" fmla="*/ 1102865 h 1772959"/>
              <a:gd name="connsiteX8" fmla="*/ 3786815 w 4640383"/>
              <a:gd name="connsiteY8" fmla="*/ 1089902 h 1772959"/>
              <a:gd name="connsiteX9" fmla="*/ 0 w 4640383"/>
              <a:gd name="connsiteY9" fmla="*/ 1772959 h 1772959"/>
              <a:gd name="connsiteX10" fmla="*/ 6980 w 4640383"/>
              <a:gd name="connsiteY10" fmla="*/ 1423951 h 1772959"/>
              <a:gd name="connsiteX11" fmla="*/ 188464 w 4640383"/>
              <a:gd name="connsiteY11" fmla="*/ 1409991 h 1772959"/>
              <a:gd name="connsiteX0" fmla="*/ 188464 w 4640383"/>
              <a:gd name="connsiteY0" fmla="*/ 1422953 h 1785921"/>
              <a:gd name="connsiteX1" fmla="*/ 744797 w 4640383"/>
              <a:gd name="connsiteY1" fmla="*/ 1312269 h 1785921"/>
              <a:gd name="connsiteX2" fmla="*/ 803682 w 4640383"/>
              <a:gd name="connsiteY2" fmla="*/ 983204 h 1785921"/>
              <a:gd name="connsiteX3" fmla="*/ 2038205 w 4640383"/>
              <a:gd name="connsiteY3" fmla="*/ 738898 h 1785921"/>
              <a:gd name="connsiteX4" fmla="*/ 2938644 w 4640383"/>
              <a:gd name="connsiteY4" fmla="*/ 676077 h 1785921"/>
              <a:gd name="connsiteX5" fmla="*/ 3696732 w 4640383"/>
              <a:gd name="connsiteY5" fmla="*/ 0 h 1785921"/>
              <a:gd name="connsiteX6" fmla="*/ 4069429 w 4640383"/>
              <a:gd name="connsiteY6" fmla="*/ 12962 h 1785921"/>
              <a:gd name="connsiteX7" fmla="*/ 4640383 w 4640383"/>
              <a:gd name="connsiteY7" fmla="*/ 12963 h 1785921"/>
              <a:gd name="connsiteX8" fmla="*/ 4612817 w 4640383"/>
              <a:gd name="connsiteY8" fmla="*/ 1115827 h 1785921"/>
              <a:gd name="connsiteX9" fmla="*/ 3786815 w 4640383"/>
              <a:gd name="connsiteY9" fmla="*/ 1102864 h 1785921"/>
              <a:gd name="connsiteX10" fmla="*/ 0 w 4640383"/>
              <a:gd name="connsiteY10" fmla="*/ 1785921 h 1785921"/>
              <a:gd name="connsiteX11" fmla="*/ 6980 w 4640383"/>
              <a:gd name="connsiteY11" fmla="*/ 1436913 h 1785921"/>
              <a:gd name="connsiteX12" fmla="*/ 188464 w 4640383"/>
              <a:gd name="connsiteY12" fmla="*/ 1422953 h 1785921"/>
              <a:gd name="connsiteX0" fmla="*/ 188464 w 4640383"/>
              <a:gd name="connsiteY0" fmla="*/ 1422953 h 1785921"/>
              <a:gd name="connsiteX1" fmla="*/ 744797 w 4640383"/>
              <a:gd name="connsiteY1" fmla="*/ 1312269 h 1785921"/>
              <a:gd name="connsiteX2" fmla="*/ 803682 w 4640383"/>
              <a:gd name="connsiteY2" fmla="*/ 983204 h 1785921"/>
              <a:gd name="connsiteX3" fmla="*/ 2038205 w 4640383"/>
              <a:gd name="connsiteY3" fmla="*/ 738898 h 1785921"/>
              <a:gd name="connsiteX4" fmla="*/ 2938644 w 4640383"/>
              <a:gd name="connsiteY4" fmla="*/ 676077 h 1785921"/>
              <a:gd name="connsiteX5" fmla="*/ 3772956 w 4640383"/>
              <a:gd name="connsiteY5" fmla="*/ 0 h 1785921"/>
              <a:gd name="connsiteX6" fmla="*/ 4069429 w 4640383"/>
              <a:gd name="connsiteY6" fmla="*/ 12962 h 1785921"/>
              <a:gd name="connsiteX7" fmla="*/ 4640383 w 4640383"/>
              <a:gd name="connsiteY7" fmla="*/ 12963 h 1785921"/>
              <a:gd name="connsiteX8" fmla="*/ 4612817 w 4640383"/>
              <a:gd name="connsiteY8" fmla="*/ 1115827 h 1785921"/>
              <a:gd name="connsiteX9" fmla="*/ 3786815 w 4640383"/>
              <a:gd name="connsiteY9" fmla="*/ 1102864 h 1785921"/>
              <a:gd name="connsiteX10" fmla="*/ 0 w 4640383"/>
              <a:gd name="connsiteY10" fmla="*/ 1785921 h 1785921"/>
              <a:gd name="connsiteX11" fmla="*/ 6980 w 4640383"/>
              <a:gd name="connsiteY11" fmla="*/ 1436913 h 1785921"/>
              <a:gd name="connsiteX12" fmla="*/ 188464 w 4640383"/>
              <a:gd name="connsiteY12" fmla="*/ 1422953 h 1785921"/>
              <a:gd name="connsiteX0" fmla="*/ 188464 w 4612817"/>
              <a:gd name="connsiteY0" fmla="*/ 1422953 h 1785921"/>
              <a:gd name="connsiteX1" fmla="*/ 744797 w 4612817"/>
              <a:gd name="connsiteY1" fmla="*/ 1312269 h 1785921"/>
              <a:gd name="connsiteX2" fmla="*/ 803682 w 4612817"/>
              <a:gd name="connsiteY2" fmla="*/ 983204 h 1785921"/>
              <a:gd name="connsiteX3" fmla="*/ 2038205 w 4612817"/>
              <a:gd name="connsiteY3" fmla="*/ 738898 h 1785921"/>
              <a:gd name="connsiteX4" fmla="*/ 2938644 w 4612817"/>
              <a:gd name="connsiteY4" fmla="*/ 676077 h 1785921"/>
              <a:gd name="connsiteX5" fmla="*/ 3772956 w 4612817"/>
              <a:gd name="connsiteY5" fmla="*/ 0 h 1785921"/>
              <a:gd name="connsiteX6" fmla="*/ 4069429 w 4612817"/>
              <a:gd name="connsiteY6" fmla="*/ 12962 h 1785921"/>
              <a:gd name="connsiteX7" fmla="*/ 4598806 w 4612817"/>
              <a:gd name="connsiteY7" fmla="*/ 26924 h 1785921"/>
              <a:gd name="connsiteX8" fmla="*/ 4612817 w 4612817"/>
              <a:gd name="connsiteY8" fmla="*/ 1115827 h 1785921"/>
              <a:gd name="connsiteX9" fmla="*/ 3786815 w 4612817"/>
              <a:gd name="connsiteY9" fmla="*/ 1102864 h 1785921"/>
              <a:gd name="connsiteX10" fmla="*/ 0 w 4612817"/>
              <a:gd name="connsiteY10" fmla="*/ 1785921 h 1785921"/>
              <a:gd name="connsiteX11" fmla="*/ 6980 w 4612817"/>
              <a:gd name="connsiteY11" fmla="*/ 1436913 h 1785921"/>
              <a:gd name="connsiteX12" fmla="*/ 188464 w 4612817"/>
              <a:gd name="connsiteY12" fmla="*/ 1422953 h 1785921"/>
              <a:gd name="connsiteX0" fmla="*/ 188464 w 4612817"/>
              <a:gd name="connsiteY0" fmla="*/ 1422953 h 1785921"/>
              <a:gd name="connsiteX1" fmla="*/ 744797 w 4612817"/>
              <a:gd name="connsiteY1" fmla="*/ 1312269 h 1785921"/>
              <a:gd name="connsiteX2" fmla="*/ 803682 w 4612817"/>
              <a:gd name="connsiteY2" fmla="*/ 983204 h 1785921"/>
              <a:gd name="connsiteX3" fmla="*/ 2038205 w 4612817"/>
              <a:gd name="connsiteY3" fmla="*/ 738898 h 1785921"/>
              <a:gd name="connsiteX4" fmla="*/ 2938644 w 4612817"/>
              <a:gd name="connsiteY4" fmla="*/ 676077 h 1785921"/>
              <a:gd name="connsiteX5" fmla="*/ 3772956 w 4612817"/>
              <a:gd name="connsiteY5" fmla="*/ 0 h 1785921"/>
              <a:gd name="connsiteX6" fmla="*/ 4069429 w 4612817"/>
              <a:gd name="connsiteY6" fmla="*/ 12962 h 1785921"/>
              <a:gd name="connsiteX7" fmla="*/ 4598806 w 4612817"/>
              <a:gd name="connsiteY7" fmla="*/ 26924 h 1785921"/>
              <a:gd name="connsiteX8" fmla="*/ 4612817 w 4612817"/>
              <a:gd name="connsiteY8" fmla="*/ 1115827 h 1785921"/>
              <a:gd name="connsiteX9" fmla="*/ 3786815 w 4612817"/>
              <a:gd name="connsiteY9" fmla="*/ 1102864 h 1785921"/>
              <a:gd name="connsiteX10" fmla="*/ 2338564 w 4612817"/>
              <a:gd name="connsiteY10" fmla="*/ 1451872 h 1785921"/>
              <a:gd name="connsiteX11" fmla="*/ 0 w 4612817"/>
              <a:gd name="connsiteY11" fmla="*/ 1785921 h 1785921"/>
              <a:gd name="connsiteX12" fmla="*/ 6980 w 4612817"/>
              <a:gd name="connsiteY12" fmla="*/ 1436913 h 1785921"/>
              <a:gd name="connsiteX13" fmla="*/ 188464 w 4612817"/>
              <a:gd name="connsiteY13" fmla="*/ 1422953 h 178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12817" h="1785921">
                <a:moveTo>
                  <a:pt x="188464" y="1422953"/>
                </a:moveTo>
                <a:cubicBezTo>
                  <a:pt x="360049" y="1327890"/>
                  <a:pt x="573212" y="1407332"/>
                  <a:pt x="744797" y="1312269"/>
                </a:cubicBezTo>
                <a:lnTo>
                  <a:pt x="803682" y="983204"/>
                </a:lnTo>
                <a:lnTo>
                  <a:pt x="2038205" y="738898"/>
                </a:lnTo>
                <a:lnTo>
                  <a:pt x="2938644" y="676077"/>
                </a:lnTo>
                <a:cubicBezTo>
                  <a:pt x="3207509" y="511213"/>
                  <a:pt x="3504091" y="164864"/>
                  <a:pt x="3772956" y="0"/>
                </a:cubicBezTo>
                <a:lnTo>
                  <a:pt x="4069429" y="12962"/>
                </a:lnTo>
                <a:lnTo>
                  <a:pt x="4598806" y="26924"/>
                </a:lnTo>
                <a:lnTo>
                  <a:pt x="4612817" y="1115827"/>
                </a:lnTo>
                <a:cubicBezTo>
                  <a:pt x="4406778" y="1146407"/>
                  <a:pt x="3992854" y="1072284"/>
                  <a:pt x="3786815" y="1102864"/>
                </a:cubicBezTo>
                <a:cubicBezTo>
                  <a:pt x="3299445" y="1193606"/>
                  <a:pt x="2825934" y="1361130"/>
                  <a:pt x="2338564" y="1451872"/>
                </a:cubicBezTo>
                <a:lnTo>
                  <a:pt x="0" y="1785921"/>
                </a:lnTo>
                <a:lnTo>
                  <a:pt x="6980" y="1436913"/>
                </a:lnTo>
                <a:lnTo>
                  <a:pt x="188464" y="1422953"/>
                </a:lnTo>
                <a:close/>
              </a:path>
            </a:pathLst>
          </a:cu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990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0"/>
            <a:ext cx="8137525" cy="558795"/>
          </a:xfrm>
        </p:spPr>
        <p:txBody>
          <a:bodyPr/>
          <a:lstStyle/>
          <a:p>
            <a:r>
              <a:rPr lang="en-US" dirty="0" smtClean="0"/>
              <a:t>Results - </a:t>
            </a:r>
            <a:r>
              <a:rPr lang="en-US" dirty="0"/>
              <a:t>Monthly malaria </a:t>
            </a:r>
            <a:r>
              <a:rPr lang="en-US" dirty="0" smtClean="0"/>
              <a:t>deaths </a:t>
            </a:r>
            <a:r>
              <a:rPr lang="en-US" dirty="0"/>
              <a:t>averted by PMI </a:t>
            </a:r>
            <a:r>
              <a:rPr lang="en-US" dirty="0" smtClean="0"/>
              <a:t>- </a:t>
            </a:r>
            <a:r>
              <a:rPr lang="en-US" dirty="0"/>
              <a:t>(2025)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68569" y="843558"/>
            <a:ext cx="5400600" cy="3593745"/>
            <a:chOff x="1868569" y="843558"/>
            <a:chExt cx="5400600" cy="359374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8569" y="843558"/>
              <a:ext cx="5400600" cy="359374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4521" y="1275606"/>
              <a:ext cx="1804348" cy="860301"/>
            </a:xfrm>
            <a:prstGeom prst="rect">
              <a:avLst/>
            </a:prstGeom>
          </p:spPr>
        </p:pic>
      </p:grpSp>
      <p:sp>
        <p:nvSpPr>
          <p:cNvPr id="4" name="Freeform 3"/>
          <p:cNvSpPr/>
          <p:nvPr/>
        </p:nvSpPr>
        <p:spPr>
          <a:xfrm>
            <a:off x="2687359" y="2443053"/>
            <a:ext cx="4599920" cy="1661277"/>
          </a:xfrm>
          <a:custGeom>
            <a:avLst/>
            <a:gdLst>
              <a:gd name="connsiteX0" fmla="*/ 0 w 4599920"/>
              <a:gd name="connsiteY0" fmla="*/ 1165686 h 1661277"/>
              <a:gd name="connsiteX1" fmla="*/ 732916 w 4599920"/>
              <a:gd name="connsiteY1" fmla="*/ 1165686 h 1661277"/>
              <a:gd name="connsiteX2" fmla="*/ 788757 w 4599920"/>
              <a:gd name="connsiteY2" fmla="*/ 704996 h 1661277"/>
              <a:gd name="connsiteX3" fmla="*/ 1123804 w 4599920"/>
              <a:gd name="connsiteY3" fmla="*/ 753857 h 1661277"/>
              <a:gd name="connsiteX4" fmla="*/ 1165685 w 4599920"/>
              <a:gd name="connsiteY4" fmla="*/ 565393 h 1661277"/>
              <a:gd name="connsiteX5" fmla="*/ 2240629 w 4599920"/>
              <a:gd name="connsiteY5" fmla="*/ 481631 h 1661277"/>
              <a:gd name="connsiteX6" fmla="*/ 2296470 w 4599920"/>
              <a:gd name="connsiteY6" fmla="*/ 537472 h 1661277"/>
              <a:gd name="connsiteX7" fmla="*/ 2966565 w 4599920"/>
              <a:gd name="connsiteY7" fmla="*/ 502571 h 1661277"/>
              <a:gd name="connsiteX8" fmla="*/ 3043346 w 4599920"/>
              <a:gd name="connsiteY8" fmla="*/ 355988 h 1661277"/>
              <a:gd name="connsiteX9" fmla="*/ 3350473 w 4599920"/>
              <a:gd name="connsiteY9" fmla="*/ 328068 h 1661277"/>
              <a:gd name="connsiteX10" fmla="*/ 3413294 w 4599920"/>
              <a:gd name="connsiteY10" fmla="*/ 111683 h 1661277"/>
              <a:gd name="connsiteX11" fmla="*/ 3720421 w 4599920"/>
              <a:gd name="connsiteY11" fmla="*/ 104703 h 1661277"/>
              <a:gd name="connsiteX12" fmla="*/ 3790223 w 4599920"/>
              <a:gd name="connsiteY12" fmla="*/ 20941 h 1661277"/>
              <a:gd name="connsiteX13" fmla="*/ 4111310 w 4599920"/>
              <a:gd name="connsiteY13" fmla="*/ 0 h 1661277"/>
              <a:gd name="connsiteX14" fmla="*/ 4167151 w 4599920"/>
              <a:gd name="connsiteY14" fmla="*/ 181484 h 1661277"/>
              <a:gd name="connsiteX15" fmla="*/ 4599920 w 4599920"/>
              <a:gd name="connsiteY15" fmla="*/ 174504 h 1661277"/>
              <a:gd name="connsiteX16" fmla="*/ 4592940 w 4599920"/>
              <a:gd name="connsiteY16" fmla="*/ 1479793 h 1661277"/>
              <a:gd name="connsiteX17" fmla="*/ 34901 w 4599920"/>
              <a:gd name="connsiteY17" fmla="*/ 1661277 h 1661277"/>
              <a:gd name="connsiteX18" fmla="*/ 0 w 4599920"/>
              <a:gd name="connsiteY18" fmla="*/ 1165686 h 166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99920" h="1661277">
                <a:moveTo>
                  <a:pt x="0" y="1165686"/>
                </a:moveTo>
                <a:lnTo>
                  <a:pt x="732916" y="1165686"/>
                </a:lnTo>
                <a:lnTo>
                  <a:pt x="788757" y="704996"/>
                </a:lnTo>
                <a:lnTo>
                  <a:pt x="1123804" y="753857"/>
                </a:lnTo>
                <a:lnTo>
                  <a:pt x="1165685" y="565393"/>
                </a:lnTo>
                <a:lnTo>
                  <a:pt x="2240629" y="481631"/>
                </a:lnTo>
                <a:lnTo>
                  <a:pt x="2296470" y="537472"/>
                </a:lnTo>
                <a:lnTo>
                  <a:pt x="2966565" y="502571"/>
                </a:lnTo>
                <a:lnTo>
                  <a:pt x="3043346" y="355988"/>
                </a:lnTo>
                <a:lnTo>
                  <a:pt x="3350473" y="328068"/>
                </a:lnTo>
                <a:lnTo>
                  <a:pt x="3413294" y="111683"/>
                </a:lnTo>
                <a:lnTo>
                  <a:pt x="3720421" y="104703"/>
                </a:lnTo>
                <a:lnTo>
                  <a:pt x="3790223" y="20941"/>
                </a:lnTo>
                <a:lnTo>
                  <a:pt x="4111310" y="0"/>
                </a:lnTo>
                <a:lnTo>
                  <a:pt x="4167151" y="181484"/>
                </a:lnTo>
                <a:lnTo>
                  <a:pt x="4599920" y="174504"/>
                </a:lnTo>
                <a:cubicBezTo>
                  <a:pt x="4597593" y="609600"/>
                  <a:pt x="4595267" y="1044697"/>
                  <a:pt x="4592940" y="1479793"/>
                </a:cubicBezTo>
                <a:lnTo>
                  <a:pt x="34901" y="1661277"/>
                </a:lnTo>
                <a:lnTo>
                  <a:pt x="0" y="1165686"/>
                </a:lnTo>
                <a:close/>
              </a:path>
            </a:pathLst>
          </a:cu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33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 smtClean="0"/>
              <a:t>Conclusion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05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2585"/>
            <a:ext cx="8137525" cy="558795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0107" y="915566"/>
            <a:ext cx="84643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+mn-lt"/>
              </a:rPr>
              <a:t>PMI </a:t>
            </a:r>
            <a:r>
              <a:rPr lang="en-US" sz="2000" b="1" dirty="0">
                <a:latin typeface="+mn-lt"/>
              </a:rPr>
              <a:t>support </a:t>
            </a:r>
            <a:r>
              <a:rPr lang="en-US" sz="2000" b="1" dirty="0" smtClean="0">
                <a:latin typeface="+mn-lt"/>
              </a:rPr>
              <a:t>is critical</a:t>
            </a:r>
            <a:endParaRPr lang="en-US" sz="20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066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2585"/>
            <a:ext cx="8137525" cy="558795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0107" y="915566"/>
            <a:ext cx="84643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PMI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support </a:t>
            </a:r>
            <a:r>
              <a:rPr lang="en-US" sz="20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+mn-lt"/>
              </a:rPr>
              <a:t>is critical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+mn-lt"/>
              </a:rPr>
              <a:t>PMI</a:t>
            </a:r>
            <a:r>
              <a:rPr lang="en-US" sz="2000" dirty="0" smtClean="0">
                <a:latin typeface="+mn-lt"/>
              </a:rPr>
              <a:t> saves </a:t>
            </a:r>
            <a:r>
              <a:rPr lang="en-US" sz="2000" dirty="0">
                <a:latin typeface="+mn-lt"/>
              </a:rPr>
              <a:t>around </a:t>
            </a:r>
            <a:r>
              <a:rPr lang="en-US" sz="2000" b="1" dirty="0">
                <a:latin typeface="+mn-lt"/>
              </a:rPr>
              <a:t>15M malaria cases </a:t>
            </a:r>
            <a:endParaRPr lang="en-US" sz="2000" b="1" dirty="0" smtClean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averts </a:t>
            </a:r>
            <a:r>
              <a:rPr lang="en-US" sz="2000" dirty="0">
                <a:latin typeface="+mn-lt"/>
              </a:rPr>
              <a:t>around </a:t>
            </a:r>
            <a:r>
              <a:rPr lang="en-US" sz="2000" b="1" dirty="0" smtClean="0">
                <a:latin typeface="+mn-lt"/>
              </a:rPr>
              <a:t>100,000 </a:t>
            </a:r>
            <a:r>
              <a:rPr lang="en-US" sz="2000" b="1" dirty="0">
                <a:latin typeface="+mn-lt"/>
              </a:rPr>
              <a:t>malaria </a:t>
            </a:r>
            <a:r>
              <a:rPr lang="en-US" sz="2000" b="1" dirty="0" smtClean="0">
                <a:latin typeface="+mn-lt"/>
              </a:rPr>
              <a:t>deaths</a:t>
            </a:r>
            <a:endParaRPr lang="de-CH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60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A2A118-A717-0947-B00C-1D3AAA34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07" y="132585"/>
            <a:ext cx="8137525" cy="558795"/>
          </a:xfrm>
        </p:spPr>
        <p:txBody>
          <a:bodyPr/>
          <a:lstStyle/>
          <a:p>
            <a:r>
              <a:rPr lang="en-US" dirty="0" smtClean="0"/>
              <a:t>Take home message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9" y="311635"/>
            <a:ext cx="1578042" cy="1632457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10862" y="1873863"/>
            <a:ext cx="1131900" cy="50374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GB" sz="2400" b="1" dirty="0" smtClean="0">
                <a:solidFill>
                  <a:srgbClr val="BF3227"/>
                </a:solidFill>
              </a:rPr>
              <a:t>ACTs</a:t>
            </a:r>
            <a:endParaRPr lang="en-GB" sz="2400" b="1" dirty="0">
              <a:solidFill>
                <a:srgbClr val="BF3227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90048" y="1011830"/>
            <a:ext cx="2505422" cy="2300239"/>
            <a:chOff x="473677" y="843558"/>
            <a:chExt cx="2505422" cy="230023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677" y="843558"/>
              <a:ext cx="2505422" cy="115212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074" y="2147864"/>
              <a:ext cx="2382025" cy="995933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3165583" y="2163958"/>
            <a:ext cx="2397231" cy="2211111"/>
            <a:chOff x="3393471" y="1764955"/>
            <a:chExt cx="2397231" cy="221111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7944" y="2161950"/>
              <a:ext cx="1722758" cy="1814116"/>
            </a:xfrm>
            <a:prstGeom prst="rect">
              <a:avLst/>
            </a:prstGeom>
          </p:spPr>
        </p:pic>
        <p:sp>
          <p:nvSpPr>
            <p:cNvPr id="12" name="Down Arrow 11"/>
            <p:cNvSpPr/>
            <p:nvPr/>
          </p:nvSpPr>
          <p:spPr>
            <a:xfrm rot="19200000">
              <a:off x="3393471" y="1764955"/>
              <a:ext cx="163991" cy="937881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14" name="Down Arrow 13"/>
          <p:cNvSpPr/>
          <p:nvPr/>
        </p:nvSpPr>
        <p:spPr>
          <a:xfrm rot="13560000">
            <a:off x="5998684" y="2129607"/>
            <a:ext cx="137311" cy="102184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249" y="2377607"/>
            <a:ext cx="1499989" cy="14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5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0C325-7ACD-8B41-8EB5-F9572D6E947F}"/>
              </a:ext>
            </a:extLst>
          </p:cNvPr>
          <p:cNvSpPr txBox="1"/>
          <p:nvPr/>
        </p:nvSpPr>
        <p:spPr>
          <a:xfrm>
            <a:off x="500063" y="2606238"/>
            <a:ext cx="3927921" cy="542845"/>
          </a:xfrm>
          <a:prstGeom prst="rect">
            <a:avLst/>
          </a:prstGeom>
        </p:spPr>
        <p:txBody>
          <a:bodyPr vert="horz" wrap="none" lIns="0" tIns="45720" rIns="91440" bIns="45720" rtlCol="0">
            <a:noAutofit/>
          </a:bodyPr>
          <a:lstStyle/>
          <a:p>
            <a:pPr marL="0" indent="0" algn="l">
              <a:buNone/>
            </a:pPr>
            <a:endParaRPr lang="en-US" sz="2400" b="0" i="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62F6-E45C-4B36-922E-D0C1B0B5A3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062" y="2673719"/>
            <a:ext cx="8137525" cy="618111"/>
          </a:xfrm>
        </p:spPr>
        <p:txBody>
          <a:bodyPr anchor="ctr" anchorCtr="0"/>
          <a:lstStyle/>
          <a:p>
            <a:r>
              <a:rPr lang="en-US" dirty="0">
                <a:solidFill>
                  <a:schemeClr val="accent1">
                    <a:lumMod val="100000"/>
                  </a:schemeClr>
                </a:solidFill>
              </a:rPr>
              <a:t>Thank you for your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00061" y="3728481"/>
            <a:ext cx="8137525" cy="643469"/>
          </a:xfrm>
        </p:spPr>
        <p:txBody>
          <a:bodyPr/>
          <a:lstStyle/>
          <a:p>
            <a:r>
              <a:rPr lang="en-US" b="1" dirty="0" smtClean="0"/>
              <a:t>Reference:</a:t>
            </a:r>
          </a:p>
          <a:p>
            <a:r>
              <a:rPr lang="en-US" dirty="0" smtClean="0"/>
              <a:t>Symons</a:t>
            </a:r>
            <a:r>
              <a:rPr lang="en-US" dirty="0"/>
              <a:t>, </a:t>
            </a:r>
            <a:r>
              <a:rPr lang="en-US" dirty="0" err="1"/>
              <a:t>Tasmin</a:t>
            </a:r>
            <a:r>
              <a:rPr lang="en-US" dirty="0"/>
              <a:t> L., et al. "Estimating the potential malaria morbidity and mortality avertable by the President's Malaria Initiative in 2025: a geospatial modelling analysis." </a:t>
            </a:r>
            <a:r>
              <a:rPr lang="en-US" i="1" dirty="0" err="1"/>
              <a:t>medRxiv</a:t>
            </a:r>
            <a:r>
              <a:rPr lang="en-US" dirty="0"/>
              <a:t> (2025): 2025-02.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00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vert="horz" wrap="square" lIns="91440" tIns="45720" rIns="91440" bIns="45720" rtlCol="0">
        <a:noAutofit/>
      </a:bodyPr>
      <a:lstStyle>
        <a:defPPr marL="0" indent="0" algn="l">
          <a:buNone/>
          <a:defRPr sz="1600" b="0" dirty="0" smtClean="0">
            <a:solidFill>
              <a:schemeClr val="accent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16x9 Swiss TPH.potx" id="{20373BB4-0324-4F16-A9B5-2460B8191979}" vid="{F2F1BD85-56D1-46D2-AF66-9996211A2EE6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16x9 Swiss TPH</Template>
  <TotalTime>0</TotalTime>
  <Words>259</Words>
  <Application>Microsoft Office PowerPoint</Application>
  <PresentationFormat>On-screen Show (16:9)</PresentationFormat>
  <Paragraphs>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Helvetica Neue</vt:lpstr>
      <vt:lpstr>Simplon Norm</vt:lpstr>
      <vt:lpstr>System Font Regular</vt:lpstr>
      <vt:lpstr>Wingdings</vt:lpstr>
      <vt:lpstr>Custom Design</vt:lpstr>
      <vt:lpstr>PowerPoint Presentation</vt:lpstr>
      <vt:lpstr>PowerPoint Presentation</vt:lpstr>
      <vt:lpstr>PowerPoint Presentation</vt:lpstr>
      <vt:lpstr>Background</vt:lpstr>
      <vt:lpstr>Background</vt:lpstr>
      <vt:lpstr>Background</vt:lpstr>
      <vt:lpstr>Background - PMI focus countries in Africa</vt:lpstr>
      <vt:lpstr>Problem</vt:lpstr>
      <vt:lpstr>Problem</vt:lpstr>
      <vt:lpstr>Problem</vt:lpstr>
      <vt:lpstr>PowerPoint Presentation</vt:lpstr>
      <vt:lpstr>Methods</vt:lpstr>
      <vt:lpstr>Methods</vt:lpstr>
      <vt:lpstr>Methods</vt:lpstr>
      <vt:lpstr>PowerPoint Presentation</vt:lpstr>
      <vt:lpstr>Results - Monthly malaria cases (2025)</vt:lpstr>
      <vt:lpstr>Results - Monthly malaria deaths - (2025)</vt:lpstr>
      <vt:lpstr>Results - Monthly malaria cases averted by PMI (2025)</vt:lpstr>
      <vt:lpstr>Results - Monthly malaria deaths averted by PMI - (2025)</vt:lpstr>
      <vt:lpstr>PowerPoint Presentation</vt:lpstr>
      <vt:lpstr>Conclusion</vt:lpstr>
      <vt:lpstr>Conclusion</vt:lpstr>
      <vt:lpstr>Take home message</vt:lpstr>
      <vt:lpstr>PowerPoint Presentation</vt:lpstr>
    </vt:vector>
  </TitlesOfParts>
  <Company>Swiss TPH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Zenabu Suboi</dc:creator>
  <cp:lastModifiedBy>Zenabu Suboi</cp:lastModifiedBy>
  <cp:revision>164</cp:revision>
  <cp:lastPrinted>2019-06-11T17:14:57Z</cp:lastPrinted>
  <dcterms:created xsi:type="dcterms:W3CDTF">2025-03-21T12:26:28Z</dcterms:created>
  <dcterms:modified xsi:type="dcterms:W3CDTF">2025-03-31T08:14:35Z</dcterms:modified>
</cp:coreProperties>
</file>