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notesMasterIdLst>
    <p:notesMasterId r:id="rId10"/>
  </p:notesMasterIdLst>
  <p:sldIdLst>
    <p:sldId id="555" r:id="rId3"/>
    <p:sldId id="2092" r:id="rId4"/>
    <p:sldId id="2098" r:id="rId5"/>
    <p:sldId id="2094" r:id="rId6"/>
    <p:sldId id="2096" r:id="rId7"/>
    <p:sldId id="2097" r:id="rId8"/>
    <p:sldId id="2093" r:id="rId9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3227"/>
    <a:srgbClr val="468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F8BC3-122F-46F5-BD21-CF126C42E188}" type="datetimeFigureOut">
              <a:rPr lang="en-CH" smtClean="0"/>
              <a:t>28.08.2025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6B0B4-0B0F-4AD8-920A-572CBDD8FF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00937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Malaria is endemic in Ghana, contributing majorly to most outpatient consultations </a:t>
            </a:r>
          </a:p>
          <a:p>
            <a:pPr defTabSz="485055">
              <a:lnSpc>
                <a:spcPct val="150000"/>
              </a:lnSpc>
            </a:pPr>
            <a:r>
              <a:rPr lang="en-US" sz="1200" b="1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Peak transmission:</a:t>
            </a:r>
          </a:p>
          <a:p>
            <a:pPr marL="457200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July-November (Northern Ghana)</a:t>
            </a:r>
          </a:p>
          <a:p>
            <a:pPr marL="457200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May-July and October-November (Southern Ghana)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B0B4-0B0F-4AD8-920A-572CBDD8FFF8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99643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CEBC-6ADE-4C1D-3394-D40ACFFD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E263E-A948-5CF4-6D77-A52F04C95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0E4DB-6663-8454-4FAF-A2CDC289E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Malaria is endemic in Ghana, contributing majorly to most outpatient consultations </a:t>
            </a:r>
          </a:p>
          <a:p>
            <a:pPr defTabSz="485055">
              <a:lnSpc>
                <a:spcPct val="150000"/>
              </a:lnSpc>
            </a:pPr>
            <a:r>
              <a:rPr lang="en-US" sz="1200" b="1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Peak transmission:</a:t>
            </a:r>
          </a:p>
          <a:p>
            <a:pPr marL="457200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July-November (Northern Ghana)</a:t>
            </a:r>
          </a:p>
          <a:p>
            <a:pPr marL="457200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May-July and October-November (Southern Ghana)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26F61-F5AE-AFEF-8AA7-F184419E1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B0B4-0B0F-4AD8-920A-572CBDD8FFF8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6677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What are the inputs of our model that need to be well estimated to increase credibility in our model outputs?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B0B4-0B0F-4AD8-920A-572CBDD8FFF8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9194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GSA method to use enables us to identify the inputs that matter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requires a large number of input samples to reliably identify the inputs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OM simulations are expensive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B0B4-0B0F-4AD8-920A-572CBDD8FFF8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52970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B0B4-0B0F-4AD8-920A-572CBDD8FFF8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4993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96FE-C8FA-56EE-22A9-50A3F834F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676A1-6279-ECC6-2A49-2BA321FD9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5C6C9-5724-F721-A287-D77CED13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1B0F7-4ADD-6813-28E7-DB649AD5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701D-72A7-0615-4A1A-11E7E026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373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F666-E91D-5E1B-B5F4-1FD3E0C5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1D77B-7288-C99B-2067-F32C1A596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C901-15CF-41EB-FD17-D68D074D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018C5-0B9C-6498-92BF-EF411BCC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6D34-1AC6-D960-542E-1ECBD3D4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47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DE20-2660-19F1-3846-A309BD119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0C11-454E-16BA-86D5-4CDB6503E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B2F76-177C-B241-A51B-3F5BBC0A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4D84F-149C-6A9D-3DDC-BC0FF223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B6603-6510-ED56-08C2-74786302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1454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3161-AFB5-0221-DE5B-BA0DCED5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25644-D75D-3AD6-6E05-D4B133D64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6E75F-FA26-6C37-D9AF-054310004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1EC6-4FDD-6149-6A32-D667AA0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EDA36-CF49-7D71-5762-6922C320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CCD2E-7561-3FC3-E62E-AAA33D66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933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A2CE-1A93-994C-510C-F0211AC9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6C87-60F1-A2A3-FCC9-4707D078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675E2-3C31-CE5F-126D-7B78950EA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C393B-8970-D247-5C92-CC415CCD4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779F1-2A3E-FD64-0BD5-230213E2F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8C5D0-BA70-A719-99B1-6D1057A9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4AD683-8008-27DA-395B-A29F42C9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FCADC-8B76-EEF8-B821-806DDCF2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646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7450-6EE1-500B-2C9D-CBC54B95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FE047-6BD4-5A72-3342-79FF84DC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BDAC0-5485-2731-0FBE-503C408E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9CF0E-58EA-4C07-29B4-215CC56B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833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6BA9B-35AF-6BD4-AE21-69397A08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BA84E-D631-971E-B27E-C17FEB3B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1BC1F-8A00-5358-54A4-078401E5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1895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C617-BF95-7310-883F-18EE25561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0D3BE-CB62-E44F-A72F-7ECBDADE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C700C-8356-3A7A-E389-AEFD1CABB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3633D-7452-F157-761E-76D11C651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6A653-28F0-7F8A-A607-4331DE61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47F00-A0DF-55AD-F989-C5E4524A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6022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A70A-5064-2806-FB7E-B110EDD37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363CA-05B7-A838-2939-AE7D35966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411FE-4A79-EDCD-073A-C3BBEFF75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9EAB2-262F-D144-72F2-89BFBA511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72DE2-D1F8-27A8-F6D6-22673424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1128F-9C30-0955-7250-09588582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187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DC34-B866-4879-C96C-13BC1FB4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B2AF8-362D-2AF3-9291-EA0A8AD9A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47E80-3C3A-FA61-9A87-EC8E8508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7D9C3-85A0-C2D4-66BA-E9BABA67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2A2A5-F40A-3489-1C7E-7F244C60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648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3D5A2-7CA5-0C60-F057-B9D8A5563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90EEB-F316-C518-1BE6-B791B2953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84451-A2CE-8ED4-21B2-A0883051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DE9C7-2299-6FB8-D1A8-A7C51CBB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840C4-764F-EFEB-6C77-D41C09F1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0454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AFA5D51-036A-41DE-B449-6FAC5FBD8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3733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35893" y="5445224"/>
            <a:ext cx="6380891" cy="385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67"/>
            </a:lvl1pPr>
          </a:lstStyle>
          <a:p>
            <a:pPr lvl="0"/>
            <a:r>
              <a:rPr lang="en-US" dirty="0"/>
              <a:t>Day Month Year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E10C56-7618-B944-A305-B8B18B496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A0BD56-8EF0-624B-906C-D201253B7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5435" cy="68580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ADA4B75-C733-AA4E-A796-B7D79C91F6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chemeClr val="accent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2223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5">
          <p15:clr>
            <a:srgbClr val="FBAE40"/>
          </p15:clr>
        </p15:guide>
        <p15:guide id="2" pos="242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AFA5D51-036A-41DE-B449-6FAC5FBD8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3733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35893" y="5445224"/>
            <a:ext cx="6380891" cy="3854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67"/>
            </a:lvl1pPr>
          </a:lstStyle>
          <a:p>
            <a:pPr lvl="0"/>
            <a:r>
              <a:rPr lang="en-US" dirty="0"/>
              <a:t>Day Month Year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E10C56-7618-B944-A305-B8B18B496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A0BD56-8EF0-624B-906C-D201253B7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215435" cy="68580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ADA4B75-C733-AA4E-A796-B7D79C91F6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chemeClr val="accent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812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5">
          <p15:clr>
            <a:srgbClr val="FBAE40"/>
          </p15:clr>
        </p15:guide>
        <p15:guide id="2" pos="242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1" y="0"/>
            <a:ext cx="12188116" cy="6874571"/>
            <a:chOff x="0" y="-1"/>
            <a:chExt cx="9141087" cy="5155928"/>
          </a:xfrm>
          <a:solidFill>
            <a:schemeClr val="accent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102BFF8-1253-4DC4-8F0F-A614EC0FC5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133B29-7CA3-4E8A-BDE7-6F7FBE777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8EF2C-2929-4353-8A9D-ACDC182F6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93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1" y="0"/>
            <a:ext cx="12188116" cy="6874571"/>
            <a:chOff x="0" y="-1"/>
            <a:chExt cx="9141087" cy="5155928"/>
          </a:xfrm>
          <a:solidFill>
            <a:srgbClr val="B4D1E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8DC5DB-561F-4D50-9ECB-E5F82C4527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3733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E7E6BC7-3841-41CA-A574-B63C0E5A14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0089E-490E-4CD6-B36D-DAE4420A9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4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1" y="0"/>
            <a:ext cx="12188116" cy="6874571"/>
            <a:chOff x="0" y="-1"/>
            <a:chExt cx="9141087" cy="5155928"/>
          </a:xfrm>
          <a:solidFill>
            <a:schemeClr val="accent2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689345-0E5B-4961-BFA5-D74794CC73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5893" y="3606581"/>
            <a:ext cx="6380891" cy="11665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6B88576-B387-417A-9787-6A314FE1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35893" y="4882589"/>
            <a:ext cx="6380891" cy="466624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485055">
              <a:lnSpc>
                <a:spcPct val="93000"/>
              </a:lnSpc>
              <a:buNone/>
              <a:defRPr lang="en-GB" sz="24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485055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7E07E-BB8C-4881-A45D-5CE30F35E4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5135893" y="1710880"/>
            <a:ext cx="4134491" cy="114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33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2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2" y="1762065"/>
            <a:ext cx="10850033" cy="3884596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800"/>
              </a:spcAft>
              <a:buNone/>
              <a:defRPr/>
            </a:lvl1pPr>
            <a:lvl2pPr marL="370408" indent="0" algn="l">
              <a:buNone/>
              <a:defRPr/>
            </a:lvl2pPr>
            <a:lvl3pPr marL="730232" indent="0" algn="l">
              <a:buNone/>
              <a:defRPr/>
            </a:lvl3pPr>
            <a:lvl4pPr marL="1087939" indent="0" algn="l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" y="1220755"/>
            <a:ext cx="10850033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C0B51-2590-4977-8BCF-5BC1B1C0A5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49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66752" y="1352552"/>
            <a:ext cx="7733505" cy="428413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592277" y="1352552"/>
            <a:ext cx="2924507" cy="4284133"/>
          </a:xfrm>
          <a:prstGeom prst="rect">
            <a:avLst/>
          </a:prstGeom>
        </p:spPr>
        <p:txBody>
          <a:bodyPr vert="horz" tIns="0" rIns="0" bIns="0" anchor="t"/>
          <a:lstStyle>
            <a:lvl1pPr marL="0" indent="0" algn="l">
              <a:buNone/>
              <a:defRPr sz="21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[image text]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C3B6D4-4DC9-4D12-8D95-806CE8586C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275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66752" y="1352551"/>
            <a:ext cx="10850033" cy="3708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65645" y="5083156"/>
            <a:ext cx="10860711" cy="563504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2133">
                <a:solidFill>
                  <a:srgbClr val="717073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EF494-034D-44F8-A974-C98E1DDFD8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7480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10" y="186087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597" y="1354235"/>
            <a:ext cx="5209651" cy="370671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9598" y="5098286"/>
            <a:ext cx="5220631" cy="538137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7642" y="1354235"/>
            <a:ext cx="5236325" cy="370671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45" y="5095096"/>
            <a:ext cx="5220631" cy="538137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83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0F972-6BC7-42BC-AFE5-97C86679B87E}"/>
              </a:ext>
            </a:extLst>
          </p:cNvPr>
          <p:cNvSpPr/>
          <p:nvPr userDrawn="1"/>
        </p:nvSpPr>
        <p:spPr>
          <a:xfrm>
            <a:off x="677642" y="3836828"/>
            <a:ext cx="5236325" cy="1795371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259A0-C5BF-4615-9DF0-1C33FC6423D9}"/>
              </a:ext>
            </a:extLst>
          </p:cNvPr>
          <p:cNvSpPr/>
          <p:nvPr userDrawn="1"/>
        </p:nvSpPr>
        <p:spPr>
          <a:xfrm>
            <a:off x="6310064" y="3836828"/>
            <a:ext cx="5199184" cy="1795371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597" y="1354234"/>
            <a:ext cx="5209651" cy="248150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7642" y="1354234"/>
            <a:ext cx="5236325" cy="2495964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C13FF-C155-4919-8919-34228E9F85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2284" y="4029116"/>
            <a:ext cx="4800600" cy="16171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66E5765-AFF9-454D-B3E4-B95BB4B152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309" y="4029116"/>
            <a:ext cx="4800600" cy="16171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A56BEC-90D2-435D-8367-0E3A5F8262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642" y="3164754"/>
            <a:ext cx="5236325" cy="670983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4F963DD-B50B-4248-9374-A146E53148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10064" y="3164754"/>
            <a:ext cx="5199184" cy="670983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14401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88822" y="1352551"/>
            <a:ext cx="3486965" cy="3708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88822" y="5060951"/>
            <a:ext cx="3486965" cy="57573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CD11574-6994-C542-A1AD-1118FE1AA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19770" y="1352550"/>
            <a:ext cx="3519713" cy="37084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27FB44-8702-2E4A-AB5F-E13C696274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9770" y="5060951"/>
            <a:ext cx="3519713" cy="57573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0EEF36B-2413-A544-991B-10AA2B78C1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3466" y="1352550"/>
            <a:ext cx="3519713" cy="37084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6A408FD-BECD-3443-BB24-6FC231820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83466" y="5060951"/>
            <a:ext cx="3519713" cy="57573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A300C0-DBF9-4E76-A96E-820DB299D36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03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1" y="1352552"/>
            <a:ext cx="3509036" cy="42941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367809" y="1352552"/>
            <a:ext cx="7157444" cy="429410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D3A6C4-B2B4-46A4-BE60-14F5BD4FB2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323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66752" y="1808992"/>
            <a:ext cx="10858501" cy="383766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2C476E-51FA-B142-B805-2B1D7A05AE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073" y="1221318"/>
            <a:ext cx="10869179" cy="44052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AC71AE-A779-45DA-84FB-230AB359D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2010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2" y="1352552"/>
            <a:ext cx="10850033" cy="42941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D33E0-EF10-44C7-97ED-4419E59984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22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8F8353-7F4B-4AB2-8678-0275B71DCD7E}"/>
              </a:ext>
            </a:extLst>
          </p:cNvPr>
          <p:cNvSpPr/>
          <p:nvPr userDrawn="1"/>
        </p:nvSpPr>
        <p:spPr>
          <a:xfrm>
            <a:off x="6096000" y="2"/>
            <a:ext cx="6096000" cy="675593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6752" y="1352552"/>
            <a:ext cx="5247216" cy="42941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0227F-4512-44D1-9D9B-B77D36335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8618" y="1352552"/>
            <a:ext cx="5228167" cy="429410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A97563-23FD-4705-A4F4-2B08A537BD6B}"/>
              </a:ext>
            </a:extLst>
          </p:cNvPr>
          <p:cNvCxnSpPr>
            <a:cxnSpLocks/>
          </p:cNvCxnSpPr>
          <p:nvPr userDrawn="1"/>
        </p:nvCxnSpPr>
        <p:spPr>
          <a:xfrm>
            <a:off x="10912828" y="6304756"/>
            <a:ext cx="0" cy="35322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CC8194-D780-400B-85F5-DE5F0003BCA5}"/>
              </a:ext>
            </a:extLst>
          </p:cNvPr>
          <p:cNvSpPr txBox="1">
            <a:spLocks/>
          </p:cNvSpPr>
          <p:nvPr userDrawn="1"/>
        </p:nvSpPr>
        <p:spPr>
          <a:xfrm>
            <a:off x="10959942" y="6298281"/>
            <a:ext cx="548511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3EC332E-FB62-3242-BB6A-EC0EFC19912F}" type="slidenum">
              <a:rPr lang="en-US" sz="1600" smtClean="0">
                <a:solidFill>
                  <a:srgbClr val="FFFFFF"/>
                </a:solidFill>
              </a:rPr>
              <a:pPr/>
              <a:t>‹#›</a:t>
            </a:fld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76E361C-716A-465F-B091-EA57F773F1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76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8973B-8366-4A7A-9D42-382FF01BDED3}"/>
              </a:ext>
            </a:extLst>
          </p:cNvPr>
          <p:cNvSpPr txBox="1"/>
          <p:nvPr userDrawn="1"/>
        </p:nvSpPr>
        <p:spPr>
          <a:xfrm>
            <a:off x="3797575" y="-298435"/>
            <a:ext cx="4588387" cy="492753"/>
          </a:xfrm>
          <a:prstGeom prst="rect">
            <a:avLst/>
          </a:prstGeom>
        </p:spPr>
        <p:txBody>
          <a:bodyPr vert="horz" wrap="square" lIns="121920" tIns="60960" rIns="121920" bIns="60960" rtlCol="0">
            <a:normAutofit/>
          </a:bodyPr>
          <a:lstStyle/>
          <a:p>
            <a:pPr marL="0" indent="0" algn="ctr">
              <a:buNone/>
            </a:pPr>
            <a:r>
              <a:rPr lang="en-US" sz="1067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899D1-0243-411C-BC03-A2F921902D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742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-up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A066E7-5573-564E-80E6-FFF5A20254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454" y="1381373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F8771B-79B5-5E44-8EE5-05B94368A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6165" y="1381373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2DC5879-943B-FB4F-ADAC-2CD7A8A940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9454" y="285851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0C0A1BDB-B6A9-6A4B-910C-B61617F00C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6165" y="285851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2313A87-358B-C041-8B7E-F6B81E3165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9454" y="433565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CF54D8E-D4FA-7D43-B32A-87ABB4649C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6165" y="4335652"/>
            <a:ext cx="4762497" cy="883385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DB555-C07E-4AD1-8918-A045D96FF0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84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751" y="1784351"/>
            <a:ext cx="5247215" cy="3852895"/>
          </a:xfrm>
        </p:spPr>
        <p:txBody>
          <a:bodyPr/>
          <a:lstStyle>
            <a:lvl1pPr>
              <a:defRPr sz="2133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3A2FDE9-97B9-0D4C-A044-587D3779E2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8038" y="1784351"/>
            <a:ext cx="5247215" cy="3852895"/>
          </a:xfrm>
        </p:spPr>
        <p:txBody>
          <a:bodyPr/>
          <a:lstStyle>
            <a:lvl1pPr>
              <a:defRPr sz="2133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1" y="1220755"/>
            <a:ext cx="5247213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C1AA4B-FF84-7D4E-9B6E-EE3C29C65A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8618" y="1220755"/>
            <a:ext cx="5279991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8B13C-1060-418C-8319-C4526C0DD1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93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751" y="1784351"/>
            <a:ext cx="5247215" cy="3862309"/>
          </a:xfrm>
        </p:spPr>
        <p:txBody>
          <a:bodyPr/>
          <a:lstStyle>
            <a:lvl1pPr>
              <a:defRPr sz="2133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" y="1220755"/>
            <a:ext cx="10850033" cy="431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E0339E7-81F2-A040-87B8-7E7837273F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78038" y="1221319"/>
            <a:ext cx="5238748" cy="385289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BF9020A-F14A-ED49-8C64-E205C6AE78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039" y="5082182"/>
            <a:ext cx="5238747" cy="562471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867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136A46-1C94-408F-87B7-B99F84FBFA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51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3599723" y="2205113"/>
            <a:ext cx="67207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9723" y="1519121"/>
            <a:ext cx="7917061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723" y="1884443"/>
            <a:ext cx="7917061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9723" y="2244995"/>
            <a:ext cx="7917061" cy="2969857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516893"/>
            <a:ext cx="2356908" cy="2356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C448B77-40C1-BA4B-9EBD-F6806BE8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6B6D8-1F26-49EB-8B11-3E83626E9AD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74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666751" y="3576024"/>
            <a:ext cx="67207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2890031"/>
            <a:ext cx="3353817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" y="3255354"/>
            <a:ext cx="3353817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" y="3615907"/>
            <a:ext cx="3353817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439D20-BAEE-3A46-9F93-18FED5D8DD98}"/>
              </a:ext>
            </a:extLst>
          </p:cNvPr>
          <p:cNvCxnSpPr>
            <a:cxnSpLocks/>
          </p:cNvCxnSpPr>
          <p:nvPr userDrawn="1"/>
        </p:nvCxnSpPr>
        <p:spPr>
          <a:xfrm>
            <a:off x="4407800" y="3576024"/>
            <a:ext cx="67207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3FDEDF0-1056-0C47-AD69-FE9D014D9D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7800" y="2890031"/>
            <a:ext cx="3353817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1A579EA-2168-BA49-AB8F-310CB7F9C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7800" y="3255354"/>
            <a:ext cx="3353817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2FEF0F1-661C-654B-9E89-06752809DF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07800" y="3615907"/>
            <a:ext cx="3353817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7" name="Picture Placeholder 36">
            <a:extLst>
              <a:ext uri="{FF2B5EF4-FFF2-40B4-BE49-F238E27FC236}">
                <a16:creationId xmlns:a16="http://schemas.microsoft.com/office/drawing/2014/main" id="{A9D82A10-3AD7-1446-8F46-37E0058A8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07800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7EF184F-6686-6D49-9419-BA1D272AC81D}"/>
              </a:ext>
            </a:extLst>
          </p:cNvPr>
          <p:cNvCxnSpPr>
            <a:cxnSpLocks/>
          </p:cNvCxnSpPr>
          <p:nvPr userDrawn="1"/>
        </p:nvCxnSpPr>
        <p:spPr>
          <a:xfrm>
            <a:off x="8148852" y="3576024"/>
            <a:ext cx="67207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019358D-0868-DE4E-8C10-294977BB6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8852" y="2890031"/>
            <a:ext cx="3353817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5975E78-D73C-2B47-B71F-4E0B606A0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8852" y="3255354"/>
            <a:ext cx="3353817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4B92EB00-D56B-7A41-881D-393490E952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48852" y="3615907"/>
            <a:ext cx="3353817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52" name="Picture Placeholder 36">
            <a:extLst>
              <a:ext uri="{FF2B5EF4-FFF2-40B4-BE49-F238E27FC236}">
                <a16:creationId xmlns:a16="http://schemas.microsoft.com/office/drawing/2014/main" id="{3F0A8FF6-A378-E944-BB45-55FC0D68046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148852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1114C-E04D-4F69-BC84-F54E17E815E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872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666751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49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49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3449397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9395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49395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9395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6232042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2040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040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2040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9014686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4684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14684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14684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449395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232040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014684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39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666751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749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49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66751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2" y="366186"/>
            <a:ext cx="10850033" cy="7450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3449397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9395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49395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9395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6232042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2040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040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2040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9014686" y="3576024"/>
            <a:ext cx="504487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4684" y="2890031"/>
            <a:ext cx="2517515" cy="352063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2133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14684" y="3255354"/>
            <a:ext cx="2517515" cy="34729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14684" y="3615907"/>
            <a:ext cx="2517515" cy="67270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449395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232040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014684" y="1350325"/>
            <a:ext cx="1513085" cy="15130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7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 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3A1060D7-15E0-B149-B9D6-37E4A0672A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3519"/>
          <a:stretch/>
        </p:blipFill>
        <p:spPr>
          <a:xfrm>
            <a:off x="666752" y="2386152"/>
            <a:ext cx="3358297" cy="90362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2FC95F1-815D-2D4B-8AFC-63AA196BAEF6}"/>
              </a:ext>
            </a:extLst>
          </p:cNvPr>
          <p:cNvGrpSpPr/>
          <p:nvPr userDrawn="1"/>
        </p:nvGrpSpPr>
        <p:grpSpPr>
          <a:xfrm>
            <a:off x="4233" y="6761672"/>
            <a:ext cx="12192000" cy="104424"/>
            <a:chOff x="0" y="5071254"/>
            <a:chExt cx="9144000" cy="783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214FF2-E8CC-8947-AA41-46AA3CE8727A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F3B95-639B-5B44-8E76-C141A9B2DCE5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</p:grp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7ED7C95-B496-764A-A62B-7AEE64F0A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750" y="3547454"/>
            <a:ext cx="10850033" cy="8241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733" baseline="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3644064-E3FD-0045-A137-F0CF630DF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754" y="4408274"/>
            <a:ext cx="10850031" cy="383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Presenter name and/or email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749" y="4971309"/>
            <a:ext cx="10850033" cy="377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67" baseline="0"/>
            </a:lvl1pPr>
          </a:lstStyle>
          <a:p>
            <a:pPr lvl="0"/>
            <a:r>
              <a:rPr lang="en-US" dirty="0"/>
              <a:t>Co-authors and/or references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638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64B14D-4E49-A7BF-F2C7-95379DD7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23E4A-D9C9-7160-A776-8FF5358AF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536E2-6447-7F4C-DA87-DA66084B4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F6EF6-3896-4099-8A74-E139BAF52E4F}" type="datetimeFigureOut">
              <a:rPr lang="en-CH" smtClean="0"/>
              <a:t>27.08.2025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C8EB9-7D73-A06D-866C-DF6B78D8A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CF7AA-2762-F6AE-29E4-911B6326D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21848-1CD7-4C36-9AE7-C166D808FE3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7257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4C3202-59EE-2340-B38A-4E5E3A2DD1D8}"/>
              </a:ext>
            </a:extLst>
          </p:cNvPr>
          <p:cNvCxnSpPr>
            <a:cxnSpLocks/>
          </p:cNvCxnSpPr>
          <p:nvPr userDrawn="1"/>
        </p:nvCxnSpPr>
        <p:spPr>
          <a:xfrm>
            <a:off x="11119816" y="6304756"/>
            <a:ext cx="0" cy="35322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4FA6C-9F76-7940-ABD6-8AE2993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352551"/>
            <a:ext cx="10850032" cy="428413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C86E9-FDA0-4C4D-A68F-6E3891ABEC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800"/>
          <a:stretch/>
        </p:blipFill>
        <p:spPr>
          <a:xfrm>
            <a:off x="683548" y="6231502"/>
            <a:ext cx="1486357" cy="406124"/>
          </a:xfrm>
          <a:prstGeom prst="rect">
            <a:avLst/>
          </a:prstGeom>
        </p:spPr>
      </p:pic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EFF88D6-3D0D-1241-9CCB-64DB5A0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17" y="366185"/>
            <a:ext cx="10850032" cy="75880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F4896-1C74-471F-B1D7-D03465CE2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217" y="5655759"/>
            <a:ext cx="10833223" cy="514957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rgbClr val="898989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AADC478-0D1F-4E10-932D-F91CE6CE0C53}"/>
              </a:ext>
            </a:extLst>
          </p:cNvPr>
          <p:cNvSpPr txBox="1">
            <a:spLocks/>
          </p:cNvSpPr>
          <p:nvPr userDrawn="1"/>
        </p:nvSpPr>
        <p:spPr>
          <a:xfrm>
            <a:off x="11270233" y="6332053"/>
            <a:ext cx="255017" cy="387899"/>
          </a:xfrm>
          <a:prstGeom prst="rect">
            <a:avLst/>
          </a:prstGeom>
        </p:spPr>
        <p:txBody>
          <a:bodyPr vert="horz" lIns="0" tIns="60960" rIns="0" bIns="6096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/>
            <a:fld id="{F3EC332E-FB62-3242-BB6A-EC0EFC19912F}" type="slidenum">
              <a:rPr lang="en-US" sz="1600" smtClean="0"/>
              <a:pPr algn="r"/>
              <a:t>‹#›</a:t>
            </a:fld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ED518-D582-9A4F-8C12-6E2C06E7A8AA}"/>
              </a:ext>
            </a:extLst>
          </p:cNvPr>
          <p:cNvGrpSpPr/>
          <p:nvPr userDrawn="1"/>
        </p:nvGrpSpPr>
        <p:grpSpPr>
          <a:xfrm>
            <a:off x="4233" y="6761672"/>
            <a:ext cx="12192000" cy="104424"/>
            <a:chOff x="0" y="5071254"/>
            <a:chExt cx="9144000" cy="783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FBD448-4703-CA48-88BE-FC90FC84C9BF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480782-CDA4-E241-80E9-8887C60CB37B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 dirty="0">
                <a:latin typeface="Simplon Norm" panose="020B0500030000000000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43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</p:sldLayoutIdLst>
  <p:hf sldNum="0" hdr="0" dt="0"/>
  <p:txStyles>
    <p:titleStyle>
      <a:lvl1pPr marL="0" indent="0" algn="l" defTabSz="121917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accent1">
              <a:lumMod val="100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594" indent="-228594" algn="l" defTabSz="1219170" rtl="0" eaLnBrk="1" latinLnBrk="0" hangingPunct="1">
        <a:lnSpc>
          <a:spcPct val="100000"/>
        </a:lnSpc>
        <a:spcBef>
          <a:spcPts val="400"/>
        </a:spcBef>
        <a:buClr>
          <a:srgbClr val="BF3227"/>
        </a:buClr>
        <a:buSzPct val="125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599002" indent="-228594" algn="l" defTabSz="1219170" rtl="0" eaLnBrk="1" latinLnBrk="0" hangingPunct="1">
        <a:lnSpc>
          <a:spcPct val="100000"/>
        </a:lnSpc>
        <a:spcBef>
          <a:spcPts val="400"/>
        </a:spcBef>
        <a:buClr>
          <a:srgbClr val="BF3227"/>
        </a:buClr>
        <a:buSzPct val="125000"/>
        <a:buFont typeface="System Font Regular"/>
        <a:buChar char="-"/>
        <a:defRPr sz="2133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58827" indent="-228594" algn="l" defTabSz="1219170" rtl="0" eaLnBrk="1" latinLnBrk="0" hangingPunct="1">
        <a:lnSpc>
          <a:spcPct val="100000"/>
        </a:lnSpc>
        <a:spcBef>
          <a:spcPts val="400"/>
        </a:spcBef>
        <a:buClr>
          <a:srgbClr val="BF3227"/>
        </a:buClr>
        <a:buSzPct val="125000"/>
        <a:buFont typeface="Wingdings" panose="05000000000000000000" pitchFamily="2" charset="2"/>
        <a:buChar char="§"/>
        <a:defRPr sz="2133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16534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System Font Regular"/>
        <a:buChar char="-"/>
        <a:defRPr sz="2133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2240224" indent="-228594" algn="l" defTabSz="121917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System Font Regular"/>
        <a:buChar char="-"/>
        <a:defRPr sz="14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5">
          <p15:clr>
            <a:srgbClr val="F26B43"/>
          </p15:clr>
        </p15:guide>
        <p15:guide id="2" pos="315">
          <p15:clr>
            <a:srgbClr val="F26B43"/>
          </p15:clr>
        </p15:guide>
        <p15:guide id="3" pos="5441">
          <p15:clr>
            <a:srgbClr val="F26B43"/>
          </p15:clr>
        </p15:guide>
        <p15:guide id="4" orient="horz" pos="639">
          <p15:clr>
            <a:srgbClr val="F26B43"/>
          </p15:clr>
        </p15:guide>
        <p15:guide id="5" orient="horz" pos="2911">
          <p15:clr>
            <a:srgbClr val="F26B43"/>
          </p15:clr>
        </p15:guide>
        <p15:guide id="6" pos="2880">
          <p15:clr>
            <a:srgbClr val="F26B43"/>
          </p15:clr>
        </p15:guide>
        <p15:guide id="7" pos="2794">
          <p15:clr>
            <a:srgbClr val="F26B43"/>
          </p15:clr>
        </p15:guide>
        <p15:guide id="8" pos="2971">
          <p15:clr>
            <a:srgbClr val="F26B43"/>
          </p15:clr>
        </p15:guide>
        <p15:guide id="9" orient="horz" pos="577">
          <p15:clr>
            <a:srgbClr val="F26B43"/>
          </p15:clr>
        </p15:guide>
        <p15:guide id="10" orient="horz" pos="2754">
          <p15:clr>
            <a:srgbClr val="F26B43"/>
          </p15:clr>
        </p15:guide>
        <p15:guide id="11" orient="horz" pos="2663">
          <p15:clr>
            <a:srgbClr val="F26B43"/>
          </p15:clr>
        </p15:guide>
        <p15:guide id="12" orient="horz" pos="2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A2C23A9-DC7B-A144-81E4-7022EC44C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75787" y="2948947"/>
            <a:ext cx="7968885" cy="1728192"/>
          </a:xfrm>
        </p:spPr>
        <p:txBody>
          <a:bodyPr/>
          <a:lstStyle/>
          <a:p>
            <a:r>
              <a:rPr lang="en-US" dirty="0"/>
              <a:t>Use of Machine learning approaches to understand the key drivers of malaria intervention impact in Ghana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5893" y="5660571"/>
            <a:ext cx="3376736" cy="360717"/>
          </a:xfrm>
        </p:spPr>
        <p:txBody>
          <a:bodyPr/>
          <a:lstStyle/>
          <a:p>
            <a:r>
              <a:rPr lang="en-US" sz="2133" dirty="0"/>
              <a:t>2</a:t>
            </a:r>
            <a:r>
              <a:rPr lang="en-US" sz="2133" baseline="30000" dirty="0"/>
              <a:t>nd</a:t>
            </a:r>
            <a:r>
              <a:rPr lang="en-US" sz="2133" dirty="0"/>
              <a:t> September 2025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67C7BD-25F9-FE4B-A8FA-4B784C147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35893" y="4786579"/>
            <a:ext cx="6380891" cy="466624"/>
          </a:xfrm>
        </p:spPr>
        <p:txBody>
          <a:bodyPr anchor="t" anchorCtr="0"/>
          <a:lstStyle/>
          <a:p>
            <a:r>
              <a:rPr lang="en-US" sz="2667" dirty="0"/>
              <a:t>Zenabu Suboi</a:t>
            </a:r>
          </a:p>
        </p:txBody>
      </p:sp>
    </p:spTree>
    <p:extLst>
      <p:ext uri="{BB962C8B-B14F-4D97-AF65-F5344CB8AC3E}">
        <p14:creationId xmlns:p14="http://schemas.microsoft.com/office/powerpoint/2010/main" val="2960017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10" y="68627"/>
            <a:ext cx="10850033" cy="745060"/>
          </a:xfrm>
        </p:spPr>
        <p:txBody>
          <a:bodyPr/>
          <a:lstStyle/>
          <a:p>
            <a:r>
              <a:rPr lang="en-GB" b="1" dirty="0"/>
              <a:t>Malaria prevalence in Ghana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5292D-F137-4C08-54B0-70B4BD56F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39" y="1038290"/>
            <a:ext cx="5166357" cy="44361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D0058A-D7B9-1531-05D1-6608BF1DBDE9}"/>
              </a:ext>
            </a:extLst>
          </p:cNvPr>
          <p:cNvSpPr txBox="1"/>
          <p:nvPr/>
        </p:nvSpPr>
        <p:spPr>
          <a:xfrm>
            <a:off x="666810" y="5699051"/>
            <a:ext cx="5166357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/>
              <a:t>Source: </a:t>
            </a:r>
            <a:r>
              <a:rPr lang="en-CH" sz="1600" dirty="0"/>
              <a:t>U.S. President’s Malaria Initiative Ghana Malaria Profile </a:t>
            </a:r>
            <a:r>
              <a:rPr lang="en-US" sz="1600" dirty="0"/>
              <a:t>(2023)</a:t>
            </a:r>
            <a:endParaRPr lang="en-CH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22F602-9239-E192-FFF0-DB8E0FC93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826" y="813687"/>
            <a:ext cx="3102390" cy="49422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AAF7C7-0B0C-1CCF-96B6-8DF6FC78B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216" y="3174926"/>
            <a:ext cx="2705100" cy="25241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2C7F8E-C4DF-8610-1409-273888E423E3}"/>
              </a:ext>
            </a:extLst>
          </p:cNvPr>
          <p:cNvSpPr txBox="1"/>
          <p:nvPr/>
        </p:nvSpPr>
        <p:spPr>
          <a:xfrm>
            <a:off x="6900595" y="6345382"/>
            <a:ext cx="4587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/>
              <a:t>Source: Ghana NMESP 2024-2028</a:t>
            </a:r>
            <a:r>
              <a:rPr lang="en-US" sz="1400" i="1" dirty="0"/>
              <a:t>.</a:t>
            </a:r>
            <a:endParaRPr lang="de-CH" sz="1400" i="1" dirty="0"/>
          </a:p>
        </p:txBody>
      </p:sp>
    </p:spTree>
    <p:extLst>
      <p:ext uri="{BB962C8B-B14F-4D97-AF65-F5344CB8AC3E}">
        <p14:creationId xmlns:p14="http://schemas.microsoft.com/office/powerpoint/2010/main" val="118379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789E2-15F6-05DA-A349-7300C7EA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2B0ACA-D605-26E4-59FD-0D59962F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10" y="68627"/>
            <a:ext cx="10850033" cy="745060"/>
          </a:xfrm>
        </p:spPr>
        <p:txBody>
          <a:bodyPr/>
          <a:lstStyle/>
          <a:p>
            <a:r>
              <a:rPr lang="en-GB" b="1" dirty="0"/>
              <a:t>Malaria prevalence in Ghana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C4F49A-565C-F826-133E-245968C28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26" y="813687"/>
            <a:ext cx="3102390" cy="49422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0E68AD-B2AF-50C8-C207-18038215D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216" y="3174926"/>
            <a:ext cx="2705100" cy="25241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4B3761-11B8-7C27-75AF-8ADDC2A64E47}"/>
              </a:ext>
            </a:extLst>
          </p:cNvPr>
          <p:cNvSpPr txBox="1"/>
          <p:nvPr/>
        </p:nvSpPr>
        <p:spPr>
          <a:xfrm>
            <a:off x="6900595" y="6345382"/>
            <a:ext cx="4587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/>
              <a:t>Source: Ghana NMESP 2024-2028</a:t>
            </a:r>
            <a:r>
              <a:rPr lang="en-US" sz="1400" i="1" dirty="0"/>
              <a:t>.</a:t>
            </a:r>
            <a:endParaRPr lang="de-CH" sz="14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889940-ED30-CD15-F2E8-E73C93A17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55947"/>
            <a:ext cx="5607312" cy="45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9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6B42-F4B2-182F-8F08-F0824582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76CFA65-06F8-70B7-2CF4-2521C5C2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10" y="68627"/>
            <a:ext cx="10850033" cy="745060"/>
          </a:xfrm>
        </p:spPr>
        <p:txBody>
          <a:bodyPr/>
          <a:lstStyle/>
          <a:p>
            <a:r>
              <a:rPr lang="en-GB" b="1" dirty="0"/>
              <a:t>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56F5A4-0E9D-C2AA-A795-FBCE3BD93579}"/>
              </a:ext>
            </a:extLst>
          </p:cNvPr>
          <p:cNvSpPr/>
          <p:nvPr/>
        </p:nvSpPr>
        <p:spPr>
          <a:xfrm>
            <a:off x="666808" y="1088767"/>
            <a:ext cx="11525192" cy="2301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5055">
              <a:lnSpc>
                <a:spcPct val="150000"/>
              </a:lnSpc>
            </a:pP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What are the key drivers of </a:t>
            </a:r>
            <a:r>
              <a:rPr lang="en-US" sz="2667" b="1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impact of malaria interventions </a:t>
            </a: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in Ghana?</a:t>
            </a:r>
          </a:p>
          <a:p>
            <a:pPr marL="838190" lvl="1" indent="-38099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Modeling can help identify the key drivers </a:t>
            </a:r>
          </a:p>
          <a:p>
            <a:pPr marL="838190" lvl="1" indent="-38099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These drivers can help </a:t>
            </a:r>
            <a:r>
              <a:rPr lang="en-US" sz="2400" b="1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prioritize future data collection</a:t>
            </a:r>
          </a:p>
          <a:p>
            <a:pPr marL="838190" lvl="1" indent="-38099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Better informed models can </a:t>
            </a:r>
            <a:r>
              <a:rPr lang="en-US" sz="2400" b="1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increase trust</a:t>
            </a:r>
            <a:r>
              <a:rPr lang="en-US" sz="2400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 in model outputs</a:t>
            </a:r>
          </a:p>
        </p:txBody>
      </p:sp>
    </p:spTree>
    <p:extLst>
      <p:ext uri="{BB962C8B-B14F-4D97-AF65-F5344CB8AC3E}">
        <p14:creationId xmlns:p14="http://schemas.microsoft.com/office/powerpoint/2010/main" val="325828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D7374-37B7-5C75-EA73-93ABCF10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BCAEFC3-A941-88B5-92FF-107F72C7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10" y="68627"/>
            <a:ext cx="10850033" cy="745060"/>
          </a:xfrm>
        </p:spPr>
        <p:txBody>
          <a:bodyPr/>
          <a:lstStyle/>
          <a:p>
            <a:r>
              <a:rPr lang="en-GB" b="1" dirty="0"/>
              <a:t>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492B5D-C4AC-36E8-2669-65260ECA5F7A}"/>
              </a:ext>
            </a:extLst>
          </p:cNvPr>
          <p:cNvSpPr/>
          <p:nvPr/>
        </p:nvSpPr>
        <p:spPr>
          <a:xfrm>
            <a:off x="583894" y="1733514"/>
            <a:ext cx="2191204" cy="1695486"/>
          </a:xfrm>
          <a:prstGeom prst="roundRect">
            <a:avLst/>
          </a:prstGeom>
          <a:solidFill>
            <a:srgbClr val="468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OpenMalaria (OM) model </a:t>
            </a:r>
            <a:endParaRPr lang="en-CH" sz="2400" b="1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96D99DE-1B55-54B4-D1D4-0F4C5CD0CB82}"/>
              </a:ext>
            </a:extLst>
          </p:cNvPr>
          <p:cNvSpPr/>
          <p:nvPr/>
        </p:nvSpPr>
        <p:spPr>
          <a:xfrm>
            <a:off x="2881423" y="2339163"/>
            <a:ext cx="765544" cy="242094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25F97D-70AD-E771-033E-74EB99B1ED42}"/>
              </a:ext>
            </a:extLst>
          </p:cNvPr>
          <p:cNvSpPr/>
          <p:nvPr/>
        </p:nvSpPr>
        <p:spPr>
          <a:xfrm>
            <a:off x="3753292" y="1733514"/>
            <a:ext cx="2191204" cy="1695486"/>
          </a:xfrm>
          <a:prstGeom prst="roundRect">
            <a:avLst/>
          </a:prstGeom>
          <a:solidFill>
            <a:srgbClr val="468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OM simulations</a:t>
            </a:r>
          </a:p>
          <a:p>
            <a:pPr algn="ctr"/>
            <a:r>
              <a:rPr lang="en-US" sz="2400" b="1" dirty="0"/>
              <a:t>(large set)</a:t>
            </a:r>
            <a:endParaRPr lang="en-CH" sz="2400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6316CE6-1C0E-0DD5-59D8-BE1A0C5821B4}"/>
              </a:ext>
            </a:extLst>
          </p:cNvPr>
          <p:cNvSpPr/>
          <p:nvPr/>
        </p:nvSpPr>
        <p:spPr>
          <a:xfrm>
            <a:off x="6050821" y="2339163"/>
            <a:ext cx="765544" cy="242094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1C3E5F-0A16-F81A-F2C0-95F297D647C7}"/>
              </a:ext>
            </a:extLst>
          </p:cNvPr>
          <p:cNvSpPr/>
          <p:nvPr/>
        </p:nvSpPr>
        <p:spPr>
          <a:xfrm>
            <a:off x="6922690" y="1733514"/>
            <a:ext cx="2191204" cy="1695486"/>
          </a:xfrm>
          <a:prstGeom prst="roundRect">
            <a:avLst/>
          </a:prstGeom>
          <a:solidFill>
            <a:srgbClr val="468A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Perform GSA</a:t>
            </a:r>
            <a:endParaRPr lang="en-CH" sz="24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B62795-43EF-00E2-B903-8F12A8C0F1F9}"/>
              </a:ext>
            </a:extLst>
          </p:cNvPr>
          <p:cNvSpPr/>
          <p:nvPr/>
        </p:nvSpPr>
        <p:spPr>
          <a:xfrm>
            <a:off x="666810" y="4034649"/>
            <a:ext cx="2191204" cy="1695486"/>
          </a:xfrm>
          <a:prstGeom prst="roundRect">
            <a:avLst/>
          </a:prstGeom>
          <a:solidFill>
            <a:srgbClr val="BF3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OpenMalaria (OM) model</a:t>
            </a:r>
            <a:endParaRPr lang="en-CH" sz="2400" b="1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B28038D-9CD2-DA71-542D-643277DA0E6A}"/>
              </a:ext>
            </a:extLst>
          </p:cNvPr>
          <p:cNvSpPr/>
          <p:nvPr/>
        </p:nvSpPr>
        <p:spPr>
          <a:xfrm>
            <a:off x="2881423" y="4640298"/>
            <a:ext cx="765544" cy="242094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23EABA-AB7D-7791-60CD-C4E0F0D3167F}"/>
              </a:ext>
            </a:extLst>
          </p:cNvPr>
          <p:cNvSpPr/>
          <p:nvPr/>
        </p:nvSpPr>
        <p:spPr>
          <a:xfrm>
            <a:off x="3657598" y="4034649"/>
            <a:ext cx="2191204" cy="1695486"/>
          </a:xfrm>
          <a:prstGeom prst="roundRect">
            <a:avLst/>
          </a:prstGeom>
          <a:solidFill>
            <a:srgbClr val="BF3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OM simulations</a:t>
            </a:r>
          </a:p>
          <a:p>
            <a:pPr algn="ctr"/>
            <a:r>
              <a:rPr lang="en-US" sz="2400" b="1" dirty="0"/>
              <a:t>(small set)</a:t>
            </a:r>
            <a:endParaRPr lang="en-CH" sz="2400" b="1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15C4E6F-B21B-33B4-B412-E1814177BD5A}"/>
              </a:ext>
            </a:extLst>
          </p:cNvPr>
          <p:cNvSpPr/>
          <p:nvPr/>
        </p:nvSpPr>
        <p:spPr>
          <a:xfrm>
            <a:off x="5882842" y="4640298"/>
            <a:ext cx="765544" cy="242094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F008A86-4E73-30C1-806F-3589EC88A1A2}"/>
              </a:ext>
            </a:extLst>
          </p:cNvPr>
          <p:cNvSpPr/>
          <p:nvPr/>
        </p:nvSpPr>
        <p:spPr>
          <a:xfrm>
            <a:off x="9703634" y="4034649"/>
            <a:ext cx="2191204" cy="1695486"/>
          </a:xfrm>
          <a:prstGeom prst="roundRect">
            <a:avLst/>
          </a:prstGeom>
          <a:solidFill>
            <a:srgbClr val="BF3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Perform GSA</a:t>
            </a:r>
            <a:endParaRPr lang="en-CH" sz="2400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552BD5-BFA7-3A22-1B9F-1A8697EAE80C}"/>
              </a:ext>
            </a:extLst>
          </p:cNvPr>
          <p:cNvSpPr/>
          <p:nvPr/>
        </p:nvSpPr>
        <p:spPr>
          <a:xfrm>
            <a:off x="6662056" y="4034649"/>
            <a:ext cx="2191204" cy="1695486"/>
          </a:xfrm>
          <a:prstGeom prst="roundRect">
            <a:avLst/>
          </a:prstGeom>
          <a:solidFill>
            <a:srgbClr val="BF3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Train ML emulator &amp; predict OM outputs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0D4E228-296A-17E7-BBBA-EC86C58D6E26}"/>
              </a:ext>
            </a:extLst>
          </p:cNvPr>
          <p:cNvSpPr/>
          <p:nvPr/>
        </p:nvSpPr>
        <p:spPr>
          <a:xfrm>
            <a:off x="8900970" y="4519251"/>
            <a:ext cx="765544" cy="242094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49F408-897E-82B1-D496-A4D780481C50}"/>
              </a:ext>
            </a:extLst>
          </p:cNvPr>
          <p:cNvSpPr/>
          <p:nvPr/>
        </p:nvSpPr>
        <p:spPr>
          <a:xfrm>
            <a:off x="583894" y="813687"/>
            <a:ext cx="11431836" cy="631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Perform a global sensitivity analysis (GSA) to identify these inputs</a:t>
            </a:r>
          </a:p>
        </p:txBody>
      </p:sp>
      <p:sp>
        <p:nvSpPr>
          <p:cNvPr id="28" name="Thought Bubble: Cloud 27">
            <a:extLst>
              <a:ext uri="{FF2B5EF4-FFF2-40B4-BE49-F238E27FC236}">
                <a16:creationId xmlns:a16="http://schemas.microsoft.com/office/drawing/2014/main" id="{636DD7E5-9F22-48F2-4538-0A2D3790D4BF}"/>
              </a:ext>
            </a:extLst>
          </p:cNvPr>
          <p:cNvSpPr/>
          <p:nvPr/>
        </p:nvSpPr>
        <p:spPr>
          <a:xfrm>
            <a:off x="9454128" y="1271639"/>
            <a:ext cx="2552752" cy="1356237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expensive</a:t>
            </a:r>
          </a:p>
          <a:p>
            <a:pPr algn="ctr"/>
            <a:r>
              <a:rPr lang="en-US" sz="2400" b="1" dirty="0"/>
              <a:t>~7M</a:t>
            </a:r>
            <a:endParaRPr lang="en-CH" sz="2400" b="1" dirty="0"/>
          </a:p>
        </p:txBody>
      </p:sp>
    </p:spTree>
    <p:extLst>
      <p:ext uri="{BB962C8B-B14F-4D97-AF65-F5344CB8AC3E}">
        <p14:creationId xmlns:p14="http://schemas.microsoft.com/office/powerpoint/2010/main" val="75196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DA1B2D-0A91-A240-4A2B-8F7EB1DA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1CC23D2-84DF-9CD6-A57E-9652D692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10" y="68627"/>
            <a:ext cx="10850033" cy="745060"/>
          </a:xfrm>
        </p:spPr>
        <p:txBody>
          <a:bodyPr/>
          <a:lstStyle/>
          <a:p>
            <a:r>
              <a:rPr lang="en-GB" b="1" dirty="0"/>
              <a:t>Approach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DA73AF-06B7-B8CB-2352-7E72F5B895A2}"/>
              </a:ext>
            </a:extLst>
          </p:cNvPr>
          <p:cNvSpPr/>
          <p:nvPr/>
        </p:nvSpPr>
        <p:spPr>
          <a:xfrm>
            <a:off x="666808" y="1088767"/>
            <a:ext cx="11029006" cy="371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5055">
              <a:lnSpc>
                <a:spcPct val="150000"/>
              </a:lnSpc>
            </a:pP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Once trained, emulators are reusable</a:t>
            </a:r>
          </a:p>
          <a:p>
            <a:pPr marL="914400" lvl="1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Predict output at different coverage levels for specific settings</a:t>
            </a:r>
          </a:p>
          <a:p>
            <a:pPr marL="914400" lvl="1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Easily adaptable to answer different questions</a:t>
            </a:r>
          </a:p>
          <a:p>
            <a:pPr marL="914400" lvl="1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67" kern="0" dirty="0">
              <a:solidFill>
                <a:sysClr val="windowText" lastClr="000000"/>
              </a:solidFill>
              <a:latin typeface="Arial" panose="020B0604020202020204"/>
              <a:ea typeface="Calibri"/>
              <a:cs typeface="Calibri"/>
              <a:sym typeface="Calibri"/>
            </a:endParaRPr>
          </a:p>
          <a:p>
            <a:pPr marL="457200" indent="-457200" defTabSz="4850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67" kern="0" dirty="0">
                <a:solidFill>
                  <a:sysClr val="windowText" lastClr="000000"/>
                </a:solidFill>
                <a:latin typeface="Arial" panose="020B0604020202020204"/>
                <a:ea typeface="Calibri"/>
                <a:cs typeface="Calibri"/>
                <a:sym typeface="Calibri"/>
              </a:rPr>
              <a:t>Using the trained emulator, we can answer the question of indirect protection offered by 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238368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30C325-7ACD-8B41-8EB5-F9572D6E947F}"/>
              </a:ext>
            </a:extLst>
          </p:cNvPr>
          <p:cNvSpPr txBox="1"/>
          <p:nvPr/>
        </p:nvSpPr>
        <p:spPr>
          <a:xfrm>
            <a:off x="666751" y="3474985"/>
            <a:ext cx="5237228" cy="723793"/>
          </a:xfrm>
          <a:prstGeom prst="rect">
            <a:avLst/>
          </a:prstGeom>
        </p:spPr>
        <p:txBody>
          <a:bodyPr vert="horz" wrap="none" lIns="0" tIns="60960" rIns="121920" bIns="60960" rtlCol="0">
            <a:noAutofit/>
          </a:bodyPr>
          <a:lstStyle/>
          <a:p>
            <a:pPr defTabSz="485055">
              <a:lnSpc>
                <a:spcPct val="93000"/>
              </a:lnSpc>
            </a:pPr>
            <a:endParaRPr lang="en-US" sz="3200" kern="0" dirty="0">
              <a:solidFill>
                <a:srgbClr val="B5C75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62F6-E45C-4B36-922E-D0C1B0B5A3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" y="3564959"/>
            <a:ext cx="10850033" cy="824148"/>
          </a:xfrm>
        </p:spPr>
        <p:txBody>
          <a:bodyPr anchor="ctr" anchorCtr="0"/>
          <a:lstStyle/>
          <a:p>
            <a:r>
              <a:rPr lang="en-US" dirty="0">
                <a:solidFill>
                  <a:schemeClr val="accent1">
                    <a:lumMod val="100000"/>
                  </a:schemeClr>
                </a:solidFill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58005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vert="horz" wrap="square" lIns="91440" tIns="45720" rIns="91440" bIns="45720" rtlCol="0">
        <a:noAutofit/>
      </a:bodyPr>
      <a:lstStyle>
        <a:defPPr marL="0" indent="0" algn="l">
          <a:buNone/>
          <a:defRPr sz="1600" b="0" dirty="0" smtClean="0">
            <a:solidFill>
              <a:schemeClr val="accent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16x9 Swiss TPH.potx" id="{20373BB4-0324-4F16-A9B5-2460B8191979}" vid="{F2F1BD85-56D1-46D2-AF66-9996211A2EE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PresentationFormat>Widescreen</PresentationFormat>
  <Paragraphs>50</Paragraphs>
  <Slides>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Simplon Norm</vt:lpstr>
      <vt:lpstr>System Font Regular</vt:lpstr>
      <vt:lpstr>Wingdings</vt:lpstr>
      <vt:lpstr>Office Theme</vt:lpstr>
      <vt:lpstr>Custom Design</vt:lpstr>
      <vt:lpstr>PowerPoint Presentation</vt:lpstr>
      <vt:lpstr>Malaria prevalence in Ghana</vt:lpstr>
      <vt:lpstr>Malaria prevalence in Ghana</vt:lpstr>
      <vt:lpstr>Question</vt:lpstr>
      <vt:lpstr>Approach</vt:lpstr>
      <vt:lpstr>Approach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9</cp:revision>
  <dcterms:created xsi:type="dcterms:W3CDTF">2025-08-27T11:34:12Z</dcterms:created>
  <dcterms:modified xsi:type="dcterms:W3CDTF">2025-09-01T09:26:18Z</dcterms:modified>
</cp:coreProperties>
</file>