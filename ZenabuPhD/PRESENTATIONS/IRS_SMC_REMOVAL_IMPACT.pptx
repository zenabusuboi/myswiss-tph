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7" r:id="rId2"/>
    <p:sldId id="260" r:id="rId3"/>
    <p:sldId id="264" r:id="rId4"/>
    <p:sldId id="258" r:id="rId5"/>
    <p:sldId id="265" r:id="rId6"/>
    <p:sldId id="261" r:id="rId7"/>
    <p:sldId id="259" r:id="rId8"/>
    <p:sldId id="263" r:id="rId9"/>
    <p:sldId id="262" r:id="rId10"/>
    <p:sldId id="266" r:id="rId11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44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ED7B31-5FA5-4DEC-B2CF-B264EF7EFA0E}" type="datetimeFigureOut">
              <a:rPr lang="de-CH" smtClean="0"/>
              <a:t>21.03.2025</a:t>
            </a:fld>
            <a:endParaRPr lang="de-C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e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FA3F2E-A803-4759-B4A9-8B3CB1F246F3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765037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2e9c2c056fb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0" name="Google Shape;500;g2e9c2c056f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731931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2e9de4d3219_0_2:notes"/>
          <p:cNvSpPr txBox="1">
            <a:spLocks noGrp="1"/>
          </p:cNvSpPr>
          <p:nvPr>
            <p:ph type="body" idx="1"/>
          </p:nvPr>
        </p:nvSpPr>
        <p:spPr>
          <a:xfrm>
            <a:off x="914401" y="4343406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225" tIns="44625" rIns="89225" bIns="44625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 panose="020B0604020202020204" pitchFamily="34" charset="0"/>
              <a:buNone/>
            </a:pPr>
            <a:endParaRPr dirty="0"/>
          </a:p>
        </p:txBody>
      </p:sp>
      <p:sp>
        <p:nvSpPr>
          <p:cNvPr id="517" name="Google Shape;517;g2e9de4d3219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7199184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2e9de4d3219_0_2:notes"/>
          <p:cNvSpPr txBox="1">
            <a:spLocks noGrp="1"/>
          </p:cNvSpPr>
          <p:nvPr>
            <p:ph type="body" idx="1"/>
          </p:nvPr>
        </p:nvSpPr>
        <p:spPr>
          <a:xfrm>
            <a:off x="914401" y="4343406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225" tIns="44625" rIns="89225" bIns="44625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 panose="020B0604020202020204" pitchFamily="34" charset="0"/>
              <a:buNone/>
            </a:pPr>
            <a:endParaRPr dirty="0"/>
          </a:p>
        </p:txBody>
      </p:sp>
      <p:sp>
        <p:nvSpPr>
          <p:cNvPr id="517" name="Google Shape;517;g2e9de4d3219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4592928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2e9de4d3219_0_2:notes"/>
          <p:cNvSpPr txBox="1">
            <a:spLocks noGrp="1"/>
          </p:cNvSpPr>
          <p:nvPr>
            <p:ph type="body" idx="1"/>
          </p:nvPr>
        </p:nvSpPr>
        <p:spPr>
          <a:xfrm>
            <a:off x="914401" y="4343406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225" tIns="44625" rIns="89225" bIns="44625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 panose="020B0604020202020204" pitchFamily="34" charset="0"/>
              <a:buNone/>
            </a:pPr>
            <a:endParaRPr dirty="0"/>
          </a:p>
        </p:txBody>
      </p:sp>
      <p:sp>
        <p:nvSpPr>
          <p:cNvPr id="517" name="Google Shape;517;g2e9de4d3219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202220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2e9de4d3219_0_2:notes"/>
          <p:cNvSpPr txBox="1">
            <a:spLocks noGrp="1"/>
          </p:cNvSpPr>
          <p:nvPr>
            <p:ph type="body" idx="1"/>
          </p:nvPr>
        </p:nvSpPr>
        <p:spPr>
          <a:xfrm>
            <a:off x="914401" y="4343406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225" tIns="44625" rIns="89225" bIns="44625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 panose="020B0604020202020204" pitchFamily="34" charset="0"/>
              <a:buNone/>
            </a:pPr>
            <a:endParaRPr dirty="0"/>
          </a:p>
        </p:txBody>
      </p:sp>
      <p:sp>
        <p:nvSpPr>
          <p:cNvPr id="517" name="Google Shape;517;g2e9de4d3219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9865704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2e9de4d3219_0_2:notes"/>
          <p:cNvSpPr txBox="1">
            <a:spLocks noGrp="1"/>
          </p:cNvSpPr>
          <p:nvPr>
            <p:ph type="body" idx="1"/>
          </p:nvPr>
        </p:nvSpPr>
        <p:spPr>
          <a:xfrm>
            <a:off x="914401" y="4343406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225" tIns="44625" rIns="89225" bIns="44625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 panose="020B0604020202020204" pitchFamily="34" charset="0"/>
              <a:buNone/>
            </a:pPr>
            <a:endParaRPr dirty="0"/>
          </a:p>
        </p:txBody>
      </p:sp>
      <p:sp>
        <p:nvSpPr>
          <p:cNvPr id="517" name="Google Shape;517;g2e9de4d3219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41706192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2e9de4d3219_0_2:notes"/>
          <p:cNvSpPr txBox="1">
            <a:spLocks noGrp="1"/>
          </p:cNvSpPr>
          <p:nvPr>
            <p:ph type="body" idx="1"/>
          </p:nvPr>
        </p:nvSpPr>
        <p:spPr>
          <a:xfrm>
            <a:off x="914401" y="4343406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225" tIns="44625" rIns="89225" bIns="44625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 panose="020B0604020202020204" pitchFamily="34" charset="0"/>
              <a:buNone/>
            </a:pPr>
            <a:endParaRPr dirty="0"/>
          </a:p>
        </p:txBody>
      </p:sp>
      <p:sp>
        <p:nvSpPr>
          <p:cNvPr id="517" name="Google Shape;517;g2e9de4d3219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1481529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2e9de4d3219_0_2:notes"/>
          <p:cNvSpPr txBox="1">
            <a:spLocks noGrp="1"/>
          </p:cNvSpPr>
          <p:nvPr>
            <p:ph type="body" idx="1"/>
          </p:nvPr>
        </p:nvSpPr>
        <p:spPr>
          <a:xfrm>
            <a:off x="914401" y="4343406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225" tIns="44625" rIns="89225" bIns="44625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 panose="020B0604020202020204" pitchFamily="34" charset="0"/>
              <a:buNone/>
            </a:pPr>
            <a:endParaRPr dirty="0"/>
          </a:p>
        </p:txBody>
      </p:sp>
      <p:sp>
        <p:nvSpPr>
          <p:cNvPr id="517" name="Google Shape;517;g2e9de4d3219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096759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2e9de4d3219_0_2:notes"/>
          <p:cNvSpPr txBox="1">
            <a:spLocks noGrp="1"/>
          </p:cNvSpPr>
          <p:nvPr>
            <p:ph type="body" idx="1"/>
          </p:nvPr>
        </p:nvSpPr>
        <p:spPr>
          <a:xfrm>
            <a:off x="914401" y="4343406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225" tIns="44625" rIns="89225" bIns="44625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 panose="020B0604020202020204" pitchFamily="34" charset="0"/>
              <a:buNone/>
            </a:pPr>
            <a:endParaRPr dirty="0"/>
          </a:p>
        </p:txBody>
      </p:sp>
      <p:sp>
        <p:nvSpPr>
          <p:cNvPr id="517" name="Google Shape;517;g2e9de4d3219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1517150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2e9de4d3219_0_2:notes"/>
          <p:cNvSpPr txBox="1">
            <a:spLocks noGrp="1"/>
          </p:cNvSpPr>
          <p:nvPr>
            <p:ph type="body" idx="1"/>
          </p:nvPr>
        </p:nvSpPr>
        <p:spPr>
          <a:xfrm>
            <a:off x="914401" y="4343406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225" tIns="44625" rIns="89225" bIns="44625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 panose="020B0604020202020204" pitchFamily="34" charset="0"/>
              <a:buNone/>
            </a:pPr>
            <a:endParaRPr dirty="0"/>
          </a:p>
        </p:txBody>
      </p:sp>
      <p:sp>
        <p:nvSpPr>
          <p:cNvPr id="517" name="Google Shape;517;g2e9de4d3219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500362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de-CH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de-C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0585B-EC55-40D8-8B6A-605646B970C0}" type="datetimeFigureOut">
              <a:rPr lang="de-CH" smtClean="0"/>
              <a:t>21.03.2025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CA48D-F563-4243-A2E4-CC0823F4B7D0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3424342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de-C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e-C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0585B-EC55-40D8-8B6A-605646B970C0}" type="datetimeFigureOut">
              <a:rPr lang="de-CH" smtClean="0"/>
              <a:t>21.03.2025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CA48D-F563-4243-A2E4-CC0823F4B7D0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987622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de-C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0585B-EC55-40D8-8B6A-605646B970C0}" type="datetimeFigureOut">
              <a:rPr lang="de-CH" smtClean="0"/>
              <a:t>21.03.2025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CA48D-F563-4243-A2E4-CC0823F4B7D0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1278791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de-CH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e-C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e-C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0585B-EC55-40D8-8B6A-605646B970C0}" type="datetimeFigureOut">
              <a:rPr lang="de-CH" smtClean="0"/>
              <a:t>21.03.2025</a:t>
            </a:fld>
            <a:endParaRPr lang="de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CA48D-F563-4243-A2E4-CC0823F4B7D0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985087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de-C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e-CH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e-CH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0585B-EC55-40D8-8B6A-605646B970C0}" type="datetimeFigureOut">
              <a:rPr lang="de-CH" smtClean="0"/>
              <a:t>21.03.2025</a:t>
            </a:fld>
            <a:endParaRPr lang="de-C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CA48D-F563-4243-A2E4-CC0823F4B7D0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823172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de-C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0585B-EC55-40D8-8B6A-605646B970C0}" type="datetimeFigureOut">
              <a:rPr lang="de-CH" smtClean="0"/>
              <a:t>21.03.2025</a:t>
            </a:fld>
            <a:endParaRPr lang="de-C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CA48D-F563-4243-A2E4-CC0823F4B7D0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8769319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0585B-EC55-40D8-8B6A-605646B970C0}" type="datetimeFigureOut">
              <a:rPr lang="de-CH" smtClean="0"/>
              <a:t>21.03.2025</a:t>
            </a:fld>
            <a:endParaRPr lang="de-C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CA48D-F563-4243-A2E4-CC0823F4B7D0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9590582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de-C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e-C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0585B-EC55-40D8-8B6A-605646B970C0}" type="datetimeFigureOut">
              <a:rPr lang="de-CH" smtClean="0"/>
              <a:t>21.03.2025</a:t>
            </a:fld>
            <a:endParaRPr lang="de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CA48D-F563-4243-A2E4-CC0823F4B7D0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0933238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de-CH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C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0585B-EC55-40D8-8B6A-605646B970C0}" type="datetimeFigureOut">
              <a:rPr lang="de-CH" smtClean="0"/>
              <a:t>21.03.2025</a:t>
            </a:fld>
            <a:endParaRPr lang="de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CA48D-F563-4243-A2E4-CC0823F4B7D0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595005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de-C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e-C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0585B-EC55-40D8-8B6A-605646B970C0}" type="datetimeFigureOut">
              <a:rPr lang="de-CH" smtClean="0"/>
              <a:t>21.03.2025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CA48D-F563-4243-A2E4-CC0823F4B7D0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2138963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de-C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e-C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0585B-EC55-40D8-8B6A-605646B970C0}" type="datetimeFigureOut">
              <a:rPr lang="de-CH" smtClean="0"/>
              <a:t>21.03.2025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CA48D-F563-4243-A2E4-CC0823F4B7D0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8169952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ver">
  <p:cSld name="Cover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body" idx="1"/>
          </p:nvPr>
        </p:nvSpPr>
        <p:spPr>
          <a:xfrm>
            <a:off x="5186289" y="3621023"/>
            <a:ext cx="5935600" cy="11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b" anchorCtr="0">
            <a:noAutofit/>
          </a:bodyPr>
          <a:lstStyle>
            <a:lvl1pPr marL="609585" lvl="0" indent="-304792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500"/>
              <a:buNone/>
              <a:defRPr sz="3733">
                <a:solidFill>
                  <a:schemeClr val="accent3"/>
                </a:solidFill>
              </a:defRPr>
            </a:lvl1pPr>
            <a:lvl2pPr marL="1219170" lvl="1" indent="-448722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700"/>
              <a:buChar char="○"/>
              <a:defRPr/>
            </a:lvl2pPr>
            <a:lvl3pPr marL="1828754" lvl="2" indent="-448722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700"/>
              <a:buChar char="■"/>
              <a:defRPr/>
            </a:lvl3pPr>
            <a:lvl4pPr marL="2438339" lvl="3" indent="-448722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700"/>
              <a:buChar char="●"/>
              <a:defRPr/>
            </a:lvl4pPr>
            <a:lvl5pPr marL="3047924" lvl="4" indent="-448722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700"/>
              <a:buChar char="○"/>
              <a:defRPr/>
            </a:lvl5pPr>
            <a:lvl6pPr marL="3657509" lvl="5" indent="-423323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4267093" lvl="6" indent="-423323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4876678" lvl="7" indent="-423323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5486263" lvl="8" indent="-423323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2"/>
          </p:nvPr>
        </p:nvSpPr>
        <p:spPr>
          <a:xfrm>
            <a:off x="5186292" y="5443833"/>
            <a:ext cx="5935600" cy="3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noAutofit/>
          </a:bodyPr>
          <a:lstStyle>
            <a:lvl1pPr marL="609585" lvl="0" indent="-304792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133"/>
            </a:lvl1pPr>
            <a:lvl2pPr marL="1219170" lvl="1" indent="-448722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700"/>
              <a:buChar char="○"/>
              <a:defRPr/>
            </a:lvl2pPr>
            <a:lvl3pPr marL="1828754" lvl="2" indent="-448722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700"/>
              <a:buChar char="■"/>
              <a:defRPr/>
            </a:lvl3pPr>
            <a:lvl4pPr marL="2438339" lvl="3" indent="-448722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700"/>
              <a:buChar char="●"/>
              <a:defRPr/>
            </a:lvl4pPr>
            <a:lvl5pPr marL="3047924" lvl="4" indent="-448722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700"/>
              <a:buChar char="○"/>
              <a:defRPr/>
            </a:lvl5pPr>
            <a:lvl6pPr marL="3657509" lvl="5" indent="-423323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4267093" lvl="6" indent="-423323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4876678" lvl="7" indent="-423323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5486263" lvl="8" indent="-423323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pic>
        <p:nvPicPr>
          <p:cNvPr id="53" name="Google Shape;53;p13"/>
          <p:cNvPicPr preferRelativeResize="0"/>
          <p:nvPr/>
        </p:nvPicPr>
        <p:blipFill rotWithShape="1">
          <a:blip r:embed="rId2">
            <a:alphaModFix/>
          </a:blip>
          <a:srcRect b="52283"/>
          <a:stretch/>
        </p:blipFill>
        <p:spPr>
          <a:xfrm>
            <a:off x="5203088" y="2168490"/>
            <a:ext cx="4134489" cy="1142057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54;p13"/>
          <p:cNvPicPr preferRelativeResize="0"/>
          <p:nvPr/>
        </p:nvPicPr>
        <p:blipFill rotWithShape="1">
          <a:blip r:embed="rId3">
            <a:alphaModFix/>
          </a:blip>
          <a:srcRect l="38525" t="1212" b="236"/>
          <a:stretch/>
        </p:blipFill>
        <p:spPr>
          <a:xfrm>
            <a:off x="1" y="1"/>
            <a:ext cx="4215433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>
            <a:spLocks noGrp="1"/>
          </p:cNvSpPr>
          <p:nvPr>
            <p:ph type="body" idx="3"/>
          </p:nvPr>
        </p:nvSpPr>
        <p:spPr>
          <a:xfrm>
            <a:off x="5186289" y="4921157"/>
            <a:ext cx="5935600" cy="4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noAutofit/>
          </a:bodyPr>
          <a:lstStyle>
            <a:lvl1pPr marL="609585" lvl="0" indent="-304792" algn="l" rtl="0">
              <a:lnSpc>
                <a:spcPct val="93000"/>
              </a:lnSpc>
              <a:spcBef>
                <a:spcPts val="400"/>
              </a:spcBef>
              <a:spcAft>
                <a:spcPts val="0"/>
              </a:spcAft>
              <a:buSzPts val="2500"/>
              <a:buNone/>
              <a:defRPr sz="2667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lvl="1" indent="-448722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700"/>
              <a:buChar char="○"/>
              <a:defRPr/>
            </a:lvl2pPr>
            <a:lvl3pPr marL="1828754" lvl="2" indent="-448722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700"/>
              <a:buChar char="■"/>
              <a:defRPr/>
            </a:lvl3pPr>
            <a:lvl4pPr marL="2438339" lvl="3" indent="-448722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700"/>
              <a:buChar char="●"/>
              <a:defRPr/>
            </a:lvl4pPr>
            <a:lvl5pPr marL="3047924" lvl="4" indent="-448722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700"/>
              <a:buChar char="○"/>
              <a:defRPr/>
            </a:lvl5pPr>
            <a:lvl6pPr marL="3657509" lvl="5" indent="-423323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4267093" lvl="6" indent="-423323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4876678" lvl="7" indent="-423323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5486263" lvl="8" indent="-423323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802137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15">
          <p15:clr>
            <a:srgbClr val="FBAE40"/>
          </p15:clr>
        </p15:guide>
        <p15:guide id="2" pos="216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0"/>
          <p:cNvSpPr txBox="1">
            <a:spLocks noGrp="1"/>
          </p:cNvSpPr>
          <p:nvPr>
            <p:ph type="title"/>
          </p:nvPr>
        </p:nvSpPr>
        <p:spPr>
          <a:xfrm>
            <a:off x="666751" y="366185"/>
            <a:ext cx="10850000" cy="7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lvl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alatino Linotype"/>
              <a:buNone/>
              <a:defRPr>
                <a:solidFill>
                  <a:schemeClr val="accent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2" name="Google Shape;292;p40"/>
          <p:cNvSpPr txBox="1">
            <a:spLocks noGrp="1"/>
          </p:cNvSpPr>
          <p:nvPr>
            <p:ph type="body" idx="1"/>
          </p:nvPr>
        </p:nvSpPr>
        <p:spPr>
          <a:xfrm>
            <a:off x="666751" y="1762064"/>
            <a:ext cx="10850000" cy="38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609585" lvl="0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  <a:defRPr>
                <a:latin typeface="Palatino Linotype"/>
                <a:ea typeface="Palatino Linotype"/>
                <a:cs typeface="Palatino Linotype"/>
                <a:sym typeface="Palatino Linotype"/>
              </a:defRPr>
            </a:lvl1pPr>
            <a:lvl2pPr marL="1219170" lvl="1" indent="-304792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/>
            </a:lvl2pPr>
            <a:lvl3pPr marL="1828754" lvl="2" indent="-304792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3pPr>
            <a:lvl4pPr marL="2438339" lvl="3" indent="-304792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4pPr>
            <a:lvl5pPr marL="3047924" lvl="4" indent="-495288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50"/>
              <a:buChar char="-"/>
              <a:defRPr/>
            </a:lvl5pPr>
            <a:lvl6pPr marL="3657509" lvl="5" indent="-457189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3" name="Google Shape;293;p40"/>
          <p:cNvSpPr txBox="1">
            <a:spLocks noGrp="1"/>
          </p:cNvSpPr>
          <p:nvPr>
            <p:ph type="body" idx="2"/>
          </p:nvPr>
        </p:nvSpPr>
        <p:spPr>
          <a:xfrm>
            <a:off x="666749" y="1220755"/>
            <a:ext cx="1085000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609585" lvl="0" indent="-304792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50"/>
              <a:buFont typeface="Arial"/>
              <a:buNone/>
              <a:defRPr sz="2400" b="1">
                <a:solidFill>
                  <a:srgbClr val="222222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1pPr>
            <a:lvl2pPr marL="1219170" lvl="1" indent="-495288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50"/>
              <a:buChar char="-"/>
              <a:defRPr/>
            </a:lvl2pPr>
            <a:lvl3pPr marL="1828754" lvl="2" indent="-495288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50"/>
              <a:buChar char="▪"/>
              <a:defRPr/>
            </a:lvl3pPr>
            <a:lvl4pPr marL="2438339" lvl="3" indent="-495288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50"/>
              <a:buChar char="-"/>
              <a:defRPr/>
            </a:lvl4pPr>
            <a:lvl5pPr marL="3047924" lvl="4" indent="-495288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50"/>
              <a:buChar char="-"/>
              <a:defRPr/>
            </a:lvl5pPr>
            <a:lvl6pPr marL="3657509" lvl="5" indent="-457189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4" name="Google Shape;294;p40"/>
          <p:cNvSpPr txBox="1">
            <a:spLocks noGrp="1"/>
          </p:cNvSpPr>
          <p:nvPr>
            <p:ph type="ftr" idx="11"/>
          </p:nvPr>
        </p:nvSpPr>
        <p:spPr>
          <a:xfrm>
            <a:off x="675216" y="5655759"/>
            <a:ext cx="10833200" cy="5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lvl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5" name="Google Shape;295;p40"/>
          <p:cNvSpPr/>
          <p:nvPr/>
        </p:nvSpPr>
        <p:spPr>
          <a:xfrm>
            <a:off x="2844800" y="6170716"/>
            <a:ext cx="8229600" cy="509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009220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de-C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e-C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90585B-EC55-40D8-8B6A-605646B970C0}" type="datetimeFigureOut">
              <a:rPr lang="de-CH" smtClean="0"/>
              <a:t>21.03.2025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BCA48D-F563-4243-A2E4-CC0823F4B7D0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277627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502;p65"/>
          <p:cNvSpPr txBox="1">
            <a:spLocks noGrp="1"/>
          </p:cNvSpPr>
          <p:nvPr>
            <p:ph type="body" idx="1"/>
          </p:nvPr>
        </p:nvSpPr>
        <p:spPr>
          <a:xfrm>
            <a:off x="4132053" y="3422615"/>
            <a:ext cx="8059947" cy="157207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45700" rIns="91433" bIns="45700" rtlCol="0" anchor="b" anchorCtr="0">
            <a:noAutofit/>
          </a:bodyPr>
          <a:lstStyle/>
          <a:p>
            <a:pPr marL="0" indent="0">
              <a:spcBef>
                <a:spcPts val="0"/>
              </a:spcBef>
              <a:spcAft>
                <a:spcPts val="1600"/>
              </a:spcAft>
            </a:pPr>
            <a:r>
              <a:rPr lang="en-US" sz="2800" b="1" dirty="0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POTENTIAL IMPACT OF PMI FINANCING ON MALARIA BURDEN IN GHANA</a:t>
            </a:r>
            <a:endParaRPr lang="en-US" sz="2800" b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717310" y="5449455"/>
            <a:ext cx="18842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2400" b="1" dirty="0" smtClean="0"/>
              <a:t>March 2025</a:t>
            </a:r>
            <a:endParaRPr lang="de-CH" sz="2400" b="1" dirty="0"/>
          </a:p>
        </p:txBody>
      </p:sp>
    </p:spTree>
    <p:extLst>
      <p:ext uri="{BB962C8B-B14F-4D97-AF65-F5344CB8AC3E}">
        <p14:creationId xmlns:p14="http://schemas.microsoft.com/office/powerpoint/2010/main" val="2017781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67"/>
          <p:cNvSpPr txBox="1">
            <a:spLocks noGrp="1"/>
          </p:cNvSpPr>
          <p:nvPr>
            <p:ph type="title"/>
          </p:nvPr>
        </p:nvSpPr>
        <p:spPr>
          <a:xfrm>
            <a:off x="117986" y="32349"/>
            <a:ext cx="12074013" cy="745200"/>
          </a:xfrm>
        </p:spPr>
        <p:txBody>
          <a:bodyPr/>
          <a:lstStyle/>
          <a:p>
            <a:r>
              <a:rPr lang="en-US" sz="2800" b="1" dirty="0" smtClean="0">
                <a:latin typeface="+mn-lt"/>
              </a:rPr>
              <a:t>Background – Malaria in Ghana</a:t>
            </a:r>
            <a:endParaRPr lang="en-US" sz="2800" b="1" dirty="0">
              <a:latin typeface="+mn-l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41381" y="906858"/>
            <a:ext cx="1162722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de-CH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Malaria </a:t>
            </a:r>
            <a:r>
              <a:rPr lang="de-CH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lang="de-CH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still a </a:t>
            </a:r>
            <a:r>
              <a:rPr lang="de-CH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major</a:t>
            </a:r>
            <a:r>
              <a:rPr lang="de-CH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public</a:t>
            </a:r>
            <a:r>
              <a:rPr lang="de-CH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health</a:t>
            </a:r>
            <a:r>
              <a:rPr lang="de-CH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concern</a:t>
            </a:r>
            <a:r>
              <a:rPr lang="de-CH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in Ghana</a:t>
            </a:r>
          </a:p>
          <a:p>
            <a:endParaRPr lang="de-CH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Tx/>
              <a:buChar char="-"/>
            </a:pPr>
            <a:r>
              <a:rPr lang="de-CH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It</a:t>
            </a:r>
            <a:r>
              <a:rPr lang="de-CH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accounts</a:t>
            </a:r>
            <a:r>
              <a:rPr lang="de-CH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de-CH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40% </a:t>
            </a:r>
            <a:r>
              <a:rPr lang="de-CH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de-CH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outpatient</a:t>
            </a:r>
            <a:r>
              <a:rPr lang="de-CH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visits</a:t>
            </a:r>
            <a:r>
              <a:rPr lang="de-CH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de-CH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hospitals</a:t>
            </a:r>
            <a:endParaRPr lang="de-CH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CH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Tx/>
              <a:buChar char="-"/>
            </a:pPr>
            <a:r>
              <a:rPr lang="de-CH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IRS </a:t>
            </a:r>
            <a:r>
              <a:rPr lang="de-CH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de-CH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SMC </a:t>
            </a:r>
            <a:r>
              <a:rPr lang="de-CH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are</a:t>
            </a:r>
            <a:r>
              <a:rPr lang="de-CH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part</a:t>
            </a:r>
            <a:r>
              <a:rPr lang="de-CH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de-CH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de-CH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effective</a:t>
            </a:r>
            <a:r>
              <a:rPr lang="de-CH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malaria</a:t>
            </a:r>
            <a:r>
              <a:rPr lang="de-CH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control</a:t>
            </a:r>
            <a:r>
              <a:rPr lang="de-CH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interventions</a:t>
            </a:r>
            <a:r>
              <a:rPr lang="de-CH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de-CH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are</a:t>
            </a:r>
            <a:r>
              <a:rPr lang="de-CH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usually</a:t>
            </a:r>
            <a:r>
              <a:rPr lang="de-CH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prioritized</a:t>
            </a:r>
            <a:r>
              <a:rPr lang="de-CH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in </a:t>
            </a:r>
            <a:r>
              <a:rPr lang="de-CH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malaria</a:t>
            </a:r>
            <a:r>
              <a:rPr lang="de-CH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control</a:t>
            </a:r>
            <a:r>
              <a:rPr lang="de-CH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programs</a:t>
            </a:r>
            <a:endParaRPr lang="de-CH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0786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67"/>
          <p:cNvSpPr txBox="1">
            <a:spLocks noGrp="1"/>
          </p:cNvSpPr>
          <p:nvPr>
            <p:ph type="title"/>
          </p:nvPr>
        </p:nvSpPr>
        <p:spPr>
          <a:xfrm>
            <a:off x="117986" y="32349"/>
            <a:ext cx="12074013" cy="745200"/>
          </a:xfrm>
        </p:spPr>
        <p:txBody>
          <a:bodyPr/>
          <a:lstStyle/>
          <a:p>
            <a:r>
              <a:rPr lang="en-US" sz="2800" b="1" dirty="0" smtClean="0">
                <a:latin typeface="+mn-lt"/>
              </a:rPr>
              <a:t>Background – IRS in Ghana is Partly </a:t>
            </a:r>
            <a:r>
              <a:rPr lang="en-US" sz="2800" b="1" dirty="0">
                <a:latin typeface="+mn-lt"/>
              </a:rPr>
              <a:t>F</a:t>
            </a:r>
            <a:r>
              <a:rPr lang="en-US" sz="2800" b="1" dirty="0" smtClean="0">
                <a:latin typeface="+mn-lt"/>
              </a:rPr>
              <a:t>unded by PMI</a:t>
            </a:r>
            <a:endParaRPr lang="en-US" sz="2800" b="1" dirty="0">
              <a:latin typeface="+mn-l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671781" y="6497904"/>
            <a:ext cx="35837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dirty="0" smtClean="0"/>
              <a:t>Source: FY-2024-Ghana-MOP</a:t>
            </a:r>
            <a:endParaRPr lang="de-CH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048" y="1006763"/>
            <a:ext cx="8324850" cy="4714875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3186545" y="1782617"/>
            <a:ext cx="1450110" cy="1034473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cxnSp>
        <p:nvCxnSpPr>
          <p:cNvPr id="7" name="Straight Arrow Connector 6"/>
          <p:cNvCxnSpPr/>
          <p:nvPr/>
        </p:nvCxnSpPr>
        <p:spPr>
          <a:xfrm flipH="1">
            <a:off x="4756727" y="2032001"/>
            <a:ext cx="2272147" cy="193963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5429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67"/>
          <p:cNvSpPr txBox="1">
            <a:spLocks noGrp="1"/>
          </p:cNvSpPr>
          <p:nvPr>
            <p:ph type="title"/>
          </p:nvPr>
        </p:nvSpPr>
        <p:spPr>
          <a:xfrm>
            <a:off x="117986" y="32349"/>
            <a:ext cx="12074013" cy="745200"/>
          </a:xfrm>
        </p:spPr>
        <p:txBody>
          <a:bodyPr/>
          <a:lstStyle/>
          <a:p>
            <a:r>
              <a:rPr lang="en-US" sz="2800" b="1" dirty="0" smtClean="0">
                <a:latin typeface="+mn-lt"/>
              </a:rPr>
              <a:t>Background – SMC in Ghana is largely funded by PMI</a:t>
            </a:r>
            <a:endParaRPr lang="en-US" sz="2800" b="1" dirty="0">
              <a:latin typeface="+mn-lt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5631" y="1094551"/>
            <a:ext cx="7277100" cy="50863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671781" y="6497904"/>
            <a:ext cx="35837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dirty="0" smtClean="0"/>
              <a:t>Source: FY-2024-Ghana-MOP</a:t>
            </a:r>
            <a:endParaRPr lang="de-CH" dirty="0"/>
          </a:p>
        </p:txBody>
      </p:sp>
      <p:cxnSp>
        <p:nvCxnSpPr>
          <p:cNvPr id="13" name="Straight Arrow Connector 12"/>
          <p:cNvCxnSpPr/>
          <p:nvPr/>
        </p:nvCxnSpPr>
        <p:spPr>
          <a:xfrm flipH="1">
            <a:off x="5144655" y="3175908"/>
            <a:ext cx="2761674" cy="189345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2604942" y="2224562"/>
            <a:ext cx="2419928" cy="2281382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42846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67"/>
          <p:cNvSpPr txBox="1">
            <a:spLocks noGrp="1"/>
          </p:cNvSpPr>
          <p:nvPr>
            <p:ph type="title"/>
          </p:nvPr>
        </p:nvSpPr>
        <p:spPr>
          <a:xfrm>
            <a:off x="117986" y="32349"/>
            <a:ext cx="12074013" cy="745200"/>
          </a:xfrm>
        </p:spPr>
        <p:txBody>
          <a:bodyPr/>
          <a:lstStyle/>
          <a:p>
            <a:r>
              <a:rPr lang="en-US" sz="2800" b="1" dirty="0" smtClean="0">
                <a:latin typeface="+mn-lt"/>
              </a:rPr>
              <a:t>Background – Malaria in Ghana</a:t>
            </a:r>
            <a:endParaRPr lang="en-US" sz="2800" b="1" dirty="0">
              <a:latin typeface="+mn-lt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15635" y="777549"/>
            <a:ext cx="11249891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The immediate and longer-term future of PMI financing is currently uncertain </a:t>
            </a:r>
          </a:p>
          <a:p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Given how effective IRS and SMC are to overall malaria control in Ghana, their inclusion or removal has the potential to significantly impact total malaria burden in Ghana.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We simulate the potential impact of IRS and SMC inclusion and removal on malaria burden in Ghana from 2025-2027</a:t>
            </a:r>
            <a:endParaRPr lang="de-CH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8248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67"/>
          <p:cNvSpPr txBox="1">
            <a:spLocks noGrp="1"/>
          </p:cNvSpPr>
          <p:nvPr>
            <p:ph type="title"/>
          </p:nvPr>
        </p:nvSpPr>
        <p:spPr>
          <a:xfrm>
            <a:off x="117986" y="32349"/>
            <a:ext cx="12074013" cy="745200"/>
          </a:xfrm>
        </p:spPr>
        <p:txBody>
          <a:bodyPr/>
          <a:lstStyle/>
          <a:p>
            <a:r>
              <a:rPr lang="en-US" sz="2800" b="1" dirty="0" smtClean="0">
                <a:latin typeface="+mn-lt"/>
              </a:rPr>
              <a:t>Methods </a:t>
            </a:r>
            <a:endParaRPr lang="en-US" sz="2800" b="1" dirty="0">
              <a:latin typeface="+mn-lt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17986" y="777549"/>
            <a:ext cx="11627222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e-CH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Used</a:t>
            </a:r>
            <a:r>
              <a:rPr lang="de-CH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OpenMalaria</a:t>
            </a:r>
            <a:r>
              <a:rPr lang="de-CH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de-CH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simulate</a:t>
            </a:r>
            <a:r>
              <a:rPr lang="de-CH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malaria</a:t>
            </a:r>
            <a:r>
              <a:rPr lang="de-CH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transmission</a:t>
            </a:r>
            <a:r>
              <a:rPr lang="de-CH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in Ghana </a:t>
            </a:r>
            <a:r>
              <a:rPr lang="de-CH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de-CH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explore</a:t>
            </a:r>
            <a:r>
              <a:rPr lang="de-CH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de-CH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impact</a:t>
            </a:r>
            <a:r>
              <a:rPr lang="de-CH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de-CH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removing</a:t>
            </a:r>
            <a:r>
              <a:rPr lang="de-CH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IRS </a:t>
            </a:r>
            <a:r>
              <a:rPr lang="de-CH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de-CH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SMC in </a:t>
            </a:r>
            <a:r>
              <a:rPr lang="de-CH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de-CH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years</a:t>
            </a:r>
            <a:r>
              <a:rPr lang="de-CH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2025-2027 on </a:t>
            </a:r>
            <a:r>
              <a:rPr lang="de-CH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severe</a:t>
            </a:r>
            <a:r>
              <a:rPr lang="de-CH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de-CH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uncomplicated</a:t>
            </a:r>
            <a:r>
              <a:rPr lang="de-CH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malaria</a:t>
            </a:r>
            <a:endParaRPr lang="de-CH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CH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CH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de-CH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scenarios</a:t>
            </a:r>
            <a:r>
              <a:rPr lang="de-CH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were</a:t>
            </a:r>
            <a:r>
              <a:rPr lang="de-CH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simulated</a:t>
            </a:r>
            <a:r>
              <a:rPr lang="de-CH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endParaRPr lang="de-CH" sz="24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CH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BAU</a:t>
            </a:r>
            <a:r>
              <a:rPr lang="de-CH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- IRS </a:t>
            </a:r>
            <a:r>
              <a:rPr lang="de-CH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de-CH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SMC </a:t>
            </a:r>
            <a:r>
              <a:rPr lang="de-CH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deployments</a:t>
            </a:r>
            <a:r>
              <a:rPr lang="de-CH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continue</a:t>
            </a:r>
            <a:r>
              <a:rPr lang="de-CH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as</a:t>
            </a:r>
            <a:r>
              <a:rPr lang="de-CH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usual</a:t>
            </a:r>
            <a:r>
              <a:rPr lang="de-CH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in </a:t>
            </a:r>
            <a:r>
              <a:rPr lang="de-CH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de-CH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years</a:t>
            </a:r>
            <a:r>
              <a:rPr lang="de-CH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2025-2027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de-CH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CH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noSMC_IRS</a:t>
            </a:r>
            <a:r>
              <a:rPr lang="de-CH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- IRS </a:t>
            </a:r>
            <a:r>
              <a:rPr lang="de-CH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de-CH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SMC </a:t>
            </a:r>
            <a:r>
              <a:rPr lang="de-CH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removed</a:t>
            </a:r>
            <a:r>
              <a:rPr lang="de-CH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in </a:t>
            </a:r>
            <a:r>
              <a:rPr lang="de-CH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de-CH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years</a:t>
            </a:r>
            <a:r>
              <a:rPr lang="de-CH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2025-2027</a:t>
            </a:r>
          </a:p>
          <a:p>
            <a:pPr marL="285750" indent="-285750">
              <a:buFontTx/>
              <a:buChar char="-"/>
            </a:pPr>
            <a:endParaRPr lang="de-CH" sz="1600" dirty="0"/>
          </a:p>
        </p:txBody>
      </p:sp>
    </p:spTree>
    <p:extLst>
      <p:ext uri="{BB962C8B-B14F-4D97-AF65-F5344CB8AC3E}">
        <p14:creationId xmlns:p14="http://schemas.microsoft.com/office/powerpoint/2010/main" val="3352986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22215"/>
            <a:ext cx="12192000" cy="5901032"/>
          </a:xfrm>
          <a:prstGeom prst="rect">
            <a:avLst/>
          </a:prstGeom>
        </p:spPr>
      </p:pic>
      <p:sp>
        <p:nvSpPr>
          <p:cNvPr id="7" name="Google Shape;519;p67"/>
          <p:cNvSpPr txBox="1">
            <a:spLocks noGrp="1"/>
          </p:cNvSpPr>
          <p:nvPr>
            <p:ph type="title"/>
          </p:nvPr>
        </p:nvSpPr>
        <p:spPr>
          <a:xfrm>
            <a:off x="117986" y="32349"/>
            <a:ext cx="12074013" cy="745200"/>
          </a:xfrm>
        </p:spPr>
        <p:txBody>
          <a:bodyPr/>
          <a:lstStyle/>
          <a:p>
            <a:r>
              <a:rPr lang="en-US" sz="2800" b="1" dirty="0" smtClean="0">
                <a:latin typeface="+mn-lt"/>
              </a:rPr>
              <a:t>Results – Annual Uncomplicated and Severe </a:t>
            </a:r>
            <a:r>
              <a:rPr lang="en-US" sz="2800" b="1" dirty="0">
                <a:latin typeface="+mn-lt"/>
              </a:rPr>
              <a:t>M</a:t>
            </a:r>
            <a:r>
              <a:rPr lang="en-US" sz="2800" b="1" dirty="0" smtClean="0">
                <a:latin typeface="+mn-lt"/>
              </a:rPr>
              <a:t>alaria </a:t>
            </a:r>
            <a:r>
              <a:rPr lang="en-US" sz="2800" b="1" dirty="0">
                <a:latin typeface="+mn-lt"/>
              </a:rPr>
              <a:t>C</a:t>
            </a:r>
            <a:r>
              <a:rPr lang="en-US" sz="2800" b="1" dirty="0" smtClean="0">
                <a:latin typeface="+mn-lt"/>
              </a:rPr>
              <a:t>ases </a:t>
            </a:r>
            <a:endParaRPr lang="en-US" sz="28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33491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6" y="713013"/>
            <a:ext cx="12190214" cy="5875580"/>
          </a:xfrm>
          <a:prstGeom prst="rect">
            <a:avLst/>
          </a:prstGeom>
        </p:spPr>
      </p:pic>
      <p:sp>
        <p:nvSpPr>
          <p:cNvPr id="5" name="Google Shape;519;p67"/>
          <p:cNvSpPr txBox="1">
            <a:spLocks noGrp="1"/>
          </p:cNvSpPr>
          <p:nvPr>
            <p:ph type="title"/>
          </p:nvPr>
        </p:nvSpPr>
        <p:spPr>
          <a:xfrm>
            <a:off x="59886" y="0"/>
            <a:ext cx="12074013" cy="745200"/>
          </a:xfrm>
        </p:spPr>
        <p:txBody>
          <a:bodyPr/>
          <a:lstStyle/>
          <a:p>
            <a:r>
              <a:rPr lang="en-US" sz="2800" b="1" dirty="0" smtClean="0">
                <a:latin typeface="+mn-lt"/>
              </a:rPr>
              <a:t>Results – Annual </a:t>
            </a:r>
            <a:r>
              <a:rPr lang="en-US" sz="2800" b="1" dirty="0">
                <a:latin typeface="+mn-lt"/>
              </a:rPr>
              <a:t>U</a:t>
            </a:r>
            <a:r>
              <a:rPr lang="en-US" sz="2800" b="1" dirty="0" smtClean="0">
                <a:latin typeface="+mn-lt"/>
              </a:rPr>
              <a:t>ncomplicated and Severe Malaria Cases </a:t>
            </a:r>
            <a:r>
              <a:rPr lang="en-US" sz="2800" b="1" dirty="0">
                <a:latin typeface="+mn-lt"/>
              </a:rPr>
              <a:t>O</a:t>
            </a:r>
            <a:r>
              <a:rPr lang="en-US" sz="2800" b="1" dirty="0" smtClean="0">
                <a:latin typeface="+mn-lt"/>
              </a:rPr>
              <a:t>ver </a:t>
            </a:r>
            <a:r>
              <a:rPr lang="en-US" sz="2800" b="1" dirty="0">
                <a:latin typeface="+mn-lt"/>
              </a:rPr>
              <a:t>T</a:t>
            </a:r>
            <a:r>
              <a:rPr lang="en-US" sz="2800" b="1" dirty="0" smtClean="0">
                <a:latin typeface="+mn-lt"/>
              </a:rPr>
              <a:t>ime </a:t>
            </a:r>
            <a:endParaRPr lang="en-US" sz="28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90795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519;p67"/>
          <p:cNvSpPr txBox="1">
            <a:spLocks noGrp="1"/>
          </p:cNvSpPr>
          <p:nvPr>
            <p:ph type="title"/>
          </p:nvPr>
        </p:nvSpPr>
        <p:spPr>
          <a:xfrm>
            <a:off x="59886" y="0"/>
            <a:ext cx="12074013" cy="745200"/>
          </a:xfrm>
        </p:spPr>
        <p:txBody>
          <a:bodyPr/>
          <a:lstStyle/>
          <a:p>
            <a:r>
              <a:rPr lang="en-US" sz="2800" b="1" dirty="0" smtClean="0">
                <a:latin typeface="+mn-lt"/>
              </a:rPr>
              <a:t>Results – Additional Number of Malaria Cases Due to Removal of IRS and SMC </a:t>
            </a:r>
            <a:endParaRPr lang="en-US" sz="2800" b="1" dirty="0">
              <a:latin typeface="+mn-lt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87085"/>
            <a:ext cx="12192000" cy="584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075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519;p67"/>
          <p:cNvSpPr txBox="1">
            <a:spLocks noGrp="1"/>
          </p:cNvSpPr>
          <p:nvPr>
            <p:ph type="title"/>
          </p:nvPr>
        </p:nvSpPr>
        <p:spPr>
          <a:xfrm>
            <a:off x="59886" y="0"/>
            <a:ext cx="12074013" cy="745200"/>
          </a:xfrm>
        </p:spPr>
        <p:txBody>
          <a:bodyPr/>
          <a:lstStyle/>
          <a:p>
            <a:r>
              <a:rPr lang="en-US" sz="2800" b="1" dirty="0" smtClean="0">
                <a:latin typeface="+mn-lt"/>
              </a:rPr>
              <a:t>Results – Mean Prevalence and Incidence Rates</a:t>
            </a:r>
            <a:endParaRPr lang="en-US" sz="2800" b="1" dirty="0">
              <a:latin typeface="+mn-lt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47023"/>
            <a:ext cx="12172638" cy="5876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855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241</Words>
  <Application>Microsoft Office PowerPoint</Application>
  <PresentationFormat>Widescreen</PresentationFormat>
  <Paragraphs>30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Palatino Linotype</vt:lpstr>
      <vt:lpstr>Office Theme</vt:lpstr>
      <vt:lpstr>PowerPoint Presentation</vt:lpstr>
      <vt:lpstr>Background – Malaria in Ghana</vt:lpstr>
      <vt:lpstr>Background – IRS in Ghana is Partly Funded by PMI</vt:lpstr>
      <vt:lpstr>Background – SMC in Ghana is largely funded by PMI</vt:lpstr>
      <vt:lpstr>Background – Malaria in Ghana</vt:lpstr>
      <vt:lpstr>Methods </vt:lpstr>
      <vt:lpstr>Results – Annual Uncomplicated and Severe Malaria Cases </vt:lpstr>
      <vt:lpstr>Results – Annual Uncomplicated and Severe Malaria Cases Over Time </vt:lpstr>
      <vt:lpstr>Results – Additional Number of Malaria Cases Due to Removal of IRS and SMC </vt:lpstr>
      <vt:lpstr>Results – Mean Prevalence and Incidence Rates</vt:lpstr>
    </vt:vector>
  </TitlesOfParts>
  <Company>Swiss TPH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Zenabu Suboi</dc:creator>
  <cp:lastModifiedBy>Zenabu Suboi</cp:lastModifiedBy>
  <cp:revision>24</cp:revision>
  <dcterms:created xsi:type="dcterms:W3CDTF">2025-03-16T23:01:49Z</dcterms:created>
  <dcterms:modified xsi:type="dcterms:W3CDTF">2025-03-21T12:06:48Z</dcterms:modified>
</cp:coreProperties>
</file>