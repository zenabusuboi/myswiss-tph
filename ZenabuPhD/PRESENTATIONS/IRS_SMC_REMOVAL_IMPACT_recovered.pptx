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0" r:id="rId3"/>
    <p:sldId id="264" r:id="rId4"/>
    <p:sldId id="258" r:id="rId5"/>
    <p:sldId id="265" r:id="rId6"/>
    <p:sldId id="261" r:id="rId7"/>
    <p:sldId id="259" r:id="rId8"/>
    <p:sldId id="263" r:id="rId9"/>
    <p:sldId id="262" r:id="rId10"/>
    <p:sldId id="266" r:id="rId11"/>
    <p:sldId id="267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4" d="100"/>
          <a:sy n="64" d="100"/>
        </p:scale>
        <p:origin x="92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D7B31-5FA5-4DEC-B2CF-B264EF7EFA0E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A3F2E-A803-4759-B4A9-8B3CB1F246F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6503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e9c2c056f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g2e9c2c056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3193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19918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59292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0222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86570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70619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48152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9675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51715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0036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4478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42434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8762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27879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85087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317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76931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59058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332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9500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1389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1699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">
  <p:cSld name="Cov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5186289" y="3621023"/>
            <a:ext cx="5935600" cy="11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  <a:defRPr sz="3733">
                <a:solidFill>
                  <a:schemeClr val="accent3"/>
                </a:solidFill>
              </a:defRPr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2"/>
          </p:nvPr>
        </p:nvSpPr>
        <p:spPr>
          <a:xfrm>
            <a:off x="5186292" y="5443833"/>
            <a:ext cx="5935600" cy="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133"/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52283"/>
          <a:stretch/>
        </p:blipFill>
        <p:spPr>
          <a:xfrm>
            <a:off x="5203088" y="2168490"/>
            <a:ext cx="4134489" cy="114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l="38525" t="1212" b="236"/>
          <a:stretch/>
        </p:blipFill>
        <p:spPr>
          <a:xfrm>
            <a:off x="1" y="1"/>
            <a:ext cx="421543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body" idx="3"/>
          </p:nvPr>
        </p:nvSpPr>
        <p:spPr>
          <a:xfrm>
            <a:off x="5186289" y="4921157"/>
            <a:ext cx="5935600" cy="4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609585" lvl="0" indent="-304792" algn="l" rtl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  <a:defRPr sz="2667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0213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0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alatino Linotype"/>
              <a:buNone/>
              <a:defRPr>
                <a:solidFill>
                  <a:schemeClr val="accen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40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0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  <a:defRPr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1219170" lvl="1" indent="-30479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/>
            </a:lvl2pPr>
            <a:lvl3pPr marL="1828754" lvl="2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marL="2438339" lvl="3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marL="3047924" lvl="4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40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Font typeface="Arial"/>
              <a:buNone/>
              <a:defRPr sz="2400" b="1">
                <a:solidFill>
                  <a:srgbClr val="22222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1219170" lvl="1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2pPr>
            <a:lvl3pPr marL="1828754" lvl="2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▪"/>
              <a:defRPr/>
            </a:lvl3pPr>
            <a:lvl4pPr marL="2438339" lvl="3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4pPr>
            <a:lvl5pPr marL="3047924" lvl="4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40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2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40"/>
          <p:cNvSpPr/>
          <p:nvPr/>
        </p:nvSpPr>
        <p:spPr>
          <a:xfrm>
            <a:off x="2844800" y="6170716"/>
            <a:ext cx="8229600" cy="5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092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7762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02;p65"/>
          <p:cNvSpPr txBox="1">
            <a:spLocks noGrp="1"/>
          </p:cNvSpPr>
          <p:nvPr>
            <p:ph type="body" idx="1"/>
          </p:nvPr>
        </p:nvSpPr>
        <p:spPr>
          <a:xfrm>
            <a:off x="4132053" y="3422615"/>
            <a:ext cx="8059947" cy="15720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91433" bIns="45700" rtlCol="0" anchor="b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600"/>
              </a:spcAft>
            </a:pPr>
            <a:r>
              <a:rPr 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IMPACT OF PMI FINANCING ON MALARIA BURDEN IN GHANA</a:t>
            </a:r>
            <a:endParaRPr lang="en-US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17310" y="5449455"/>
            <a:ext cx="1884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400" b="1" dirty="0" smtClean="0"/>
              <a:t>March 2025</a:t>
            </a:r>
            <a:endParaRPr lang="de-CH" sz="2400" b="1" dirty="0"/>
          </a:p>
        </p:txBody>
      </p:sp>
    </p:spTree>
    <p:extLst>
      <p:ext uri="{BB962C8B-B14F-4D97-AF65-F5344CB8AC3E}">
        <p14:creationId xmlns:p14="http://schemas.microsoft.com/office/powerpoint/2010/main" val="201778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/>
          <p:cNvSpPr txBox="1">
            <a:spLocks noGrp="1"/>
          </p:cNvSpPr>
          <p:nvPr>
            <p:ph type="title"/>
          </p:nvPr>
        </p:nvSpPr>
        <p:spPr>
          <a:xfrm>
            <a:off x="117986" y="32349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Background – Malaria in Ghana</a:t>
            </a:r>
            <a:endParaRPr lang="en-US" sz="2800" b="1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1381" y="906858"/>
            <a:ext cx="116272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Malaria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still a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major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health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concern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in Ghana</a:t>
            </a:r>
          </a:p>
          <a:p>
            <a:endParaRPr lang="de-CH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accounts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40%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outpatient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visits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hospitals</a:t>
            </a:r>
            <a:endParaRPr lang="de-CH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IRS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SMC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part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effective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malaria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interventions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usually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prioritized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malaria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programs</a:t>
            </a:r>
            <a:endParaRPr lang="de-CH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786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/>
          <p:cNvSpPr txBox="1">
            <a:spLocks noGrp="1"/>
          </p:cNvSpPr>
          <p:nvPr>
            <p:ph type="title"/>
          </p:nvPr>
        </p:nvSpPr>
        <p:spPr>
          <a:xfrm>
            <a:off x="117986" y="32349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Background – IRS in Ghana is Partly </a:t>
            </a:r>
            <a:r>
              <a:rPr lang="en-US" sz="2800" b="1" dirty="0">
                <a:latin typeface="+mn-lt"/>
              </a:rPr>
              <a:t>F</a:t>
            </a:r>
            <a:r>
              <a:rPr lang="en-US" sz="2800" b="1" dirty="0" smtClean="0">
                <a:latin typeface="+mn-lt"/>
              </a:rPr>
              <a:t>unded by PMI</a:t>
            </a:r>
            <a:endParaRPr lang="en-US" sz="2800" b="1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71781" y="6497904"/>
            <a:ext cx="3583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smtClean="0"/>
              <a:t>Source: FY-2024-Ghana-MOP</a:t>
            </a:r>
            <a:endParaRPr lang="de-CH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048" y="1006763"/>
            <a:ext cx="8324850" cy="471487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186545" y="1782617"/>
            <a:ext cx="1450110" cy="103447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4756727" y="2032001"/>
            <a:ext cx="2272147" cy="1939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42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/>
          <p:cNvSpPr txBox="1">
            <a:spLocks noGrp="1"/>
          </p:cNvSpPr>
          <p:nvPr>
            <p:ph type="title"/>
          </p:nvPr>
        </p:nvSpPr>
        <p:spPr>
          <a:xfrm>
            <a:off x="117986" y="32349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Background – SMC in Ghana is largely funded by PMI</a:t>
            </a:r>
            <a:endParaRPr lang="en-US" sz="2800" b="1" dirty="0">
              <a:latin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631" y="1094551"/>
            <a:ext cx="7277100" cy="5086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71781" y="6497904"/>
            <a:ext cx="3583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smtClean="0"/>
              <a:t>Source: FY-2024-Ghana-MOP</a:t>
            </a:r>
            <a:endParaRPr lang="de-CH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144655" y="3175908"/>
            <a:ext cx="2761674" cy="18934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604942" y="2224562"/>
            <a:ext cx="2419928" cy="228138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284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/>
          <p:cNvSpPr txBox="1">
            <a:spLocks noGrp="1"/>
          </p:cNvSpPr>
          <p:nvPr>
            <p:ph type="title"/>
          </p:nvPr>
        </p:nvSpPr>
        <p:spPr>
          <a:xfrm>
            <a:off x="117986" y="32349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Background – Malaria in Ghana</a:t>
            </a:r>
            <a:endParaRPr lang="en-US" sz="2800" b="1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5635" y="777549"/>
            <a:ext cx="1124989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immediate and longer-term future of PMI financing is currently uncertain </a:t>
            </a:r>
          </a:p>
          <a:p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Given how effective IRS and SMC are to overall malaria control in Ghana, their inclusion or removal has the potential to significantly impact total malaria burden in Ghana.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We simulate the potential impact of IRS and SMC inclusion and removal on malaria burden in Ghana from 2025-2027</a:t>
            </a:r>
            <a:endParaRPr lang="de-CH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24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/>
          <p:cNvSpPr txBox="1">
            <a:spLocks noGrp="1"/>
          </p:cNvSpPr>
          <p:nvPr>
            <p:ph type="title"/>
          </p:nvPr>
        </p:nvSpPr>
        <p:spPr>
          <a:xfrm>
            <a:off x="117986" y="32349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Methods </a:t>
            </a:r>
            <a:endParaRPr lang="en-US" sz="2800" b="1" dirty="0"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7986" y="777549"/>
            <a:ext cx="1162722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OpenMalaria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simulate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malaria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transmission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in Ghana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explore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removing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IRS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SMC in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years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2025-2027 on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severe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uncomplicated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malaria</a:t>
            </a:r>
            <a:endParaRPr lang="de-CH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CH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de-CH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scenarios</a:t>
            </a:r>
            <a:r>
              <a:rPr lang="de-CH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were</a:t>
            </a:r>
            <a:r>
              <a:rPr lang="de-CH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simulated</a:t>
            </a:r>
            <a:r>
              <a:rPr lang="de-CH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de-CH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CH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BAU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- IRS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SMC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deployments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usual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years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2025-2027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e-CH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CH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noSMC_IRS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- IRS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SMC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removed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years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2025-2027</a:t>
            </a:r>
          </a:p>
          <a:p>
            <a:pPr marL="285750" indent="-285750">
              <a:buFontTx/>
              <a:buChar char="-"/>
            </a:pPr>
            <a:endParaRPr lang="de-CH" sz="1600" dirty="0"/>
          </a:p>
        </p:txBody>
      </p:sp>
    </p:spTree>
    <p:extLst>
      <p:ext uri="{BB962C8B-B14F-4D97-AF65-F5344CB8AC3E}">
        <p14:creationId xmlns:p14="http://schemas.microsoft.com/office/powerpoint/2010/main" val="335298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2215"/>
            <a:ext cx="12192000" cy="5901032"/>
          </a:xfrm>
          <a:prstGeom prst="rect">
            <a:avLst/>
          </a:prstGeom>
        </p:spPr>
      </p:pic>
      <p:sp>
        <p:nvSpPr>
          <p:cNvPr id="7" name="Google Shape;519;p67"/>
          <p:cNvSpPr txBox="1">
            <a:spLocks noGrp="1"/>
          </p:cNvSpPr>
          <p:nvPr>
            <p:ph type="title"/>
          </p:nvPr>
        </p:nvSpPr>
        <p:spPr>
          <a:xfrm>
            <a:off x="117986" y="32349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Results – Annual Uncomplicated and Severe </a:t>
            </a:r>
            <a:r>
              <a:rPr lang="en-US" sz="2800" b="1" dirty="0">
                <a:latin typeface="+mn-lt"/>
              </a:rPr>
              <a:t>M</a:t>
            </a:r>
            <a:r>
              <a:rPr lang="en-US" sz="2800" b="1" dirty="0" smtClean="0">
                <a:latin typeface="+mn-lt"/>
              </a:rPr>
              <a:t>alaria </a:t>
            </a:r>
            <a:r>
              <a:rPr lang="en-US" sz="2800" b="1" dirty="0">
                <a:latin typeface="+mn-lt"/>
              </a:rPr>
              <a:t>C</a:t>
            </a:r>
            <a:r>
              <a:rPr lang="en-US" sz="2800" b="1" dirty="0" smtClean="0">
                <a:latin typeface="+mn-lt"/>
              </a:rPr>
              <a:t>ases </a:t>
            </a:r>
            <a:endParaRPr lang="en-US" sz="28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3349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" y="713013"/>
            <a:ext cx="12190214" cy="5875580"/>
          </a:xfrm>
          <a:prstGeom prst="rect">
            <a:avLst/>
          </a:prstGeom>
        </p:spPr>
      </p:pic>
      <p:sp>
        <p:nvSpPr>
          <p:cNvPr id="5" name="Google Shape;519;p67"/>
          <p:cNvSpPr txBox="1">
            <a:spLocks noGrp="1"/>
          </p:cNvSpPr>
          <p:nvPr>
            <p:ph type="title"/>
          </p:nvPr>
        </p:nvSpPr>
        <p:spPr>
          <a:xfrm>
            <a:off x="59886" y="0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Results – Annual </a:t>
            </a:r>
            <a:r>
              <a:rPr lang="en-US" sz="2800" b="1" dirty="0">
                <a:latin typeface="+mn-lt"/>
              </a:rPr>
              <a:t>U</a:t>
            </a:r>
            <a:r>
              <a:rPr lang="en-US" sz="2800" b="1" dirty="0" smtClean="0">
                <a:latin typeface="+mn-lt"/>
              </a:rPr>
              <a:t>ncomplicated and Severe Malaria Cases </a:t>
            </a:r>
            <a:r>
              <a:rPr lang="en-US" sz="2800" b="1" dirty="0">
                <a:latin typeface="+mn-lt"/>
              </a:rPr>
              <a:t>O</a:t>
            </a:r>
            <a:r>
              <a:rPr lang="en-US" sz="2800" b="1" dirty="0" smtClean="0">
                <a:latin typeface="+mn-lt"/>
              </a:rPr>
              <a:t>ver </a:t>
            </a:r>
            <a:r>
              <a:rPr lang="en-US" sz="2800" b="1" dirty="0">
                <a:latin typeface="+mn-lt"/>
              </a:rPr>
              <a:t>T</a:t>
            </a:r>
            <a:r>
              <a:rPr lang="en-US" sz="2800" b="1" dirty="0" smtClean="0">
                <a:latin typeface="+mn-lt"/>
              </a:rPr>
              <a:t>ime </a:t>
            </a:r>
            <a:endParaRPr lang="en-US" sz="28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079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19;p67"/>
          <p:cNvSpPr txBox="1">
            <a:spLocks noGrp="1"/>
          </p:cNvSpPr>
          <p:nvPr>
            <p:ph type="title"/>
          </p:nvPr>
        </p:nvSpPr>
        <p:spPr>
          <a:xfrm>
            <a:off x="59886" y="0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Results – Additional Number of Malaria Cases Due to Removal of IRS and SMC </a:t>
            </a:r>
            <a:endParaRPr lang="en-US" sz="2800" b="1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7085"/>
            <a:ext cx="12192000" cy="584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7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19;p67"/>
          <p:cNvSpPr txBox="1">
            <a:spLocks noGrp="1"/>
          </p:cNvSpPr>
          <p:nvPr>
            <p:ph type="title"/>
          </p:nvPr>
        </p:nvSpPr>
        <p:spPr>
          <a:xfrm>
            <a:off x="59886" y="0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Results – Mean Prevalence and Incidence Rates</a:t>
            </a:r>
            <a:endParaRPr lang="en-US" sz="2800" b="1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7023"/>
            <a:ext cx="12172638" cy="587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85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19;p67"/>
          <p:cNvSpPr txBox="1">
            <a:spLocks noGrp="1"/>
          </p:cNvSpPr>
          <p:nvPr>
            <p:ph type="title"/>
          </p:nvPr>
        </p:nvSpPr>
        <p:spPr>
          <a:xfrm>
            <a:off x="59886" y="0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Results – Comparison with MAP estimates</a:t>
            </a:r>
            <a:endParaRPr lang="en-US" sz="2800" b="1" dirty="0"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5200"/>
            <a:ext cx="5794408" cy="282147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281" y="745200"/>
            <a:ext cx="5875744" cy="273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9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Microsoft Office PowerPoint</Application>
  <PresentationFormat>Widescreen</PresentationFormat>
  <Paragraphs>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Palatino Linotype</vt:lpstr>
      <vt:lpstr>Office Theme</vt:lpstr>
      <vt:lpstr>PowerPoint Presentation</vt:lpstr>
      <vt:lpstr>Background – Malaria in Ghana</vt:lpstr>
      <vt:lpstr>Background – IRS in Ghana is Partly Funded by PMI</vt:lpstr>
      <vt:lpstr>Background – SMC in Ghana is largely funded by PMI</vt:lpstr>
      <vt:lpstr>Background – Malaria in Ghana</vt:lpstr>
      <vt:lpstr>Methods </vt:lpstr>
      <vt:lpstr>Results – Annual Uncomplicated and Severe Malaria Cases </vt:lpstr>
      <vt:lpstr>Results – Annual Uncomplicated and Severe Malaria Cases Over Time </vt:lpstr>
      <vt:lpstr>Results – Additional Number of Malaria Cases Due to Removal of IRS and SMC </vt:lpstr>
      <vt:lpstr>Results – Mean Prevalence and Incidence Rates</vt:lpstr>
      <vt:lpstr>Results – Comparison with MAP estimates</vt:lpstr>
    </vt:vector>
  </TitlesOfParts>
  <Company>Swiss TPH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Zenabu Suboi</dc:creator>
  <cp:lastModifiedBy>Zenabu Suboi</cp:lastModifiedBy>
  <cp:revision>26</cp:revision>
  <dcterms:created xsi:type="dcterms:W3CDTF">2025-03-16T23:01:49Z</dcterms:created>
  <dcterms:modified xsi:type="dcterms:W3CDTF">2025-03-21T12:06:39Z</dcterms:modified>
</cp:coreProperties>
</file>