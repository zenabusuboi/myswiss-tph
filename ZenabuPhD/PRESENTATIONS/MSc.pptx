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7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BEA03-78F6-480F-9A25-6C0F63CB8E99}" type="datetimeFigureOut">
              <a:rPr lang="de-CH" smtClean="0"/>
              <a:t>01.10.2024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0D72A-E07E-4BB9-8EB5-98A83ACF32A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7130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805051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Two main components of model-calibration methods are the parameter-search strategy and the goodness-of-fit (GOF) measure; many options exist for each of these</a:t>
            </a:r>
          </a:p>
          <a:p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GOF measures based on a surrogate likelihood function: the likelihood of observing the target statistic under the assumption that the model output is a random draw from a presumed distribution (e.g. binomial for prevalence statistics). As the model output is not necessarily distributed as presumed, we refer to this likelihood as the “surrogate” likelihood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96650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424016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25467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61801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AFA5D51-036A-41DE-B449-6FAC5FBD8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5893" y="3606581"/>
            <a:ext cx="6380891" cy="11665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just">
              <a:buNone/>
              <a:defRPr sz="3733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35893" y="5445224"/>
            <a:ext cx="6380891" cy="385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67"/>
            </a:lvl1pPr>
          </a:lstStyle>
          <a:p>
            <a:pPr lvl="0"/>
            <a:r>
              <a:rPr lang="en-US" dirty="0"/>
              <a:t>Day Month Year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E10C56-7618-B944-A305-B8B18B4960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5135893" y="1710880"/>
            <a:ext cx="4134491" cy="114205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A0BD56-8EF0-624B-906C-D201253B7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5435" cy="6858000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ADA4B75-C733-AA4E-A796-B7D79C91F6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5893" y="4882589"/>
            <a:ext cx="6380891" cy="466624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485055">
              <a:lnSpc>
                <a:spcPct val="93000"/>
              </a:lnSpc>
              <a:buNone/>
              <a:defRPr lang="en-GB" sz="2400" dirty="0">
                <a:solidFill>
                  <a:schemeClr val="accent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485055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26978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55">
          <p15:clr>
            <a:srgbClr val="FBAE40"/>
          </p15:clr>
        </p15:guide>
        <p15:guide id="2" pos="242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1" y="-2"/>
            <a:ext cx="12188116" cy="6874571"/>
            <a:chOff x="0" y="-1"/>
            <a:chExt cx="9141087" cy="5155928"/>
          </a:xfrm>
          <a:solidFill>
            <a:schemeClr val="accent3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102BFF8-1253-4DC4-8F0F-A614EC0FC5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5893" y="3606581"/>
            <a:ext cx="6380891" cy="11665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just">
              <a:buNone/>
              <a:defRPr sz="3733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133B29-7CA3-4E8A-BDE7-6F7FBE777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5893" y="4882589"/>
            <a:ext cx="6380891" cy="466624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485055">
              <a:lnSpc>
                <a:spcPct val="93000"/>
              </a:lnSpc>
              <a:buNone/>
              <a:defRPr lang="en-GB" sz="24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485055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08EF2C-2929-4353-8A9D-ACDC182F6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5135893" y="1710880"/>
            <a:ext cx="4134491" cy="114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473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1" y="0"/>
            <a:ext cx="12188116" cy="6874571"/>
            <a:chOff x="0" y="-1"/>
            <a:chExt cx="9141087" cy="515592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58DC5DB-561F-4D50-9ECB-E5F82C4527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5893" y="3606581"/>
            <a:ext cx="6380891" cy="11665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just">
              <a:buNone/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E7E6BC7-3841-41CA-A574-B63C0E5A14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5893" y="4882589"/>
            <a:ext cx="6380891" cy="466624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485055">
              <a:lnSpc>
                <a:spcPct val="93000"/>
              </a:lnSpc>
              <a:buNone/>
              <a:defRPr lang="en-GB" sz="24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485055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10089E-490E-4CD6-B36D-DAE4420A9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5135893" y="1710880"/>
            <a:ext cx="4134491" cy="114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435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1" y="0"/>
            <a:ext cx="12188116" cy="6874571"/>
            <a:chOff x="0" y="-1"/>
            <a:chExt cx="9141087" cy="5155928"/>
          </a:xfrm>
          <a:solidFill>
            <a:schemeClr val="accent2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B689345-0E5B-4961-BFA5-D74794CC73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5893" y="3606581"/>
            <a:ext cx="6380891" cy="11665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just">
              <a:buNone/>
              <a:defRPr sz="3733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6B88576-B387-417A-9787-6A314FE14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5893" y="4882589"/>
            <a:ext cx="6380891" cy="466624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485055">
              <a:lnSpc>
                <a:spcPct val="93000"/>
              </a:lnSpc>
              <a:buNone/>
              <a:defRPr lang="en-GB" sz="24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485055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7E07E-BB8C-4881-A45D-5CE30F35E4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5135893" y="1710880"/>
            <a:ext cx="4134491" cy="114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02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2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6752" y="1762065"/>
            <a:ext cx="10850033" cy="3884596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800"/>
              </a:spcAft>
              <a:buNone/>
              <a:defRPr/>
            </a:lvl1pPr>
            <a:lvl2pPr marL="370408" indent="0" algn="l">
              <a:buNone/>
              <a:defRPr/>
            </a:lvl2pPr>
            <a:lvl3pPr marL="730232" indent="0" algn="l">
              <a:buNone/>
              <a:defRPr/>
            </a:lvl3pPr>
            <a:lvl4pPr marL="1087939" indent="0" algn="l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" y="1220755"/>
            <a:ext cx="10850033" cy="43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C0B51-2590-4977-8BCF-5BC1B1C0A5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0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66752" y="1352552"/>
            <a:ext cx="7733505" cy="4284133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592277" y="1352552"/>
            <a:ext cx="2924507" cy="4284133"/>
          </a:xfrm>
          <a:prstGeom prst="rect">
            <a:avLst/>
          </a:prstGeom>
        </p:spPr>
        <p:txBody>
          <a:bodyPr vert="horz" tIns="0" rIns="0" bIns="0" anchor="t"/>
          <a:lstStyle>
            <a:lvl1pPr marL="0" indent="0" algn="l">
              <a:buNone/>
              <a:defRPr sz="21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[image text]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C3B6D4-4DC9-4D12-8D95-806CE8586C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7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66752" y="1352551"/>
            <a:ext cx="10850033" cy="3708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65645" y="5083156"/>
            <a:ext cx="10860711" cy="563504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2133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3EF494-034D-44F8-A974-C98E1DDFD8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597" y="1354235"/>
            <a:ext cx="5209651" cy="3706717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9598" y="5098286"/>
            <a:ext cx="5220631" cy="538137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7642" y="1354235"/>
            <a:ext cx="5236325" cy="3706717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45" y="5095096"/>
            <a:ext cx="5220631" cy="538137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12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A0F972-6BC7-42BC-AFE5-97C86679B87E}"/>
              </a:ext>
            </a:extLst>
          </p:cNvPr>
          <p:cNvSpPr/>
          <p:nvPr userDrawn="1"/>
        </p:nvSpPr>
        <p:spPr>
          <a:xfrm>
            <a:off x="677642" y="3836828"/>
            <a:ext cx="5236325" cy="17953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259A0-C5BF-4615-9DF0-1C33FC6423D9}"/>
              </a:ext>
            </a:extLst>
          </p:cNvPr>
          <p:cNvSpPr/>
          <p:nvPr userDrawn="1"/>
        </p:nvSpPr>
        <p:spPr>
          <a:xfrm>
            <a:off x="6310064" y="3836828"/>
            <a:ext cx="5199184" cy="17953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597" y="1354234"/>
            <a:ext cx="5209651" cy="2481503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7642" y="1354234"/>
            <a:ext cx="5236325" cy="2495964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C13FF-C155-4919-8919-34228E9F85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2284" y="4029116"/>
            <a:ext cx="4800600" cy="161714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66E5765-AFF9-454D-B3E4-B95BB4B152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06309" y="4029116"/>
            <a:ext cx="4800600" cy="161714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A56BEC-90D2-435D-8367-0E3A5F8262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642" y="3164754"/>
            <a:ext cx="5236325" cy="670983"/>
          </a:xfrm>
          <a:solidFill>
            <a:schemeClr val="accent3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4F963DD-B50B-4248-9374-A146E53148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10064" y="3164754"/>
            <a:ext cx="5199184" cy="670983"/>
          </a:xfrm>
          <a:solidFill>
            <a:schemeClr val="accent3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68606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88822" y="1352551"/>
            <a:ext cx="3486965" cy="3708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88822" y="5060951"/>
            <a:ext cx="3486965" cy="57573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CD11574-6994-C542-A1AD-1118FE1AA8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19770" y="1352550"/>
            <a:ext cx="3519713" cy="37084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27FB44-8702-2E4A-AB5F-E13C696274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9770" y="5060951"/>
            <a:ext cx="3519713" cy="57573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0EEF36B-2413-A544-991B-10AA2B78C18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83466" y="1352550"/>
            <a:ext cx="3519713" cy="37084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6A408FD-BECD-3443-BB24-6FC231820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83466" y="5060951"/>
            <a:ext cx="3519713" cy="57573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A300C0-DBF9-4E76-A96E-820DB299D36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53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6751" y="1352552"/>
            <a:ext cx="3509036" cy="42941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367809" y="1352552"/>
            <a:ext cx="7157444" cy="429410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D3A6C4-B2B4-46A4-BE60-14F5BD4FB2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997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66752" y="1808992"/>
            <a:ext cx="10858501" cy="383766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32C476E-51FA-B142-B805-2B1D7A05AE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073" y="1221318"/>
            <a:ext cx="10869179" cy="44052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AC71AE-A779-45DA-84FB-230AB359DD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55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AC71AE-A779-45DA-84FB-230AB359DD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81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6752" y="1352552"/>
            <a:ext cx="10850033" cy="42941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1D33E0-EF10-44C7-97ED-4419E59984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578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8F8353-7F4B-4AB2-8678-0275B71DCD7E}"/>
              </a:ext>
            </a:extLst>
          </p:cNvPr>
          <p:cNvSpPr/>
          <p:nvPr userDrawn="1"/>
        </p:nvSpPr>
        <p:spPr>
          <a:xfrm>
            <a:off x="6096000" y="2"/>
            <a:ext cx="6096000" cy="6755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6752" y="1352552"/>
            <a:ext cx="5247216" cy="42941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0227F-4512-44D1-9D9B-B77D36335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8618" y="1352552"/>
            <a:ext cx="5228167" cy="429410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A97563-23FD-4705-A4F4-2B08A537BD6B}"/>
              </a:ext>
            </a:extLst>
          </p:cNvPr>
          <p:cNvCxnSpPr>
            <a:cxnSpLocks/>
          </p:cNvCxnSpPr>
          <p:nvPr userDrawn="1"/>
        </p:nvCxnSpPr>
        <p:spPr>
          <a:xfrm>
            <a:off x="10912828" y="6304756"/>
            <a:ext cx="0" cy="35322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CC8194-D780-400B-85F5-DE5F0003BCA5}"/>
              </a:ext>
            </a:extLst>
          </p:cNvPr>
          <p:cNvSpPr txBox="1">
            <a:spLocks/>
          </p:cNvSpPr>
          <p:nvPr userDrawn="1"/>
        </p:nvSpPr>
        <p:spPr>
          <a:xfrm>
            <a:off x="10959942" y="6298281"/>
            <a:ext cx="548511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F3EC332E-FB62-3242-BB6A-EC0EFC19912F}" type="slidenum">
              <a:rPr lang="en-US" sz="1600" smtClean="0">
                <a:solidFill>
                  <a:srgbClr val="FFFFFF"/>
                </a:solidFill>
              </a:rPr>
              <a:pPr/>
              <a:t>‹#›</a:t>
            </a:fld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76E361C-716A-465F-B091-EA57F773F15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80493CC-D4C3-4D51-A7DC-CA1AABBC37EC}"/>
              </a:ext>
            </a:extLst>
          </p:cNvPr>
          <p:cNvSpPr txBox="1">
            <a:spLocks/>
          </p:cNvSpPr>
          <p:nvPr userDrawn="1"/>
        </p:nvSpPr>
        <p:spPr>
          <a:xfrm>
            <a:off x="2694492" y="6169163"/>
            <a:ext cx="8070808" cy="5925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Please type in the master slide for the stationery footer</a:t>
            </a:r>
          </a:p>
        </p:txBody>
      </p:sp>
    </p:spTree>
    <p:extLst>
      <p:ext uri="{BB962C8B-B14F-4D97-AF65-F5344CB8AC3E}">
        <p14:creationId xmlns:p14="http://schemas.microsoft.com/office/powerpoint/2010/main" val="1660787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1FEC8-B596-44D1-B4BA-DEE92E2ED6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800"/>
          <a:stretch/>
        </p:blipFill>
        <p:spPr>
          <a:xfrm>
            <a:off x="683548" y="6231502"/>
            <a:ext cx="1486357" cy="40612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52D3DAD-583C-4333-8FF9-20E8D53DC62A}"/>
              </a:ext>
            </a:extLst>
          </p:cNvPr>
          <p:cNvGrpSpPr/>
          <p:nvPr userDrawn="1"/>
        </p:nvGrpSpPr>
        <p:grpSpPr>
          <a:xfrm>
            <a:off x="4233" y="6761672"/>
            <a:ext cx="12192000" cy="104424"/>
            <a:chOff x="0" y="5071254"/>
            <a:chExt cx="9144000" cy="783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8EB0A6-FDB2-4AC1-8DF2-A3E123396650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1AC8602-6D7A-4BE7-B726-BC417D1FAACD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 dirty="0">
                <a:latin typeface="Simplon Norm" panose="020B0500030000000000" pitchFamily="34" charset="7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2D8973B-8366-4A7A-9D42-382FF01BDED3}"/>
              </a:ext>
            </a:extLst>
          </p:cNvPr>
          <p:cNvSpPr txBox="1"/>
          <p:nvPr userDrawn="1"/>
        </p:nvSpPr>
        <p:spPr>
          <a:xfrm>
            <a:off x="3797575" y="-298435"/>
            <a:ext cx="4588387" cy="492753"/>
          </a:xfrm>
          <a:prstGeom prst="rect">
            <a:avLst/>
          </a:prstGeom>
        </p:spPr>
        <p:txBody>
          <a:bodyPr vert="horz" wrap="square" lIns="121920" tIns="60960" rIns="121920" bIns="60960" rtlCol="0">
            <a:normAutofit/>
          </a:bodyPr>
          <a:lstStyle/>
          <a:p>
            <a:pPr marL="0" indent="0" algn="ctr">
              <a:buNone/>
            </a:pPr>
            <a:r>
              <a:rPr lang="en-US" sz="1067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899D1-0243-411C-BC03-A2F921902D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725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p-up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6A066E7-5573-564E-80E6-FFF5A20254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9454" y="1381373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9F8771B-79B5-5E44-8EE5-05B94368AF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6165" y="1381373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2DC5879-943B-FB4F-ADAC-2CD7A8A940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9454" y="2858512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0C0A1BDB-B6A9-6A4B-910C-B61617F00C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6165" y="2858512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2313A87-358B-C041-8B7E-F6B81E3165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9454" y="4335652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CF54D8E-D4FA-7D43-B32A-87ABB4649C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6165" y="4335652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DB555-C07E-4AD1-8918-A045D96FF03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365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751" y="1784351"/>
            <a:ext cx="5247215" cy="3852895"/>
          </a:xfrm>
        </p:spPr>
        <p:txBody>
          <a:bodyPr/>
          <a:lstStyle>
            <a:lvl1pPr>
              <a:defRPr sz="2133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3A2FDE9-97B9-0D4C-A044-587D3779E2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8038" y="1784351"/>
            <a:ext cx="5247215" cy="3852895"/>
          </a:xfrm>
        </p:spPr>
        <p:txBody>
          <a:bodyPr/>
          <a:lstStyle>
            <a:lvl1pPr>
              <a:defRPr sz="2133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1" y="1220755"/>
            <a:ext cx="5247213" cy="43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2C1AA4B-FF84-7D4E-9B6E-EE3C29C65A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8618" y="1220755"/>
            <a:ext cx="5279991" cy="43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E8B13C-1060-418C-8319-C4526C0DD1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4260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751" y="1784351"/>
            <a:ext cx="5247215" cy="3862309"/>
          </a:xfrm>
        </p:spPr>
        <p:txBody>
          <a:bodyPr/>
          <a:lstStyle>
            <a:lvl1pPr>
              <a:defRPr sz="2133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" y="1220755"/>
            <a:ext cx="10850033" cy="43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E0339E7-81F2-A040-87B8-7E7837273F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78038" y="1221319"/>
            <a:ext cx="5238748" cy="385289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BF9020A-F14A-ED49-8C64-E205C6AE78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039" y="5082182"/>
            <a:ext cx="5238747" cy="562471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136A46-1C94-408F-87B7-B99F84FBFA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05098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3599723" y="2205113"/>
            <a:ext cx="672075" cy="0"/>
          </a:xfrm>
          <a:prstGeom prst="line">
            <a:avLst/>
          </a:prstGeom>
          <a:ln w="12700" cap="rnd">
            <a:solidFill>
              <a:schemeClr val="bg2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9723" y="1519121"/>
            <a:ext cx="7917061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723" y="1884443"/>
            <a:ext cx="7917061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9723" y="2244995"/>
            <a:ext cx="7917061" cy="2969857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6751" y="1516893"/>
            <a:ext cx="2356908" cy="2356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C448B77-40C1-BA4B-9EBD-F6806BE8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C6B6D8-1F26-49EB-8B11-3E83626E9AD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5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666751" y="3576024"/>
            <a:ext cx="672075" cy="0"/>
          </a:xfrm>
          <a:prstGeom prst="line">
            <a:avLst/>
          </a:prstGeom>
          <a:ln w="12700" cap="rnd">
            <a:solidFill>
              <a:schemeClr val="bg2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2890031"/>
            <a:ext cx="3353817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" y="3255354"/>
            <a:ext cx="3353817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" y="3615907"/>
            <a:ext cx="3353817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6751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8439D20-BAEE-3A46-9F93-18FED5D8DD98}"/>
              </a:ext>
            </a:extLst>
          </p:cNvPr>
          <p:cNvCxnSpPr>
            <a:cxnSpLocks/>
          </p:cNvCxnSpPr>
          <p:nvPr userDrawn="1"/>
        </p:nvCxnSpPr>
        <p:spPr>
          <a:xfrm>
            <a:off x="4407800" y="3576024"/>
            <a:ext cx="672075" cy="0"/>
          </a:xfrm>
          <a:prstGeom prst="line">
            <a:avLst/>
          </a:prstGeom>
          <a:ln w="12700" cap="rnd">
            <a:solidFill>
              <a:schemeClr val="bg2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3FDEDF0-1056-0C47-AD69-FE9D014D9D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7800" y="2890031"/>
            <a:ext cx="3353817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41A579EA-2168-BA49-AB8F-310CB7F9CA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7800" y="3255354"/>
            <a:ext cx="3353817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A2FEF0F1-661C-654B-9E89-06752809DF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07800" y="3615907"/>
            <a:ext cx="3353817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7" name="Picture Placeholder 36">
            <a:extLst>
              <a:ext uri="{FF2B5EF4-FFF2-40B4-BE49-F238E27FC236}">
                <a16:creationId xmlns:a16="http://schemas.microsoft.com/office/drawing/2014/main" id="{A9D82A10-3AD7-1446-8F46-37E0058A88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07800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7EF184F-6686-6D49-9419-BA1D272AC81D}"/>
              </a:ext>
            </a:extLst>
          </p:cNvPr>
          <p:cNvCxnSpPr>
            <a:cxnSpLocks/>
          </p:cNvCxnSpPr>
          <p:nvPr userDrawn="1"/>
        </p:nvCxnSpPr>
        <p:spPr>
          <a:xfrm>
            <a:off x="8148852" y="3576024"/>
            <a:ext cx="672075" cy="0"/>
          </a:xfrm>
          <a:prstGeom prst="line">
            <a:avLst/>
          </a:prstGeom>
          <a:ln w="12700" cap="rnd">
            <a:solidFill>
              <a:schemeClr val="bg2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019358D-0868-DE4E-8C10-294977BB6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8852" y="2890031"/>
            <a:ext cx="3353817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65975E78-D73C-2B47-B71F-4E0B606A0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8852" y="3255354"/>
            <a:ext cx="3353817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4B92EB00-D56B-7A41-881D-393490E9520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48852" y="3615907"/>
            <a:ext cx="3353817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52" name="Picture Placeholder 36">
            <a:extLst>
              <a:ext uri="{FF2B5EF4-FFF2-40B4-BE49-F238E27FC236}">
                <a16:creationId xmlns:a16="http://schemas.microsoft.com/office/drawing/2014/main" id="{3F0A8FF6-A378-E944-BB45-55FC0D68046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148852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B1114C-E04D-4F69-BC84-F54E17E815E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03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666751" y="3576024"/>
            <a:ext cx="504487" cy="0"/>
          </a:xfrm>
          <a:prstGeom prst="line">
            <a:avLst/>
          </a:prstGeom>
          <a:ln w="12700" cap="rnd">
            <a:solidFill>
              <a:schemeClr val="bg2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49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49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6751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740405-3142-3E41-8C6D-A8A1E34E9905}"/>
              </a:ext>
            </a:extLst>
          </p:cNvPr>
          <p:cNvCxnSpPr>
            <a:cxnSpLocks/>
          </p:cNvCxnSpPr>
          <p:nvPr userDrawn="1"/>
        </p:nvCxnSpPr>
        <p:spPr>
          <a:xfrm>
            <a:off x="3449397" y="3576024"/>
            <a:ext cx="504487" cy="0"/>
          </a:xfrm>
          <a:prstGeom prst="line">
            <a:avLst/>
          </a:prstGeom>
          <a:ln w="12700" cap="rnd">
            <a:solidFill>
              <a:schemeClr val="bg2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9B34579-E92E-C345-9574-CD4A4C197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49395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8BA616A-D2A8-2947-89EC-AD5CAD12A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49395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709921-4F93-054C-913B-3206038FEE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49395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44AF5B-5241-9F48-A875-B2F5F442AD32}"/>
              </a:ext>
            </a:extLst>
          </p:cNvPr>
          <p:cNvCxnSpPr>
            <a:cxnSpLocks/>
          </p:cNvCxnSpPr>
          <p:nvPr userDrawn="1"/>
        </p:nvCxnSpPr>
        <p:spPr>
          <a:xfrm>
            <a:off x="6232042" y="3576024"/>
            <a:ext cx="504487" cy="0"/>
          </a:xfrm>
          <a:prstGeom prst="line">
            <a:avLst/>
          </a:prstGeom>
          <a:ln w="12700" cap="rnd">
            <a:solidFill>
              <a:schemeClr val="bg2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0A0A9FE5-4414-BC45-9945-5F498E212A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2040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D5D7B2-689B-2B4C-A43D-D02E83F947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2040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C1EEEB8-A0CF-574A-9ADA-0AF9C5F90B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2040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2747001-8EC9-C94D-8496-0D147669DF33}"/>
              </a:ext>
            </a:extLst>
          </p:cNvPr>
          <p:cNvCxnSpPr>
            <a:cxnSpLocks/>
          </p:cNvCxnSpPr>
          <p:nvPr userDrawn="1"/>
        </p:nvCxnSpPr>
        <p:spPr>
          <a:xfrm>
            <a:off x="9014686" y="3576024"/>
            <a:ext cx="504487" cy="0"/>
          </a:xfrm>
          <a:prstGeom prst="line">
            <a:avLst/>
          </a:prstGeom>
          <a:ln w="12700" cap="rnd">
            <a:solidFill>
              <a:schemeClr val="bg2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1BB302A5-7E2E-1C42-8D5D-038AFC7E6C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14684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55E365EA-E806-794E-A01A-1781C7CB6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14684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B84882D0-76FD-3641-827B-BFF1B43612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14684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3" name="Picture Placeholder 36">
            <a:extLst>
              <a:ext uri="{FF2B5EF4-FFF2-40B4-BE49-F238E27FC236}">
                <a16:creationId xmlns:a16="http://schemas.microsoft.com/office/drawing/2014/main" id="{EBFCBB6A-B0D6-9F42-91B5-8D147859F63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449395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4" name="Picture Placeholder 36">
            <a:extLst>
              <a:ext uri="{FF2B5EF4-FFF2-40B4-BE49-F238E27FC236}">
                <a16:creationId xmlns:a16="http://schemas.microsoft.com/office/drawing/2014/main" id="{CAE03149-D6A1-604B-AA12-50D258C53D1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232040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5" name="Picture Placeholder 36">
            <a:extLst>
              <a:ext uri="{FF2B5EF4-FFF2-40B4-BE49-F238E27FC236}">
                <a16:creationId xmlns:a16="http://schemas.microsoft.com/office/drawing/2014/main" id="{555B8286-1166-8844-8C35-F00F2B33B98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014684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48CD4-BFF7-4D36-87EF-253A3F1B3E7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75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4C3202-59EE-2340-B38A-4E5E3A2DD1D8}"/>
              </a:ext>
            </a:extLst>
          </p:cNvPr>
          <p:cNvCxnSpPr>
            <a:cxnSpLocks/>
          </p:cNvCxnSpPr>
          <p:nvPr userDrawn="1"/>
        </p:nvCxnSpPr>
        <p:spPr>
          <a:xfrm>
            <a:off x="10912828" y="6304756"/>
            <a:ext cx="0" cy="35322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74FA6C-9F76-7940-ABD6-8AE29935C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1" y="1352551"/>
            <a:ext cx="10850032" cy="428413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C86E9-FDA0-4C4D-A68F-6E3891ABEC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800"/>
          <a:stretch/>
        </p:blipFill>
        <p:spPr>
          <a:xfrm>
            <a:off x="683548" y="6231502"/>
            <a:ext cx="1486357" cy="406124"/>
          </a:xfrm>
          <a:prstGeom prst="rect">
            <a:avLst/>
          </a:prstGeom>
        </p:spPr>
      </p:pic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EFF88D6-3D0D-1241-9CCB-64DB5A04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17" y="366185"/>
            <a:ext cx="10850032" cy="75880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72EFF-3818-A84D-9FE0-75D8DA6E4628}"/>
              </a:ext>
            </a:extLst>
          </p:cNvPr>
          <p:cNvGrpSpPr/>
          <p:nvPr userDrawn="1"/>
        </p:nvGrpSpPr>
        <p:grpSpPr>
          <a:xfrm>
            <a:off x="4233" y="6761672"/>
            <a:ext cx="12192000" cy="104424"/>
            <a:chOff x="0" y="5071254"/>
            <a:chExt cx="9144000" cy="7831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8F6AEB-C8E8-484E-A2FA-B4059C66469D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526F9B-5CAE-264E-9860-A2CFEE02BB56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 dirty="0">
                <a:latin typeface="Simplon Norm" panose="020B0500030000000000" pitchFamily="34" charset="77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F4896-1C74-471F-B1D7-D03465CE2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217" y="5646660"/>
            <a:ext cx="10833223" cy="51495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AADC478-0D1F-4E10-932D-F91CE6CE0C53}"/>
              </a:ext>
            </a:extLst>
          </p:cNvPr>
          <p:cNvSpPr txBox="1">
            <a:spLocks/>
          </p:cNvSpPr>
          <p:nvPr userDrawn="1"/>
        </p:nvSpPr>
        <p:spPr>
          <a:xfrm>
            <a:off x="10959942" y="6298281"/>
            <a:ext cx="548511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F3EC332E-FB62-3242-BB6A-EC0EFC19912F}" type="slidenum">
              <a:rPr lang="en-US" sz="1600" smtClean="0"/>
              <a:pPr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745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</p:sldLayoutIdLst>
  <p:hf sldNum="0" hdr="0" dt="0"/>
  <p:txStyles>
    <p:titleStyle>
      <a:lvl1pPr marL="0" indent="0" algn="just" defTabSz="121917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accent3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594" indent="-228594" algn="l" defTabSz="121917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Arial" panose="020B0604020202020204" pitchFamily="34" charset="0"/>
        <a:buChar char="•"/>
        <a:defRPr sz="24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1pPr>
      <a:lvl2pPr marL="599002" indent="-228594" algn="l" defTabSz="121917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System Font Regular"/>
        <a:buChar char="-"/>
        <a:defRPr sz="2133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2pPr>
      <a:lvl3pPr marL="958827" indent="-228594" algn="l" defTabSz="121917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Wingdings" panose="05000000000000000000" pitchFamily="2" charset="2"/>
        <a:buChar char="§"/>
        <a:defRPr sz="2133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3pPr>
      <a:lvl4pPr marL="1316534" indent="-228594" algn="l" defTabSz="121917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System Font Regular"/>
        <a:buChar char="-"/>
        <a:defRPr sz="2133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4pPr>
      <a:lvl5pPr marL="2240224" indent="-228594" algn="l" defTabSz="121917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System Font Regular"/>
        <a:buChar char="-"/>
        <a:defRPr sz="14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25">
          <p15:clr>
            <a:srgbClr val="F26B43"/>
          </p15:clr>
        </p15:guide>
        <p15:guide id="2" pos="315">
          <p15:clr>
            <a:srgbClr val="F26B43"/>
          </p15:clr>
        </p15:guide>
        <p15:guide id="3" pos="5441">
          <p15:clr>
            <a:srgbClr val="F26B43"/>
          </p15:clr>
        </p15:guide>
        <p15:guide id="4" orient="horz" pos="639">
          <p15:clr>
            <a:srgbClr val="F26B43"/>
          </p15:clr>
        </p15:guide>
        <p15:guide id="5" orient="horz" pos="2911">
          <p15:clr>
            <a:srgbClr val="F26B43"/>
          </p15:clr>
        </p15:guide>
        <p15:guide id="6" pos="2880">
          <p15:clr>
            <a:srgbClr val="F26B43"/>
          </p15:clr>
        </p15:guide>
        <p15:guide id="7" pos="2794">
          <p15:clr>
            <a:srgbClr val="F26B43"/>
          </p15:clr>
        </p15:guide>
        <p15:guide id="8" pos="2971">
          <p15:clr>
            <a:srgbClr val="F26B43"/>
          </p15:clr>
        </p15:guide>
        <p15:guide id="9" orient="horz" pos="577">
          <p15:clr>
            <a:srgbClr val="F26B43"/>
          </p15:clr>
        </p15:guide>
        <p15:guide id="10" orient="horz" pos="2754">
          <p15:clr>
            <a:srgbClr val="F26B43"/>
          </p15:clr>
        </p15:guide>
        <p15:guide id="11" orient="horz" pos="2663">
          <p15:clr>
            <a:srgbClr val="F26B43"/>
          </p15:clr>
        </p15:guide>
        <p15:guide id="12" orient="horz" pos="239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9A5536-E78B-6843-983A-39516BBCD5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71797" y="3140968"/>
            <a:ext cx="7296811" cy="1344149"/>
          </a:xfrm>
        </p:spPr>
        <p:txBody>
          <a:bodyPr/>
          <a:lstStyle/>
          <a:p>
            <a:r>
              <a:rPr lang="en-US" sz="4267" dirty="0"/>
              <a:t>Calibration of Models to Data: A comparison of Methods</a:t>
            </a:r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247134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6B424B-3DE8-0E4F-AD58-CDDC0D08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16" y="1"/>
            <a:ext cx="10850033" cy="745060"/>
          </a:xfrm>
        </p:spPr>
        <p:txBody>
          <a:bodyPr/>
          <a:lstStyle/>
          <a:p>
            <a:r>
              <a:rPr lang="de-CH" sz="3733" b="1" dirty="0" err="1"/>
              <a:t>Introduction</a:t>
            </a:r>
            <a:endParaRPr lang="en-US" sz="3733" b="1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54725" y="932724"/>
            <a:ext cx="11617291" cy="20778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rgbClr val="99241B"/>
                </a:solidFill>
                <a:latin typeface="Roboto Thin"/>
                <a:ea typeface="+mn-ea"/>
                <a:cs typeface="Roboto Thin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b="0" i="0" kern="1200">
                <a:solidFill>
                  <a:srgbClr val="99241B"/>
                </a:solidFill>
                <a:latin typeface="Roboto Thin"/>
                <a:ea typeface="+mn-ea"/>
                <a:cs typeface="Roboto Thin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99241B"/>
                </a:solidFill>
                <a:latin typeface="Roboto Thin"/>
                <a:ea typeface="+mn-ea"/>
                <a:cs typeface="Roboto Thin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99241B"/>
                </a:solidFill>
                <a:latin typeface="Roboto Thin"/>
                <a:ea typeface="+mn-ea"/>
                <a:cs typeface="Roboto Thin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rgbClr val="99241B"/>
                </a:solidFill>
                <a:latin typeface="Roboto Thin"/>
                <a:ea typeface="+mn-ea"/>
                <a:cs typeface="Roboto Thi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marR="0" lvl="0" indent="-457189" algn="l" defTabSz="609585" rtl="0" eaLnBrk="1" fontAlgn="auto" latinLnBrk="0" hangingPunct="1">
              <a:lnSpc>
                <a:spcPct val="9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67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Thin"/>
                <a:ea typeface="+mn-ea"/>
                <a:sym typeface="Calibri"/>
              </a:rPr>
              <a:t>Calibrating </a:t>
            </a: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Thin"/>
                <a:ea typeface="+mn-ea"/>
                <a:sym typeface="Calibri"/>
              </a:rPr>
              <a:t>Mathematical and computer simulation</a:t>
            </a:r>
            <a:r>
              <a:rPr kumimoji="0" lang="en-US" sz="2667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Thin"/>
                <a:ea typeface="+mn-ea"/>
                <a:sym typeface="Calibri"/>
              </a:rPr>
              <a:t> </a:t>
            </a: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Thin"/>
                <a:ea typeface="+mn-ea"/>
                <a:sym typeface="Calibri"/>
              </a:rPr>
              <a:t>models to data allows for uncertainty to be quantified while increasing confidence in the validity and reliability of the model and its predictions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Thin"/>
              <a:ea typeface="+mn-ea"/>
              <a:sym typeface="Calibri"/>
            </a:endParaRPr>
          </a:p>
          <a:p>
            <a:pPr marL="457189" marR="0" lvl="0" indent="-457189" algn="l" defTabSz="609585" rtl="0" eaLnBrk="1" fontAlgn="auto" latinLnBrk="0" hangingPunct="1">
              <a:lnSpc>
                <a:spcPct val="9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Thin"/>
                <a:ea typeface="+mn-ea"/>
                <a:sym typeface="Calibri"/>
              </a:rPr>
              <a:t>Complex models are often fitted to data using simulation-based calibration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GB" sz="2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Thin"/>
              <a:ea typeface="+mn-ea"/>
              <a:sym typeface="Calibri"/>
            </a:endParaRP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Thin"/>
              <a:ea typeface="+mn-ea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F0026-47B0-4AC2-A777-DD05E028387D}"/>
              </a:ext>
            </a:extLst>
          </p:cNvPr>
          <p:cNvSpPr txBox="1"/>
          <p:nvPr/>
        </p:nvSpPr>
        <p:spPr>
          <a:xfrm>
            <a:off x="311316" y="3128529"/>
            <a:ext cx="11521280" cy="2268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marR="0" lvl="0" indent="-380990" algn="l" defTabSz="48505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Several methods have been developed with little or no consensus on their performance</a:t>
            </a:r>
          </a:p>
          <a:p>
            <a:pPr marL="0" marR="0" lvl="0" indent="0" algn="l" defTabSz="48505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  <a:p>
            <a:pPr marL="380990" marR="0" lvl="0" indent="-380990" algn="l" defTabSz="48505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We compared the performance of 5 methods that differed in their Goodness-of-Fit (GOF) measures and parameter search strategies</a:t>
            </a:r>
            <a:endParaRPr kumimoji="0" lang="en-GB" sz="26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  <a:p>
            <a:pPr marL="0" marR="0" lvl="0" indent="0" algn="l" defTabSz="48505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647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6B424B-3DE8-0E4F-AD58-CDDC0D08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10" y="68627"/>
            <a:ext cx="10850033" cy="745060"/>
          </a:xfrm>
        </p:spPr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Methods: </a:t>
            </a:r>
            <a:r>
              <a:rPr lang="en-GB" dirty="0">
                <a:solidFill>
                  <a:srgbClr val="0078AC"/>
                </a:solidFill>
                <a:cs typeface="Arial" panose="020B0604020202020204" pitchFamily="34" charset="0"/>
              </a:rPr>
              <a:t>Calibration Methods</a:t>
            </a:r>
            <a:endParaRPr lang="en-US" sz="4267" dirty="0">
              <a:solidFill>
                <a:srgbClr val="0078AC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FA09152-FA7B-4EF9-A41F-DCD8DB756E2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87110" y="1028734"/>
          <a:ext cx="11809313" cy="4856622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4030164">
                  <a:extLst>
                    <a:ext uri="{9D8B030D-6E8A-4147-A177-3AD203B41FA5}">
                      <a16:colId xmlns:a16="http://schemas.microsoft.com/office/drawing/2014/main" val="3010978936"/>
                    </a:ext>
                  </a:extLst>
                </a:gridCol>
                <a:gridCol w="3967677">
                  <a:extLst>
                    <a:ext uri="{9D8B030D-6E8A-4147-A177-3AD203B41FA5}">
                      <a16:colId xmlns:a16="http://schemas.microsoft.com/office/drawing/2014/main" val="4111311278"/>
                    </a:ext>
                  </a:extLst>
                </a:gridCol>
                <a:gridCol w="3811472">
                  <a:extLst>
                    <a:ext uri="{9D8B030D-6E8A-4147-A177-3AD203B41FA5}">
                      <a16:colId xmlns:a16="http://schemas.microsoft.com/office/drawing/2014/main" val="1004141174"/>
                    </a:ext>
                  </a:extLst>
                </a:gridCol>
              </a:tblGrid>
              <a:tr h="750183">
                <a:tc>
                  <a:txBody>
                    <a:bodyPr/>
                    <a:lstStyle/>
                    <a:p>
                      <a:endParaRPr lang="en-ZA" sz="27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ZA" sz="3200" dirty="0">
                          <a:solidFill>
                            <a:schemeClr val="bg1"/>
                          </a:solidFill>
                        </a:rPr>
                        <a:t>Basic</a:t>
                      </a:r>
                      <a:endParaRPr lang="en-ZA" sz="3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ZA" sz="3200" dirty="0" err="1">
                          <a:solidFill>
                            <a:schemeClr val="bg1"/>
                          </a:solidFill>
                        </a:rPr>
                        <a:t>daptive</a:t>
                      </a:r>
                      <a:r>
                        <a:rPr lang="en-ZA" sz="3200" dirty="0">
                          <a:solidFill>
                            <a:schemeClr val="bg1"/>
                          </a:solidFill>
                        </a:rPr>
                        <a:t> Sampling</a:t>
                      </a:r>
                      <a:endParaRPr lang="en-ZA" sz="3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879344577"/>
                  </a:ext>
                </a:extLst>
              </a:tr>
              <a:tr h="21539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700" b="1" dirty="0"/>
                        <a:t>Distance-based GOF (Approximate Bayesian Computation (ABC))</a:t>
                      </a:r>
                      <a:endParaRPr lang="en-ZA" sz="2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700" dirty="0"/>
                        <a:t>Rejection ABC </a:t>
                      </a:r>
                      <a:endParaRPr lang="en-ZA" sz="2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700" dirty="0">
                          <a:solidFill>
                            <a:schemeClr val="tx1"/>
                          </a:solidFill>
                        </a:rPr>
                        <a:t>ABC with Sequential Monte Carlo (</a:t>
                      </a:r>
                      <a:r>
                        <a:rPr lang="en-ZA" sz="2700" dirty="0" err="1">
                          <a:solidFill>
                            <a:schemeClr val="tx1"/>
                          </a:solidFill>
                        </a:rPr>
                        <a:t>AbcSmc</a:t>
                      </a:r>
                      <a:r>
                        <a:rPr lang="en-ZA" sz="27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ZA" sz="2700" dirty="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2700" dirty="0">
                          <a:solidFill>
                            <a:schemeClr val="tx1"/>
                          </a:solidFill>
                        </a:rPr>
                        <a:t>Sequential ABC-</a:t>
                      </a:r>
                      <a:r>
                        <a:rPr lang="en-ZA" sz="2700" dirty="0" err="1">
                          <a:solidFill>
                            <a:schemeClr val="tx1"/>
                          </a:solidFill>
                        </a:rPr>
                        <a:t>Lenormand</a:t>
                      </a:r>
                      <a:r>
                        <a:rPr lang="en-ZA" sz="27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ZA" sz="2700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r>
                        <a:rPr lang="en-ZA" sz="2700" dirty="0">
                          <a:solidFill>
                            <a:schemeClr val="tx1"/>
                          </a:solidFill>
                        </a:rPr>
                        <a:t> ABC)</a:t>
                      </a:r>
                      <a:endParaRPr lang="en-ZA" sz="2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535857810"/>
                  </a:ext>
                </a:extLst>
              </a:tr>
              <a:tr h="19271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700" b="1" dirty="0"/>
                        <a:t>Surrogate Likelihood-based GOF</a:t>
                      </a:r>
                    </a:p>
                    <a:p>
                      <a:endParaRPr lang="en-ZA" sz="2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2700" dirty="0"/>
                        <a:t>Bayesian calibration with Sampling Importance Resampling (</a:t>
                      </a:r>
                      <a:r>
                        <a:rPr lang="en-ZA" sz="2700" dirty="0" err="1"/>
                        <a:t>BcSIR</a:t>
                      </a:r>
                      <a:r>
                        <a:rPr lang="en-ZA" sz="2700" dirty="0"/>
                        <a:t>)</a:t>
                      </a:r>
                      <a:endParaRPr lang="en-ZA" sz="2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2700" dirty="0">
                          <a:solidFill>
                            <a:schemeClr val="tx1"/>
                          </a:solidFill>
                        </a:rPr>
                        <a:t>Bayesian calibration with Incremental Mixture Importance Sampling (</a:t>
                      </a:r>
                      <a:r>
                        <a:rPr lang="en-ZA" sz="2700" dirty="0" err="1">
                          <a:solidFill>
                            <a:schemeClr val="tx1"/>
                          </a:solidFill>
                        </a:rPr>
                        <a:t>BcIMIS</a:t>
                      </a:r>
                      <a:r>
                        <a:rPr lang="en-ZA" sz="27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ZA" sz="2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54364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08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6B424B-3DE8-0E4F-AD58-CDDC0D08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98889"/>
            <a:ext cx="9504643" cy="745060"/>
          </a:xfrm>
        </p:spPr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Methods: </a:t>
            </a:r>
            <a:r>
              <a:rPr lang="en-GB" dirty="0" smtClean="0">
                <a:solidFill>
                  <a:srgbClr val="0078AC"/>
                </a:solidFill>
                <a:cs typeface="Arial" panose="020B0604020202020204" pitchFamily="34" charset="0"/>
              </a:rPr>
              <a:t>Model and stochastic framework used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C2937-0070-4864-A1DF-A599645440EB}"/>
              </a:ext>
            </a:extLst>
          </p:cNvPr>
          <p:cNvSpPr txBox="1"/>
          <p:nvPr/>
        </p:nvSpPr>
        <p:spPr>
          <a:xfrm>
            <a:off x="239349" y="3429000"/>
            <a:ext cx="11809312" cy="310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SimInf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: 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 Framework for Data-Driven Stochastic Disease Spread Simulations.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  <a:p>
            <a:pPr marL="457189" marR="0" lvl="0" indent="-457189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integrates infection dynamics in subpopulations as continuous-time Markov chains using the Gillespie stochastic simulation algorithm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  <a:p>
            <a:pPr marL="457189" marR="0" lvl="0" indent="-457189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The package contains template models and can be extended with user-defined models</a:t>
            </a:r>
            <a:endParaRPr kumimoji="0" lang="en-ZA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478" y="1124744"/>
            <a:ext cx="83185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3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6B424B-3DE8-0E4F-AD58-CDDC0D08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3" y="164638"/>
            <a:ext cx="10850033" cy="745060"/>
          </a:xfrm>
        </p:spPr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Methods: </a:t>
            </a:r>
            <a:r>
              <a:rPr lang="en-GB" dirty="0" smtClean="0">
                <a:solidFill>
                  <a:srgbClr val="0078AC"/>
                </a:solidFill>
                <a:cs typeface="Arial" panose="020B0604020202020204" pitchFamily="34" charset="0"/>
              </a:rPr>
              <a:t>Simulation setup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ED622E-1776-4017-821F-345C9A7A3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72" y="1151529"/>
            <a:ext cx="7104789" cy="3840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AC2937-0070-4864-A1DF-A599645440EB}"/>
              </a:ext>
            </a:extLst>
          </p:cNvPr>
          <p:cNvSpPr txBox="1"/>
          <p:nvPr/>
        </p:nvSpPr>
        <p:spPr>
          <a:xfrm>
            <a:off x="7824192" y="1151528"/>
            <a:ext cx="4032448" cy="577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Scenario 1 (S1) </a:t>
            </a: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=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    Two targets + 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    60 000 Model runs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Scenario 2 (S2) </a:t>
            </a: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=   Three targets + 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   75 000 Model runs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  <a:p>
            <a:pPr marL="457189" marR="0" lvl="0" indent="-457189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Targets were obtained using known parameter values (</a:t>
            </a:r>
            <a:r>
              <a:rPr kumimoji="0" lang="en-ZA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beta =0.2. gamma = 0.02</a:t>
            </a: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)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994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6B424B-3DE8-0E4F-AD58-CDDC0D08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3" y="164638"/>
            <a:ext cx="10850033" cy="745060"/>
          </a:xfrm>
        </p:spPr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Methods: </a:t>
            </a:r>
            <a:r>
              <a:rPr lang="en-GB" dirty="0" smtClean="0">
                <a:solidFill>
                  <a:srgbClr val="0078AC"/>
                </a:solidFill>
                <a:cs typeface="Arial" panose="020B0604020202020204" pitchFamily="34" charset="0"/>
              </a:rPr>
              <a:t>Simulation setup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563" y="836712"/>
            <a:ext cx="8055835" cy="572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4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D5ADE-74F8-7348-85C6-76432476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Methods: </a:t>
            </a:r>
            <a:r>
              <a:rPr lang="en-GB" dirty="0" smtClean="0">
                <a:solidFill>
                  <a:srgbClr val="0078AC"/>
                </a:solidFill>
                <a:cs typeface="Arial" panose="020B0604020202020204" pitchFamily="34" charset="0"/>
              </a:rPr>
              <a:t>Reference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Placeholder 2"/>
              <p:cNvSpPr txBox="1">
                <a:spLocks/>
              </p:cNvSpPr>
              <p:nvPr/>
            </p:nvSpPr>
            <p:spPr>
              <a:xfrm>
                <a:off x="673102" y="1316765"/>
                <a:ext cx="10421804" cy="3886963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b="0" i="0" kern="1200">
                    <a:solidFill>
                      <a:srgbClr val="99241B"/>
                    </a:solidFill>
                    <a:latin typeface="Roboto Thin"/>
                    <a:ea typeface="+mn-ea"/>
                    <a:cs typeface="Roboto Thin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b="0" i="0" kern="1200">
                    <a:solidFill>
                      <a:srgbClr val="99241B"/>
                    </a:solidFill>
                    <a:latin typeface="Roboto Thin"/>
                    <a:ea typeface="+mn-ea"/>
                    <a:cs typeface="Roboto Thin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b="0" i="0" kern="1200">
                    <a:solidFill>
                      <a:srgbClr val="99241B"/>
                    </a:solidFill>
                    <a:latin typeface="Roboto Thin"/>
                    <a:ea typeface="+mn-ea"/>
                    <a:cs typeface="Roboto Thin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b="0" i="0" kern="1200">
                    <a:solidFill>
                      <a:srgbClr val="99241B"/>
                    </a:solidFill>
                    <a:latin typeface="Roboto Thin"/>
                    <a:ea typeface="+mn-ea"/>
                    <a:cs typeface="Roboto Thin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b="0" i="0" kern="1200">
                    <a:solidFill>
                      <a:srgbClr val="99241B"/>
                    </a:solidFill>
                    <a:latin typeface="Roboto Thin"/>
                    <a:ea typeface="+mn-ea"/>
                    <a:cs typeface="Roboto Thin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09585" rtl="0" eaLnBrk="1" fontAlgn="auto" latinLnBrk="0" hangingPunct="1">
                  <a:lnSpc>
                    <a:spcPct val="93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  <a:sym typeface="Calibri"/>
                  </a:rPr>
                  <a:t>For each scenario,</a:t>
                </a:r>
                <a:endParaRPr kumimoji="0" lang="en-GB" sz="4267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Calibri"/>
                </a:endParaRPr>
              </a:p>
              <a:p>
                <a:pPr marL="990575" marR="0" lvl="1" indent="-380990" algn="l" defTabSz="609585" rtl="0" eaLnBrk="1" fontAlgn="auto" latinLnBrk="0" hangingPunct="1">
                  <a:lnSpc>
                    <a:spcPct val="93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733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 Thin"/>
                    <a:ea typeface="+mn-ea"/>
                    <a:sym typeface="Calibri"/>
                  </a:rPr>
                  <a:t> </a:t>
                </a:r>
                <a:r>
                  <a:rPr kumimoji="0" lang="en-GB" sz="2667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 Thin"/>
                    <a:ea typeface="+mn-ea"/>
                    <a:sym typeface="Calibri"/>
                  </a:rPr>
                  <a:t>Run Rejection ABC for </a:t>
                </a:r>
                <a14:m>
                  <m:oMath xmlns:m="http://schemas.openxmlformats.org/officeDocument/2006/math">
                    <m:r>
                      <a:rPr kumimoji="0" lang="en-ZA" sz="2667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sym typeface="Calibri"/>
                      </a:rPr>
                      <m:t>5</m:t>
                    </m:r>
                    <m:r>
                      <a:rPr kumimoji="0" lang="de-CH" sz="2667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sym typeface="Calibri"/>
                      </a:rPr>
                      <m:t>𝑀</m:t>
                    </m:r>
                  </m:oMath>
                </a14:m>
                <a:r>
                  <a:rPr kumimoji="0" lang="en-GB" sz="2667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 Thin"/>
                    <a:ea typeface="+mn-ea"/>
                    <a:sym typeface="Calibri"/>
                  </a:rPr>
                  <a:t> parameter combinations</a:t>
                </a:r>
              </a:p>
              <a:p>
                <a:pPr marL="609585" marR="0" lvl="1" indent="0" algn="l" defTabSz="609585" rtl="0" eaLnBrk="1" fontAlgn="auto" latinLnBrk="0" hangingPunct="1">
                  <a:lnSpc>
                    <a:spcPct val="93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lang="en-GB" sz="2667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 Thin"/>
                  <a:ea typeface="+mn-ea"/>
                  <a:sym typeface="Calibri"/>
                </a:endParaRPr>
              </a:p>
              <a:p>
                <a:pPr marL="990575" marR="0" lvl="1" indent="-380990" algn="l" defTabSz="609585" rtl="0" eaLnBrk="1" fontAlgn="auto" latinLnBrk="0" hangingPunct="1">
                  <a:lnSpc>
                    <a:spcPct val="93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667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 Thin"/>
                    <a:ea typeface="+mn-ea"/>
                    <a:sym typeface="Calibri"/>
                  </a:rPr>
                  <a:t> Retain 0.1% best model runs</a:t>
                </a:r>
              </a:p>
              <a:p>
                <a:pPr marL="609585" marR="0" lvl="1" indent="0" algn="l" defTabSz="609585" rtl="0" eaLnBrk="1" fontAlgn="auto" latinLnBrk="0" hangingPunct="1">
                  <a:lnSpc>
                    <a:spcPct val="93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lang="en-GB" sz="2667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 Thin"/>
                  <a:ea typeface="+mn-ea"/>
                  <a:sym typeface="Calibri"/>
                </a:endParaRPr>
              </a:p>
              <a:p>
                <a:pPr marL="990575" marR="0" lvl="1" indent="-380990" algn="l" defTabSz="609585" rtl="0" eaLnBrk="1" fontAlgn="auto" latinLnBrk="0" hangingPunct="1">
                  <a:lnSpc>
                    <a:spcPct val="93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667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 Thin"/>
                    <a:ea typeface="+mn-ea"/>
                    <a:sym typeface="Calibri"/>
                  </a:rPr>
                  <a:t> </a:t>
                </a:r>
                <a:r>
                  <a:rPr kumimoji="0" lang="en-US" sz="2667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sym typeface="Calibri"/>
                  </a:rPr>
                  <a:t>Obtain 5000 parameter combinations as  reference posterior</a:t>
                </a:r>
                <a:endParaRPr kumimoji="0" lang="en-GB" sz="2667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 Thin"/>
                  <a:ea typeface="+mn-ea"/>
                  <a:sym typeface="Calibri"/>
                </a:endParaRPr>
              </a:p>
            </p:txBody>
          </p:sp>
        </mc:Choice>
        <mc:Fallback>
          <p:sp>
            <p:nvSpPr>
              <p:cNvPr id="9" name="Tex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02" y="1316765"/>
                <a:ext cx="10421804" cy="3886963"/>
              </a:xfrm>
              <a:prstGeom prst="rect">
                <a:avLst/>
              </a:prstGeom>
              <a:blipFill>
                <a:blip r:embed="rId2"/>
                <a:stretch>
                  <a:fillRect l="-2339" t="-4075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86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D5ADE-74F8-7348-85C6-76432476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65" y="179039"/>
            <a:ext cx="10850033" cy="745060"/>
          </a:xfrm>
        </p:spPr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Methods: </a:t>
            </a:r>
            <a:r>
              <a:rPr lang="en-GB" dirty="0" smtClean="0">
                <a:solidFill>
                  <a:srgbClr val="0078AC"/>
                </a:solidFill>
                <a:cs typeface="Arial" panose="020B0604020202020204" pitchFamily="34" charset="0"/>
              </a:rPr>
              <a:t>Performance measures</a:t>
            </a:r>
            <a:endParaRPr lang="en-US" dirty="0"/>
          </a:p>
        </p:txBody>
      </p:sp>
      <p:pic>
        <p:nvPicPr>
          <p:cNvPr id="3" name="Picture 2" descr="A screenshot of a video game&#10;&#10;Description automatically generated">
            <a:extLst>
              <a:ext uri="{FF2B5EF4-FFF2-40B4-BE49-F238E27FC236}">
                <a16:creationId xmlns:a16="http://schemas.microsoft.com/office/drawing/2014/main" id="{6AB122F9-C6D6-422B-9238-D7B9312FB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547" y="749821"/>
            <a:ext cx="4765393" cy="4136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CD8398-943A-4DE3-A335-868974852818}"/>
              </a:ext>
            </a:extLst>
          </p:cNvPr>
          <p:cNvSpPr txBox="1"/>
          <p:nvPr/>
        </p:nvSpPr>
        <p:spPr>
          <a:xfrm>
            <a:off x="527382" y="924099"/>
            <a:ext cx="5103916" cy="626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373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 </a:t>
            </a: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Percentage overlap </a:t>
            </a:r>
            <a:endParaRPr kumimoji="0" lang="en-ZA" sz="3733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DE468-D9DA-48D5-85A8-61BE924F9332}"/>
              </a:ext>
            </a:extLst>
          </p:cNvPr>
          <p:cNvSpPr txBox="1"/>
          <p:nvPr/>
        </p:nvSpPr>
        <p:spPr>
          <a:xfrm>
            <a:off x="527382" y="1550681"/>
            <a:ext cx="4777864" cy="154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marR="0" lvl="0" indent="-457189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Quantile-Quantile plots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  <a:p>
            <a:pPr marL="609585" marR="0" lvl="0" indent="-609585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R0 and DT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133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1" y="4886553"/>
            <a:ext cx="7835900" cy="1409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CD8398-943A-4DE3-A335-868974852818}"/>
              </a:ext>
            </a:extLst>
          </p:cNvPr>
          <p:cNvSpPr txBox="1"/>
          <p:nvPr/>
        </p:nvSpPr>
        <p:spPr>
          <a:xfrm>
            <a:off x="352369" y="3752961"/>
            <a:ext cx="5760640" cy="47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67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Percentage </a:t>
            </a:r>
            <a:r>
              <a:rPr kumimoji="0" lang="en-ZA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overlap calculation </a:t>
            </a:r>
            <a:endParaRPr kumimoji="0" lang="en-ZA" sz="3733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260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D5ADE-74F8-7348-85C6-76432476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90019"/>
            <a:ext cx="10850033" cy="745060"/>
          </a:xfrm>
        </p:spPr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Results</a:t>
            </a:r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: </a:t>
            </a:r>
            <a:r>
              <a:rPr lang="en-GB" dirty="0" smtClean="0">
                <a:solidFill>
                  <a:srgbClr val="0078AC"/>
                </a:solidFill>
                <a:cs typeface="Arial" panose="020B0604020202020204" pitchFamily="34" charset="0"/>
              </a:rPr>
              <a:t>Posterior plots – S1</a:t>
            </a:r>
            <a:endParaRPr lang="en-US" dirty="0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4252833F-1895-4139-9E9A-BF6E72FC3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947" y="1028734"/>
            <a:ext cx="10229293" cy="5338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7C8F2-CA43-4D4D-9727-09CCBA9FD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3" y="1796819"/>
            <a:ext cx="1915215" cy="7648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533E6F-DF79-4457-98DD-16CE7F2F1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2" y="4485118"/>
            <a:ext cx="1896957" cy="78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0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D5ADE-74F8-7348-85C6-76432476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90019"/>
            <a:ext cx="10850033" cy="745060"/>
          </a:xfrm>
        </p:spPr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Results</a:t>
            </a:r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: </a:t>
            </a:r>
            <a:r>
              <a:rPr lang="en-GB" dirty="0" smtClean="0">
                <a:solidFill>
                  <a:srgbClr val="0078AC"/>
                </a:solidFill>
                <a:cs typeface="Arial" panose="020B0604020202020204" pitchFamily="34" charset="0"/>
              </a:rPr>
              <a:t>Posterior plots – S2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7C8F2-CA43-4D4D-9727-09CCBA9FD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0808"/>
            <a:ext cx="1391477" cy="681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533E6F-DF79-4457-98DD-16CE7F2F1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5" y="4389107"/>
            <a:ext cx="1343652" cy="684711"/>
          </a:xfrm>
          <a:prstGeom prst="rect">
            <a:avLst/>
          </a:prstGeom>
        </p:spPr>
      </p:pic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3FB3ABE4-7C83-4121-BD3D-2EDE22E57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477" y="835079"/>
            <a:ext cx="10702271" cy="55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0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D5ADE-74F8-7348-85C6-76432476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90019"/>
            <a:ext cx="10850033" cy="745060"/>
          </a:xfrm>
        </p:spPr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Results</a:t>
            </a:r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: </a:t>
            </a:r>
            <a:r>
              <a:rPr lang="en-GB" dirty="0" smtClean="0">
                <a:solidFill>
                  <a:srgbClr val="0078AC"/>
                </a:solidFill>
                <a:cs typeface="Arial" panose="020B0604020202020204" pitchFamily="34" charset="0"/>
              </a:rPr>
              <a:t>Percentage overlap plot</a:t>
            </a:r>
            <a:endParaRPr lang="en-US" dirty="0"/>
          </a:p>
        </p:txBody>
      </p:sp>
      <p:pic>
        <p:nvPicPr>
          <p:cNvPr id="8" name="Picture 7" descr="A picture containing screenshot, bunch, table, group&#10;&#10;Description automatically generated">
            <a:extLst>
              <a:ext uri="{FF2B5EF4-FFF2-40B4-BE49-F238E27FC236}">
                <a16:creationId xmlns:a16="http://schemas.microsoft.com/office/drawing/2014/main" id="{388772BB-7061-4F52-9BF6-380BE1FDB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71" y="835080"/>
            <a:ext cx="10386605" cy="533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2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D5ADE-74F8-7348-85C6-76432476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1" y="56378"/>
            <a:ext cx="11952651" cy="745060"/>
          </a:xfrm>
        </p:spPr>
        <p:txBody>
          <a:bodyPr/>
          <a:lstStyle/>
          <a:p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Results</a:t>
            </a:r>
            <a:r>
              <a:rPr lang="en-GB" sz="3733" b="1" dirty="0">
                <a:solidFill>
                  <a:srgbClr val="0078AC"/>
                </a:solidFill>
                <a:cs typeface="Arial" panose="020B0604020202020204" pitchFamily="34" charset="0"/>
              </a:rPr>
              <a:t>: </a:t>
            </a:r>
            <a:r>
              <a:rPr lang="en-GB" dirty="0" smtClean="0">
                <a:solidFill>
                  <a:srgbClr val="0078AC"/>
                </a:solidFill>
                <a:cs typeface="Arial" panose="020B0604020202020204" pitchFamily="34" charset="0"/>
              </a:rPr>
              <a:t>Parameter estimates with uncertainty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45" y="835080"/>
            <a:ext cx="10177131" cy="548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7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D5ADE-74F8-7348-85C6-76432476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33" b="1" dirty="0"/>
              <a:t>Limitations</a:t>
            </a:r>
            <a:endParaRPr lang="en-US" sz="3733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93314-10FD-4D0A-8831-157254A32C19}"/>
              </a:ext>
            </a:extLst>
          </p:cNvPr>
          <p:cNvSpPr txBox="1"/>
          <p:nvPr/>
        </p:nvSpPr>
        <p:spPr>
          <a:xfrm>
            <a:off x="645042" y="1508787"/>
            <a:ext cx="11381911" cy="390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We are unsure to what extent our findings are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generalizable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.</a:t>
            </a: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/>
            </a:endParaRP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we only saved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computational time once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, which did not allow us to account for variability between run-times</a:t>
            </a: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We did not use Latin squares or any other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smart design for sampling parameters</a:t>
            </a: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/>
            </a:endParaRP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We did not explore the use of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multiple settings 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for the algorithm parameters</a:t>
            </a: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/>
            </a:endParaRP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577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D5ADE-74F8-7348-85C6-76432476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33" b="1" dirty="0"/>
              <a:t>Conclusion</a:t>
            </a:r>
            <a:endParaRPr lang="en-US" sz="3733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93314-10FD-4D0A-8831-157254A32C19}"/>
              </a:ext>
            </a:extLst>
          </p:cNvPr>
          <p:cNvSpPr txBox="1"/>
          <p:nvPr/>
        </p:nvSpPr>
        <p:spPr>
          <a:xfrm>
            <a:off x="666751" y="1508788"/>
            <a:ext cx="11381911" cy="390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Basic methods 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led to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sub-optimal results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.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/>
            </a:endParaRP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Surrogate Likelihood-based 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methods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outperformed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distance measure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ones. 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</a:t>
            </a: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Adaptive sampling methods 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considerably improved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efficiency 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over basic methods.</a:t>
            </a:r>
          </a:p>
          <a:p>
            <a:pPr marL="0" marR="0" lvl="0" indent="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/>
            </a:endParaRPr>
          </a:p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Use of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adaptive sampling methods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and or a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supercomputer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may be necessary for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calibrating complex models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.</a:t>
            </a:r>
            <a:endParaRPr kumimoji="0" lang="en-ZA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91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D5ADE-74F8-7348-85C6-76432476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33" b="1" dirty="0"/>
              <a:t>Conclusion</a:t>
            </a:r>
            <a:endParaRPr lang="en-US" sz="3733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93314-10FD-4D0A-8831-157254A32C19}"/>
              </a:ext>
            </a:extLst>
          </p:cNvPr>
          <p:cNvSpPr txBox="1"/>
          <p:nvPr/>
        </p:nvSpPr>
        <p:spPr>
          <a:xfrm>
            <a:off x="666751" y="1508788"/>
            <a:ext cx="11381911" cy="123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marR="0" lvl="0" indent="-380990" algn="l" defTabSz="609585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In summary, the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choice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 for one adaptive sampling method over another is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context-dependent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, conditional on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computational cost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,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the model 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and the </a:t>
            </a: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availability of programming skills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 in the modelling group</a:t>
            </a:r>
            <a:endParaRPr kumimoji="0" lang="en-ZA" sz="2667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829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Custom Design">
  <a:themeElements>
    <a:clrScheme name="Swiss TPH">
      <a:dk1>
        <a:srgbClr val="000000"/>
      </a:dk1>
      <a:lt1>
        <a:srgbClr val="EFEFF0"/>
      </a:lt1>
      <a:dk2>
        <a:srgbClr val="BABCBE"/>
      </a:dk2>
      <a:lt2>
        <a:srgbClr val="717073"/>
      </a:lt2>
      <a:accent1>
        <a:srgbClr val="222222"/>
      </a:accent1>
      <a:accent2>
        <a:srgbClr val="BF3227"/>
      </a:accent2>
      <a:accent3>
        <a:srgbClr val="468AB2"/>
      </a:accent3>
      <a:accent4>
        <a:srgbClr val="EDCD64"/>
      </a:accent4>
      <a:accent5>
        <a:srgbClr val="B5C751"/>
      </a:accent5>
      <a:accent6>
        <a:srgbClr val="868686"/>
      </a:accent6>
      <a:hlink>
        <a:srgbClr val="00344B"/>
      </a:hlink>
      <a:folHlink>
        <a:srgbClr val="7FB9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 marL="0" indent="0" algn="l">
          <a:buNone/>
          <a:defRPr b="0" dirty="0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16x9_SwissTPH-SS-D01" id="{BDA2707D-74DD-42D4-AD77-26A69C41E7E6}" vid="{F7A27431-5633-43A3-A2F4-954D700CB4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74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Roboto Thin</vt:lpstr>
      <vt:lpstr>Simplon Norm</vt:lpstr>
      <vt:lpstr>System Font Regular</vt:lpstr>
      <vt:lpstr>Wingdings</vt:lpstr>
      <vt:lpstr>2_Custom Design</vt:lpstr>
      <vt:lpstr>PowerPoint Presentation</vt:lpstr>
      <vt:lpstr>Introduction</vt:lpstr>
      <vt:lpstr>Methods: Calibration Methods</vt:lpstr>
      <vt:lpstr>Methods: Model and stochastic framework used </vt:lpstr>
      <vt:lpstr>Methods: Simulation setup</vt:lpstr>
      <vt:lpstr>Methods: Simulation setup</vt:lpstr>
      <vt:lpstr>Methods: Reference</vt:lpstr>
      <vt:lpstr>Methods: Performance measures</vt:lpstr>
      <vt:lpstr>Results: Posterior plots – S1</vt:lpstr>
      <vt:lpstr>Results: Posterior plots – S2</vt:lpstr>
      <vt:lpstr>Results: Percentage overlap plot</vt:lpstr>
      <vt:lpstr>Results: Parameter estimates with uncertainty</vt:lpstr>
      <vt:lpstr>Limitations</vt:lpstr>
      <vt:lpstr>Conclusion</vt:lpstr>
      <vt:lpstr>Conclusion</vt:lpstr>
    </vt:vector>
  </TitlesOfParts>
  <Company>Swiss TPH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Zenabu Suboi</dc:creator>
  <cp:lastModifiedBy>Zenabu Suboi</cp:lastModifiedBy>
  <cp:revision>2</cp:revision>
  <dcterms:created xsi:type="dcterms:W3CDTF">2024-10-01T06:42:26Z</dcterms:created>
  <dcterms:modified xsi:type="dcterms:W3CDTF">2024-10-01T07:38:43Z</dcterms:modified>
</cp:coreProperties>
</file>