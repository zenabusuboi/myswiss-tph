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0" autoAdjust="0"/>
    <p:restoredTop sz="94660"/>
  </p:normalViewPr>
  <p:slideViewPr>
    <p:cSldViewPr snapToGrid="0">
      <p:cViewPr varScale="1">
        <p:scale>
          <a:sx n="74" d="100"/>
          <a:sy n="74" d="100"/>
        </p:scale>
        <p:origin x="1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982B6-261F-4E0D-85CF-AFB8898FA926}" type="doc">
      <dgm:prSet loTypeId="urn:microsoft.com/office/officeart/2005/8/layout/vList6" loCatId="list" qsTypeId="urn:microsoft.com/office/officeart/2005/8/quickstyle/simple3" qsCatId="simple" csTypeId="urn:microsoft.com/office/officeart/2005/8/colors/accent1_2" csCatId="accent1" phldr="1"/>
      <dgm:spPr/>
      <dgm:t>
        <a:bodyPr/>
        <a:lstStyle/>
        <a:p>
          <a:endParaRPr lang="en-US"/>
        </a:p>
      </dgm:t>
    </dgm:pt>
    <dgm:pt modelId="{6BD30B86-6E63-484E-9CF9-D5C6180BE587}">
      <dgm:prSet phldrT="[Text]" custT="1"/>
      <dgm:spPr/>
      <dgm:t>
        <a:bodyPr/>
        <a:lstStyle/>
        <a:p>
          <a:r>
            <a:rPr lang="en-US" sz="2800" dirty="0" smtClean="0"/>
            <a:t>Forward Propagation of Uncertainty</a:t>
          </a:r>
          <a:endParaRPr lang="en-US" sz="2800" dirty="0"/>
        </a:p>
      </dgm:t>
    </dgm:pt>
    <dgm:pt modelId="{E550FB3D-3EE7-453C-9528-C2A578C98294}" type="parTrans" cxnId="{4C1FD9F4-5CD8-42FF-ACF4-CE191FA36AEB}">
      <dgm:prSet/>
      <dgm:spPr/>
      <dgm:t>
        <a:bodyPr/>
        <a:lstStyle/>
        <a:p>
          <a:endParaRPr lang="en-US"/>
        </a:p>
      </dgm:t>
    </dgm:pt>
    <dgm:pt modelId="{C3B58F22-DF41-4CBC-A43D-5B82C008BEF1}" type="sibTrans" cxnId="{4C1FD9F4-5CD8-42FF-ACF4-CE191FA36AEB}">
      <dgm:prSet/>
      <dgm:spPr/>
      <dgm:t>
        <a:bodyPr/>
        <a:lstStyle/>
        <a:p>
          <a:endParaRPr lang="en-US"/>
        </a:p>
      </dgm:t>
    </dgm:pt>
    <dgm:pt modelId="{6B2FAED9-D35B-40EF-8571-857622692A77}">
      <dgm:prSet phldrT="[Text]" custT="1"/>
      <dgm:spPr/>
      <dgm:t>
        <a:bodyPr/>
        <a:lstStyle/>
        <a:p>
          <a:r>
            <a:rPr lang="en-US" sz="2800" dirty="0" smtClean="0"/>
            <a:t>Investigates the impacts of random input values of model parameters on model outputs</a:t>
          </a:r>
          <a:endParaRPr lang="en-US" sz="2800" dirty="0"/>
        </a:p>
      </dgm:t>
    </dgm:pt>
    <dgm:pt modelId="{36446724-EDA3-4799-BE41-305A8FE567CC}" type="parTrans" cxnId="{412359B2-18DB-4350-846A-9E645FB4A7EF}">
      <dgm:prSet/>
      <dgm:spPr/>
      <dgm:t>
        <a:bodyPr/>
        <a:lstStyle/>
        <a:p>
          <a:endParaRPr lang="en-US"/>
        </a:p>
      </dgm:t>
    </dgm:pt>
    <dgm:pt modelId="{9C197227-3985-4A0F-8C70-6DA014A00B96}" type="sibTrans" cxnId="{412359B2-18DB-4350-846A-9E645FB4A7EF}">
      <dgm:prSet/>
      <dgm:spPr/>
      <dgm:t>
        <a:bodyPr/>
        <a:lstStyle/>
        <a:p>
          <a:endParaRPr lang="en-US"/>
        </a:p>
      </dgm:t>
    </dgm:pt>
    <dgm:pt modelId="{8813CC15-E3AF-4EE9-8CC3-08E0DF124B2B}">
      <dgm:prSet phldrT="[Text]" custT="1"/>
      <dgm:spPr/>
      <dgm:t>
        <a:bodyPr/>
        <a:lstStyle/>
        <a:p>
          <a:r>
            <a:rPr lang="en-US" sz="2800" dirty="0" smtClean="0"/>
            <a:t>Inverse Uncertainty Quantification</a:t>
          </a:r>
          <a:endParaRPr lang="en-US" sz="2800" dirty="0"/>
        </a:p>
      </dgm:t>
    </dgm:pt>
    <dgm:pt modelId="{CE7CB66D-843B-4D82-ACAE-307F659C6710}" type="parTrans" cxnId="{EA2C217A-5BBF-4435-9F5B-0883B361B148}">
      <dgm:prSet/>
      <dgm:spPr/>
      <dgm:t>
        <a:bodyPr/>
        <a:lstStyle/>
        <a:p>
          <a:endParaRPr lang="en-US"/>
        </a:p>
      </dgm:t>
    </dgm:pt>
    <dgm:pt modelId="{1ED23F48-7363-4CE9-8B2C-FED4F4DB44AD}" type="sibTrans" cxnId="{EA2C217A-5BBF-4435-9F5B-0883B361B148}">
      <dgm:prSet/>
      <dgm:spPr/>
      <dgm:t>
        <a:bodyPr/>
        <a:lstStyle/>
        <a:p>
          <a:endParaRPr lang="en-US"/>
        </a:p>
      </dgm:t>
    </dgm:pt>
    <dgm:pt modelId="{53A706F1-7BE7-4B65-8C79-64D92BB217B0}">
      <dgm:prSet phldrT="[Text]" custT="1"/>
      <dgm:spPr/>
      <dgm:t>
        <a:bodyPr/>
        <a:lstStyle/>
        <a:p>
          <a:r>
            <a:rPr lang="en-US" sz="2800" dirty="0" smtClean="0"/>
            <a:t>using experimental data to learn about the sources of modeling uncertainty</a:t>
          </a:r>
          <a:endParaRPr lang="en-US" sz="2800" dirty="0"/>
        </a:p>
      </dgm:t>
    </dgm:pt>
    <dgm:pt modelId="{84C15831-477D-44C5-8EF7-3058C1722A7A}" type="parTrans" cxnId="{3517BC94-0B70-4749-8E13-46F75F6A0C6C}">
      <dgm:prSet/>
      <dgm:spPr/>
      <dgm:t>
        <a:bodyPr/>
        <a:lstStyle/>
        <a:p>
          <a:endParaRPr lang="en-US"/>
        </a:p>
      </dgm:t>
    </dgm:pt>
    <dgm:pt modelId="{F24A94F5-7CF3-43C4-BDCF-42C4BCCE841B}" type="sibTrans" cxnId="{3517BC94-0B70-4749-8E13-46F75F6A0C6C}">
      <dgm:prSet/>
      <dgm:spPr/>
      <dgm:t>
        <a:bodyPr/>
        <a:lstStyle/>
        <a:p>
          <a:endParaRPr lang="en-US"/>
        </a:p>
      </dgm:t>
    </dgm:pt>
    <dgm:pt modelId="{F6BC2A56-8E24-4633-9F0F-74F252669F27}" type="pres">
      <dgm:prSet presAssocID="{1E7982B6-261F-4E0D-85CF-AFB8898FA926}" presName="Name0" presStyleCnt="0">
        <dgm:presLayoutVars>
          <dgm:dir/>
          <dgm:animLvl val="lvl"/>
          <dgm:resizeHandles/>
        </dgm:presLayoutVars>
      </dgm:prSet>
      <dgm:spPr/>
      <dgm:t>
        <a:bodyPr/>
        <a:lstStyle/>
        <a:p>
          <a:endParaRPr lang="en-US"/>
        </a:p>
      </dgm:t>
    </dgm:pt>
    <dgm:pt modelId="{5C9A9BF0-147B-4478-A0E6-6DFE025FBCAC}" type="pres">
      <dgm:prSet presAssocID="{6BD30B86-6E63-484E-9CF9-D5C6180BE587}" presName="linNode" presStyleCnt="0"/>
      <dgm:spPr/>
    </dgm:pt>
    <dgm:pt modelId="{40BCD131-2073-4EDE-9795-02928553C85F}" type="pres">
      <dgm:prSet presAssocID="{6BD30B86-6E63-484E-9CF9-D5C6180BE587}" presName="parentShp" presStyleLbl="node1" presStyleIdx="0" presStyleCnt="2" custLinFactNeighborY="-26">
        <dgm:presLayoutVars>
          <dgm:bulletEnabled val="1"/>
        </dgm:presLayoutVars>
      </dgm:prSet>
      <dgm:spPr/>
      <dgm:t>
        <a:bodyPr/>
        <a:lstStyle/>
        <a:p>
          <a:endParaRPr lang="en-US"/>
        </a:p>
      </dgm:t>
    </dgm:pt>
    <dgm:pt modelId="{234E15B5-1992-433F-AE7A-2BD232D5F9C1}" type="pres">
      <dgm:prSet presAssocID="{6BD30B86-6E63-484E-9CF9-D5C6180BE587}" presName="childShp" presStyleLbl="bgAccFollowNode1" presStyleIdx="0" presStyleCnt="2" custLinFactNeighborX="-358" custLinFactNeighborY="-26">
        <dgm:presLayoutVars>
          <dgm:bulletEnabled val="1"/>
        </dgm:presLayoutVars>
      </dgm:prSet>
      <dgm:spPr/>
      <dgm:t>
        <a:bodyPr/>
        <a:lstStyle/>
        <a:p>
          <a:endParaRPr lang="en-US"/>
        </a:p>
      </dgm:t>
    </dgm:pt>
    <dgm:pt modelId="{147B896B-C0B3-4FD6-BB5D-C71145D3502F}" type="pres">
      <dgm:prSet presAssocID="{C3B58F22-DF41-4CBC-A43D-5B82C008BEF1}" presName="spacing" presStyleCnt="0"/>
      <dgm:spPr/>
    </dgm:pt>
    <dgm:pt modelId="{C8195DB9-FD51-4F69-B60F-250E8247B09B}" type="pres">
      <dgm:prSet presAssocID="{8813CC15-E3AF-4EE9-8CC3-08E0DF124B2B}" presName="linNode" presStyleCnt="0"/>
      <dgm:spPr/>
    </dgm:pt>
    <dgm:pt modelId="{116AF5B1-E45C-4738-8EBC-F071EB4E45FD}" type="pres">
      <dgm:prSet presAssocID="{8813CC15-E3AF-4EE9-8CC3-08E0DF124B2B}" presName="parentShp" presStyleLbl="node1" presStyleIdx="1" presStyleCnt="2">
        <dgm:presLayoutVars>
          <dgm:bulletEnabled val="1"/>
        </dgm:presLayoutVars>
      </dgm:prSet>
      <dgm:spPr/>
      <dgm:t>
        <a:bodyPr/>
        <a:lstStyle/>
        <a:p>
          <a:endParaRPr lang="en-US"/>
        </a:p>
      </dgm:t>
    </dgm:pt>
    <dgm:pt modelId="{AF97286F-DE4D-4D21-923A-0C8E3289DDB2}" type="pres">
      <dgm:prSet presAssocID="{8813CC15-E3AF-4EE9-8CC3-08E0DF124B2B}" presName="childShp" presStyleLbl="bgAccFollowNode1" presStyleIdx="1" presStyleCnt="2">
        <dgm:presLayoutVars>
          <dgm:bulletEnabled val="1"/>
        </dgm:presLayoutVars>
      </dgm:prSet>
      <dgm:spPr/>
      <dgm:t>
        <a:bodyPr/>
        <a:lstStyle/>
        <a:p>
          <a:endParaRPr lang="en-US"/>
        </a:p>
      </dgm:t>
    </dgm:pt>
  </dgm:ptLst>
  <dgm:cxnLst>
    <dgm:cxn modelId="{3517BC94-0B70-4749-8E13-46F75F6A0C6C}" srcId="{8813CC15-E3AF-4EE9-8CC3-08E0DF124B2B}" destId="{53A706F1-7BE7-4B65-8C79-64D92BB217B0}" srcOrd="0" destOrd="0" parTransId="{84C15831-477D-44C5-8EF7-3058C1722A7A}" sibTransId="{F24A94F5-7CF3-43C4-BDCF-42C4BCCE841B}"/>
    <dgm:cxn modelId="{4C1FD9F4-5CD8-42FF-ACF4-CE191FA36AEB}" srcId="{1E7982B6-261F-4E0D-85CF-AFB8898FA926}" destId="{6BD30B86-6E63-484E-9CF9-D5C6180BE587}" srcOrd="0" destOrd="0" parTransId="{E550FB3D-3EE7-453C-9528-C2A578C98294}" sibTransId="{C3B58F22-DF41-4CBC-A43D-5B82C008BEF1}"/>
    <dgm:cxn modelId="{DA6BDA08-0FC6-4E53-AB47-241F6623AEF4}" type="presOf" srcId="{1E7982B6-261F-4E0D-85CF-AFB8898FA926}" destId="{F6BC2A56-8E24-4633-9F0F-74F252669F27}" srcOrd="0" destOrd="0" presId="urn:microsoft.com/office/officeart/2005/8/layout/vList6"/>
    <dgm:cxn modelId="{A0405EAE-990B-4F20-B289-67131FB4278D}" type="presOf" srcId="{8813CC15-E3AF-4EE9-8CC3-08E0DF124B2B}" destId="{116AF5B1-E45C-4738-8EBC-F071EB4E45FD}" srcOrd="0" destOrd="0" presId="urn:microsoft.com/office/officeart/2005/8/layout/vList6"/>
    <dgm:cxn modelId="{51D2EB02-6BD6-422D-9314-1F385B053707}" type="presOf" srcId="{6BD30B86-6E63-484E-9CF9-D5C6180BE587}" destId="{40BCD131-2073-4EDE-9795-02928553C85F}" srcOrd="0" destOrd="0" presId="urn:microsoft.com/office/officeart/2005/8/layout/vList6"/>
    <dgm:cxn modelId="{412359B2-18DB-4350-846A-9E645FB4A7EF}" srcId="{6BD30B86-6E63-484E-9CF9-D5C6180BE587}" destId="{6B2FAED9-D35B-40EF-8571-857622692A77}" srcOrd="0" destOrd="0" parTransId="{36446724-EDA3-4799-BE41-305A8FE567CC}" sibTransId="{9C197227-3985-4A0F-8C70-6DA014A00B96}"/>
    <dgm:cxn modelId="{A1F09CA7-7683-4B05-9E24-EA96970D0CE2}" type="presOf" srcId="{53A706F1-7BE7-4B65-8C79-64D92BB217B0}" destId="{AF97286F-DE4D-4D21-923A-0C8E3289DDB2}" srcOrd="0" destOrd="0" presId="urn:microsoft.com/office/officeart/2005/8/layout/vList6"/>
    <dgm:cxn modelId="{A4404D18-9CBF-4384-8998-477683FAA36D}" type="presOf" srcId="{6B2FAED9-D35B-40EF-8571-857622692A77}" destId="{234E15B5-1992-433F-AE7A-2BD232D5F9C1}" srcOrd="0" destOrd="0" presId="urn:microsoft.com/office/officeart/2005/8/layout/vList6"/>
    <dgm:cxn modelId="{EA2C217A-5BBF-4435-9F5B-0883B361B148}" srcId="{1E7982B6-261F-4E0D-85CF-AFB8898FA926}" destId="{8813CC15-E3AF-4EE9-8CC3-08E0DF124B2B}" srcOrd="1" destOrd="0" parTransId="{CE7CB66D-843B-4D82-ACAE-307F659C6710}" sibTransId="{1ED23F48-7363-4CE9-8B2C-FED4F4DB44AD}"/>
    <dgm:cxn modelId="{36754631-76C3-48D8-9A08-076AD0002927}" type="presParOf" srcId="{F6BC2A56-8E24-4633-9F0F-74F252669F27}" destId="{5C9A9BF0-147B-4478-A0E6-6DFE025FBCAC}" srcOrd="0" destOrd="0" presId="urn:microsoft.com/office/officeart/2005/8/layout/vList6"/>
    <dgm:cxn modelId="{B62D4D64-F963-4188-9EBB-A1FCD2D788A1}" type="presParOf" srcId="{5C9A9BF0-147B-4478-A0E6-6DFE025FBCAC}" destId="{40BCD131-2073-4EDE-9795-02928553C85F}" srcOrd="0" destOrd="0" presId="urn:microsoft.com/office/officeart/2005/8/layout/vList6"/>
    <dgm:cxn modelId="{D79D9F45-60D5-4931-8000-F4313BB970EC}" type="presParOf" srcId="{5C9A9BF0-147B-4478-A0E6-6DFE025FBCAC}" destId="{234E15B5-1992-433F-AE7A-2BD232D5F9C1}" srcOrd="1" destOrd="0" presId="urn:microsoft.com/office/officeart/2005/8/layout/vList6"/>
    <dgm:cxn modelId="{C96FDB45-8DA8-4286-99A5-492ABF5FC4B2}" type="presParOf" srcId="{F6BC2A56-8E24-4633-9F0F-74F252669F27}" destId="{147B896B-C0B3-4FD6-BB5D-C71145D3502F}" srcOrd="1" destOrd="0" presId="urn:microsoft.com/office/officeart/2005/8/layout/vList6"/>
    <dgm:cxn modelId="{F7BFAE50-D638-4DE9-A0B3-E3CE5E5F8963}" type="presParOf" srcId="{F6BC2A56-8E24-4633-9F0F-74F252669F27}" destId="{C8195DB9-FD51-4F69-B60F-250E8247B09B}" srcOrd="2" destOrd="0" presId="urn:microsoft.com/office/officeart/2005/8/layout/vList6"/>
    <dgm:cxn modelId="{854C853F-1733-4F57-9FAA-5E4AC053F8A2}" type="presParOf" srcId="{C8195DB9-FD51-4F69-B60F-250E8247B09B}" destId="{116AF5B1-E45C-4738-8EBC-F071EB4E45FD}" srcOrd="0" destOrd="0" presId="urn:microsoft.com/office/officeart/2005/8/layout/vList6"/>
    <dgm:cxn modelId="{BC2874F3-D691-486F-BE9C-33A6E7CBEBAE}" type="presParOf" srcId="{C8195DB9-FD51-4F69-B60F-250E8247B09B}" destId="{AF97286F-DE4D-4D21-923A-0C8E3289DDB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dgm:t>
        <a:bodyPr/>
        <a:lstStyle/>
        <a:p>
          <a:r>
            <a:rPr lang="en-US" sz="1600" dirty="0" smtClean="0"/>
            <a:t>Objective 1: Understand the key drivers of impact of malaria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a:solidFill>
          <a:schemeClr val="bg2">
            <a:lumMod val="40000"/>
            <a:lumOff val="60000"/>
          </a:schemeClr>
        </a:solidFill>
      </dgm:spPr>
      <dgm:t>
        <a:bodyPr/>
        <a:lstStyle/>
        <a:p>
          <a:r>
            <a:rPr lang="en-US" sz="1600" dirty="0" smtClean="0"/>
            <a:t>Objective 1: Understand the key drivers of impact of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accent2">
            <a:lumMod val="75000"/>
          </a:schemeClr>
        </a:solidFill>
      </dgm:spPr>
      <dgm:t>
        <a:bodyPr/>
        <a:lstStyle/>
        <a:p>
          <a:r>
            <a:rPr lang="en-US" sz="1600" dirty="0" smtClean="0"/>
            <a:t>Objective 2: Develop an efficient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a:solidFill>
          <a:schemeClr val="bg2">
            <a:lumMod val="40000"/>
            <a:lumOff val="60000"/>
          </a:schemeClr>
        </a:solidFill>
      </dgm:spPr>
      <dgm:t>
        <a:bodyPr/>
        <a:lstStyle/>
        <a:p>
          <a:r>
            <a:rPr lang="en-US" sz="1600" dirty="0" smtClean="0"/>
            <a:t>Objective 1: Understand the key drivers of impact of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accent2">
            <a:lumMod val="75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E15B5-1992-433F-AE7A-2BD232D5F9C1}">
      <dsp:nvSpPr>
        <dsp:cNvPr id="0" name=""/>
        <dsp:cNvSpPr/>
      </dsp:nvSpPr>
      <dsp:spPr>
        <a:xfrm>
          <a:off x="3239560" y="0"/>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Investigates the impacts of random input values of model parameters on model outputs</a:t>
          </a:r>
          <a:endParaRPr lang="en-US" sz="2800" kern="1200" dirty="0"/>
        </a:p>
      </dsp:txBody>
      <dsp:txXfrm>
        <a:off x="3239560" y="293504"/>
        <a:ext cx="3996288" cy="1761024"/>
      </dsp:txXfrm>
    </dsp:sp>
    <dsp:sp modelId="{40BCD131-2073-4EDE-9795-02928553C85F}">
      <dsp:nvSpPr>
        <dsp:cNvPr id="0" name=""/>
        <dsp:cNvSpPr/>
      </dsp:nvSpPr>
      <dsp:spPr>
        <a:xfrm>
          <a:off x="0" y="0"/>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Forward Propagation of Uncertainty</a:t>
          </a:r>
          <a:endParaRPr lang="en-US" sz="2800" kern="1200" dirty="0"/>
        </a:p>
      </dsp:txBody>
      <dsp:txXfrm>
        <a:off x="114621" y="114621"/>
        <a:ext cx="3021958" cy="2118790"/>
      </dsp:txXfrm>
    </dsp:sp>
    <dsp:sp modelId="{AF97286F-DE4D-4D21-923A-0C8E3289DDB2}">
      <dsp:nvSpPr>
        <dsp:cNvPr id="0" name=""/>
        <dsp:cNvSpPr/>
      </dsp:nvSpPr>
      <dsp:spPr>
        <a:xfrm>
          <a:off x="3251199" y="2583438"/>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using experimental data to learn about the sources of modeling uncertainty</a:t>
          </a:r>
          <a:endParaRPr lang="en-US" sz="2800" kern="1200" dirty="0"/>
        </a:p>
      </dsp:txBody>
      <dsp:txXfrm>
        <a:off x="3251199" y="2876942"/>
        <a:ext cx="3996288" cy="1761024"/>
      </dsp:txXfrm>
    </dsp:sp>
    <dsp:sp modelId="{116AF5B1-E45C-4738-8EBC-F071EB4E45FD}">
      <dsp:nvSpPr>
        <dsp:cNvPr id="0" name=""/>
        <dsp:cNvSpPr/>
      </dsp:nvSpPr>
      <dsp:spPr>
        <a:xfrm>
          <a:off x="0" y="2583438"/>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Inverse Uncertainty Quantification</a:t>
          </a:r>
          <a:endParaRPr lang="en-US" sz="2800" kern="1200" dirty="0"/>
        </a:p>
      </dsp:txBody>
      <dsp:txXfrm>
        <a:off x="114621" y="2698059"/>
        <a:ext cx="3021958" cy="2118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malaria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an efficient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239C9B-2437-4F9A-85D2-4D2863DC7BDF}" type="datetimeFigureOut">
              <a:rPr lang="de-CH" smtClean="0"/>
              <a:t>12.11.2024</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01D78-B13C-48BF-8FEA-C7369AC34A9A}" type="slidenum">
              <a:rPr lang="de-CH" smtClean="0"/>
              <a:t>‹#›</a:t>
            </a:fld>
            <a:endParaRPr lang="de-CH"/>
          </a:p>
        </p:txBody>
      </p:sp>
    </p:spTree>
    <p:extLst>
      <p:ext uri="{BB962C8B-B14F-4D97-AF65-F5344CB8AC3E}">
        <p14:creationId xmlns:p14="http://schemas.microsoft.com/office/powerpoint/2010/main" val="1523540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2202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60370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590292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795164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31264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51864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070955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204958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082049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12090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de-CH"/>
          </a:p>
        </p:txBody>
      </p:sp>
      <p:sp>
        <p:nvSpPr>
          <p:cNvPr id="4" name="Date Placeholder 3"/>
          <p:cNvSpPr>
            <a:spLocks noGrp="1"/>
          </p:cNvSpPr>
          <p:nvPr>
            <p:ph type="dt" sz="half" idx="10"/>
          </p:nvPr>
        </p:nvSpPr>
        <p:spPr/>
        <p:txBody>
          <a:bodyPr/>
          <a:lstStyle/>
          <a:p>
            <a:fld id="{EEB006EA-7487-4118-8FDA-0AA4CEF65C32}" type="datetimeFigureOut">
              <a:rPr lang="de-CH" smtClean="0"/>
              <a:t>12.11.2024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02978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EEB006EA-7487-4118-8FDA-0AA4CEF65C32}" type="datetimeFigureOut">
              <a:rPr lang="de-CH" smtClean="0"/>
              <a:t>12.11.2024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377110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EB006EA-7487-4118-8FDA-0AA4CEF65C32}" type="datetimeFigureOut">
              <a:rPr lang="de-CH" smtClean="0"/>
              <a:t>12.11.2024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918168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Date Placeholder 4"/>
          <p:cNvSpPr>
            <a:spLocks noGrp="1"/>
          </p:cNvSpPr>
          <p:nvPr>
            <p:ph type="dt" sz="half" idx="10"/>
          </p:nvPr>
        </p:nvSpPr>
        <p:spPr/>
        <p:txBody>
          <a:bodyPr/>
          <a:lstStyle/>
          <a:p>
            <a:fld id="{EEB006EA-7487-4118-8FDA-0AA4CEF65C32}" type="datetimeFigureOut">
              <a:rPr lang="de-CH" smtClean="0"/>
              <a:t>12.11.2024</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652945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7" name="Date Placeholder 6"/>
          <p:cNvSpPr>
            <a:spLocks noGrp="1"/>
          </p:cNvSpPr>
          <p:nvPr>
            <p:ph type="dt" sz="half" idx="10"/>
          </p:nvPr>
        </p:nvSpPr>
        <p:spPr/>
        <p:txBody>
          <a:bodyPr/>
          <a:lstStyle/>
          <a:p>
            <a:fld id="{EEB006EA-7487-4118-8FDA-0AA4CEF65C32}" type="datetimeFigureOut">
              <a:rPr lang="de-CH" smtClean="0"/>
              <a:t>12.11.2024</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887167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Date Placeholder 2"/>
          <p:cNvSpPr>
            <a:spLocks noGrp="1"/>
          </p:cNvSpPr>
          <p:nvPr>
            <p:ph type="dt" sz="half" idx="10"/>
          </p:nvPr>
        </p:nvSpPr>
        <p:spPr/>
        <p:txBody>
          <a:bodyPr/>
          <a:lstStyle/>
          <a:p>
            <a:fld id="{EEB006EA-7487-4118-8FDA-0AA4CEF65C32}" type="datetimeFigureOut">
              <a:rPr lang="de-CH" smtClean="0"/>
              <a:t>12.11.2024</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918365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006EA-7487-4118-8FDA-0AA4CEF65C32}" type="datetimeFigureOut">
              <a:rPr lang="de-CH" smtClean="0"/>
              <a:t>12.11.2024</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422027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EB006EA-7487-4118-8FDA-0AA4CEF65C32}" type="datetimeFigureOut">
              <a:rPr lang="de-CH" smtClean="0"/>
              <a:t>12.11.2024</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2394249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EB006EA-7487-4118-8FDA-0AA4CEF65C32}" type="datetimeFigureOut">
              <a:rPr lang="de-CH" smtClean="0"/>
              <a:t>12.11.2024</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468091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EEB006EA-7487-4118-8FDA-0AA4CEF65C32}" type="datetimeFigureOut">
              <a:rPr lang="de-CH" smtClean="0"/>
              <a:t>12.11.2024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2475738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EEB006EA-7487-4118-8FDA-0AA4CEF65C32}" type="datetimeFigureOut">
              <a:rPr lang="de-CH" smtClean="0"/>
              <a:t>12.11.2024</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427FFBB7-3AD6-47E3-BE0F-20B2A974BD13}" type="slidenum">
              <a:rPr lang="de-CH" smtClean="0"/>
              <a:t>‹#›</a:t>
            </a:fld>
            <a:endParaRPr lang="de-CH"/>
          </a:p>
        </p:txBody>
      </p:sp>
    </p:spTree>
    <p:extLst>
      <p:ext uri="{BB962C8B-B14F-4D97-AF65-F5344CB8AC3E}">
        <p14:creationId xmlns:p14="http://schemas.microsoft.com/office/powerpoint/2010/main" val="1189791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5186289" y="3621023"/>
            <a:ext cx="5935600" cy="1166800"/>
          </a:xfrm>
          <a:prstGeom prst="rect">
            <a:avLst/>
          </a:prstGeom>
          <a:noFill/>
          <a:ln>
            <a:noFill/>
          </a:ln>
        </p:spPr>
        <p:txBody>
          <a:bodyPr spcFirstLastPara="1" wrap="square" lIns="0" tIns="34275" rIns="68575" bIns="34275" anchor="b" anchorCtr="0">
            <a:noAutofit/>
          </a:bodyPr>
          <a:lstStyle>
            <a:lvl1pPr marL="609585" lvl="0" indent="-304792" algn="l" rtl="0">
              <a:lnSpc>
                <a:spcPct val="100000"/>
              </a:lnSpc>
              <a:spcBef>
                <a:spcPts val="400"/>
              </a:spcBef>
              <a:spcAft>
                <a:spcPts val="0"/>
              </a:spcAft>
              <a:buSzPts val="3500"/>
              <a:buNone/>
              <a:defRPr sz="3733">
                <a:solidFill>
                  <a:schemeClr val="accent3"/>
                </a:solidFil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2" name="Google Shape;52;p13"/>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rtl="0">
              <a:lnSpc>
                <a:spcPct val="100000"/>
              </a:lnSpc>
              <a:spcBef>
                <a:spcPts val="400"/>
              </a:spcBef>
              <a:spcAft>
                <a:spcPts val="0"/>
              </a:spcAft>
              <a:buSzPts val="2000"/>
              <a:buNone/>
              <a:defRPr sz="2133"/>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pic>
        <p:nvPicPr>
          <p:cNvPr id="53" name="Google Shape;53;p13"/>
          <p:cNvPicPr preferRelativeResize="0"/>
          <p:nvPr/>
        </p:nvPicPr>
        <p:blipFill rotWithShape="1">
          <a:blip r:embed="rId2">
            <a:alphaModFix/>
          </a:blip>
          <a:srcRect b="52283"/>
          <a:stretch/>
        </p:blipFill>
        <p:spPr>
          <a:xfrm>
            <a:off x="5203088" y="2168490"/>
            <a:ext cx="4134489" cy="1142057"/>
          </a:xfrm>
          <a:prstGeom prst="rect">
            <a:avLst/>
          </a:prstGeom>
          <a:noFill/>
          <a:ln>
            <a:noFill/>
          </a:ln>
        </p:spPr>
      </p:pic>
      <p:pic>
        <p:nvPicPr>
          <p:cNvPr id="54" name="Google Shape;54;p13"/>
          <p:cNvPicPr preferRelativeResize="0"/>
          <p:nvPr/>
        </p:nvPicPr>
        <p:blipFill rotWithShape="1">
          <a:blip r:embed="rId3">
            <a:alphaModFix/>
          </a:blip>
          <a:srcRect l="38525" t="1212" b="236"/>
          <a:stretch/>
        </p:blipFill>
        <p:spPr>
          <a:xfrm>
            <a:off x="1" y="1"/>
            <a:ext cx="4215433" cy="6858001"/>
          </a:xfrm>
          <a:prstGeom prst="rect">
            <a:avLst/>
          </a:prstGeom>
          <a:noFill/>
          <a:ln>
            <a:noFill/>
          </a:ln>
        </p:spPr>
      </p:pic>
      <p:sp>
        <p:nvSpPr>
          <p:cNvPr id="55" name="Google Shape;55;p13"/>
          <p:cNvSpPr txBox="1">
            <a:spLocks noGrp="1"/>
          </p:cNvSpPr>
          <p:nvPr>
            <p:ph type="body" idx="3"/>
          </p:nvPr>
        </p:nvSpPr>
        <p:spPr>
          <a:xfrm>
            <a:off x="5186289" y="4921157"/>
            <a:ext cx="5935600" cy="466400"/>
          </a:xfrm>
          <a:prstGeom prst="rect">
            <a:avLst/>
          </a:prstGeom>
          <a:noFill/>
          <a:ln>
            <a:noFill/>
          </a:ln>
        </p:spPr>
        <p:txBody>
          <a:bodyPr spcFirstLastPara="1" wrap="square" lIns="0" tIns="34275" rIns="68575" bIns="34275" anchor="t" anchorCtr="0">
            <a:noAutofit/>
          </a:bodyPr>
          <a:lstStyle>
            <a:lvl1pPr marL="609585" lvl="0" indent="-304792" algn="l" rtl="0">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2302980497"/>
      </p:ext>
    </p:extLst>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6194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B006EA-7487-4118-8FDA-0AA4CEF65C32}" type="datetimeFigureOut">
              <a:rPr lang="de-CH" smtClean="0"/>
              <a:t>12.11.2024</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7FFBB7-3AD6-47E3-BE0F-20B2A974BD13}" type="slidenum">
              <a:rPr lang="de-CH" smtClean="0"/>
              <a:t>‹#›</a:t>
            </a:fld>
            <a:endParaRPr lang="de-CH"/>
          </a:p>
        </p:txBody>
      </p:sp>
    </p:spTree>
    <p:extLst>
      <p:ext uri="{BB962C8B-B14F-4D97-AF65-F5344CB8AC3E}">
        <p14:creationId xmlns:p14="http://schemas.microsoft.com/office/powerpoint/2010/main" val="1150394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smtClean="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endParaRPr lang="en-US" sz="2800" b="1" dirty="0">
              <a:solidFill>
                <a:schemeClr val="accent1"/>
              </a:solidFill>
              <a:latin typeface="Arial" panose="020B0604020202020204" pitchFamily="34" charset="0"/>
              <a:cs typeface="Arial" panose="020B0604020202020204" pitchFamily="34" charset="0"/>
            </a:endParaRPr>
          </a:p>
        </p:txBody>
      </p:sp>
      <p:sp>
        <p:nvSpPr>
          <p:cNvPr id="4" name="Rectangle 3"/>
          <p:cNvSpPr/>
          <p:nvPr/>
        </p:nvSpPr>
        <p:spPr>
          <a:xfrm>
            <a:off x="4132053" y="5225516"/>
            <a:ext cx="7346829" cy="1083374"/>
          </a:xfrm>
          <a:prstGeom prst="rect">
            <a:avLst/>
          </a:prstGeom>
        </p:spPr>
        <p:txBody>
          <a:bodyPr wrap="square">
            <a:spAutoFit/>
          </a:bodyPr>
          <a:lstStyle/>
          <a:p>
            <a:pPr lvl="0" algn="ctr">
              <a:lnSpc>
                <a:spcPct val="115000"/>
              </a:lnSpc>
              <a:buClr>
                <a:schemeClr val="dk1"/>
              </a:buClr>
              <a:buSzPts val="1100"/>
            </a:pPr>
            <a:r>
              <a:rPr lang="en-US" sz="2000" b="1" dirty="0" smtClean="0">
                <a:solidFill>
                  <a:schemeClr val="dk1"/>
                </a:solidFill>
                <a:latin typeface="Arial"/>
                <a:ea typeface="Arial"/>
                <a:cs typeface="Arial"/>
                <a:sym typeface="Arial"/>
              </a:rPr>
              <a:t>PhD </a:t>
            </a:r>
            <a:r>
              <a:rPr lang="en-US" sz="2000" b="1" dirty="0" smtClean="0">
                <a:solidFill>
                  <a:schemeClr val="dk1"/>
                </a:solidFill>
                <a:latin typeface="Arial"/>
                <a:ea typeface="Arial"/>
                <a:cs typeface="Arial"/>
                <a:sym typeface="Arial"/>
              </a:rPr>
              <a:t>Thesis</a:t>
            </a:r>
            <a:endParaRPr lang="en-US" sz="2000" b="1" dirty="0" smtClean="0">
              <a:solidFill>
                <a:schemeClr val="dk1"/>
              </a:solidFill>
              <a:latin typeface="Arial"/>
              <a:ea typeface="Arial"/>
              <a:cs typeface="Arial"/>
              <a:sym typeface="Arial"/>
            </a:endParaRP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smtClean="0">
                <a:solidFill>
                  <a:schemeClr val="dk1"/>
                </a:solidFill>
                <a:latin typeface="Arial"/>
                <a:ea typeface="Arial"/>
                <a:cs typeface="Arial"/>
                <a:sym typeface="Arial"/>
              </a:rPr>
              <a:t>12</a:t>
            </a:r>
            <a:r>
              <a:rPr lang="en-US" baseline="30000" dirty="0" smtClean="0">
                <a:solidFill>
                  <a:schemeClr val="dk1"/>
                </a:solidFill>
                <a:latin typeface="Arial"/>
                <a:ea typeface="Arial"/>
                <a:cs typeface="Arial"/>
                <a:sym typeface="Arial"/>
              </a:rPr>
              <a:t>th</a:t>
            </a:r>
            <a:r>
              <a:rPr lang="en-US" dirty="0" smtClean="0">
                <a:solidFill>
                  <a:schemeClr val="dk1"/>
                </a:solidFill>
                <a:latin typeface="Arial"/>
                <a:ea typeface="Arial"/>
                <a:cs typeface="Arial"/>
                <a:sym typeface="Arial"/>
              </a:rPr>
              <a:t> November </a:t>
            </a:r>
            <a:r>
              <a:rPr lang="en-US" dirty="0" smtClean="0">
                <a:solidFill>
                  <a:schemeClr val="dk1"/>
                </a:solidFill>
                <a:latin typeface="Arial"/>
                <a:ea typeface="Arial"/>
                <a:cs typeface="Arial"/>
                <a:sym typeface="Arial"/>
              </a:rPr>
              <a:t>2024</a:t>
            </a: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193115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Aim</a:t>
            </a:r>
            <a:endParaRPr lang="en-US" sz="2800" b="1" dirty="0">
              <a:latin typeface="+mn-lt"/>
            </a:endParaRPr>
          </a:p>
        </p:txBody>
      </p:sp>
      <p:sp>
        <p:nvSpPr>
          <p:cNvPr id="62" name="Rounded Rectangle 61"/>
          <p:cNvSpPr/>
          <p:nvPr/>
        </p:nvSpPr>
        <p:spPr>
          <a:xfrm>
            <a:off x="2651076" y="423422"/>
            <a:ext cx="7007831" cy="555291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smtClean="0"/>
              <a:t>To quantify and propagate the </a:t>
            </a:r>
            <a:r>
              <a:rPr lang="en-US" sz="2800" dirty="0"/>
              <a:t>uncertainty from various parameters in the OpenMalaria Ghana model, beyond just the entomological inoculation rate (EIR) and to determine the impact of these uncertainties on simulating the effect of malaria interventions at the sub-national </a:t>
            </a:r>
            <a:r>
              <a:rPr lang="en-US" sz="2800" dirty="0" smtClean="0"/>
              <a:t>level.</a:t>
            </a:r>
            <a:endParaRPr lang="de-CH" sz="2800" dirty="0"/>
          </a:p>
        </p:txBody>
      </p:sp>
    </p:spTree>
    <p:extLst>
      <p:ext uri="{BB962C8B-B14F-4D97-AF65-F5344CB8AC3E}">
        <p14:creationId xmlns:p14="http://schemas.microsoft.com/office/powerpoint/2010/main" val="21183230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8" name="Google Shape;519;p67"/>
          <p:cNvSpPr txBox="1">
            <a:spLocks/>
          </p:cNvSpPr>
          <p:nvPr/>
        </p:nvSpPr>
        <p:spPr>
          <a:xfrm>
            <a:off x="323528" y="0"/>
            <a:ext cx="11868471" cy="745200"/>
          </a:xfrm>
          <a:prstGeom prst="rect">
            <a:avLst/>
          </a:prstGeom>
          <a:noFill/>
          <a:ln>
            <a:noFill/>
          </a:ln>
        </p:spPr>
        <p:txBody>
          <a:bodyPr spcFirstLastPara="1" wrap="square" lIns="0" tIns="60933" rIns="121900" bIns="60933" anchor="ctr" anchorCtr="0">
            <a:noAutofit/>
          </a:bodyPr>
          <a:lstStyle>
            <a:defPPr marR="0" lvl="0" algn="l" rtl="0">
              <a:lnSpc>
                <a:spcPct val="100000"/>
              </a:lnSpc>
              <a:spcBef>
                <a:spcPts val="0"/>
              </a:spcBef>
              <a:spcAft>
                <a:spcPts val="0"/>
              </a:spcAft>
            </a:defPPr>
            <a:lvl1pPr marR="0" lvl="0" algn="just" rtl="0">
              <a:lnSpc>
                <a:spcPct val="90000"/>
              </a:lnSpc>
              <a:spcBef>
                <a:spcPts val="0"/>
              </a:spcBef>
              <a:spcAft>
                <a:spcPts val="0"/>
              </a:spcAft>
              <a:buClr>
                <a:schemeClr val="accent1"/>
              </a:buClr>
              <a:buSzPts val="2400"/>
              <a:buFont typeface="Palatino Linotype"/>
              <a:buNone/>
              <a:defRPr sz="2400" b="0" i="0" u="none" strike="noStrike" cap="none">
                <a:solidFill>
                  <a:schemeClr val="accent1"/>
                </a:solidFill>
                <a:latin typeface="Palatino Linotype"/>
                <a:ea typeface="Palatino Linotype"/>
                <a:cs typeface="Palatino Linotype"/>
                <a:sym typeface="Palatino Linoty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b="1" kern="0" dirty="0" smtClean="0">
                <a:latin typeface="+mn-lt"/>
              </a:rPr>
              <a:t>Uncertainty Quantification can be classified in two forms</a:t>
            </a:r>
            <a:endParaRPr lang="en-US" sz="2800" b="1" kern="0" dirty="0">
              <a:latin typeface="+mn-lt"/>
            </a:endParaRPr>
          </a:p>
        </p:txBody>
      </p:sp>
      <p:graphicFrame>
        <p:nvGraphicFramePr>
          <p:cNvPr id="2" name="Diagram 1"/>
          <p:cNvGraphicFramePr/>
          <p:nvPr>
            <p:extLst/>
          </p:nvPr>
        </p:nvGraphicFramePr>
        <p:xfrm>
          <a:off x="1203864" y="1820174"/>
          <a:ext cx="8128000" cy="4932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9514936" y="2147979"/>
            <a:ext cx="2234241"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Sensitivity Analysis</a:t>
            </a:r>
            <a:endParaRPr lang="de-CH" sz="2400" dirty="0"/>
          </a:p>
        </p:txBody>
      </p:sp>
      <p:sp>
        <p:nvSpPr>
          <p:cNvPr id="7" name="Oval 6"/>
          <p:cNvSpPr/>
          <p:nvPr/>
        </p:nvSpPr>
        <p:spPr>
          <a:xfrm>
            <a:off x="9514936" y="4819291"/>
            <a:ext cx="2337759"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Model Calibration</a:t>
            </a:r>
            <a:endParaRPr lang="de-CH" sz="2400" dirty="0"/>
          </a:p>
        </p:txBody>
      </p:sp>
      <p:sp>
        <p:nvSpPr>
          <p:cNvPr id="4" name="Rectangle 3"/>
          <p:cNvSpPr/>
          <p:nvPr/>
        </p:nvSpPr>
        <p:spPr>
          <a:xfrm>
            <a:off x="323528" y="736122"/>
            <a:ext cx="11720423" cy="830997"/>
          </a:xfrm>
          <a:prstGeom prst="rect">
            <a:avLst/>
          </a:prstGeom>
        </p:spPr>
        <p:txBody>
          <a:bodyPr wrap="square">
            <a:spAutoFit/>
          </a:bodyPr>
          <a:lstStyle/>
          <a:p>
            <a:pPr marL="285750" indent="-285750">
              <a:buFont typeface="Arial" panose="020B0604020202020204" pitchFamily="34" charset="0"/>
              <a:buChar char="•"/>
            </a:pPr>
            <a:r>
              <a:rPr lang="en-US" sz="2400" b="1" dirty="0" smtClean="0"/>
              <a:t>The </a:t>
            </a:r>
            <a:r>
              <a:rPr lang="en-US" sz="2400" b="1" dirty="0"/>
              <a:t>field of Uncertainty Quantification </a:t>
            </a:r>
            <a:r>
              <a:rPr lang="en-US" sz="2400" b="1" dirty="0" smtClean="0"/>
              <a:t>offers </a:t>
            </a:r>
            <a:r>
              <a:rPr lang="en-US" sz="2400" b="1" dirty="0"/>
              <a:t>a means of quantifying and </a:t>
            </a:r>
            <a:r>
              <a:rPr lang="en-US" sz="2400" b="1" dirty="0" smtClean="0"/>
              <a:t>characterizing </a:t>
            </a:r>
            <a:r>
              <a:rPr lang="en-US" sz="2400" b="1" dirty="0"/>
              <a:t>uncertainties in models and the real </a:t>
            </a:r>
            <a:r>
              <a:rPr lang="en-US" sz="2400" b="1" dirty="0" smtClean="0"/>
              <a:t>world.</a:t>
            </a:r>
            <a:endParaRPr lang="de-CH" sz="2400" b="1" dirty="0"/>
          </a:p>
        </p:txBody>
      </p:sp>
    </p:spTree>
    <p:extLst>
      <p:ext uri="{BB962C8B-B14F-4D97-AF65-F5344CB8AC3E}">
        <p14:creationId xmlns:p14="http://schemas.microsoft.com/office/powerpoint/2010/main" val="41758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40BCD131-2073-4EDE-9795-02928553C85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34E15B5-1992-433F-AE7A-2BD232D5F9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116AF5B1-E45C-4738-8EBC-F071EB4E45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AF97286F-DE4D-4D21-923A-0C8E3289DDB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 grpId="0">
        <p:bldSub>
          <a:bldDgm bld="one"/>
        </p:bldSub>
      </p:bldGraphic>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539;p70"/>
          <p:cNvPicPr preferRelativeResize="0"/>
          <p:nvPr/>
        </p:nvPicPr>
        <p:blipFill>
          <a:blip r:embed="rId8">
            <a:alphaModFix/>
          </a:blip>
          <a:stretch>
            <a:fillRect/>
          </a:stretch>
        </p:blipFill>
        <p:spPr>
          <a:xfrm>
            <a:off x="0" y="3730752"/>
            <a:ext cx="4713216" cy="2121408"/>
          </a:xfrm>
          <a:prstGeom prst="rect">
            <a:avLst/>
          </a:prstGeom>
          <a:noFill/>
          <a:ln>
            <a:noFill/>
          </a:ln>
        </p:spPr>
      </p:pic>
      <p:sp>
        <p:nvSpPr>
          <p:cNvPr id="5" name="Rounded Rectangle 4"/>
          <p:cNvSpPr/>
          <p:nvPr/>
        </p:nvSpPr>
        <p:spPr>
          <a:xfrm>
            <a:off x="235704" y="2006952"/>
            <a:ext cx="4554179"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dirty="0" smtClean="0">
                <a:solidFill>
                  <a:schemeClr val="tx1"/>
                </a:solidFill>
              </a:rPr>
              <a:t>Perform </a:t>
            </a:r>
            <a:r>
              <a:rPr lang="de-CH" dirty="0" err="1" smtClean="0">
                <a:solidFill>
                  <a:schemeClr val="tx1"/>
                </a:solidFill>
              </a:rPr>
              <a:t>sensitivity</a:t>
            </a:r>
            <a:r>
              <a:rPr lang="de-CH" dirty="0" smtClean="0">
                <a:solidFill>
                  <a:schemeClr val="tx1"/>
                </a:solidFill>
              </a:rPr>
              <a:t> </a:t>
            </a:r>
            <a:r>
              <a:rPr lang="de-CH" dirty="0" err="1" smtClean="0">
                <a:solidFill>
                  <a:schemeClr val="tx1"/>
                </a:solidFill>
              </a:rPr>
              <a:t>analysis</a:t>
            </a:r>
            <a:r>
              <a:rPr lang="de-CH" dirty="0" smtClean="0">
                <a:solidFill>
                  <a:schemeClr val="tx1"/>
                </a:solidFill>
              </a:rPr>
              <a:t> </a:t>
            </a:r>
            <a:r>
              <a:rPr lang="de-CH" dirty="0" err="1" smtClean="0">
                <a:solidFill>
                  <a:schemeClr val="tx1"/>
                </a:solidFill>
              </a:rPr>
              <a:t>of</a:t>
            </a:r>
            <a:r>
              <a:rPr lang="de-CH" dirty="0" smtClean="0">
                <a:solidFill>
                  <a:schemeClr val="tx1"/>
                </a:solidFill>
              </a:rPr>
              <a:t> </a:t>
            </a:r>
            <a:r>
              <a:rPr lang="de-CH" b="1" dirty="0" err="1" smtClean="0">
                <a:solidFill>
                  <a:schemeClr val="tx1"/>
                </a:solidFill>
              </a:rPr>
              <a:t>coverage</a:t>
            </a:r>
            <a:r>
              <a:rPr lang="de-CH" dirty="0" smtClean="0">
                <a:solidFill>
                  <a:schemeClr val="tx1"/>
                </a:solidFill>
              </a:rPr>
              <a:t>, </a:t>
            </a:r>
            <a:r>
              <a:rPr lang="de-CH" b="1" dirty="0" err="1" smtClean="0">
                <a:solidFill>
                  <a:schemeClr val="tx1"/>
                </a:solidFill>
              </a:rPr>
              <a:t>halflife</a:t>
            </a:r>
            <a:r>
              <a:rPr lang="de-CH" b="1" dirty="0" smtClean="0">
                <a:solidFill>
                  <a:schemeClr val="tx1"/>
                </a:solidFill>
              </a:rPr>
              <a:t> </a:t>
            </a:r>
            <a:r>
              <a:rPr lang="de-CH" b="1" dirty="0" err="1" smtClean="0">
                <a:solidFill>
                  <a:schemeClr val="tx1"/>
                </a:solidFill>
              </a:rPr>
              <a:t>of</a:t>
            </a:r>
            <a:r>
              <a:rPr lang="de-CH" b="1" dirty="0" smtClean="0">
                <a:solidFill>
                  <a:schemeClr val="tx1"/>
                </a:solidFill>
              </a:rPr>
              <a:t> </a:t>
            </a:r>
            <a:r>
              <a:rPr lang="de-CH" b="1" dirty="0" err="1" smtClean="0">
                <a:solidFill>
                  <a:schemeClr val="tx1"/>
                </a:solidFill>
              </a:rPr>
              <a:t>efficacy</a:t>
            </a:r>
            <a:r>
              <a:rPr lang="de-CH" b="1" dirty="0" smtClean="0">
                <a:solidFill>
                  <a:schemeClr val="tx1"/>
                </a:solidFill>
              </a:rPr>
              <a:t> </a:t>
            </a:r>
            <a:r>
              <a:rPr lang="de-CH" dirty="0" err="1" smtClean="0">
                <a:solidFill>
                  <a:schemeClr val="tx1"/>
                </a:solidFill>
              </a:rPr>
              <a:t>and</a:t>
            </a:r>
            <a:r>
              <a:rPr lang="de-CH" dirty="0" smtClean="0">
                <a:solidFill>
                  <a:schemeClr val="tx1"/>
                </a:solidFill>
              </a:rPr>
              <a:t> </a:t>
            </a:r>
            <a:r>
              <a:rPr lang="de-CH" b="1" dirty="0" err="1" smtClean="0">
                <a:solidFill>
                  <a:schemeClr val="tx1"/>
                </a:solidFill>
              </a:rPr>
              <a:t>vector</a:t>
            </a:r>
            <a:r>
              <a:rPr lang="de-CH" b="1" dirty="0" smtClean="0">
                <a:solidFill>
                  <a:schemeClr val="tx1"/>
                </a:solidFill>
              </a:rPr>
              <a:t> </a:t>
            </a:r>
            <a:r>
              <a:rPr lang="de-CH" b="1" dirty="0" err="1" smtClean="0">
                <a:solidFill>
                  <a:schemeClr val="tx1"/>
                </a:solidFill>
              </a:rPr>
              <a:t>composition</a:t>
            </a:r>
            <a:r>
              <a:rPr lang="de-CH" dirty="0" smtClean="0">
                <a:solidFill>
                  <a:schemeClr val="tx1"/>
                </a:solidFill>
              </a:rPr>
              <a:t> </a:t>
            </a:r>
            <a:r>
              <a:rPr lang="de-CH" dirty="0" err="1" smtClean="0">
                <a:solidFill>
                  <a:schemeClr val="tx1"/>
                </a:solidFill>
              </a:rPr>
              <a:t>towards</a:t>
            </a:r>
            <a:r>
              <a:rPr lang="de-CH" dirty="0" smtClean="0">
                <a:solidFill>
                  <a:schemeClr val="tx1"/>
                </a:solidFill>
              </a:rPr>
              <a:t> </a:t>
            </a:r>
            <a:r>
              <a:rPr lang="de-CH" dirty="0" err="1" smtClean="0">
                <a:solidFill>
                  <a:schemeClr val="tx1"/>
                </a:solidFill>
              </a:rPr>
              <a:t>prevalence</a:t>
            </a:r>
            <a:r>
              <a:rPr lang="de-CH" dirty="0" smtClean="0">
                <a:solidFill>
                  <a:schemeClr val="tx1"/>
                </a:solidFill>
              </a:rPr>
              <a:t> </a:t>
            </a:r>
            <a:r>
              <a:rPr lang="de-CH" dirty="0" err="1" smtClean="0">
                <a:solidFill>
                  <a:schemeClr val="tx1"/>
                </a:solidFill>
              </a:rPr>
              <a:t>reduction</a:t>
            </a:r>
            <a:r>
              <a:rPr lang="de-CH" dirty="0" smtClean="0">
                <a:solidFill>
                  <a:schemeClr val="tx1"/>
                </a:solidFill>
              </a:rPr>
              <a:t> </a:t>
            </a:r>
            <a:r>
              <a:rPr lang="de-CH" dirty="0" err="1" smtClean="0">
                <a:solidFill>
                  <a:schemeClr val="tx1"/>
                </a:solidFill>
              </a:rPr>
              <a:t>and</a:t>
            </a:r>
            <a:r>
              <a:rPr lang="de-CH" dirty="0" smtClean="0">
                <a:solidFill>
                  <a:schemeClr val="tx1"/>
                </a:solidFill>
              </a:rPr>
              <a:t> </a:t>
            </a:r>
            <a:r>
              <a:rPr lang="de-CH" dirty="0" err="1" smtClean="0">
                <a:solidFill>
                  <a:schemeClr val="tx1"/>
                </a:solidFill>
              </a:rPr>
              <a:t>clinical</a:t>
            </a:r>
            <a:r>
              <a:rPr lang="de-CH" dirty="0" smtClean="0">
                <a:solidFill>
                  <a:schemeClr val="tx1"/>
                </a:solidFill>
              </a:rPr>
              <a:t> </a:t>
            </a:r>
            <a:r>
              <a:rPr lang="de-CH" dirty="0" err="1" smtClean="0">
                <a:solidFill>
                  <a:schemeClr val="tx1"/>
                </a:solidFill>
              </a:rPr>
              <a:t>cases</a:t>
            </a:r>
            <a:r>
              <a:rPr lang="de-CH" dirty="0" smtClean="0">
                <a:solidFill>
                  <a:schemeClr val="tx1"/>
                </a:solidFill>
              </a:rPr>
              <a:t> </a:t>
            </a:r>
            <a:r>
              <a:rPr lang="de-CH" dirty="0" err="1" smtClean="0">
                <a:solidFill>
                  <a:schemeClr val="tx1"/>
                </a:solidFill>
              </a:rPr>
              <a:t>averted</a:t>
            </a:r>
            <a:r>
              <a:rPr lang="de-CH" dirty="0" smtClean="0">
                <a:solidFill>
                  <a:schemeClr val="tx1"/>
                </a:solidFill>
              </a:rPr>
              <a:t> </a:t>
            </a:r>
            <a:r>
              <a:rPr lang="de-CH" b="1" dirty="0" smtClean="0">
                <a:solidFill>
                  <a:schemeClr val="bg1"/>
                </a:solidFill>
              </a:rPr>
              <a:t>(Forward </a:t>
            </a:r>
            <a:r>
              <a:rPr lang="de-CH" b="1" dirty="0" err="1" smtClean="0">
                <a:solidFill>
                  <a:schemeClr val="bg1"/>
                </a:solidFill>
              </a:rPr>
              <a:t>propagation</a:t>
            </a:r>
            <a:r>
              <a:rPr lang="de-CH" b="1" dirty="0" smtClean="0">
                <a:solidFill>
                  <a:schemeClr val="bg1"/>
                </a:solidFill>
              </a:rPr>
              <a:t> </a:t>
            </a:r>
            <a:r>
              <a:rPr lang="de-CH" b="1" dirty="0" err="1" smtClean="0">
                <a:solidFill>
                  <a:schemeClr val="bg1"/>
                </a:solidFill>
              </a:rPr>
              <a:t>of</a:t>
            </a:r>
            <a:r>
              <a:rPr lang="de-CH" b="1" dirty="0" smtClean="0">
                <a:solidFill>
                  <a:schemeClr val="bg1"/>
                </a:solidFill>
              </a:rPr>
              <a:t> uncertainty)</a:t>
            </a:r>
          </a:p>
        </p:txBody>
      </p:sp>
      <p:sp>
        <p:nvSpPr>
          <p:cNvPr id="16" name="Oval 4"/>
          <p:cNvSpPr txBox="1"/>
          <p:nvPr/>
        </p:nvSpPr>
        <p:spPr>
          <a:xfrm>
            <a:off x="6295013" y="3597058"/>
            <a:ext cx="2454309" cy="253856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2000" kern="1200" dirty="0" smtClean="0"/>
              <a:t>Results of the sensitivity analysis will help the NMEP to carefully choose intervention re-allocation if needed, during the midterm review</a:t>
            </a:r>
            <a:endParaRPr lang="en-US" sz="2000" kern="1200" dirty="0"/>
          </a:p>
        </p:txBody>
      </p:sp>
      <p:grpSp>
        <p:nvGrpSpPr>
          <p:cNvPr id="17" name="Group 16"/>
          <p:cNvGrpSpPr/>
          <p:nvPr/>
        </p:nvGrpSpPr>
        <p:grpSpPr>
          <a:xfrm>
            <a:off x="8749322" y="4491589"/>
            <a:ext cx="643276" cy="599734"/>
            <a:chOff x="2514443" y="1287487"/>
            <a:chExt cx="433401" cy="433401"/>
          </a:xfrm>
        </p:grpSpPr>
        <p:sp>
          <p:nvSpPr>
            <p:cNvPr id="18" name="Plus 17"/>
            <p:cNvSpPr/>
            <p:nvPr/>
          </p:nvSpPr>
          <p:spPr>
            <a:xfrm>
              <a:off x="2514443" y="1287487"/>
              <a:ext cx="433401" cy="433401"/>
            </a:xfrm>
            <a:prstGeom prst="mathPlus">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9" name="Plus 4"/>
            <p:cNvSpPr txBox="1"/>
            <p:nvPr/>
          </p:nvSpPr>
          <p:spPr>
            <a:xfrm>
              <a:off x="2571890" y="1453220"/>
              <a:ext cx="318507" cy="1019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dirty="0"/>
            </a:p>
          </p:txBody>
        </p:sp>
      </p:grpSp>
      <p:sp>
        <p:nvSpPr>
          <p:cNvPr id="22" name="Oval 4"/>
          <p:cNvSpPr txBox="1"/>
          <p:nvPr/>
        </p:nvSpPr>
        <p:spPr>
          <a:xfrm>
            <a:off x="9392598" y="3597058"/>
            <a:ext cx="2401926" cy="24562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2000" kern="1200" dirty="0" smtClean="0"/>
              <a:t>The sensitivity analysis will be integrated in the OpenMalaria workflow package, which will be made publicly available</a:t>
            </a:r>
            <a:endParaRPr lang="de-CH" sz="2000" kern="1200" dirty="0" smtClean="0">
              <a:solidFill>
                <a:schemeClr val="tx1"/>
              </a:solidFill>
            </a:endParaRPr>
          </a:p>
        </p:txBody>
      </p:sp>
      <p:grpSp>
        <p:nvGrpSpPr>
          <p:cNvPr id="23" name="Group 22"/>
          <p:cNvGrpSpPr/>
          <p:nvPr/>
        </p:nvGrpSpPr>
        <p:grpSpPr>
          <a:xfrm>
            <a:off x="4789883" y="3483339"/>
            <a:ext cx="1095338" cy="513916"/>
            <a:chOff x="3669577" y="2912122"/>
            <a:chExt cx="1439719" cy="423049"/>
          </a:xfrm>
        </p:grpSpPr>
        <p:sp>
          <p:nvSpPr>
            <p:cNvPr id="24" name="Right Arrow 23"/>
            <p:cNvSpPr/>
            <p:nvPr/>
          </p:nvSpPr>
          <p:spPr>
            <a:xfrm rot="21548800">
              <a:off x="3669577" y="2912122"/>
              <a:ext cx="1439719" cy="423049"/>
            </a:xfrm>
            <a:prstGeom prst="rightArrow">
              <a:avLst>
                <a:gd name="adj1" fmla="val 60000"/>
                <a:gd name="adj2" fmla="val 50000"/>
              </a:avLst>
            </a:prstGeom>
          </p:spPr>
          <p:style>
            <a:lnRef idx="0">
              <a:schemeClr val="accent2">
                <a:shade val="90000"/>
                <a:hueOff val="-83344"/>
                <a:satOff val="-13822"/>
                <a:lumOff val="19244"/>
                <a:alphaOff val="0"/>
              </a:schemeClr>
            </a:lnRef>
            <a:fillRef idx="1">
              <a:schemeClr val="accent2">
                <a:shade val="90000"/>
                <a:hueOff val="-83344"/>
                <a:satOff val="-13822"/>
                <a:lumOff val="19244"/>
                <a:alphaOff val="0"/>
              </a:schemeClr>
            </a:fillRef>
            <a:effectRef idx="1">
              <a:schemeClr val="accent2">
                <a:shade val="90000"/>
                <a:hueOff val="-83344"/>
                <a:satOff val="-13822"/>
                <a:lumOff val="19244"/>
                <a:alphaOff val="0"/>
              </a:schemeClr>
            </a:effectRef>
            <a:fontRef idx="minor">
              <a:schemeClr val="lt1"/>
            </a:fontRef>
          </p:style>
        </p:sp>
        <p:sp>
          <p:nvSpPr>
            <p:cNvPr id="25" name="Right Arrow 4"/>
            <p:cNvSpPr txBox="1"/>
            <p:nvPr/>
          </p:nvSpPr>
          <p:spPr>
            <a:xfrm rot="21548800">
              <a:off x="3669584" y="2997677"/>
              <a:ext cx="1312804" cy="2538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p:txBody>
        </p:sp>
      </p:grpSp>
      <p:sp>
        <p:nvSpPr>
          <p:cNvPr id="26" name="TextBox 25"/>
          <p:cNvSpPr txBox="1"/>
          <p:nvPr/>
        </p:nvSpPr>
        <p:spPr>
          <a:xfrm>
            <a:off x="125975" y="5932810"/>
            <a:ext cx="4587241" cy="307777"/>
          </a:xfrm>
          <a:prstGeom prst="rect">
            <a:avLst/>
          </a:prstGeom>
          <a:noFill/>
        </p:spPr>
        <p:txBody>
          <a:bodyPr wrap="square" rtlCol="0">
            <a:spAutoFit/>
          </a:bodyPr>
          <a:lstStyle/>
          <a:p>
            <a:r>
              <a:rPr lang="de-CH" sz="1400" dirty="0" smtClean="0"/>
              <a:t>Source:</a:t>
            </a:r>
            <a:r>
              <a:rPr lang="en-US" sz="1400" dirty="0"/>
              <a:t> </a:t>
            </a:r>
            <a:r>
              <a:rPr lang="en-US" sz="1400" dirty="0" smtClean="0"/>
              <a:t>Sensitivity </a:t>
            </a:r>
            <a:r>
              <a:rPr lang="en-US" sz="1400" dirty="0"/>
              <a:t>Analysis: The </a:t>
            </a:r>
            <a:r>
              <a:rPr lang="en-US" sz="1400" dirty="0" smtClean="0"/>
              <a:t>Basics</a:t>
            </a:r>
            <a:endParaRPr lang="de-CH" sz="1400" dirty="0"/>
          </a:p>
        </p:txBody>
      </p:sp>
    </p:spTree>
    <p:extLst>
      <p:ext uri="{BB962C8B-B14F-4D97-AF65-F5344CB8AC3E}">
        <p14:creationId xmlns:p14="http://schemas.microsoft.com/office/powerpoint/2010/main" val="352165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22"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ounded Rectangle 6"/>
          <p:cNvSpPr/>
          <p:nvPr/>
        </p:nvSpPr>
        <p:spPr>
          <a:xfrm>
            <a:off x="3452355" y="1870446"/>
            <a:ext cx="5069058"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Develop </a:t>
            </a:r>
            <a:r>
              <a:rPr lang="en-US" dirty="0" smtClean="0">
                <a:solidFill>
                  <a:schemeClr val="tx1"/>
                </a:solidFill>
              </a:rPr>
              <a:t>framework </a:t>
            </a:r>
            <a:r>
              <a:rPr lang="en-US" dirty="0">
                <a:solidFill>
                  <a:schemeClr val="tx1"/>
                </a:solidFill>
              </a:rPr>
              <a:t>to infer multiple parameters and perform uncertainty quantification for malaria interventions applied to the Ghana </a:t>
            </a:r>
            <a:r>
              <a:rPr lang="en-US" dirty="0" smtClean="0">
                <a:solidFill>
                  <a:schemeClr val="tx1"/>
                </a:solidFill>
              </a:rPr>
              <a:t>data</a:t>
            </a:r>
            <a:r>
              <a:rPr lang="en-US" dirty="0"/>
              <a:t> </a:t>
            </a:r>
            <a:r>
              <a:rPr lang="en-US" b="1" dirty="0" smtClean="0"/>
              <a:t>(Inverse uncertainty quantification)</a:t>
            </a:r>
            <a:endParaRPr lang="de-CH" b="1" dirty="0"/>
          </a:p>
        </p:txBody>
      </p:sp>
      <p:sp>
        <p:nvSpPr>
          <p:cNvPr id="9" name="Oval 4"/>
          <p:cNvSpPr txBox="1"/>
          <p:nvPr/>
        </p:nvSpPr>
        <p:spPr>
          <a:xfrm>
            <a:off x="9632573" y="3550640"/>
            <a:ext cx="2454309" cy="253856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dirty="0"/>
              <a:t>a fully implemented, tested, and documented sampling-based inference framework. This framework will be used to calibrate the OpenMalaria Ghana model</a:t>
            </a:r>
            <a:endParaRPr lang="en-US" sz="2000" kern="1200" dirty="0"/>
          </a:p>
        </p:txBody>
      </p:sp>
      <p:grpSp>
        <p:nvGrpSpPr>
          <p:cNvPr id="10" name="Group 9"/>
          <p:cNvGrpSpPr/>
          <p:nvPr/>
        </p:nvGrpSpPr>
        <p:grpSpPr>
          <a:xfrm>
            <a:off x="8446008" y="4200162"/>
            <a:ext cx="1095338" cy="513916"/>
            <a:chOff x="3669577" y="2912122"/>
            <a:chExt cx="1439719" cy="423049"/>
          </a:xfrm>
        </p:grpSpPr>
        <p:sp>
          <p:nvSpPr>
            <p:cNvPr id="11" name="Right Arrow 10"/>
            <p:cNvSpPr/>
            <p:nvPr/>
          </p:nvSpPr>
          <p:spPr>
            <a:xfrm rot="21548800">
              <a:off x="3669577" y="2912122"/>
              <a:ext cx="1439719" cy="423049"/>
            </a:xfrm>
            <a:prstGeom prst="rightArrow">
              <a:avLst>
                <a:gd name="adj1" fmla="val 60000"/>
                <a:gd name="adj2" fmla="val 50000"/>
              </a:avLst>
            </a:prstGeom>
          </p:spPr>
          <p:style>
            <a:lnRef idx="0">
              <a:schemeClr val="accent2">
                <a:shade val="90000"/>
                <a:hueOff val="-83344"/>
                <a:satOff val="-13822"/>
                <a:lumOff val="19244"/>
                <a:alphaOff val="0"/>
              </a:schemeClr>
            </a:lnRef>
            <a:fillRef idx="1">
              <a:schemeClr val="accent2">
                <a:shade val="90000"/>
                <a:hueOff val="-83344"/>
                <a:satOff val="-13822"/>
                <a:lumOff val="19244"/>
                <a:alphaOff val="0"/>
              </a:schemeClr>
            </a:fillRef>
            <a:effectRef idx="1">
              <a:schemeClr val="accent2">
                <a:shade val="90000"/>
                <a:hueOff val="-83344"/>
                <a:satOff val="-13822"/>
                <a:lumOff val="19244"/>
                <a:alphaOff val="0"/>
              </a:schemeClr>
            </a:effectRef>
            <a:fontRef idx="minor">
              <a:schemeClr val="lt1"/>
            </a:fontRef>
          </p:style>
        </p:sp>
        <p:sp>
          <p:nvSpPr>
            <p:cNvPr id="12" name="Right Arrow 4"/>
            <p:cNvSpPr txBox="1"/>
            <p:nvPr/>
          </p:nvSpPr>
          <p:spPr>
            <a:xfrm rot="21548800">
              <a:off x="3669584" y="2997677"/>
              <a:ext cx="1312804" cy="2538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p:txBody>
        </p:sp>
      </p:grpSp>
      <p:sp>
        <p:nvSpPr>
          <p:cNvPr id="13" name="TextBox 12"/>
          <p:cNvSpPr txBox="1"/>
          <p:nvPr/>
        </p:nvSpPr>
        <p:spPr>
          <a:xfrm>
            <a:off x="3323532"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sp>
        <p:nvSpPr>
          <p:cNvPr id="46" name="TextBox 45"/>
          <p:cNvSpPr txBox="1"/>
          <p:nvPr/>
        </p:nvSpPr>
        <p:spPr>
          <a:xfrm>
            <a:off x="3323529"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sp>
        <p:nvSpPr>
          <p:cNvPr id="52" name="TextBox 51"/>
          <p:cNvSpPr txBox="1"/>
          <p:nvPr/>
        </p:nvSpPr>
        <p:spPr>
          <a:xfrm>
            <a:off x="3323525"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pic>
        <p:nvPicPr>
          <p:cNvPr id="57" name="Picture 56"/>
          <p:cNvPicPr>
            <a:picLocks noChangeAspect="1"/>
          </p:cNvPicPr>
          <p:nvPr/>
        </p:nvPicPr>
        <p:blipFill>
          <a:blip r:embed="rId8"/>
          <a:stretch>
            <a:fillRect/>
          </a:stretch>
        </p:blipFill>
        <p:spPr>
          <a:xfrm>
            <a:off x="1584241" y="3191148"/>
            <a:ext cx="6858000" cy="3257550"/>
          </a:xfrm>
          <a:prstGeom prst="rect">
            <a:avLst/>
          </a:prstGeom>
        </p:spPr>
      </p:pic>
      <p:sp>
        <p:nvSpPr>
          <p:cNvPr id="59" name="TextBox 58"/>
          <p:cNvSpPr txBox="1"/>
          <p:nvPr/>
        </p:nvSpPr>
        <p:spPr>
          <a:xfrm>
            <a:off x="3323529" y="6448698"/>
            <a:ext cx="4587241" cy="307777"/>
          </a:xfrm>
          <a:prstGeom prst="rect">
            <a:avLst/>
          </a:prstGeom>
          <a:noFill/>
        </p:spPr>
        <p:txBody>
          <a:bodyPr wrap="square" rtlCol="0">
            <a:spAutoFit/>
          </a:bodyPr>
          <a:lstStyle/>
          <a:p>
            <a:r>
              <a:rPr lang="de-CH" sz="1400" dirty="0" smtClean="0"/>
              <a:t>Source: MAP / </a:t>
            </a:r>
            <a:r>
              <a:rPr lang="de-CH" sz="1400" dirty="0" err="1" smtClean="0"/>
              <a:t>OpenMalaria</a:t>
            </a:r>
            <a:r>
              <a:rPr lang="de-CH" sz="1400" dirty="0" smtClean="0"/>
              <a:t> </a:t>
            </a:r>
            <a:r>
              <a:rPr lang="de-CH" sz="1400" dirty="0" err="1" smtClean="0"/>
              <a:t>simulations</a:t>
            </a:r>
            <a:endParaRPr lang="de-CH" sz="1400" i="1" dirty="0"/>
          </a:p>
        </p:txBody>
      </p:sp>
    </p:spTree>
    <p:extLst>
      <p:ext uri="{BB962C8B-B14F-4D97-AF65-F5344CB8AC3E}">
        <p14:creationId xmlns:p14="http://schemas.microsoft.com/office/powerpoint/2010/main" val="377050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ounded Rectangle 6"/>
          <p:cNvSpPr/>
          <p:nvPr/>
        </p:nvSpPr>
        <p:spPr>
          <a:xfrm>
            <a:off x="7372350" y="1781553"/>
            <a:ext cx="4554179"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refine </a:t>
            </a:r>
            <a:r>
              <a:rPr lang="en-US" dirty="0">
                <a:solidFill>
                  <a:schemeClr val="tx1"/>
                </a:solidFill>
              </a:rPr>
              <a:t>modeling scenarios for Ghana at the </a:t>
            </a:r>
            <a:r>
              <a:rPr lang="en-US" dirty="0" smtClean="0">
                <a:solidFill>
                  <a:schemeClr val="tx1"/>
                </a:solidFill>
              </a:rPr>
              <a:t>district </a:t>
            </a:r>
            <a:r>
              <a:rPr lang="en-US" dirty="0">
                <a:solidFill>
                  <a:schemeClr val="tx1"/>
                </a:solidFill>
              </a:rPr>
              <a:t>level and define prioritization criteria for combinations of interventions</a:t>
            </a:r>
            <a:endParaRPr lang="de-CH" dirty="0">
              <a:solidFill>
                <a:schemeClr val="tx1"/>
              </a:solidFill>
            </a:endParaRPr>
          </a:p>
        </p:txBody>
      </p:sp>
      <p:pic>
        <p:nvPicPr>
          <p:cNvPr id="5" name="Picture 4"/>
          <p:cNvPicPr>
            <a:picLocks noChangeAspect="1"/>
          </p:cNvPicPr>
          <p:nvPr/>
        </p:nvPicPr>
        <p:blipFill>
          <a:blip r:embed="rId8"/>
          <a:stretch>
            <a:fillRect/>
          </a:stretch>
        </p:blipFill>
        <p:spPr>
          <a:xfrm>
            <a:off x="7088167" y="3264408"/>
            <a:ext cx="2043404" cy="3255264"/>
          </a:xfrm>
          <a:prstGeom prst="rect">
            <a:avLst/>
          </a:prstGeom>
        </p:spPr>
      </p:pic>
      <p:sp>
        <p:nvSpPr>
          <p:cNvPr id="11" name="Curved Right Arrow 10"/>
          <p:cNvSpPr/>
          <p:nvPr/>
        </p:nvSpPr>
        <p:spPr>
          <a:xfrm>
            <a:off x="6660006" y="2961208"/>
            <a:ext cx="585216" cy="941832"/>
          </a:xfrm>
          <a:prstGeom prst="curved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CH">
              <a:solidFill>
                <a:schemeClr val="tx1"/>
              </a:solidFill>
            </a:endParaRPr>
          </a:p>
        </p:txBody>
      </p:sp>
      <p:sp>
        <p:nvSpPr>
          <p:cNvPr id="13" name="TextBox 12"/>
          <p:cNvSpPr txBox="1"/>
          <p:nvPr/>
        </p:nvSpPr>
        <p:spPr>
          <a:xfrm>
            <a:off x="6837950" y="6515095"/>
            <a:ext cx="4587241" cy="307777"/>
          </a:xfrm>
          <a:prstGeom prst="rect">
            <a:avLst/>
          </a:prstGeom>
          <a:noFill/>
        </p:spPr>
        <p:txBody>
          <a:bodyPr wrap="square" rtlCol="0">
            <a:spAutoFit/>
          </a:bodyPr>
          <a:lstStyle/>
          <a:p>
            <a:r>
              <a:rPr lang="de-CH" sz="1400" dirty="0" smtClean="0"/>
              <a:t>Source: Ghana NMESP 2024-2028</a:t>
            </a:r>
            <a:r>
              <a:rPr lang="en-US" sz="1400" i="1" dirty="0" smtClean="0"/>
              <a:t>.</a:t>
            </a:r>
            <a:endParaRPr lang="de-CH" sz="1400" i="1" dirty="0"/>
          </a:p>
        </p:txBody>
      </p:sp>
      <p:pic>
        <p:nvPicPr>
          <p:cNvPr id="12" name="Picture 11"/>
          <p:cNvPicPr>
            <a:picLocks noChangeAspect="1"/>
          </p:cNvPicPr>
          <p:nvPr/>
        </p:nvPicPr>
        <p:blipFill>
          <a:blip r:embed="rId9"/>
          <a:stretch>
            <a:fillRect/>
          </a:stretch>
        </p:blipFill>
        <p:spPr>
          <a:xfrm>
            <a:off x="9381788" y="3535191"/>
            <a:ext cx="2705100" cy="2524125"/>
          </a:xfrm>
          <a:prstGeom prst="rect">
            <a:avLst/>
          </a:prstGeom>
        </p:spPr>
      </p:pic>
    </p:spTree>
    <p:extLst>
      <p:ext uri="{BB962C8B-B14F-4D97-AF65-F5344CB8AC3E}">
        <p14:creationId xmlns:p14="http://schemas.microsoft.com/office/powerpoint/2010/main" val="417525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a:t>
            </a:r>
            <a:endParaRPr lang="en-US" sz="2800" b="1" dirty="0">
              <a:latin typeface="+mn-lt"/>
            </a:endParaRPr>
          </a:p>
        </p:txBody>
      </p:sp>
      <p:sp>
        <p:nvSpPr>
          <p:cNvPr id="2" name="Rectangle 1"/>
          <p:cNvSpPr/>
          <p:nvPr/>
        </p:nvSpPr>
        <p:spPr>
          <a:xfrm>
            <a:off x="117986" y="701132"/>
            <a:ext cx="11159706" cy="4893647"/>
          </a:xfrm>
          <a:prstGeom prst="rect">
            <a:avLst/>
          </a:prstGeom>
        </p:spPr>
        <p:txBody>
          <a:bodyPr wrap="square">
            <a:spAutoFit/>
          </a:bodyPr>
          <a:lstStyle/>
          <a:p>
            <a:r>
              <a:rPr lang="de-CH" sz="2400" b="1" dirty="0" smtClean="0">
                <a:solidFill>
                  <a:schemeClr val="tx1"/>
                </a:solidFill>
              </a:rPr>
              <a:t>Perform </a:t>
            </a:r>
            <a:r>
              <a:rPr lang="de-CH" sz="2400" b="1" dirty="0" err="1" smtClean="0">
                <a:solidFill>
                  <a:schemeClr val="tx1"/>
                </a:solidFill>
              </a:rPr>
              <a:t>sensitivity</a:t>
            </a:r>
            <a:r>
              <a:rPr lang="de-CH" sz="2400" b="1" dirty="0" smtClean="0">
                <a:solidFill>
                  <a:schemeClr val="tx1"/>
                </a:solidFill>
              </a:rPr>
              <a:t> </a:t>
            </a:r>
            <a:r>
              <a:rPr lang="de-CH" sz="2400" b="1" dirty="0" err="1" smtClean="0">
                <a:solidFill>
                  <a:schemeClr val="tx1"/>
                </a:solidFill>
              </a:rPr>
              <a:t>analysis</a:t>
            </a:r>
            <a:r>
              <a:rPr lang="de-CH" sz="2400" b="1" dirty="0" smtClean="0">
                <a:solidFill>
                  <a:schemeClr val="tx1"/>
                </a:solidFill>
              </a:rPr>
              <a:t> </a:t>
            </a:r>
            <a:r>
              <a:rPr lang="de-CH" sz="2400" b="1" dirty="0" err="1" smtClean="0">
                <a:solidFill>
                  <a:schemeClr val="tx1"/>
                </a:solidFill>
              </a:rPr>
              <a:t>of</a:t>
            </a:r>
            <a:r>
              <a:rPr lang="de-CH" sz="2400" b="1" dirty="0" smtClean="0">
                <a:solidFill>
                  <a:schemeClr val="tx1"/>
                </a:solidFill>
              </a:rPr>
              <a:t> </a:t>
            </a:r>
            <a:r>
              <a:rPr lang="de-CH" sz="2400" b="1" dirty="0" err="1" smtClean="0">
                <a:solidFill>
                  <a:schemeClr val="tx1"/>
                </a:solidFill>
              </a:rPr>
              <a:t>coverage</a:t>
            </a:r>
            <a:r>
              <a:rPr lang="de-CH" sz="2400" b="1" dirty="0" smtClean="0">
                <a:solidFill>
                  <a:schemeClr val="tx1"/>
                </a:solidFill>
              </a:rPr>
              <a:t>, </a:t>
            </a:r>
            <a:r>
              <a:rPr lang="de-CH" sz="2400" b="1" dirty="0" err="1" smtClean="0">
                <a:solidFill>
                  <a:schemeClr val="tx1"/>
                </a:solidFill>
              </a:rPr>
              <a:t>halflife</a:t>
            </a:r>
            <a:r>
              <a:rPr lang="de-CH" sz="2400" b="1" dirty="0" smtClean="0">
                <a:solidFill>
                  <a:schemeClr val="tx1"/>
                </a:solidFill>
              </a:rPr>
              <a:t> </a:t>
            </a:r>
            <a:r>
              <a:rPr lang="de-CH" sz="2400" b="1" dirty="0" err="1" smtClean="0">
                <a:solidFill>
                  <a:schemeClr val="tx1"/>
                </a:solidFill>
              </a:rPr>
              <a:t>of</a:t>
            </a:r>
            <a:r>
              <a:rPr lang="de-CH" sz="2400" b="1" dirty="0" smtClean="0">
                <a:solidFill>
                  <a:schemeClr val="tx1"/>
                </a:solidFill>
              </a:rPr>
              <a:t> </a:t>
            </a:r>
            <a:r>
              <a:rPr lang="de-CH" sz="2400" b="1" dirty="0" err="1" smtClean="0">
                <a:solidFill>
                  <a:schemeClr val="tx1"/>
                </a:solidFill>
              </a:rPr>
              <a:t>efficacy</a:t>
            </a:r>
            <a:r>
              <a:rPr lang="de-CH" sz="2400" b="1" dirty="0" smtClean="0">
                <a:solidFill>
                  <a:schemeClr val="tx1"/>
                </a:solidFill>
              </a:rPr>
              <a:t> </a:t>
            </a:r>
            <a:r>
              <a:rPr lang="de-CH" sz="2400" b="1" dirty="0" err="1" smtClean="0">
                <a:solidFill>
                  <a:schemeClr val="tx1"/>
                </a:solidFill>
              </a:rPr>
              <a:t>and</a:t>
            </a:r>
            <a:r>
              <a:rPr lang="de-CH" sz="2400" b="1" dirty="0" smtClean="0">
                <a:solidFill>
                  <a:schemeClr val="tx1"/>
                </a:solidFill>
              </a:rPr>
              <a:t> </a:t>
            </a:r>
            <a:r>
              <a:rPr lang="de-CH" sz="2400" b="1" dirty="0" err="1" smtClean="0">
                <a:solidFill>
                  <a:schemeClr val="tx1"/>
                </a:solidFill>
              </a:rPr>
              <a:t>vector</a:t>
            </a:r>
            <a:r>
              <a:rPr lang="de-CH" sz="2400" b="1" dirty="0" smtClean="0">
                <a:solidFill>
                  <a:schemeClr val="tx1"/>
                </a:solidFill>
              </a:rPr>
              <a:t> </a:t>
            </a:r>
            <a:r>
              <a:rPr lang="de-CH" sz="2400" b="1" dirty="0" err="1" smtClean="0">
                <a:solidFill>
                  <a:schemeClr val="tx1"/>
                </a:solidFill>
              </a:rPr>
              <a:t>composition</a:t>
            </a:r>
            <a:r>
              <a:rPr lang="de-CH" sz="2400" b="1" dirty="0" smtClean="0">
                <a:solidFill>
                  <a:schemeClr val="tx1"/>
                </a:solidFill>
              </a:rPr>
              <a:t> </a:t>
            </a:r>
            <a:r>
              <a:rPr lang="de-CH" sz="2400" b="1" dirty="0" err="1" smtClean="0">
                <a:solidFill>
                  <a:schemeClr val="tx1"/>
                </a:solidFill>
              </a:rPr>
              <a:t>towards</a:t>
            </a:r>
            <a:r>
              <a:rPr lang="de-CH" sz="2400" b="1" dirty="0" smtClean="0">
                <a:solidFill>
                  <a:schemeClr val="tx1"/>
                </a:solidFill>
              </a:rPr>
              <a:t> </a:t>
            </a:r>
            <a:r>
              <a:rPr lang="de-CH" sz="2400" b="1" dirty="0" err="1" smtClean="0">
                <a:solidFill>
                  <a:schemeClr val="tx1"/>
                </a:solidFill>
              </a:rPr>
              <a:t>prevalence</a:t>
            </a:r>
            <a:r>
              <a:rPr lang="de-CH" sz="2400" b="1" dirty="0" smtClean="0">
                <a:solidFill>
                  <a:schemeClr val="tx1"/>
                </a:solidFill>
              </a:rPr>
              <a:t> </a:t>
            </a:r>
            <a:r>
              <a:rPr lang="de-CH" sz="2400" b="1" dirty="0" err="1" smtClean="0">
                <a:solidFill>
                  <a:schemeClr val="tx1"/>
                </a:solidFill>
              </a:rPr>
              <a:t>reduction</a:t>
            </a:r>
            <a:r>
              <a:rPr lang="de-CH" sz="2400" b="1" dirty="0" smtClean="0">
                <a:solidFill>
                  <a:schemeClr val="tx1"/>
                </a:solidFill>
              </a:rPr>
              <a:t> </a:t>
            </a:r>
            <a:r>
              <a:rPr lang="de-CH" sz="2400" b="1" dirty="0" err="1" smtClean="0">
                <a:solidFill>
                  <a:schemeClr val="tx1"/>
                </a:solidFill>
              </a:rPr>
              <a:t>and</a:t>
            </a:r>
            <a:r>
              <a:rPr lang="de-CH" sz="2400" b="1" dirty="0" smtClean="0">
                <a:solidFill>
                  <a:schemeClr val="tx1"/>
                </a:solidFill>
              </a:rPr>
              <a:t> </a:t>
            </a:r>
            <a:r>
              <a:rPr lang="de-CH" sz="2400" b="1" dirty="0" err="1" smtClean="0">
                <a:solidFill>
                  <a:schemeClr val="tx1"/>
                </a:solidFill>
              </a:rPr>
              <a:t>clinical</a:t>
            </a:r>
            <a:r>
              <a:rPr lang="de-CH" sz="2400" b="1" dirty="0" smtClean="0">
                <a:solidFill>
                  <a:schemeClr val="tx1"/>
                </a:solidFill>
              </a:rPr>
              <a:t> </a:t>
            </a:r>
            <a:r>
              <a:rPr lang="de-CH" sz="2400" b="1" dirty="0" err="1" smtClean="0">
                <a:solidFill>
                  <a:schemeClr val="tx1"/>
                </a:solidFill>
              </a:rPr>
              <a:t>cases</a:t>
            </a:r>
            <a:r>
              <a:rPr lang="de-CH" sz="2400" b="1" dirty="0" smtClean="0">
                <a:solidFill>
                  <a:schemeClr val="tx1"/>
                </a:solidFill>
              </a:rPr>
              <a:t> </a:t>
            </a:r>
            <a:r>
              <a:rPr lang="de-CH" sz="2400" b="1" dirty="0" err="1" smtClean="0">
                <a:solidFill>
                  <a:schemeClr val="tx1"/>
                </a:solidFill>
              </a:rPr>
              <a:t>averted</a:t>
            </a:r>
            <a:r>
              <a:rPr lang="de-CH" sz="2400" b="1" dirty="0" smtClean="0">
                <a:solidFill>
                  <a:schemeClr val="tx1"/>
                </a:solidFill>
              </a:rPr>
              <a:t>.</a:t>
            </a:r>
          </a:p>
          <a:p>
            <a:endParaRPr lang="de-CH" sz="2400" b="1" dirty="0" smtClean="0">
              <a:solidFill>
                <a:schemeClr val="tx1"/>
              </a:solidFill>
            </a:endParaRPr>
          </a:p>
          <a:p>
            <a:pPr lvl="1"/>
            <a:r>
              <a:rPr lang="de-CH" sz="2400" b="1" dirty="0" smtClean="0">
                <a:solidFill>
                  <a:schemeClr val="tx1"/>
                </a:solidFill>
              </a:rPr>
              <a:t>Perform </a:t>
            </a:r>
            <a:r>
              <a:rPr lang="de-CH" sz="2400" b="1" dirty="0" err="1" smtClean="0">
                <a:solidFill>
                  <a:schemeClr val="tx1"/>
                </a:solidFill>
              </a:rPr>
              <a:t>sensitivity</a:t>
            </a:r>
            <a:r>
              <a:rPr lang="de-CH" sz="2400" b="1" dirty="0" smtClean="0">
                <a:solidFill>
                  <a:schemeClr val="tx1"/>
                </a:solidFill>
              </a:rPr>
              <a:t> </a:t>
            </a:r>
            <a:r>
              <a:rPr lang="de-CH" sz="2400" b="1" dirty="0" err="1" smtClean="0">
                <a:solidFill>
                  <a:schemeClr val="tx1"/>
                </a:solidFill>
              </a:rPr>
              <a:t>analysis</a:t>
            </a:r>
            <a:r>
              <a:rPr lang="de-CH" sz="2400" b="1" dirty="0" smtClean="0">
                <a:solidFill>
                  <a:schemeClr val="tx1"/>
                </a:solidFill>
              </a:rPr>
              <a:t> </a:t>
            </a:r>
            <a:r>
              <a:rPr lang="de-CH" sz="2400" b="1" dirty="0" err="1" smtClean="0">
                <a:solidFill>
                  <a:schemeClr val="tx1"/>
                </a:solidFill>
              </a:rPr>
              <a:t>of</a:t>
            </a:r>
            <a:r>
              <a:rPr lang="de-CH" sz="2400" b="1" dirty="0" smtClean="0">
                <a:solidFill>
                  <a:schemeClr val="tx1"/>
                </a:solidFill>
              </a:rPr>
              <a:t> </a:t>
            </a:r>
            <a:r>
              <a:rPr lang="de-CH" sz="2400" b="1" dirty="0" err="1" smtClean="0">
                <a:solidFill>
                  <a:schemeClr val="tx1"/>
                </a:solidFill>
              </a:rPr>
              <a:t>future</a:t>
            </a:r>
            <a:r>
              <a:rPr lang="de-CH" sz="2400" b="1" dirty="0" smtClean="0">
                <a:solidFill>
                  <a:schemeClr val="tx1"/>
                </a:solidFill>
              </a:rPr>
              <a:t> </a:t>
            </a:r>
            <a:r>
              <a:rPr lang="de-CH" sz="2400" b="1" dirty="0" err="1" smtClean="0">
                <a:solidFill>
                  <a:schemeClr val="tx1"/>
                </a:solidFill>
              </a:rPr>
              <a:t>intervention</a:t>
            </a:r>
            <a:r>
              <a:rPr lang="de-CH" sz="2400" b="1" dirty="0" smtClean="0">
                <a:solidFill>
                  <a:schemeClr val="tx1"/>
                </a:solidFill>
              </a:rPr>
              <a:t> </a:t>
            </a:r>
            <a:r>
              <a:rPr lang="de-CH" sz="2400" b="1" dirty="0" err="1" smtClean="0">
                <a:solidFill>
                  <a:schemeClr val="tx1"/>
                </a:solidFill>
              </a:rPr>
              <a:t>coverage</a:t>
            </a:r>
            <a:r>
              <a:rPr lang="de-CH" sz="2400" b="1" dirty="0" smtClean="0">
                <a:solidFill>
                  <a:schemeClr val="tx1"/>
                </a:solidFill>
              </a:rPr>
              <a:t>  </a:t>
            </a:r>
            <a:r>
              <a:rPr lang="de-CH" sz="2400" b="1" dirty="0" err="1" smtClean="0">
                <a:solidFill>
                  <a:schemeClr val="tx1"/>
                </a:solidFill>
              </a:rPr>
              <a:t>towards</a:t>
            </a:r>
            <a:r>
              <a:rPr lang="de-CH" sz="2400" b="1" dirty="0" smtClean="0">
                <a:solidFill>
                  <a:schemeClr val="tx1"/>
                </a:solidFill>
              </a:rPr>
              <a:t> </a:t>
            </a:r>
            <a:r>
              <a:rPr lang="de-CH" sz="2400" b="1" dirty="0" err="1" smtClean="0">
                <a:solidFill>
                  <a:schemeClr val="tx1"/>
                </a:solidFill>
              </a:rPr>
              <a:t>prevalence</a:t>
            </a:r>
            <a:r>
              <a:rPr lang="de-CH" sz="2400" b="1" dirty="0" smtClean="0">
                <a:solidFill>
                  <a:schemeClr val="tx1"/>
                </a:solidFill>
              </a:rPr>
              <a:t> rate in </a:t>
            </a:r>
            <a:r>
              <a:rPr lang="de-CH" sz="2400" b="1" dirty="0" err="1" smtClean="0">
                <a:solidFill>
                  <a:schemeClr val="tx1"/>
                </a:solidFill>
              </a:rPr>
              <a:t>the</a:t>
            </a:r>
            <a:r>
              <a:rPr lang="de-CH" sz="2400" b="1" dirty="0" smtClean="0">
                <a:solidFill>
                  <a:schemeClr val="tx1"/>
                </a:solidFill>
              </a:rPr>
              <a:t> </a:t>
            </a:r>
            <a:r>
              <a:rPr lang="de-CH" sz="2400" b="1" dirty="0" err="1" smtClean="0">
                <a:solidFill>
                  <a:schemeClr val="tx1"/>
                </a:solidFill>
              </a:rPr>
              <a:t>Upper</a:t>
            </a:r>
            <a:r>
              <a:rPr lang="de-CH" sz="2400" b="1" dirty="0" smtClean="0">
                <a:solidFill>
                  <a:schemeClr val="tx1"/>
                </a:solidFill>
              </a:rPr>
              <a:t> East4 </a:t>
            </a:r>
            <a:r>
              <a:rPr lang="de-CH" sz="2400" b="1" dirty="0" err="1" smtClean="0">
                <a:solidFill>
                  <a:schemeClr val="tx1"/>
                </a:solidFill>
              </a:rPr>
              <a:t>region</a:t>
            </a:r>
            <a:r>
              <a:rPr lang="de-CH" sz="2400" b="1" dirty="0" smtClean="0">
                <a:solidFill>
                  <a:schemeClr val="tx1"/>
                </a:solidFill>
              </a:rPr>
              <a:t>, Ghana</a:t>
            </a:r>
          </a:p>
          <a:p>
            <a:pPr lvl="1"/>
            <a:endParaRPr lang="de-CH" sz="2400" b="1" dirty="0" smtClean="0">
              <a:solidFill>
                <a:schemeClr val="tx1"/>
              </a:solidFill>
            </a:endParaRPr>
          </a:p>
          <a:p>
            <a:pPr marL="800100" lvl="1" indent="-342900">
              <a:buFont typeface="Arial" panose="020B0604020202020204" pitchFamily="34" charset="0"/>
              <a:buChar char="•"/>
            </a:pPr>
            <a:r>
              <a:rPr lang="de-CH" sz="2400" dirty="0" smtClean="0">
                <a:solidFill>
                  <a:schemeClr val="tx1"/>
                </a:solidFill>
              </a:rPr>
              <a:t>3 </a:t>
            </a:r>
            <a:r>
              <a:rPr lang="de-CH" sz="2400" dirty="0" err="1" smtClean="0">
                <a:solidFill>
                  <a:schemeClr val="tx1"/>
                </a:solidFill>
              </a:rPr>
              <a:t>Interventions</a:t>
            </a:r>
            <a:r>
              <a:rPr lang="de-CH" sz="2400" dirty="0" smtClean="0">
                <a:solidFill>
                  <a:schemeClr val="tx1"/>
                </a:solidFill>
              </a:rPr>
              <a:t>: LLINS, SMC, RTSS </a:t>
            </a:r>
          </a:p>
          <a:p>
            <a:pPr lvl="1"/>
            <a:endParaRPr lang="de-CH" sz="2400" dirty="0"/>
          </a:p>
          <a:p>
            <a:pPr marL="800100" lvl="1" indent="-342900">
              <a:buFont typeface="Arial" panose="020B0604020202020204" pitchFamily="34" charset="0"/>
              <a:buChar char="•"/>
            </a:pPr>
            <a:r>
              <a:rPr lang="de-CH" sz="2400" dirty="0" smtClean="0"/>
              <a:t>OAT </a:t>
            </a:r>
            <a:r>
              <a:rPr lang="de-CH" sz="2400" dirty="0" err="1" smtClean="0"/>
              <a:t>and</a:t>
            </a:r>
            <a:r>
              <a:rPr lang="de-CH" sz="2400" dirty="0" smtClean="0"/>
              <a:t> Sobol’ </a:t>
            </a:r>
            <a:r>
              <a:rPr lang="de-CH" sz="2400" dirty="0" err="1" smtClean="0"/>
              <a:t>sensitivity</a:t>
            </a:r>
            <a:r>
              <a:rPr lang="de-CH" sz="2400" dirty="0" smtClean="0"/>
              <a:t> </a:t>
            </a:r>
            <a:r>
              <a:rPr lang="de-CH" sz="2400" dirty="0" err="1" smtClean="0"/>
              <a:t>analysis</a:t>
            </a:r>
            <a:endParaRPr lang="de-CH" sz="2400" dirty="0" smtClean="0"/>
          </a:p>
          <a:p>
            <a:pPr lvl="1"/>
            <a:endParaRPr lang="de-CH" sz="2400" dirty="0" smtClean="0"/>
          </a:p>
          <a:p>
            <a:pPr marL="800100" lvl="1" indent="-342900">
              <a:buFont typeface="Arial" panose="020B0604020202020204" pitchFamily="34" charset="0"/>
              <a:buChar char="•"/>
            </a:pPr>
            <a:r>
              <a:rPr lang="de-CH" sz="2400" dirty="0" smtClean="0"/>
              <a:t>Historical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for</a:t>
            </a:r>
            <a:r>
              <a:rPr lang="de-CH" sz="2400" dirty="0" smtClean="0"/>
              <a:t> GA </a:t>
            </a:r>
            <a:r>
              <a:rPr lang="de-CH" sz="2400" dirty="0" err="1" smtClean="0"/>
              <a:t>and</a:t>
            </a:r>
            <a:r>
              <a:rPr lang="de-CH" sz="2400" dirty="0" smtClean="0"/>
              <a:t> NE</a:t>
            </a:r>
          </a:p>
          <a:p>
            <a:pPr lvl="1"/>
            <a:endParaRPr lang="de-CH" sz="2400" dirty="0" smtClean="0"/>
          </a:p>
          <a:p>
            <a:pPr marL="800100" lvl="1" indent="-342900">
              <a:buFont typeface="Arial" panose="020B0604020202020204" pitchFamily="34" charset="0"/>
              <a:buChar char="•"/>
            </a:pPr>
            <a:r>
              <a:rPr lang="de-CH" sz="2400" b="1" dirty="0" smtClean="0"/>
              <a:t>Future </a:t>
            </a:r>
            <a:r>
              <a:rPr lang="de-CH" sz="2400" b="1" dirty="0" err="1" smtClean="0"/>
              <a:t>intervention</a:t>
            </a:r>
            <a:r>
              <a:rPr lang="de-CH" sz="2400" b="1" dirty="0" smtClean="0"/>
              <a:t> </a:t>
            </a:r>
            <a:r>
              <a:rPr lang="de-CH" sz="2400" b="1" dirty="0" err="1" smtClean="0"/>
              <a:t>coverage</a:t>
            </a:r>
            <a:r>
              <a:rPr lang="de-CH" sz="2400" b="1" dirty="0" smtClean="0"/>
              <a:t> </a:t>
            </a:r>
            <a:r>
              <a:rPr lang="de-CH" sz="2400" b="1" dirty="0" err="1" smtClean="0"/>
              <a:t>for</a:t>
            </a:r>
            <a:r>
              <a:rPr lang="de-CH" sz="2400" dirty="0" smtClean="0"/>
              <a:t> Ashanti1 </a:t>
            </a:r>
            <a:r>
              <a:rPr lang="de-CH" sz="2400" dirty="0" err="1" smtClean="0"/>
              <a:t>and</a:t>
            </a:r>
            <a:r>
              <a:rPr lang="de-CH" sz="2400" dirty="0" smtClean="0"/>
              <a:t> </a:t>
            </a:r>
            <a:r>
              <a:rPr lang="de-CH" sz="2400" b="1" dirty="0" err="1" smtClean="0"/>
              <a:t>Upper</a:t>
            </a:r>
            <a:r>
              <a:rPr lang="de-CH" sz="2400" b="1" dirty="0" smtClean="0"/>
              <a:t> East4</a:t>
            </a:r>
            <a:endParaRPr lang="de-CH" sz="2400" b="1" dirty="0"/>
          </a:p>
        </p:txBody>
      </p:sp>
      <p:sp>
        <p:nvSpPr>
          <p:cNvPr id="3" name="Right Arrow 2"/>
          <p:cNvSpPr/>
          <p:nvPr/>
        </p:nvSpPr>
        <p:spPr>
          <a:xfrm>
            <a:off x="117986" y="1923690"/>
            <a:ext cx="448573" cy="2329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11066280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 OAT Sensitivity </a:t>
            </a:r>
            <a:r>
              <a:rPr lang="en-US" sz="1800" b="1" dirty="0" smtClean="0">
                <a:latin typeface="+mn-lt"/>
              </a:rPr>
              <a:t>(</a:t>
            </a:r>
            <a:r>
              <a:rPr lang="en-US" sz="1800" b="1" u="sng" dirty="0"/>
              <a:t>EIR AS A PREDICTOR IN BOTH TRAINING AND </a:t>
            </a:r>
            <a:r>
              <a:rPr lang="en-US" sz="1800" b="1" u="sng" dirty="0" smtClean="0"/>
              <a:t>PREDICTION</a:t>
            </a:r>
            <a:r>
              <a:rPr lang="en-US" sz="1800" b="1" dirty="0" smtClean="0">
                <a:latin typeface="+mn-lt"/>
              </a:rPr>
              <a:t>) </a:t>
            </a:r>
            <a:endParaRPr lang="en-US" sz="1800" b="1" dirty="0">
              <a:latin typeface="+mn-lt"/>
            </a:endParaRPr>
          </a:p>
        </p:txBody>
      </p:sp>
      <p:pic>
        <p:nvPicPr>
          <p:cNvPr id="5" name="Picture 4"/>
          <p:cNvPicPr/>
          <p:nvPr/>
        </p:nvPicPr>
        <p:blipFill>
          <a:blip r:embed="rId3"/>
          <a:stretch>
            <a:fillRect/>
          </a:stretch>
        </p:blipFill>
        <p:spPr>
          <a:xfrm>
            <a:off x="181155" y="1011608"/>
            <a:ext cx="11067691" cy="5734248"/>
          </a:xfrm>
          <a:prstGeom prst="rect">
            <a:avLst/>
          </a:prstGeom>
        </p:spPr>
      </p:pic>
    </p:spTree>
    <p:extLst>
      <p:ext uri="{BB962C8B-B14F-4D97-AF65-F5344CB8AC3E}">
        <p14:creationId xmlns:p14="http://schemas.microsoft.com/office/powerpoint/2010/main" val="12795896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 </a:t>
            </a:r>
            <a:r>
              <a:rPr lang="en-US" sz="2800" b="1" dirty="0" err="1" smtClean="0">
                <a:latin typeface="+mn-lt"/>
              </a:rPr>
              <a:t>Sobol</a:t>
            </a:r>
            <a:r>
              <a:rPr lang="en-US" sz="2800" b="1" dirty="0" smtClean="0">
                <a:latin typeface="+mn-lt"/>
              </a:rPr>
              <a:t>’ Sensitivity </a:t>
            </a:r>
            <a:r>
              <a:rPr lang="en-US" sz="1800" b="1" dirty="0" smtClean="0">
                <a:latin typeface="+mn-lt"/>
              </a:rPr>
              <a:t>(</a:t>
            </a:r>
            <a:r>
              <a:rPr lang="en-US" sz="1800" b="1" u="sng" dirty="0" smtClean="0">
                <a:latin typeface="+mn-lt"/>
              </a:rPr>
              <a:t>FULL </a:t>
            </a:r>
            <a:r>
              <a:rPr lang="en-US" sz="1800" b="1" u="sng" dirty="0">
                <a:latin typeface="+mn-lt"/>
              </a:rPr>
              <a:t>EIR RANGE FOR TRAINING AND PREDICTION (LHS SAMPLING</a:t>
            </a:r>
            <a:r>
              <a:rPr lang="en-US" sz="1800" b="1" u="sng" dirty="0" smtClean="0">
                <a:latin typeface="+mn-lt"/>
              </a:rPr>
              <a:t>))</a:t>
            </a:r>
            <a:r>
              <a:rPr lang="de-CH" sz="1800" dirty="0">
                <a:latin typeface="+mn-lt"/>
              </a:rPr>
              <a:t/>
            </a:r>
            <a:br>
              <a:rPr lang="de-CH" sz="1800" dirty="0">
                <a:latin typeface="+mn-lt"/>
              </a:rPr>
            </a:br>
            <a:r>
              <a:rPr lang="en-US" sz="2800" b="1" dirty="0" smtClean="0">
                <a:latin typeface="+mn-lt"/>
              </a:rPr>
              <a:t> </a:t>
            </a:r>
            <a:endParaRPr lang="en-US" sz="2800" b="1" dirty="0">
              <a:latin typeface="+mn-lt"/>
            </a:endParaRPr>
          </a:p>
        </p:txBody>
      </p:sp>
      <p:pic>
        <p:nvPicPr>
          <p:cNvPr id="4" name="Picture 3"/>
          <p:cNvPicPr/>
          <p:nvPr/>
        </p:nvPicPr>
        <p:blipFill>
          <a:blip r:embed="rId3"/>
          <a:stretch>
            <a:fillRect/>
          </a:stretch>
        </p:blipFill>
        <p:spPr>
          <a:xfrm>
            <a:off x="586596" y="954925"/>
            <a:ext cx="10990053" cy="5834063"/>
          </a:xfrm>
          <a:prstGeom prst="rect">
            <a:avLst/>
          </a:prstGeom>
        </p:spPr>
      </p:pic>
    </p:spTree>
    <p:extLst>
      <p:ext uri="{BB962C8B-B14F-4D97-AF65-F5344CB8AC3E}">
        <p14:creationId xmlns:p14="http://schemas.microsoft.com/office/powerpoint/2010/main" val="38759031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Objective 1 – </a:t>
            </a:r>
            <a:r>
              <a:rPr lang="en-US" sz="2800" b="1" dirty="0" err="1" smtClean="0">
                <a:latin typeface="+mn-lt"/>
              </a:rPr>
              <a:t>Sobol</a:t>
            </a:r>
            <a:r>
              <a:rPr lang="en-US" sz="2800" b="1" dirty="0" smtClean="0">
                <a:latin typeface="+mn-lt"/>
              </a:rPr>
              <a:t>’ Sensitivity </a:t>
            </a:r>
            <a:endParaRPr lang="en-US" sz="2800" b="1" dirty="0">
              <a:latin typeface="+mn-lt"/>
            </a:endParaRPr>
          </a:p>
        </p:txBody>
      </p:sp>
      <p:pic>
        <p:nvPicPr>
          <p:cNvPr id="5" name="Picture 4"/>
          <p:cNvPicPr/>
          <p:nvPr/>
        </p:nvPicPr>
        <p:blipFill>
          <a:blip r:embed="rId3"/>
          <a:stretch>
            <a:fillRect/>
          </a:stretch>
        </p:blipFill>
        <p:spPr>
          <a:xfrm>
            <a:off x="1164566" y="796022"/>
            <a:ext cx="9040138" cy="5632210"/>
          </a:xfrm>
          <a:prstGeom prst="rect">
            <a:avLst/>
          </a:prstGeom>
        </p:spPr>
      </p:pic>
    </p:spTree>
    <p:extLst>
      <p:ext uri="{BB962C8B-B14F-4D97-AF65-F5344CB8AC3E}">
        <p14:creationId xmlns:p14="http://schemas.microsoft.com/office/powerpoint/2010/main" val="11445652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597</Words>
  <Application>Microsoft Office PowerPoint</Application>
  <PresentationFormat>Widescreen</PresentationFormat>
  <Paragraphs>56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Palatino Linotype</vt:lpstr>
      <vt:lpstr>Office Theme</vt:lpstr>
      <vt:lpstr>PowerPoint Presentation</vt:lpstr>
      <vt:lpstr>Aim</vt:lpstr>
      <vt:lpstr>PowerPoint Presentation</vt:lpstr>
      <vt:lpstr>Research Objectives</vt:lpstr>
      <vt:lpstr>Research Objectives</vt:lpstr>
      <vt:lpstr>Research Objectives</vt:lpstr>
      <vt:lpstr>Objective 1 </vt:lpstr>
      <vt:lpstr>Objective 1 – OAT Sensitivity (EIR AS A PREDICTOR IN BOTH TRAINING AND PREDICTION) </vt:lpstr>
      <vt:lpstr>Objective 1 – Sobol’ Sensitivity (FULL EIR RANGE FOR TRAINING AND PREDICTION (LHS SAMPLING))  </vt:lpstr>
      <vt:lpstr>Objective 1 – Sobol’ Sensitivity </vt:lpstr>
    </vt:vector>
  </TitlesOfParts>
  <Company>Swiss TPH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Zenabu Suboi</dc:creator>
  <cp:lastModifiedBy>Zenabu Suboi</cp:lastModifiedBy>
  <cp:revision>2</cp:revision>
  <dcterms:created xsi:type="dcterms:W3CDTF">2024-11-12T11:04:43Z</dcterms:created>
  <dcterms:modified xsi:type="dcterms:W3CDTF">2024-11-19T09:41:28Z</dcterms:modified>
</cp:coreProperties>
</file>