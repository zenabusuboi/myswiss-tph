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70" r:id="rId9"/>
    <p:sldId id="271" r:id="rId10"/>
    <p:sldId id="264" r:id="rId11"/>
    <p:sldId id="268" r:id="rId12"/>
    <p:sldId id="266" r:id="rId13"/>
    <p:sldId id="267" r:id="rId1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5A6BD"/>
    <a:srgbClr val="F9CB9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0" autoAdjust="0"/>
    <p:restoredTop sz="94660"/>
  </p:normalViewPr>
  <p:slideViewPr>
    <p:cSldViewPr snapToGrid="0">
      <p:cViewPr varScale="1">
        <p:scale>
          <a:sx n="69" d="100"/>
          <a:sy n="69" d="100"/>
        </p:scale>
        <p:origin x="52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7982B6-261F-4E0D-85CF-AFB8898FA926}" type="doc">
      <dgm:prSet loTypeId="urn:microsoft.com/office/officeart/2005/8/layout/vList6" loCatId="list" qsTypeId="urn:microsoft.com/office/officeart/2005/8/quickstyle/simple3" qsCatId="simple" csTypeId="urn:microsoft.com/office/officeart/2005/8/colors/accent1_2" csCatId="accent1" phldr="1"/>
      <dgm:spPr/>
      <dgm:t>
        <a:bodyPr/>
        <a:lstStyle/>
        <a:p>
          <a:endParaRPr lang="en-US"/>
        </a:p>
      </dgm:t>
    </dgm:pt>
    <dgm:pt modelId="{6BD30B86-6E63-484E-9CF9-D5C6180BE587}">
      <dgm:prSet phldrT="[Text]" custT="1"/>
      <dgm:spPr/>
      <dgm:t>
        <a:bodyPr/>
        <a:lstStyle/>
        <a:p>
          <a:r>
            <a:rPr lang="en-US" sz="2800" dirty="0" smtClean="0"/>
            <a:t>Forward Propagation of Uncertainty</a:t>
          </a:r>
          <a:endParaRPr lang="en-US" sz="2800" dirty="0"/>
        </a:p>
      </dgm:t>
    </dgm:pt>
    <dgm:pt modelId="{E550FB3D-3EE7-453C-9528-C2A578C98294}" type="parTrans" cxnId="{4C1FD9F4-5CD8-42FF-ACF4-CE191FA36AEB}">
      <dgm:prSet/>
      <dgm:spPr/>
      <dgm:t>
        <a:bodyPr/>
        <a:lstStyle/>
        <a:p>
          <a:endParaRPr lang="en-US"/>
        </a:p>
      </dgm:t>
    </dgm:pt>
    <dgm:pt modelId="{C3B58F22-DF41-4CBC-A43D-5B82C008BEF1}" type="sibTrans" cxnId="{4C1FD9F4-5CD8-42FF-ACF4-CE191FA36AEB}">
      <dgm:prSet/>
      <dgm:spPr/>
      <dgm:t>
        <a:bodyPr/>
        <a:lstStyle/>
        <a:p>
          <a:endParaRPr lang="en-US"/>
        </a:p>
      </dgm:t>
    </dgm:pt>
    <dgm:pt modelId="{6B2FAED9-D35B-40EF-8571-857622692A77}">
      <dgm:prSet phldrT="[Text]" custT="1"/>
      <dgm:spPr/>
      <dgm:t>
        <a:bodyPr/>
        <a:lstStyle/>
        <a:p>
          <a:r>
            <a:rPr lang="en-US" sz="2800" dirty="0" smtClean="0"/>
            <a:t>Investigates the impacts of random input values of model parameters on model outputs</a:t>
          </a:r>
          <a:endParaRPr lang="en-US" sz="2800" dirty="0"/>
        </a:p>
      </dgm:t>
    </dgm:pt>
    <dgm:pt modelId="{36446724-EDA3-4799-BE41-305A8FE567CC}" type="parTrans" cxnId="{412359B2-18DB-4350-846A-9E645FB4A7EF}">
      <dgm:prSet/>
      <dgm:spPr/>
      <dgm:t>
        <a:bodyPr/>
        <a:lstStyle/>
        <a:p>
          <a:endParaRPr lang="en-US"/>
        </a:p>
      </dgm:t>
    </dgm:pt>
    <dgm:pt modelId="{9C197227-3985-4A0F-8C70-6DA014A00B96}" type="sibTrans" cxnId="{412359B2-18DB-4350-846A-9E645FB4A7EF}">
      <dgm:prSet/>
      <dgm:spPr/>
      <dgm:t>
        <a:bodyPr/>
        <a:lstStyle/>
        <a:p>
          <a:endParaRPr lang="en-US"/>
        </a:p>
      </dgm:t>
    </dgm:pt>
    <dgm:pt modelId="{8813CC15-E3AF-4EE9-8CC3-08E0DF124B2B}">
      <dgm:prSet phldrT="[Text]" custT="1"/>
      <dgm:spPr/>
      <dgm:t>
        <a:bodyPr/>
        <a:lstStyle/>
        <a:p>
          <a:r>
            <a:rPr lang="en-US" sz="2800" dirty="0" smtClean="0"/>
            <a:t>Inverse Uncertainty Quantification</a:t>
          </a:r>
          <a:endParaRPr lang="en-US" sz="2800" dirty="0"/>
        </a:p>
      </dgm:t>
    </dgm:pt>
    <dgm:pt modelId="{CE7CB66D-843B-4D82-ACAE-307F659C6710}" type="parTrans" cxnId="{EA2C217A-5BBF-4435-9F5B-0883B361B148}">
      <dgm:prSet/>
      <dgm:spPr/>
      <dgm:t>
        <a:bodyPr/>
        <a:lstStyle/>
        <a:p>
          <a:endParaRPr lang="en-US"/>
        </a:p>
      </dgm:t>
    </dgm:pt>
    <dgm:pt modelId="{1ED23F48-7363-4CE9-8B2C-FED4F4DB44AD}" type="sibTrans" cxnId="{EA2C217A-5BBF-4435-9F5B-0883B361B148}">
      <dgm:prSet/>
      <dgm:spPr/>
      <dgm:t>
        <a:bodyPr/>
        <a:lstStyle/>
        <a:p>
          <a:endParaRPr lang="en-US"/>
        </a:p>
      </dgm:t>
    </dgm:pt>
    <dgm:pt modelId="{53A706F1-7BE7-4B65-8C79-64D92BB217B0}">
      <dgm:prSet phldrT="[Text]" custT="1"/>
      <dgm:spPr/>
      <dgm:t>
        <a:bodyPr/>
        <a:lstStyle/>
        <a:p>
          <a:r>
            <a:rPr lang="en-US" sz="2800" dirty="0" smtClean="0"/>
            <a:t>using experimental data to learn about the sources of modeling uncertainty</a:t>
          </a:r>
          <a:endParaRPr lang="en-US" sz="2800" dirty="0"/>
        </a:p>
      </dgm:t>
    </dgm:pt>
    <dgm:pt modelId="{84C15831-477D-44C5-8EF7-3058C1722A7A}" type="parTrans" cxnId="{3517BC94-0B70-4749-8E13-46F75F6A0C6C}">
      <dgm:prSet/>
      <dgm:spPr/>
      <dgm:t>
        <a:bodyPr/>
        <a:lstStyle/>
        <a:p>
          <a:endParaRPr lang="en-US"/>
        </a:p>
      </dgm:t>
    </dgm:pt>
    <dgm:pt modelId="{F24A94F5-7CF3-43C4-BDCF-42C4BCCE841B}" type="sibTrans" cxnId="{3517BC94-0B70-4749-8E13-46F75F6A0C6C}">
      <dgm:prSet/>
      <dgm:spPr/>
      <dgm:t>
        <a:bodyPr/>
        <a:lstStyle/>
        <a:p>
          <a:endParaRPr lang="en-US"/>
        </a:p>
      </dgm:t>
    </dgm:pt>
    <dgm:pt modelId="{F6BC2A56-8E24-4633-9F0F-74F252669F27}" type="pres">
      <dgm:prSet presAssocID="{1E7982B6-261F-4E0D-85CF-AFB8898FA926}" presName="Name0" presStyleCnt="0">
        <dgm:presLayoutVars>
          <dgm:dir/>
          <dgm:animLvl val="lvl"/>
          <dgm:resizeHandles/>
        </dgm:presLayoutVars>
      </dgm:prSet>
      <dgm:spPr/>
      <dgm:t>
        <a:bodyPr/>
        <a:lstStyle/>
        <a:p>
          <a:endParaRPr lang="en-US"/>
        </a:p>
      </dgm:t>
    </dgm:pt>
    <dgm:pt modelId="{5C9A9BF0-147B-4478-A0E6-6DFE025FBCAC}" type="pres">
      <dgm:prSet presAssocID="{6BD30B86-6E63-484E-9CF9-D5C6180BE587}" presName="linNode" presStyleCnt="0"/>
      <dgm:spPr/>
    </dgm:pt>
    <dgm:pt modelId="{40BCD131-2073-4EDE-9795-02928553C85F}" type="pres">
      <dgm:prSet presAssocID="{6BD30B86-6E63-484E-9CF9-D5C6180BE587}" presName="parentShp" presStyleLbl="node1" presStyleIdx="0" presStyleCnt="2" custLinFactNeighborY="-26">
        <dgm:presLayoutVars>
          <dgm:bulletEnabled val="1"/>
        </dgm:presLayoutVars>
      </dgm:prSet>
      <dgm:spPr/>
      <dgm:t>
        <a:bodyPr/>
        <a:lstStyle/>
        <a:p>
          <a:endParaRPr lang="en-US"/>
        </a:p>
      </dgm:t>
    </dgm:pt>
    <dgm:pt modelId="{234E15B5-1992-433F-AE7A-2BD232D5F9C1}" type="pres">
      <dgm:prSet presAssocID="{6BD30B86-6E63-484E-9CF9-D5C6180BE587}" presName="childShp" presStyleLbl="bgAccFollowNode1" presStyleIdx="0" presStyleCnt="2" custLinFactNeighborX="-358" custLinFactNeighborY="-26">
        <dgm:presLayoutVars>
          <dgm:bulletEnabled val="1"/>
        </dgm:presLayoutVars>
      </dgm:prSet>
      <dgm:spPr/>
      <dgm:t>
        <a:bodyPr/>
        <a:lstStyle/>
        <a:p>
          <a:endParaRPr lang="en-US"/>
        </a:p>
      </dgm:t>
    </dgm:pt>
    <dgm:pt modelId="{147B896B-C0B3-4FD6-BB5D-C71145D3502F}" type="pres">
      <dgm:prSet presAssocID="{C3B58F22-DF41-4CBC-A43D-5B82C008BEF1}" presName="spacing" presStyleCnt="0"/>
      <dgm:spPr/>
    </dgm:pt>
    <dgm:pt modelId="{C8195DB9-FD51-4F69-B60F-250E8247B09B}" type="pres">
      <dgm:prSet presAssocID="{8813CC15-E3AF-4EE9-8CC3-08E0DF124B2B}" presName="linNode" presStyleCnt="0"/>
      <dgm:spPr/>
    </dgm:pt>
    <dgm:pt modelId="{116AF5B1-E45C-4738-8EBC-F071EB4E45FD}" type="pres">
      <dgm:prSet presAssocID="{8813CC15-E3AF-4EE9-8CC3-08E0DF124B2B}" presName="parentShp" presStyleLbl="node1" presStyleIdx="1" presStyleCnt="2">
        <dgm:presLayoutVars>
          <dgm:bulletEnabled val="1"/>
        </dgm:presLayoutVars>
      </dgm:prSet>
      <dgm:spPr/>
      <dgm:t>
        <a:bodyPr/>
        <a:lstStyle/>
        <a:p>
          <a:endParaRPr lang="en-US"/>
        </a:p>
      </dgm:t>
    </dgm:pt>
    <dgm:pt modelId="{AF97286F-DE4D-4D21-923A-0C8E3289DDB2}" type="pres">
      <dgm:prSet presAssocID="{8813CC15-E3AF-4EE9-8CC3-08E0DF124B2B}" presName="childShp" presStyleLbl="bgAccFollowNode1" presStyleIdx="1" presStyleCnt="2">
        <dgm:presLayoutVars>
          <dgm:bulletEnabled val="1"/>
        </dgm:presLayoutVars>
      </dgm:prSet>
      <dgm:spPr/>
      <dgm:t>
        <a:bodyPr/>
        <a:lstStyle/>
        <a:p>
          <a:endParaRPr lang="en-US"/>
        </a:p>
      </dgm:t>
    </dgm:pt>
  </dgm:ptLst>
  <dgm:cxnLst>
    <dgm:cxn modelId="{3517BC94-0B70-4749-8E13-46F75F6A0C6C}" srcId="{8813CC15-E3AF-4EE9-8CC3-08E0DF124B2B}" destId="{53A706F1-7BE7-4B65-8C79-64D92BB217B0}" srcOrd="0" destOrd="0" parTransId="{84C15831-477D-44C5-8EF7-3058C1722A7A}" sibTransId="{F24A94F5-7CF3-43C4-BDCF-42C4BCCE841B}"/>
    <dgm:cxn modelId="{4C1FD9F4-5CD8-42FF-ACF4-CE191FA36AEB}" srcId="{1E7982B6-261F-4E0D-85CF-AFB8898FA926}" destId="{6BD30B86-6E63-484E-9CF9-D5C6180BE587}" srcOrd="0" destOrd="0" parTransId="{E550FB3D-3EE7-453C-9528-C2A578C98294}" sibTransId="{C3B58F22-DF41-4CBC-A43D-5B82C008BEF1}"/>
    <dgm:cxn modelId="{DA6BDA08-0FC6-4E53-AB47-241F6623AEF4}" type="presOf" srcId="{1E7982B6-261F-4E0D-85CF-AFB8898FA926}" destId="{F6BC2A56-8E24-4633-9F0F-74F252669F27}" srcOrd="0" destOrd="0" presId="urn:microsoft.com/office/officeart/2005/8/layout/vList6"/>
    <dgm:cxn modelId="{A0405EAE-990B-4F20-B289-67131FB4278D}" type="presOf" srcId="{8813CC15-E3AF-4EE9-8CC3-08E0DF124B2B}" destId="{116AF5B1-E45C-4738-8EBC-F071EB4E45FD}" srcOrd="0" destOrd="0" presId="urn:microsoft.com/office/officeart/2005/8/layout/vList6"/>
    <dgm:cxn modelId="{51D2EB02-6BD6-422D-9314-1F385B053707}" type="presOf" srcId="{6BD30B86-6E63-484E-9CF9-D5C6180BE587}" destId="{40BCD131-2073-4EDE-9795-02928553C85F}" srcOrd="0" destOrd="0" presId="urn:microsoft.com/office/officeart/2005/8/layout/vList6"/>
    <dgm:cxn modelId="{A1F09CA7-7683-4B05-9E24-EA96970D0CE2}" type="presOf" srcId="{53A706F1-7BE7-4B65-8C79-64D92BB217B0}" destId="{AF97286F-DE4D-4D21-923A-0C8E3289DDB2}" srcOrd="0" destOrd="0" presId="urn:microsoft.com/office/officeart/2005/8/layout/vList6"/>
    <dgm:cxn modelId="{412359B2-18DB-4350-846A-9E645FB4A7EF}" srcId="{6BD30B86-6E63-484E-9CF9-D5C6180BE587}" destId="{6B2FAED9-D35B-40EF-8571-857622692A77}" srcOrd="0" destOrd="0" parTransId="{36446724-EDA3-4799-BE41-305A8FE567CC}" sibTransId="{9C197227-3985-4A0F-8C70-6DA014A00B96}"/>
    <dgm:cxn modelId="{A4404D18-9CBF-4384-8998-477683FAA36D}" type="presOf" srcId="{6B2FAED9-D35B-40EF-8571-857622692A77}" destId="{234E15B5-1992-433F-AE7A-2BD232D5F9C1}" srcOrd="0" destOrd="0" presId="urn:microsoft.com/office/officeart/2005/8/layout/vList6"/>
    <dgm:cxn modelId="{EA2C217A-5BBF-4435-9F5B-0883B361B148}" srcId="{1E7982B6-261F-4E0D-85CF-AFB8898FA926}" destId="{8813CC15-E3AF-4EE9-8CC3-08E0DF124B2B}" srcOrd="1" destOrd="0" parTransId="{CE7CB66D-843B-4D82-ACAE-307F659C6710}" sibTransId="{1ED23F48-7363-4CE9-8B2C-FED4F4DB44AD}"/>
    <dgm:cxn modelId="{36754631-76C3-48D8-9A08-076AD0002927}" type="presParOf" srcId="{F6BC2A56-8E24-4633-9F0F-74F252669F27}" destId="{5C9A9BF0-147B-4478-A0E6-6DFE025FBCAC}" srcOrd="0" destOrd="0" presId="urn:microsoft.com/office/officeart/2005/8/layout/vList6"/>
    <dgm:cxn modelId="{B62D4D64-F963-4188-9EBB-A1FCD2D788A1}" type="presParOf" srcId="{5C9A9BF0-147B-4478-A0E6-6DFE025FBCAC}" destId="{40BCD131-2073-4EDE-9795-02928553C85F}" srcOrd="0" destOrd="0" presId="urn:microsoft.com/office/officeart/2005/8/layout/vList6"/>
    <dgm:cxn modelId="{D79D9F45-60D5-4931-8000-F4313BB970EC}" type="presParOf" srcId="{5C9A9BF0-147B-4478-A0E6-6DFE025FBCAC}" destId="{234E15B5-1992-433F-AE7A-2BD232D5F9C1}" srcOrd="1" destOrd="0" presId="urn:microsoft.com/office/officeart/2005/8/layout/vList6"/>
    <dgm:cxn modelId="{C96FDB45-8DA8-4286-99A5-492ABF5FC4B2}" type="presParOf" srcId="{F6BC2A56-8E24-4633-9F0F-74F252669F27}" destId="{147B896B-C0B3-4FD6-BB5D-C71145D3502F}" srcOrd="1" destOrd="0" presId="urn:microsoft.com/office/officeart/2005/8/layout/vList6"/>
    <dgm:cxn modelId="{F7BFAE50-D638-4DE9-A0B3-E3CE5E5F8963}" type="presParOf" srcId="{F6BC2A56-8E24-4633-9F0F-74F252669F27}" destId="{C8195DB9-FD51-4F69-B60F-250E8247B09B}" srcOrd="2" destOrd="0" presId="urn:microsoft.com/office/officeart/2005/8/layout/vList6"/>
    <dgm:cxn modelId="{854C853F-1733-4F57-9FAA-5E4AC053F8A2}" type="presParOf" srcId="{C8195DB9-FD51-4F69-B60F-250E8247B09B}" destId="{116AF5B1-E45C-4738-8EBC-F071EB4E45FD}" srcOrd="0" destOrd="0" presId="urn:microsoft.com/office/officeart/2005/8/layout/vList6"/>
    <dgm:cxn modelId="{BC2874F3-D691-486F-BE9C-33A6E7CBEBAE}" type="presParOf" srcId="{C8195DB9-FD51-4F69-B60F-250E8247B09B}" destId="{AF97286F-DE4D-4D21-923A-0C8E3289DDB2}"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DA2E1C-0015-4D0A-9271-50F46B3BC8A9}" type="doc">
      <dgm:prSet loTypeId="urn:microsoft.com/office/officeart/2005/8/layout/chevron1" loCatId="process" qsTypeId="urn:microsoft.com/office/officeart/2005/8/quickstyle/simple1" qsCatId="simple" csTypeId="urn:microsoft.com/office/officeart/2005/8/colors/accent2_4" csCatId="accent2" phldr="1"/>
      <dgm:spPr/>
    </dgm:pt>
    <dgm:pt modelId="{B7A7EA82-523F-4CF9-A5EE-B7644BD728C8}">
      <dgm:prSet phldrT="[Text]" custT="1"/>
      <dgm:spPr/>
      <dgm:t>
        <a:bodyPr/>
        <a:lstStyle/>
        <a:p>
          <a:r>
            <a:rPr lang="en-US" sz="1600" dirty="0" smtClean="0"/>
            <a:t>Objective 1: Understand the key drivers of impact of malaria interventions in Ghana</a:t>
          </a:r>
          <a:endParaRPr lang="en-US" sz="1600" dirty="0"/>
        </a:p>
      </dgm:t>
    </dgm:pt>
    <dgm:pt modelId="{74C039AF-64ED-4098-99B1-96742542C3A1}" type="parTrans" cxnId="{F22C7F00-EA54-4BAA-BAA8-3902A209A289}">
      <dgm:prSet/>
      <dgm:spPr/>
      <dgm:t>
        <a:bodyPr/>
        <a:lstStyle/>
        <a:p>
          <a:endParaRPr lang="en-US"/>
        </a:p>
      </dgm:t>
    </dgm:pt>
    <dgm:pt modelId="{1EEF7536-549D-4C4C-8608-47F7B5BFA429}" type="sibTrans" cxnId="{F22C7F00-EA54-4BAA-BAA8-3902A209A289}">
      <dgm:prSet/>
      <dgm:spPr/>
      <dgm:t>
        <a:bodyPr/>
        <a:lstStyle/>
        <a:p>
          <a:endParaRPr lang="en-US"/>
        </a:p>
      </dgm:t>
    </dgm:pt>
    <dgm:pt modelId="{92D4D07F-124D-4D0D-B352-090442024928}">
      <dgm:prSet phldrT="[Text]" custT="1"/>
      <dgm:spPr>
        <a:solidFill>
          <a:schemeClr val="bg2">
            <a:lumMod val="40000"/>
            <a:lumOff val="60000"/>
          </a:schemeClr>
        </a:solidFill>
      </dgm:spPr>
      <dgm:t>
        <a:bodyPr/>
        <a:lstStyle/>
        <a:p>
          <a:r>
            <a:rPr lang="en-US" sz="1600" dirty="0" smtClean="0"/>
            <a:t>Objective 3: Simulate the impact of malaria interventions in Ghana in order to support decisions for strategic planning </a:t>
          </a:r>
          <a:endParaRPr lang="en-US" sz="1600" dirty="0"/>
        </a:p>
      </dgm:t>
    </dgm:pt>
    <dgm:pt modelId="{D6A6D522-00F2-4BFA-A8DA-61CE9CAE95DB}" type="parTrans" cxnId="{186D20B6-C3C1-47F1-BFB2-4C19BB50322B}">
      <dgm:prSet/>
      <dgm:spPr/>
      <dgm:t>
        <a:bodyPr/>
        <a:lstStyle/>
        <a:p>
          <a:endParaRPr lang="en-US"/>
        </a:p>
      </dgm:t>
    </dgm:pt>
    <dgm:pt modelId="{D4C18A54-B46C-49E1-B3F7-901CB4BA2332}" type="sibTrans" cxnId="{186D20B6-C3C1-47F1-BFB2-4C19BB50322B}">
      <dgm:prSet/>
      <dgm:spPr/>
      <dgm:t>
        <a:bodyPr/>
        <a:lstStyle/>
        <a:p>
          <a:endParaRPr lang="en-US"/>
        </a:p>
      </dgm:t>
    </dgm:pt>
    <dgm:pt modelId="{39C5026A-70DB-44B0-99E9-240E7EE12322}">
      <dgm:prSet phldrT="[Text]" custT="1"/>
      <dgm:spPr>
        <a:solidFill>
          <a:schemeClr val="bg2">
            <a:lumMod val="40000"/>
            <a:lumOff val="60000"/>
          </a:schemeClr>
        </a:solidFill>
      </dgm:spPr>
      <dgm:t>
        <a:bodyPr/>
        <a:lstStyle/>
        <a:p>
          <a:r>
            <a:rPr lang="en-US" sz="1600" dirty="0" smtClean="0"/>
            <a:t>Objective 2: Develop a novel inference framework for calibrating the OpenMalaria model at a higher spatial resolution</a:t>
          </a:r>
          <a:endParaRPr lang="en-US" sz="1600" dirty="0"/>
        </a:p>
      </dgm:t>
    </dgm:pt>
    <dgm:pt modelId="{2E5475A2-F899-4FAB-AB3A-0505D18E2C8F}" type="sibTrans" cxnId="{2B570D05-5E16-42D3-A705-6150C885FD22}">
      <dgm:prSet/>
      <dgm:spPr/>
      <dgm:t>
        <a:bodyPr/>
        <a:lstStyle/>
        <a:p>
          <a:endParaRPr lang="en-US"/>
        </a:p>
      </dgm:t>
    </dgm:pt>
    <dgm:pt modelId="{3B4B5825-9D1B-4EF7-BEB4-501FFF1212B7}" type="parTrans" cxnId="{2B570D05-5E16-42D3-A705-6150C885FD22}">
      <dgm:prSet/>
      <dgm:spPr/>
      <dgm:t>
        <a:bodyPr/>
        <a:lstStyle/>
        <a:p>
          <a:endParaRPr lang="en-US"/>
        </a:p>
      </dgm:t>
    </dgm:pt>
    <dgm:pt modelId="{6B655AFE-4055-452C-91A1-35373C7D485F}" type="pres">
      <dgm:prSet presAssocID="{34DA2E1C-0015-4D0A-9271-50F46B3BC8A9}" presName="Name0" presStyleCnt="0">
        <dgm:presLayoutVars>
          <dgm:dir/>
          <dgm:animLvl val="lvl"/>
          <dgm:resizeHandles val="exact"/>
        </dgm:presLayoutVars>
      </dgm:prSet>
      <dgm:spPr/>
    </dgm:pt>
    <dgm:pt modelId="{5E73E2A8-82C3-489B-9C27-4D9F4835CBBB}" type="pres">
      <dgm:prSet presAssocID="{B7A7EA82-523F-4CF9-A5EE-B7644BD728C8}" presName="parTxOnly" presStyleLbl="node1" presStyleIdx="0" presStyleCnt="3">
        <dgm:presLayoutVars>
          <dgm:chMax val="0"/>
          <dgm:chPref val="0"/>
          <dgm:bulletEnabled val="1"/>
        </dgm:presLayoutVars>
      </dgm:prSet>
      <dgm:spPr/>
      <dgm:t>
        <a:bodyPr/>
        <a:lstStyle/>
        <a:p>
          <a:endParaRPr lang="en-US"/>
        </a:p>
      </dgm:t>
    </dgm:pt>
    <dgm:pt modelId="{CA7E8DC5-999A-4073-B045-406B3B9DE05B}" type="pres">
      <dgm:prSet presAssocID="{1EEF7536-549D-4C4C-8608-47F7B5BFA429}" presName="parTxOnlySpace" presStyleCnt="0"/>
      <dgm:spPr/>
    </dgm:pt>
    <dgm:pt modelId="{5796A450-ACCF-47F3-AB14-58D05BC160FC}" type="pres">
      <dgm:prSet presAssocID="{39C5026A-70DB-44B0-99E9-240E7EE12322}" presName="parTxOnly" presStyleLbl="node1" presStyleIdx="1" presStyleCnt="3">
        <dgm:presLayoutVars>
          <dgm:chMax val="0"/>
          <dgm:chPref val="0"/>
          <dgm:bulletEnabled val="1"/>
        </dgm:presLayoutVars>
      </dgm:prSet>
      <dgm:spPr/>
      <dgm:t>
        <a:bodyPr/>
        <a:lstStyle/>
        <a:p>
          <a:endParaRPr lang="en-US"/>
        </a:p>
      </dgm:t>
    </dgm:pt>
    <dgm:pt modelId="{2C4266BF-A7A6-472E-AA57-4A8FF254C584}" type="pres">
      <dgm:prSet presAssocID="{2E5475A2-F899-4FAB-AB3A-0505D18E2C8F}" presName="parTxOnlySpace" presStyleCnt="0"/>
      <dgm:spPr/>
    </dgm:pt>
    <dgm:pt modelId="{DA19C7B6-2CC0-4AB1-8ECC-BCAA75C85DFF}" type="pres">
      <dgm:prSet presAssocID="{92D4D07F-124D-4D0D-B352-090442024928}" presName="parTxOnly" presStyleLbl="node1" presStyleIdx="2" presStyleCnt="3">
        <dgm:presLayoutVars>
          <dgm:chMax val="0"/>
          <dgm:chPref val="0"/>
          <dgm:bulletEnabled val="1"/>
        </dgm:presLayoutVars>
      </dgm:prSet>
      <dgm:spPr/>
      <dgm:t>
        <a:bodyPr/>
        <a:lstStyle/>
        <a:p>
          <a:endParaRPr lang="en-US"/>
        </a:p>
      </dgm:t>
    </dgm:pt>
  </dgm:ptLst>
  <dgm:cxnLst>
    <dgm:cxn modelId="{2CCFB7E1-532E-4E32-9FC4-1D51D8325541}" type="presOf" srcId="{39C5026A-70DB-44B0-99E9-240E7EE12322}" destId="{5796A450-ACCF-47F3-AB14-58D05BC160FC}" srcOrd="0" destOrd="0" presId="urn:microsoft.com/office/officeart/2005/8/layout/chevron1"/>
    <dgm:cxn modelId="{186D20B6-C3C1-47F1-BFB2-4C19BB50322B}" srcId="{34DA2E1C-0015-4D0A-9271-50F46B3BC8A9}" destId="{92D4D07F-124D-4D0D-B352-090442024928}" srcOrd="2" destOrd="0" parTransId="{D6A6D522-00F2-4BFA-A8DA-61CE9CAE95DB}" sibTransId="{D4C18A54-B46C-49E1-B3F7-901CB4BA2332}"/>
    <dgm:cxn modelId="{AF9BBD6B-0C50-431F-B4DF-CBEB99E89DF6}" type="presOf" srcId="{92D4D07F-124D-4D0D-B352-090442024928}" destId="{DA19C7B6-2CC0-4AB1-8ECC-BCAA75C85DFF}" srcOrd="0" destOrd="0" presId="urn:microsoft.com/office/officeart/2005/8/layout/chevron1"/>
    <dgm:cxn modelId="{2B570D05-5E16-42D3-A705-6150C885FD22}" srcId="{34DA2E1C-0015-4D0A-9271-50F46B3BC8A9}" destId="{39C5026A-70DB-44B0-99E9-240E7EE12322}" srcOrd="1" destOrd="0" parTransId="{3B4B5825-9D1B-4EF7-BEB4-501FFF1212B7}" sibTransId="{2E5475A2-F899-4FAB-AB3A-0505D18E2C8F}"/>
    <dgm:cxn modelId="{A5DCE7AF-5239-4BE8-8E4E-F610BF93D11F}" type="presOf" srcId="{34DA2E1C-0015-4D0A-9271-50F46B3BC8A9}" destId="{6B655AFE-4055-452C-91A1-35373C7D485F}" srcOrd="0" destOrd="0" presId="urn:microsoft.com/office/officeart/2005/8/layout/chevron1"/>
    <dgm:cxn modelId="{0D3DD417-99A7-4A01-9843-B35F2D94E5D7}" type="presOf" srcId="{B7A7EA82-523F-4CF9-A5EE-B7644BD728C8}" destId="{5E73E2A8-82C3-489B-9C27-4D9F4835CBBB}" srcOrd="0" destOrd="0" presId="urn:microsoft.com/office/officeart/2005/8/layout/chevron1"/>
    <dgm:cxn modelId="{F22C7F00-EA54-4BAA-BAA8-3902A209A289}" srcId="{34DA2E1C-0015-4D0A-9271-50F46B3BC8A9}" destId="{B7A7EA82-523F-4CF9-A5EE-B7644BD728C8}" srcOrd="0" destOrd="0" parTransId="{74C039AF-64ED-4098-99B1-96742542C3A1}" sibTransId="{1EEF7536-549D-4C4C-8608-47F7B5BFA429}"/>
    <dgm:cxn modelId="{52FDE9E0-8777-4A5D-8BA5-D6A80A64C975}" type="presParOf" srcId="{6B655AFE-4055-452C-91A1-35373C7D485F}" destId="{5E73E2A8-82C3-489B-9C27-4D9F4835CBBB}" srcOrd="0" destOrd="0" presId="urn:microsoft.com/office/officeart/2005/8/layout/chevron1"/>
    <dgm:cxn modelId="{8A6A6802-0C41-44EC-AB63-F86F8565A855}" type="presParOf" srcId="{6B655AFE-4055-452C-91A1-35373C7D485F}" destId="{CA7E8DC5-999A-4073-B045-406B3B9DE05B}" srcOrd="1" destOrd="0" presId="urn:microsoft.com/office/officeart/2005/8/layout/chevron1"/>
    <dgm:cxn modelId="{12FB8558-DE68-4797-8777-51F278BD65E9}" type="presParOf" srcId="{6B655AFE-4055-452C-91A1-35373C7D485F}" destId="{5796A450-ACCF-47F3-AB14-58D05BC160FC}" srcOrd="2" destOrd="0" presId="urn:microsoft.com/office/officeart/2005/8/layout/chevron1"/>
    <dgm:cxn modelId="{CF2093D4-32BA-48DD-BB8C-1702D0C7776B}" type="presParOf" srcId="{6B655AFE-4055-452C-91A1-35373C7D485F}" destId="{2C4266BF-A7A6-472E-AA57-4A8FF254C584}" srcOrd="3" destOrd="0" presId="urn:microsoft.com/office/officeart/2005/8/layout/chevron1"/>
    <dgm:cxn modelId="{C82AB3B4-8C67-47E5-B062-A21704EAF2F9}" type="presParOf" srcId="{6B655AFE-4055-452C-91A1-35373C7D485F}" destId="{DA19C7B6-2CC0-4AB1-8ECC-BCAA75C85DFF}"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4DA2E1C-0015-4D0A-9271-50F46B3BC8A9}" type="doc">
      <dgm:prSet loTypeId="urn:microsoft.com/office/officeart/2005/8/layout/chevron1" loCatId="process" qsTypeId="urn:microsoft.com/office/officeart/2005/8/quickstyle/simple1" qsCatId="simple" csTypeId="urn:microsoft.com/office/officeart/2005/8/colors/accent2_4" csCatId="accent2" phldr="1"/>
      <dgm:spPr/>
    </dgm:pt>
    <dgm:pt modelId="{B7A7EA82-523F-4CF9-A5EE-B7644BD728C8}">
      <dgm:prSet phldrT="[Text]" custT="1"/>
      <dgm:spPr>
        <a:solidFill>
          <a:schemeClr val="bg2">
            <a:lumMod val="40000"/>
            <a:lumOff val="60000"/>
          </a:schemeClr>
        </a:solidFill>
      </dgm:spPr>
      <dgm:t>
        <a:bodyPr/>
        <a:lstStyle/>
        <a:p>
          <a:r>
            <a:rPr lang="en-US" sz="1600" dirty="0" smtClean="0"/>
            <a:t>Objective 1: Understand the key drivers of impact of interventions in Ghana</a:t>
          </a:r>
          <a:endParaRPr lang="en-US" sz="1600" dirty="0"/>
        </a:p>
      </dgm:t>
    </dgm:pt>
    <dgm:pt modelId="{74C039AF-64ED-4098-99B1-96742542C3A1}" type="parTrans" cxnId="{F22C7F00-EA54-4BAA-BAA8-3902A209A289}">
      <dgm:prSet/>
      <dgm:spPr/>
      <dgm:t>
        <a:bodyPr/>
        <a:lstStyle/>
        <a:p>
          <a:endParaRPr lang="en-US"/>
        </a:p>
      </dgm:t>
    </dgm:pt>
    <dgm:pt modelId="{1EEF7536-549D-4C4C-8608-47F7B5BFA429}" type="sibTrans" cxnId="{F22C7F00-EA54-4BAA-BAA8-3902A209A289}">
      <dgm:prSet/>
      <dgm:spPr/>
      <dgm:t>
        <a:bodyPr/>
        <a:lstStyle/>
        <a:p>
          <a:endParaRPr lang="en-US"/>
        </a:p>
      </dgm:t>
    </dgm:pt>
    <dgm:pt modelId="{92D4D07F-124D-4D0D-B352-090442024928}">
      <dgm:prSet phldrT="[Text]" custT="1"/>
      <dgm:spPr>
        <a:solidFill>
          <a:schemeClr val="bg2">
            <a:lumMod val="40000"/>
            <a:lumOff val="60000"/>
          </a:schemeClr>
        </a:solidFill>
      </dgm:spPr>
      <dgm:t>
        <a:bodyPr/>
        <a:lstStyle/>
        <a:p>
          <a:r>
            <a:rPr lang="en-US" sz="1600" dirty="0" smtClean="0"/>
            <a:t>Objective 3: Simulate the impact of malaria interventions in Ghana in order to support decisions for strategic planning </a:t>
          </a:r>
          <a:endParaRPr lang="en-US" sz="1600" dirty="0"/>
        </a:p>
      </dgm:t>
    </dgm:pt>
    <dgm:pt modelId="{D6A6D522-00F2-4BFA-A8DA-61CE9CAE95DB}" type="parTrans" cxnId="{186D20B6-C3C1-47F1-BFB2-4C19BB50322B}">
      <dgm:prSet/>
      <dgm:spPr/>
      <dgm:t>
        <a:bodyPr/>
        <a:lstStyle/>
        <a:p>
          <a:endParaRPr lang="en-US"/>
        </a:p>
      </dgm:t>
    </dgm:pt>
    <dgm:pt modelId="{D4C18A54-B46C-49E1-B3F7-901CB4BA2332}" type="sibTrans" cxnId="{186D20B6-C3C1-47F1-BFB2-4C19BB50322B}">
      <dgm:prSet/>
      <dgm:spPr/>
      <dgm:t>
        <a:bodyPr/>
        <a:lstStyle/>
        <a:p>
          <a:endParaRPr lang="en-US"/>
        </a:p>
      </dgm:t>
    </dgm:pt>
    <dgm:pt modelId="{39C5026A-70DB-44B0-99E9-240E7EE12322}">
      <dgm:prSet phldrT="[Text]" custT="1"/>
      <dgm:spPr>
        <a:solidFill>
          <a:schemeClr val="accent2">
            <a:lumMod val="75000"/>
          </a:schemeClr>
        </a:solidFill>
      </dgm:spPr>
      <dgm:t>
        <a:bodyPr/>
        <a:lstStyle/>
        <a:p>
          <a:r>
            <a:rPr lang="en-US" sz="1600" dirty="0" smtClean="0"/>
            <a:t>Objective 2: Develop an efficient inference framework for calibrating the OpenMalaria model at a higher spatial resolution</a:t>
          </a:r>
          <a:endParaRPr lang="en-US" sz="1600" dirty="0"/>
        </a:p>
      </dgm:t>
    </dgm:pt>
    <dgm:pt modelId="{2E5475A2-F899-4FAB-AB3A-0505D18E2C8F}" type="sibTrans" cxnId="{2B570D05-5E16-42D3-A705-6150C885FD22}">
      <dgm:prSet/>
      <dgm:spPr/>
      <dgm:t>
        <a:bodyPr/>
        <a:lstStyle/>
        <a:p>
          <a:endParaRPr lang="en-US"/>
        </a:p>
      </dgm:t>
    </dgm:pt>
    <dgm:pt modelId="{3B4B5825-9D1B-4EF7-BEB4-501FFF1212B7}" type="parTrans" cxnId="{2B570D05-5E16-42D3-A705-6150C885FD22}">
      <dgm:prSet/>
      <dgm:spPr/>
      <dgm:t>
        <a:bodyPr/>
        <a:lstStyle/>
        <a:p>
          <a:endParaRPr lang="en-US"/>
        </a:p>
      </dgm:t>
    </dgm:pt>
    <dgm:pt modelId="{6B655AFE-4055-452C-91A1-35373C7D485F}" type="pres">
      <dgm:prSet presAssocID="{34DA2E1C-0015-4D0A-9271-50F46B3BC8A9}" presName="Name0" presStyleCnt="0">
        <dgm:presLayoutVars>
          <dgm:dir/>
          <dgm:animLvl val="lvl"/>
          <dgm:resizeHandles val="exact"/>
        </dgm:presLayoutVars>
      </dgm:prSet>
      <dgm:spPr/>
    </dgm:pt>
    <dgm:pt modelId="{5E73E2A8-82C3-489B-9C27-4D9F4835CBBB}" type="pres">
      <dgm:prSet presAssocID="{B7A7EA82-523F-4CF9-A5EE-B7644BD728C8}" presName="parTxOnly" presStyleLbl="node1" presStyleIdx="0" presStyleCnt="3">
        <dgm:presLayoutVars>
          <dgm:chMax val="0"/>
          <dgm:chPref val="0"/>
          <dgm:bulletEnabled val="1"/>
        </dgm:presLayoutVars>
      </dgm:prSet>
      <dgm:spPr/>
      <dgm:t>
        <a:bodyPr/>
        <a:lstStyle/>
        <a:p>
          <a:endParaRPr lang="en-US"/>
        </a:p>
      </dgm:t>
    </dgm:pt>
    <dgm:pt modelId="{CA7E8DC5-999A-4073-B045-406B3B9DE05B}" type="pres">
      <dgm:prSet presAssocID="{1EEF7536-549D-4C4C-8608-47F7B5BFA429}" presName="parTxOnlySpace" presStyleCnt="0"/>
      <dgm:spPr/>
    </dgm:pt>
    <dgm:pt modelId="{5796A450-ACCF-47F3-AB14-58D05BC160FC}" type="pres">
      <dgm:prSet presAssocID="{39C5026A-70DB-44B0-99E9-240E7EE12322}" presName="parTxOnly" presStyleLbl="node1" presStyleIdx="1" presStyleCnt="3">
        <dgm:presLayoutVars>
          <dgm:chMax val="0"/>
          <dgm:chPref val="0"/>
          <dgm:bulletEnabled val="1"/>
        </dgm:presLayoutVars>
      </dgm:prSet>
      <dgm:spPr/>
      <dgm:t>
        <a:bodyPr/>
        <a:lstStyle/>
        <a:p>
          <a:endParaRPr lang="en-US"/>
        </a:p>
      </dgm:t>
    </dgm:pt>
    <dgm:pt modelId="{2C4266BF-A7A6-472E-AA57-4A8FF254C584}" type="pres">
      <dgm:prSet presAssocID="{2E5475A2-F899-4FAB-AB3A-0505D18E2C8F}" presName="parTxOnlySpace" presStyleCnt="0"/>
      <dgm:spPr/>
    </dgm:pt>
    <dgm:pt modelId="{DA19C7B6-2CC0-4AB1-8ECC-BCAA75C85DFF}" type="pres">
      <dgm:prSet presAssocID="{92D4D07F-124D-4D0D-B352-090442024928}" presName="parTxOnly" presStyleLbl="node1" presStyleIdx="2" presStyleCnt="3">
        <dgm:presLayoutVars>
          <dgm:chMax val="0"/>
          <dgm:chPref val="0"/>
          <dgm:bulletEnabled val="1"/>
        </dgm:presLayoutVars>
      </dgm:prSet>
      <dgm:spPr/>
      <dgm:t>
        <a:bodyPr/>
        <a:lstStyle/>
        <a:p>
          <a:endParaRPr lang="en-US"/>
        </a:p>
      </dgm:t>
    </dgm:pt>
  </dgm:ptLst>
  <dgm:cxnLst>
    <dgm:cxn modelId="{2CCFB7E1-532E-4E32-9FC4-1D51D8325541}" type="presOf" srcId="{39C5026A-70DB-44B0-99E9-240E7EE12322}" destId="{5796A450-ACCF-47F3-AB14-58D05BC160FC}" srcOrd="0" destOrd="0" presId="urn:microsoft.com/office/officeart/2005/8/layout/chevron1"/>
    <dgm:cxn modelId="{186D20B6-C3C1-47F1-BFB2-4C19BB50322B}" srcId="{34DA2E1C-0015-4D0A-9271-50F46B3BC8A9}" destId="{92D4D07F-124D-4D0D-B352-090442024928}" srcOrd="2" destOrd="0" parTransId="{D6A6D522-00F2-4BFA-A8DA-61CE9CAE95DB}" sibTransId="{D4C18A54-B46C-49E1-B3F7-901CB4BA2332}"/>
    <dgm:cxn modelId="{AF9BBD6B-0C50-431F-B4DF-CBEB99E89DF6}" type="presOf" srcId="{92D4D07F-124D-4D0D-B352-090442024928}" destId="{DA19C7B6-2CC0-4AB1-8ECC-BCAA75C85DFF}" srcOrd="0" destOrd="0" presId="urn:microsoft.com/office/officeart/2005/8/layout/chevron1"/>
    <dgm:cxn modelId="{2B570D05-5E16-42D3-A705-6150C885FD22}" srcId="{34DA2E1C-0015-4D0A-9271-50F46B3BC8A9}" destId="{39C5026A-70DB-44B0-99E9-240E7EE12322}" srcOrd="1" destOrd="0" parTransId="{3B4B5825-9D1B-4EF7-BEB4-501FFF1212B7}" sibTransId="{2E5475A2-F899-4FAB-AB3A-0505D18E2C8F}"/>
    <dgm:cxn modelId="{A5DCE7AF-5239-4BE8-8E4E-F610BF93D11F}" type="presOf" srcId="{34DA2E1C-0015-4D0A-9271-50F46B3BC8A9}" destId="{6B655AFE-4055-452C-91A1-35373C7D485F}" srcOrd="0" destOrd="0" presId="urn:microsoft.com/office/officeart/2005/8/layout/chevron1"/>
    <dgm:cxn modelId="{0D3DD417-99A7-4A01-9843-B35F2D94E5D7}" type="presOf" srcId="{B7A7EA82-523F-4CF9-A5EE-B7644BD728C8}" destId="{5E73E2A8-82C3-489B-9C27-4D9F4835CBBB}" srcOrd="0" destOrd="0" presId="urn:microsoft.com/office/officeart/2005/8/layout/chevron1"/>
    <dgm:cxn modelId="{F22C7F00-EA54-4BAA-BAA8-3902A209A289}" srcId="{34DA2E1C-0015-4D0A-9271-50F46B3BC8A9}" destId="{B7A7EA82-523F-4CF9-A5EE-B7644BD728C8}" srcOrd="0" destOrd="0" parTransId="{74C039AF-64ED-4098-99B1-96742542C3A1}" sibTransId="{1EEF7536-549D-4C4C-8608-47F7B5BFA429}"/>
    <dgm:cxn modelId="{52FDE9E0-8777-4A5D-8BA5-D6A80A64C975}" type="presParOf" srcId="{6B655AFE-4055-452C-91A1-35373C7D485F}" destId="{5E73E2A8-82C3-489B-9C27-4D9F4835CBBB}" srcOrd="0" destOrd="0" presId="urn:microsoft.com/office/officeart/2005/8/layout/chevron1"/>
    <dgm:cxn modelId="{8A6A6802-0C41-44EC-AB63-F86F8565A855}" type="presParOf" srcId="{6B655AFE-4055-452C-91A1-35373C7D485F}" destId="{CA7E8DC5-999A-4073-B045-406B3B9DE05B}" srcOrd="1" destOrd="0" presId="urn:microsoft.com/office/officeart/2005/8/layout/chevron1"/>
    <dgm:cxn modelId="{12FB8558-DE68-4797-8777-51F278BD65E9}" type="presParOf" srcId="{6B655AFE-4055-452C-91A1-35373C7D485F}" destId="{5796A450-ACCF-47F3-AB14-58D05BC160FC}" srcOrd="2" destOrd="0" presId="urn:microsoft.com/office/officeart/2005/8/layout/chevron1"/>
    <dgm:cxn modelId="{CF2093D4-32BA-48DD-BB8C-1702D0C7776B}" type="presParOf" srcId="{6B655AFE-4055-452C-91A1-35373C7D485F}" destId="{2C4266BF-A7A6-472E-AA57-4A8FF254C584}" srcOrd="3" destOrd="0" presId="urn:microsoft.com/office/officeart/2005/8/layout/chevron1"/>
    <dgm:cxn modelId="{C82AB3B4-8C67-47E5-B062-A21704EAF2F9}" type="presParOf" srcId="{6B655AFE-4055-452C-91A1-35373C7D485F}" destId="{DA19C7B6-2CC0-4AB1-8ECC-BCAA75C85DFF}"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4DA2E1C-0015-4D0A-9271-50F46B3BC8A9}" type="doc">
      <dgm:prSet loTypeId="urn:microsoft.com/office/officeart/2005/8/layout/chevron1" loCatId="process" qsTypeId="urn:microsoft.com/office/officeart/2005/8/quickstyle/simple1" qsCatId="simple" csTypeId="urn:microsoft.com/office/officeart/2005/8/colors/accent2_4" csCatId="accent2" phldr="1"/>
      <dgm:spPr/>
    </dgm:pt>
    <dgm:pt modelId="{B7A7EA82-523F-4CF9-A5EE-B7644BD728C8}">
      <dgm:prSet phldrT="[Text]" custT="1"/>
      <dgm:spPr>
        <a:solidFill>
          <a:schemeClr val="bg2">
            <a:lumMod val="40000"/>
            <a:lumOff val="60000"/>
          </a:schemeClr>
        </a:solidFill>
      </dgm:spPr>
      <dgm:t>
        <a:bodyPr/>
        <a:lstStyle/>
        <a:p>
          <a:r>
            <a:rPr lang="en-US" sz="1600" dirty="0" smtClean="0"/>
            <a:t>Objective 1: Understand the key drivers of impact of interventions in Ghana</a:t>
          </a:r>
          <a:endParaRPr lang="en-US" sz="1600" dirty="0"/>
        </a:p>
      </dgm:t>
    </dgm:pt>
    <dgm:pt modelId="{74C039AF-64ED-4098-99B1-96742542C3A1}" type="parTrans" cxnId="{F22C7F00-EA54-4BAA-BAA8-3902A209A289}">
      <dgm:prSet/>
      <dgm:spPr/>
      <dgm:t>
        <a:bodyPr/>
        <a:lstStyle/>
        <a:p>
          <a:endParaRPr lang="en-US"/>
        </a:p>
      </dgm:t>
    </dgm:pt>
    <dgm:pt modelId="{1EEF7536-549D-4C4C-8608-47F7B5BFA429}" type="sibTrans" cxnId="{F22C7F00-EA54-4BAA-BAA8-3902A209A289}">
      <dgm:prSet/>
      <dgm:spPr/>
      <dgm:t>
        <a:bodyPr/>
        <a:lstStyle/>
        <a:p>
          <a:endParaRPr lang="en-US"/>
        </a:p>
      </dgm:t>
    </dgm:pt>
    <dgm:pt modelId="{92D4D07F-124D-4D0D-B352-090442024928}">
      <dgm:prSet phldrT="[Text]" custT="1"/>
      <dgm:spPr>
        <a:solidFill>
          <a:schemeClr val="accent2">
            <a:lumMod val="75000"/>
          </a:schemeClr>
        </a:solidFill>
      </dgm:spPr>
      <dgm:t>
        <a:bodyPr/>
        <a:lstStyle/>
        <a:p>
          <a:r>
            <a:rPr lang="en-US" sz="1600" dirty="0" smtClean="0"/>
            <a:t>Objective 3: Simulate the impact of malaria interventions in Ghana in order to support decisions for strategic planning </a:t>
          </a:r>
          <a:endParaRPr lang="en-US" sz="1600" dirty="0"/>
        </a:p>
      </dgm:t>
    </dgm:pt>
    <dgm:pt modelId="{D6A6D522-00F2-4BFA-A8DA-61CE9CAE95DB}" type="parTrans" cxnId="{186D20B6-C3C1-47F1-BFB2-4C19BB50322B}">
      <dgm:prSet/>
      <dgm:spPr/>
      <dgm:t>
        <a:bodyPr/>
        <a:lstStyle/>
        <a:p>
          <a:endParaRPr lang="en-US"/>
        </a:p>
      </dgm:t>
    </dgm:pt>
    <dgm:pt modelId="{D4C18A54-B46C-49E1-B3F7-901CB4BA2332}" type="sibTrans" cxnId="{186D20B6-C3C1-47F1-BFB2-4C19BB50322B}">
      <dgm:prSet/>
      <dgm:spPr/>
      <dgm:t>
        <a:bodyPr/>
        <a:lstStyle/>
        <a:p>
          <a:endParaRPr lang="en-US"/>
        </a:p>
      </dgm:t>
    </dgm:pt>
    <dgm:pt modelId="{39C5026A-70DB-44B0-99E9-240E7EE12322}">
      <dgm:prSet phldrT="[Text]" custT="1"/>
      <dgm:spPr>
        <a:solidFill>
          <a:schemeClr val="bg2">
            <a:lumMod val="40000"/>
            <a:lumOff val="60000"/>
          </a:schemeClr>
        </a:solidFill>
      </dgm:spPr>
      <dgm:t>
        <a:bodyPr/>
        <a:lstStyle/>
        <a:p>
          <a:r>
            <a:rPr lang="en-US" sz="1600" dirty="0" smtClean="0"/>
            <a:t>Objective 2: Develop a novel inference framework for calibrating the OpenMalaria model at a higher spatial resolution</a:t>
          </a:r>
          <a:endParaRPr lang="en-US" sz="1600" dirty="0"/>
        </a:p>
      </dgm:t>
    </dgm:pt>
    <dgm:pt modelId="{2E5475A2-F899-4FAB-AB3A-0505D18E2C8F}" type="sibTrans" cxnId="{2B570D05-5E16-42D3-A705-6150C885FD22}">
      <dgm:prSet/>
      <dgm:spPr/>
      <dgm:t>
        <a:bodyPr/>
        <a:lstStyle/>
        <a:p>
          <a:endParaRPr lang="en-US"/>
        </a:p>
      </dgm:t>
    </dgm:pt>
    <dgm:pt modelId="{3B4B5825-9D1B-4EF7-BEB4-501FFF1212B7}" type="parTrans" cxnId="{2B570D05-5E16-42D3-A705-6150C885FD22}">
      <dgm:prSet/>
      <dgm:spPr/>
      <dgm:t>
        <a:bodyPr/>
        <a:lstStyle/>
        <a:p>
          <a:endParaRPr lang="en-US"/>
        </a:p>
      </dgm:t>
    </dgm:pt>
    <dgm:pt modelId="{6B655AFE-4055-452C-91A1-35373C7D485F}" type="pres">
      <dgm:prSet presAssocID="{34DA2E1C-0015-4D0A-9271-50F46B3BC8A9}" presName="Name0" presStyleCnt="0">
        <dgm:presLayoutVars>
          <dgm:dir/>
          <dgm:animLvl val="lvl"/>
          <dgm:resizeHandles val="exact"/>
        </dgm:presLayoutVars>
      </dgm:prSet>
      <dgm:spPr/>
    </dgm:pt>
    <dgm:pt modelId="{5E73E2A8-82C3-489B-9C27-4D9F4835CBBB}" type="pres">
      <dgm:prSet presAssocID="{B7A7EA82-523F-4CF9-A5EE-B7644BD728C8}" presName="parTxOnly" presStyleLbl="node1" presStyleIdx="0" presStyleCnt="3">
        <dgm:presLayoutVars>
          <dgm:chMax val="0"/>
          <dgm:chPref val="0"/>
          <dgm:bulletEnabled val="1"/>
        </dgm:presLayoutVars>
      </dgm:prSet>
      <dgm:spPr/>
      <dgm:t>
        <a:bodyPr/>
        <a:lstStyle/>
        <a:p>
          <a:endParaRPr lang="en-US"/>
        </a:p>
      </dgm:t>
    </dgm:pt>
    <dgm:pt modelId="{CA7E8DC5-999A-4073-B045-406B3B9DE05B}" type="pres">
      <dgm:prSet presAssocID="{1EEF7536-549D-4C4C-8608-47F7B5BFA429}" presName="parTxOnlySpace" presStyleCnt="0"/>
      <dgm:spPr/>
    </dgm:pt>
    <dgm:pt modelId="{5796A450-ACCF-47F3-AB14-58D05BC160FC}" type="pres">
      <dgm:prSet presAssocID="{39C5026A-70DB-44B0-99E9-240E7EE12322}" presName="parTxOnly" presStyleLbl="node1" presStyleIdx="1" presStyleCnt="3">
        <dgm:presLayoutVars>
          <dgm:chMax val="0"/>
          <dgm:chPref val="0"/>
          <dgm:bulletEnabled val="1"/>
        </dgm:presLayoutVars>
      </dgm:prSet>
      <dgm:spPr/>
      <dgm:t>
        <a:bodyPr/>
        <a:lstStyle/>
        <a:p>
          <a:endParaRPr lang="en-US"/>
        </a:p>
      </dgm:t>
    </dgm:pt>
    <dgm:pt modelId="{2C4266BF-A7A6-472E-AA57-4A8FF254C584}" type="pres">
      <dgm:prSet presAssocID="{2E5475A2-F899-4FAB-AB3A-0505D18E2C8F}" presName="parTxOnlySpace" presStyleCnt="0"/>
      <dgm:spPr/>
    </dgm:pt>
    <dgm:pt modelId="{DA19C7B6-2CC0-4AB1-8ECC-BCAA75C85DFF}" type="pres">
      <dgm:prSet presAssocID="{92D4D07F-124D-4D0D-B352-090442024928}" presName="parTxOnly" presStyleLbl="node1" presStyleIdx="2" presStyleCnt="3">
        <dgm:presLayoutVars>
          <dgm:chMax val="0"/>
          <dgm:chPref val="0"/>
          <dgm:bulletEnabled val="1"/>
        </dgm:presLayoutVars>
      </dgm:prSet>
      <dgm:spPr/>
      <dgm:t>
        <a:bodyPr/>
        <a:lstStyle/>
        <a:p>
          <a:endParaRPr lang="en-US"/>
        </a:p>
      </dgm:t>
    </dgm:pt>
  </dgm:ptLst>
  <dgm:cxnLst>
    <dgm:cxn modelId="{2CCFB7E1-532E-4E32-9FC4-1D51D8325541}" type="presOf" srcId="{39C5026A-70DB-44B0-99E9-240E7EE12322}" destId="{5796A450-ACCF-47F3-AB14-58D05BC160FC}" srcOrd="0" destOrd="0" presId="urn:microsoft.com/office/officeart/2005/8/layout/chevron1"/>
    <dgm:cxn modelId="{186D20B6-C3C1-47F1-BFB2-4C19BB50322B}" srcId="{34DA2E1C-0015-4D0A-9271-50F46B3BC8A9}" destId="{92D4D07F-124D-4D0D-B352-090442024928}" srcOrd="2" destOrd="0" parTransId="{D6A6D522-00F2-4BFA-A8DA-61CE9CAE95DB}" sibTransId="{D4C18A54-B46C-49E1-B3F7-901CB4BA2332}"/>
    <dgm:cxn modelId="{AF9BBD6B-0C50-431F-B4DF-CBEB99E89DF6}" type="presOf" srcId="{92D4D07F-124D-4D0D-B352-090442024928}" destId="{DA19C7B6-2CC0-4AB1-8ECC-BCAA75C85DFF}" srcOrd="0" destOrd="0" presId="urn:microsoft.com/office/officeart/2005/8/layout/chevron1"/>
    <dgm:cxn modelId="{2B570D05-5E16-42D3-A705-6150C885FD22}" srcId="{34DA2E1C-0015-4D0A-9271-50F46B3BC8A9}" destId="{39C5026A-70DB-44B0-99E9-240E7EE12322}" srcOrd="1" destOrd="0" parTransId="{3B4B5825-9D1B-4EF7-BEB4-501FFF1212B7}" sibTransId="{2E5475A2-F899-4FAB-AB3A-0505D18E2C8F}"/>
    <dgm:cxn modelId="{A5DCE7AF-5239-4BE8-8E4E-F610BF93D11F}" type="presOf" srcId="{34DA2E1C-0015-4D0A-9271-50F46B3BC8A9}" destId="{6B655AFE-4055-452C-91A1-35373C7D485F}" srcOrd="0" destOrd="0" presId="urn:microsoft.com/office/officeart/2005/8/layout/chevron1"/>
    <dgm:cxn modelId="{0D3DD417-99A7-4A01-9843-B35F2D94E5D7}" type="presOf" srcId="{B7A7EA82-523F-4CF9-A5EE-B7644BD728C8}" destId="{5E73E2A8-82C3-489B-9C27-4D9F4835CBBB}" srcOrd="0" destOrd="0" presId="urn:microsoft.com/office/officeart/2005/8/layout/chevron1"/>
    <dgm:cxn modelId="{F22C7F00-EA54-4BAA-BAA8-3902A209A289}" srcId="{34DA2E1C-0015-4D0A-9271-50F46B3BC8A9}" destId="{B7A7EA82-523F-4CF9-A5EE-B7644BD728C8}" srcOrd="0" destOrd="0" parTransId="{74C039AF-64ED-4098-99B1-96742542C3A1}" sibTransId="{1EEF7536-549D-4C4C-8608-47F7B5BFA429}"/>
    <dgm:cxn modelId="{52FDE9E0-8777-4A5D-8BA5-D6A80A64C975}" type="presParOf" srcId="{6B655AFE-4055-452C-91A1-35373C7D485F}" destId="{5E73E2A8-82C3-489B-9C27-4D9F4835CBBB}" srcOrd="0" destOrd="0" presId="urn:microsoft.com/office/officeart/2005/8/layout/chevron1"/>
    <dgm:cxn modelId="{8A6A6802-0C41-44EC-AB63-F86F8565A855}" type="presParOf" srcId="{6B655AFE-4055-452C-91A1-35373C7D485F}" destId="{CA7E8DC5-999A-4073-B045-406B3B9DE05B}" srcOrd="1" destOrd="0" presId="urn:microsoft.com/office/officeart/2005/8/layout/chevron1"/>
    <dgm:cxn modelId="{12FB8558-DE68-4797-8777-51F278BD65E9}" type="presParOf" srcId="{6B655AFE-4055-452C-91A1-35373C7D485F}" destId="{5796A450-ACCF-47F3-AB14-58D05BC160FC}" srcOrd="2" destOrd="0" presId="urn:microsoft.com/office/officeart/2005/8/layout/chevron1"/>
    <dgm:cxn modelId="{CF2093D4-32BA-48DD-BB8C-1702D0C7776B}" type="presParOf" srcId="{6B655AFE-4055-452C-91A1-35373C7D485F}" destId="{2C4266BF-A7A6-472E-AA57-4A8FF254C584}" srcOrd="3" destOrd="0" presId="urn:microsoft.com/office/officeart/2005/8/layout/chevron1"/>
    <dgm:cxn modelId="{C82AB3B4-8C67-47E5-B062-A21704EAF2F9}" type="presParOf" srcId="{6B655AFE-4055-452C-91A1-35373C7D485F}" destId="{DA19C7B6-2CC0-4AB1-8ECC-BCAA75C85DFF}"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4E15B5-1992-433F-AE7A-2BD232D5F9C1}">
      <dsp:nvSpPr>
        <dsp:cNvPr id="0" name=""/>
        <dsp:cNvSpPr/>
      </dsp:nvSpPr>
      <dsp:spPr>
        <a:xfrm>
          <a:off x="3239560" y="0"/>
          <a:ext cx="4876800" cy="2348032"/>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dirty="0" smtClean="0"/>
            <a:t>Investigates the impacts of random input values of model parameters on model outputs</a:t>
          </a:r>
          <a:endParaRPr lang="en-US" sz="2800" kern="1200" dirty="0"/>
        </a:p>
      </dsp:txBody>
      <dsp:txXfrm>
        <a:off x="3239560" y="293504"/>
        <a:ext cx="3996288" cy="1761024"/>
      </dsp:txXfrm>
    </dsp:sp>
    <dsp:sp modelId="{40BCD131-2073-4EDE-9795-02928553C85F}">
      <dsp:nvSpPr>
        <dsp:cNvPr id="0" name=""/>
        <dsp:cNvSpPr/>
      </dsp:nvSpPr>
      <dsp:spPr>
        <a:xfrm>
          <a:off x="0" y="0"/>
          <a:ext cx="3251200" cy="2348032"/>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kern="1200" dirty="0" smtClean="0"/>
            <a:t>Forward Propagation of Uncertainty</a:t>
          </a:r>
          <a:endParaRPr lang="en-US" sz="2800" kern="1200" dirty="0"/>
        </a:p>
      </dsp:txBody>
      <dsp:txXfrm>
        <a:off x="114621" y="114621"/>
        <a:ext cx="3021958" cy="2118790"/>
      </dsp:txXfrm>
    </dsp:sp>
    <dsp:sp modelId="{AF97286F-DE4D-4D21-923A-0C8E3289DDB2}">
      <dsp:nvSpPr>
        <dsp:cNvPr id="0" name=""/>
        <dsp:cNvSpPr/>
      </dsp:nvSpPr>
      <dsp:spPr>
        <a:xfrm>
          <a:off x="3251199" y="2583438"/>
          <a:ext cx="4876800" cy="2348032"/>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dirty="0" smtClean="0"/>
            <a:t>using experimental data to learn about the sources of modeling uncertainty</a:t>
          </a:r>
          <a:endParaRPr lang="en-US" sz="2800" kern="1200" dirty="0"/>
        </a:p>
      </dsp:txBody>
      <dsp:txXfrm>
        <a:off x="3251199" y="2876942"/>
        <a:ext cx="3996288" cy="1761024"/>
      </dsp:txXfrm>
    </dsp:sp>
    <dsp:sp modelId="{116AF5B1-E45C-4738-8EBC-F071EB4E45FD}">
      <dsp:nvSpPr>
        <dsp:cNvPr id="0" name=""/>
        <dsp:cNvSpPr/>
      </dsp:nvSpPr>
      <dsp:spPr>
        <a:xfrm>
          <a:off x="0" y="2583438"/>
          <a:ext cx="3251200" cy="2348032"/>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kern="1200" dirty="0" smtClean="0"/>
            <a:t>Inverse Uncertainty Quantification</a:t>
          </a:r>
          <a:endParaRPr lang="en-US" sz="2800" kern="1200" dirty="0"/>
        </a:p>
      </dsp:txBody>
      <dsp:txXfrm>
        <a:off x="114621" y="2698059"/>
        <a:ext cx="3021958" cy="21187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3E2A8-82C3-489B-9C27-4D9F4835CBBB}">
      <dsp:nvSpPr>
        <dsp:cNvPr id="0" name=""/>
        <dsp:cNvSpPr/>
      </dsp:nvSpPr>
      <dsp:spPr>
        <a:xfrm>
          <a:off x="3571" y="0"/>
          <a:ext cx="4351734" cy="981314"/>
        </a:xfrm>
        <a:prstGeom prst="chevron">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1: Understand the key drivers of impact of malaria interventions in Ghana</a:t>
          </a:r>
          <a:endParaRPr lang="en-US" sz="1600" kern="1200" dirty="0"/>
        </a:p>
      </dsp:txBody>
      <dsp:txXfrm>
        <a:off x="494228" y="0"/>
        <a:ext cx="3370420" cy="981314"/>
      </dsp:txXfrm>
    </dsp:sp>
    <dsp:sp modelId="{5796A450-ACCF-47F3-AB14-58D05BC160FC}">
      <dsp:nvSpPr>
        <dsp:cNvPr id="0" name=""/>
        <dsp:cNvSpPr/>
      </dsp:nvSpPr>
      <dsp:spPr>
        <a:xfrm>
          <a:off x="3920132"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2: Develop a novel inference framework for calibrating the OpenMalaria model at a higher spatial resolution</a:t>
          </a:r>
          <a:endParaRPr lang="en-US" sz="1600" kern="1200" dirty="0"/>
        </a:p>
      </dsp:txBody>
      <dsp:txXfrm>
        <a:off x="4410789" y="0"/>
        <a:ext cx="3370420" cy="981314"/>
      </dsp:txXfrm>
    </dsp:sp>
    <dsp:sp modelId="{DA19C7B6-2CC0-4AB1-8ECC-BCAA75C85DFF}">
      <dsp:nvSpPr>
        <dsp:cNvPr id="0" name=""/>
        <dsp:cNvSpPr/>
      </dsp:nvSpPr>
      <dsp:spPr>
        <a:xfrm>
          <a:off x="7836693"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3: Simulate the impact of malaria interventions in Ghana in order to support decisions for strategic planning </a:t>
          </a:r>
          <a:endParaRPr lang="en-US" sz="1600" kern="1200" dirty="0"/>
        </a:p>
      </dsp:txBody>
      <dsp:txXfrm>
        <a:off x="8327350" y="0"/>
        <a:ext cx="3370420" cy="9813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3E2A8-82C3-489B-9C27-4D9F4835CBBB}">
      <dsp:nvSpPr>
        <dsp:cNvPr id="0" name=""/>
        <dsp:cNvSpPr/>
      </dsp:nvSpPr>
      <dsp:spPr>
        <a:xfrm>
          <a:off x="3571"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1: Understand the key drivers of impact of interventions in Ghana</a:t>
          </a:r>
          <a:endParaRPr lang="en-US" sz="1600" kern="1200" dirty="0"/>
        </a:p>
      </dsp:txBody>
      <dsp:txXfrm>
        <a:off x="494228" y="0"/>
        <a:ext cx="3370420" cy="981314"/>
      </dsp:txXfrm>
    </dsp:sp>
    <dsp:sp modelId="{5796A450-ACCF-47F3-AB14-58D05BC160FC}">
      <dsp:nvSpPr>
        <dsp:cNvPr id="0" name=""/>
        <dsp:cNvSpPr/>
      </dsp:nvSpPr>
      <dsp:spPr>
        <a:xfrm>
          <a:off x="3920132" y="0"/>
          <a:ext cx="4351734" cy="981314"/>
        </a:xfrm>
        <a:prstGeom prst="chevron">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2: Develop an efficient inference framework for calibrating the OpenMalaria model at a higher spatial resolution</a:t>
          </a:r>
          <a:endParaRPr lang="en-US" sz="1600" kern="1200" dirty="0"/>
        </a:p>
      </dsp:txBody>
      <dsp:txXfrm>
        <a:off x="4410789" y="0"/>
        <a:ext cx="3370420" cy="981314"/>
      </dsp:txXfrm>
    </dsp:sp>
    <dsp:sp modelId="{DA19C7B6-2CC0-4AB1-8ECC-BCAA75C85DFF}">
      <dsp:nvSpPr>
        <dsp:cNvPr id="0" name=""/>
        <dsp:cNvSpPr/>
      </dsp:nvSpPr>
      <dsp:spPr>
        <a:xfrm>
          <a:off x="7836693"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3: Simulate the impact of malaria interventions in Ghana in order to support decisions for strategic planning </a:t>
          </a:r>
          <a:endParaRPr lang="en-US" sz="1600" kern="1200" dirty="0"/>
        </a:p>
      </dsp:txBody>
      <dsp:txXfrm>
        <a:off x="8327350" y="0"/>
        <a:ext cx="3370420" cy="9813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3E2A8-82C3-489B-9C27-4D9F4835CBBB}">
      <dsp:nvSpPr>
        <dsp:cNvPr id="0" name=""/>
        <dsp:cNvSpPr/>
      </dsp:nvSpPr>
      <dsp:spPr>
        <a:xfrm>
          <a:off x="3571"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1: Understand the key drivers of impact of interventions in Ghana</a:t>
          </a:r>
          <a:endParaRPr lang="en-US" sz="1600" kern="1200" dirty="0"/>
        </a:p>
      </dsp:txBody>
      <dsp:txXfrm>
        <a:off x="494228" y="0"/>
        <a:ext cx="3370420" cy="981314"/>
      </dsp:txXfrm>
    </dsp:sp>
    <dsp:sp modelId="{5796A450-ACCF-47F3-AB14-58D05BC160FC}">
      <dsp:nvSpPr>
        <dsp:cNvPr id="0" name=""/>
        <dsp:cNvSpPr/>
      </dsp:nvSpPr>
      <dsp:spPr>
        <a:xfrm>
          <a:off x="3920132"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2: Develop a novel inference framework for calibrating the OpenMalaria model at a higher spatial resolution</a:t>
          </a:r>
          <a:endParaRPr lang="en-US" sz="1600" kern="1200" dirty="0"/>
        </a:p>
      </dsp:txBody>
      <dsp:txXfrm>
        <a:off x="4410789" y="0"/>
        <a:ext cx="3370420" cy="981314"/>
      </dsp:txXfrm>
    </dsp:sp>
    <dsp:sp modelId="{DA19C7B6-2CC0-4AB1-8ECC-BCAA75C85DFF}">
      <dsp:nvSpPr>
        <dsp:cNvPr id="0" name=""/>
        <dsp:cNvSpPr/>
      </dsp:nvSpPr>
      <dsp:spPr>
        <a:xfrm>
          <a:off x="7836693" y="0"/>
          <a:ext cx="4351734" cy="981314"/>
        </a:xfrm>
        <a:prstGeom prst="chevron">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3: Simulate the impact of malaria interventions in Ghana in order to support decisions for strategic planning </a:t>
          </a:r>
          <a:endParaRPr lang="en-US" sz="1600" kern="1200" dirty="0"/>
        </a:p>
      </dsp:txBody>
      <dsp:txXfrm>
        <a:off x="8327350" y="0"/>
        <a:ext cx="3370420" cy="981314"/>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C4CD10-4918-4E51-B6DD-022074F71AA5}" type="datetimeFigureOut">
              <a:rPr lang="de-CH" smtClean="0"/>
              <a:t>06.05.2025</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245CD5-42B9-4DA6-8A94-762928A15207}" type="slidenum">
              <a:rPr lang="de-CH" smtClean="0"/>
              <a:t>‹#›</a:t>
            </a:fld>
            <a:endParaRPr lang="de-CH"/>
          </a:p>
        </p:txBody>
      </p:sp>
    </p:spTree>
    <p:extLst>
      <p:ext uri="{BB962C8B-B14F-4D97-AF65-F5344CB8AC3E}">
        <p14:creationId xmlns:p14="http://schemas.microsoft.com/office/powerpoint/2010/main" val="2000171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2e9c2c056fb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0" name="Google Shape;500;g2e9c2c056f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1243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Font typeface="Arial" panose="020B0604020202020204" pitchFamily="34" charset="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836276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398173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e9c2c056fb_0_144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a:p>
        </p:txBody>
      </p:sp>
      <p:sp>
        <p:nvSpPr>
          <p:cNvPr id="525" name="Google Shape;525;g2e9c2c056fb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643475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e9c2c056fb_0_144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a:p>
        </p:txBody>
      </p:sp>
      <p:sp>
        <p:nvSpPr>
          <p:cNvPr id="525" name="Google Shape;525;g2e9c2c056fb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427942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e9c2c056fb_0_144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a:p>
        </p:txBody>
      </p:sp>
      <p:sp>
        <p:nvSpPr>
          <p:cNvPr id="525" name="Google Shape;525;g2e9c2c056fb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942096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en-US" dirty="0" smtClean="0"/>
              <a:t>To address uncertainties, we identify and quantify the various sources of uncertainty</a:t>
            </a:r>
            <a:r>
              <a:rPr lang="en-US" baseline="0" dirty="0" smtClean="0"/>
              <a:t> in intervention modeling</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061700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en-US" dirty="0" smtClean="0"/>
              <a:t>To address uncertainties, we identify and quantify the various sources of uncertainty</a:t>
            </a:r>
            <a:r>
              <a:rPr lang="en-US" baseline="0" dirty="0" smtClean="0"/>
              <a:t> in intervention modeling</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0432230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en-US" dirty="0" smtClean="0"/>
              <a:t>To address uncertainties, we identify and quantify the various sources of uncertainty</a:t>
            </a:r>
            <a:r>
              <a:rPr lang="en-US" baseline="0" dirty="0" smtClean="0"/>
              <a:t> in intervention modeling</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6078149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en-US" dirty="0" smtClean="0"/>
              <a:t>To address uncertainties, we identify and quantify the various sources of uncertainty</a:t>
            </a:r>
            <a:r>
              <a:rPr lang="en-US" baseline="0" dirty="0" smtClean="0"/>
              <a:t> in intervention modeling</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954350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Font typeface="Arial" panose="020B0604020202020204" pitchFamily="34" charset="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055059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en-US" dirty="0" smtClean="0"/>
              <a:t>To address uncertainties, we identify and quantify the various sources of uncertainty</a:t>
            </a:r>
            <a:r>
              <a:rPr lang="en-US" baseline="0" dirty="0" smtClean="0"/>
              <a:t> in intervention modeling</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00023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600824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de-C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de-CH"/>
          </a:p>
        </p:txBody>
      </p:sp>
      <p:sp>
        <p:nvSpPr>
          <p:cNvPr id="4" name="Date Placeholder 3"/>
          <p:cNvSpPr>
            <a:spLocks noGrp="1"/>
          </p:cNvSpPr>
          <p:nvPr>
            <p:ph type="dt" sz="half" idx="10"/>
          </p:nvPr>
        </p:nvSpPr>
        <p:spPr/>
        <p:txBody>
          <a:bodyPr/>
          <a:lstStyle/>
          <a:p>
            <a:fld id="{6B28DE63-57E7-4993-9E07-8E358BA50017}" type="datetimeFigureOut">
              <a:rPr lang="de-CH" smtClean="0"/>
              <a:t>06.05.2025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2025849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6B28DE63-57E7-4993-9E07-8E358BA50017}" type="datetimeFigureOut">
              <a:rPr lang="de-CH" smtClean="0"/>
              <a:t>06.05.2025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528580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de-C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B28DE63-57E7-4993-9E07-8E358BA50017}" type="datetimeFigureOut">
              <a:rPr lang="de-CH" smtClean="0"/>
              <a:t>06.05.2025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788634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5" name="Date Placeholder 4"/>
          <p:cNvSpPr>
            <a:spLocks noGrp="1"/>
          </p:cNvSpPr>
          <p:nvPr>
            <p:ph type="dt" sz="half" idx="10"/>
          </p:nvPr>
        </p:nvSpPr>
        <p:spPr/>
        <p:txBody>
          <a:bodyPr/>
          <a:lstStyle/>
          <a:p>
            <a:fld id="{6B28DE63-57E7-4993-9E07-8E358BA50017}" type="datetimeFigureOut">
              <a:rPr lang="de-CH" smtClean="0"/>
              <a:t>06.05.2025</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2882449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de-C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7" name="Date Placeholder 6"/>
          <p:cNvSpPr>
            <a:spLocks noGrp="1"/>
          </p:cNvSpPr>
          <p:nvPr>
            <p:ph type="dt" sz="half" idx="10"/>
          </p:nvPr>
        </p:nvSpPr>
        <p:spPr/>
        <p:txBody>
          <a:bodyPr/>
          <a:lstStyle/>
          <a:p>
            <a:fld id="{6B28DE63-57E7-4993-9E07-8E358BA50017}" type="datetimeFigureOut">
              <a:rPr lang="de-CH" smtClean="0"/>
              <a:t>06.05.2025</a:t>
            </a:fld>
            <a:endParaRPr lang="de-CH"/>
          </a:p>
        </p:txBody>
      </p:sp>
      <p:sp>
        <p:nvSpPr>
          <p:cNvPr id="8" name="Footer Placeholder 7"/>
          <p:cNvSpPr>
            <a:spLocks noGrp="1"/>
          </p:cNvSpPr>
          <p:nvPr>
            <p:ph type="ftr" sz="quarter" idx="11"/>
          </p:nvPr>
        </p:nvSpPr>
        <p:spPr/>
        <p:txBody>
          <a:bodyPr/>
          <a:lstStyle/>
          <a:p>
            <a:endParaRPr lang="de-CH"/>
          </a:p>
        </p:txBody>
      </p:sp>
      <p:sp>
        <p:nvSpPr>
          <p:cNvPr id="9" name="Slide Number Placeholder 8"/>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2526049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Date Placeholder 2"/>
          <p:cNvSpPr>
            <a:spLocks noGrp="1"/>
          </p:cNvSpPr>
          <p:nvPr>
            <p:ph type="dt" sz="half" idx="10"/>
          </p:nvPr>
        </p:nvSpPr>
        <p:spPr/>
        <p:txBody>
          <a:bodyPr/>
          <a:lstStyle/>
          <a:p>
            <a:fld id="{6B28DE63-57E7-4993-9E07-8E358BA50017}" type="datetimeFigureOut">
              <a:rPr lang="de-CH" smtClean="0"/>
              <a:t>06.05.2025</a:t>
            </a:fld>
            <a:endParaRPr lang="de-CH"/>
          </a:p>
        </p:txBody>
      </p:sp>
      <p:sp>
        <p:nvSpPr>
          <p:cNvPr id="4" name="Footer Placeholder 3"/>
          <p:cNvSpPr>
            <a:spLocks noGrp="1"/>
          </p:cNvSpPr>
          <p:nvPr>
            <p:ph type="ftr" sz="quarter" idx="11"/>
          </p:nvPr>
        </p:nvSpPr>
        <p:spPr/>
        <p:txBody>
          <a:bodyPr/>
          <a:lstStyle/>
          <a:p>
            <a:endParaRPr lang="de-CH"/>
          </a:p>
        </p:txBody>
      </p:sp>
      <p:sp>
        <p:nvSpPr>
          <p:cNvPr id="5" name="Slide Number Placeholder 4"/>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1955793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28DE63-57E7-4993-9E07-8E358BA50017}" type="datetimeFigureOut">
              <a:rPr lang="de-CH" smtClean="0"/>
              <a:t>06.05.2025</a:t>
            </a:fld>
            <a:endParaRPr lang="de-CH"/>
          </a:p>
        </p:txBody>
      </p:sp>
      <p:sp>
        <p:nvSpPr>
          <p:cNvPr id="3" name="Footer Placeholder 2"/>
          <p:cNvSpPr>
            <a:spLocks noGrp="1"/>
          </p:cNvSpPr>
          <p:nvPr>
            <p:ph type="ftr" sz="quarter" idx="11"/>
          </p:nvPr>
        </p:nvSpPr>
        <p:spPr/>
        <p:txBody>
          <a:bodyPr/>
          <a:lstStyle/>
          <a:p>
            <a:endParaRPr lang="de-CH"/>
          </a:p>
        </p:txBody>
      </p:sp>
      <p:sp>
        <p:nvSpPr>
          <p:cNvPr id="4" name="Slide Number Placeholder 3"/>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629032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de-C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B28DE63-57E7-4993-9E07-8E358BA50017}" type="datetimeFigureOut">
              <a:rPr lang="de-CH" smtClean="0"/>
              <a:t>06.05.2025</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17434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de-C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B28DE63-57E7-4993-9E07-8E358BA50017}" type="datetimeFigureOut">
              <a:rPr lang="de-CH" smtClean="0"/>
              <a:t>06.05.2025</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738766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6B28DE63-57E7-4993-9E07-8E358BA50017}" type="datetimeFigureOut">
              <a:rPr lang="de-CH" smtClean="0"/>
              <a:t>06.05.2025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2547732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de-C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6B28DE63-57E7-4993-9E07-8E358BA50017}" type="datetimeFigureOut">
              <a:rPr lang="de-CH" smtClean="0"/>
              <a:t>06.05.2025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25514890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Cover">
  <p:cSld name="Cover">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5186289" y="3621023"/>
            <a:ext cx="5935600" cy="1166800"/>
          </a:xfrm>
          <a:prstGeom prst="rect">
            <a:avLst/>
          </a:prstGeom>
          <a:noFill/>
          <a:ln>
            <a:noFill/>
          </a:ln>
        </p:spPr>
        <p:txBody>
          <a:bodyPr spcFirstLastPara="1" wrap="square" lIns="0" tIns="34275" rIns="68575" bIns="34275" anchor="b" anchorCtr="0">
            <a:noAutofit/>
          </a:bodyPr>
          <a:lstStyle>
            <a:lvl1pPr marL="609585" lvl="0" indent="-304792" algn="l" rtl="0">
              <a:lnSpc>
                <a:spcPct val="100000"/>
              </a:lnSpc>
              <a:spcBef>
                <a:spcPts val="400"/>
              </a:spcBef>
              <a:spcAft>
                <a:spcPts val="0"/>
              </a:spcAft>
              <a:buSzPts val="3500"/>
              <a:buNone/>
              <a:defRPr sz="3733">
                <a:solidFill>
                  <a:schemeClr val="accent3"/>
                </a:solidFill>
              </a:defRPr>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sp>
        <p:nvSpPr>
          <p:cNvPr id="52" name="Google Shape;52;p13"/>
          <p:cNvSpPr txBox="1">
            <a:spLocks noGrp="1"/>
          </p:cNvSpPr>
          <p:nvPr>
            <p:ph type="body" idx="2"/>
          </p:nvPr>
        </p:nvSpPr>
        <p:spPr>
          <a:xfrm>
            <a:off x="5186292" y="5443833"/>
            <a:ext cx="5935600" cy="383200"/>
          </a:xfrm>
          <a:prstGeom prst="rect">
            <a:avLst/>
          </a:prstGeom>
          <a:noFill/>
          <a:ln>
            <a:noFill/>
          </a:ln>
        </p:spPr>
        <p:txBody>
          <a:bodyPr spcFirstLastPara="1" wrap="square" lIns="0" tIns="34275" rIns="68575" bIns="34275" anchor="t" anchorCtr="0">
            <a:noAutofit/>
          </a:bodyPr>
          <a:lstStyle>
            <a:lvl1pPr marL="609585" lvl="0" indent="-304792" algn="l" rtl="0">
              <a:lnSpc>
                <a:spcPct val="100000"/>
              </a:lnSpc>
              <a:spcBef>
                <a:spcPts val="400"/>
              </a:spcBef>
              <a:spcAft>
                <a:spcPts val="0"/>
              </a:spcAft>
              <a:buSzPts val="2000"/>
              <a:buNone/>
              <a:defRPr sz="2133"/>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pic>
        <p:nvPicPr>
          <p:cNvPr id="53" name="Google Shape;53;p13"/>
          <p:cNvPicPr preferRelativeResize="0"/>
          <p:nvPr/>
        </p:nvPicPr>
        <p:blipFill rotWithShape="1">
          <a:blip r:embed="rId2">
            <a:alphaModFix/>
          </a:blip>
          <a:srcRect b="52283"/>
          <a:stretch/>
        </p:blipFill>
        <p:spPr>
          <a:xfrm>
            <a:off x="5203088" y="2168490"/>
            <a:ext cx="4134489" cy="1142057"/>
          </a:xfrm>
          <a:prstGeom prst="rect">
            <a:avLst/>
          </a:prstGeom>
          <a:noFill/>
          <a:ln>
            <a:noFill/>
          </a:ln>
        </p:spPr>
      </p:pic>
      <p:pic>
        <p:nvPicPr>
          <p:cNvPr id="54" name="Google Shape;54;p13"/>
          <p:cNvPicPr preferRelativeResize="0"/>
          <p:nvPr/>
        </p:nvPicPr>
        <p:blipFill rotWithShape="1">
          <a:blip r:embed="rId3">
            <a:alphaModFix/>
          </a:blip>
          <a:srcRect l="38525" t="1212" b="236"/>
          <a:stretch/>
        </p:blipFill>
        <p:spPr>
          <a:xfrm>
            <a:off x="1" y="1"/>
            <a:ext cx="4215433" cy="6858001"/>
          </a:xfrm>
          <a:prstGeom prst="rect">
            <a:avLst/>
          </a:prstGeom>
          <a:noFill/>
          <a:ln>
            <a:noFill/>
          </a:ln>
        </p:spPr>
      </p:pic>
      <p:sp>
        <p:nvSpPr>
          <p:cNvPr id="55" name="Google Shape;55;p13"/>
          <p:cNvSpPr txBox="1">
            <a:spLocks noGrp="1"/>
          </p:cNvSpPr>
          <p:nvPr>
            <p:ph type="body" idx="3"/>
          </p:nvPr>
        </p:nvSpPr>
        <p:spPr>
          <a:xfrm>
            <a:off x="5186289" y="4921157"/>
            <a:ext cx="5935600" cy="466400"/>
          </a:xfrm>
          <a:prstGeom prst="rect">
            <a:avLst/>
          </a:prstGeom>
          <a:noFill/>
          <a:ln>
            <a:noFill/>
          </a:ln>
        </p:spPr>
        <p:txBody>
          <a:bodyPr spcFirstLastPara="1" wrap="square" lIns="0" tIns="34275" rIns="68575" bIns="34275" anchor="t" anchorCtr="0">
            <a:noAutofit/>
          </a:bodyPr>
          <a:lstStyle>
            <a:lvl1pPr marL="609585" lvl="0" indent="-304792" algn="l" rtl="0">
              <a:lnSpc>
                <a:spcPct val="93000"/>
              </a:lnSpc>
              <a:spcBef>
                <a:spcPts val="400"/>
              </a:spcBef>
              <a:spcAft>
                <a:spcPts val="0"/>
              </a:spcAft>
              <a:buSzPts val="2500"/>
              <a:buNone/>
              <a:defRPr sz="2667">
                <a:solidFill>
                  <a:schemeClr val="accent2"/>
                </a:solidFill>
                <a:latin typeface="Arial"/>
                <a:ea typeface="Arial"/>
                <a:cs typeface="Arial"/>
                <a:sym typeface="Arial"/>
              </a:defRPr>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spTree>
    <p:extLst>
      <p:ext uri="{BB962C8B-B14F-4D97-AF65-F5344CB8AC3E}">
        <p14:creationId xmlns:p14="http://schemas.microsoft.com/office/powerpoint/2010/main" val="4070205463"/>
      </p:ext>
    </p:extLst>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290"/>
        <p:cNvGrpSpPr/>
        <p:nvPr/>
      </p:nvGrpSpPr>
      <p:grpSpPr>
        <a:xfrm>
          <a:off x="0" y="0"/>
          <a:ext cx="0" cy="0"/>
          <a:chOff x="0" y="0"/>
          <a:chExt cx="0" cy="0"/>
        </a:xfrm>
      </p:grpSpPr>
      <p:sp>
        <p:nvSpPr>
          <p:cNvPr id="291" name="Google Shape;291;p40"/>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Palatino Linotype"/>
              <a:buNone/>
              <a:defRPr>
                <a:solidFill>
                  <a:schemeClr val="accent1"/>
                </a:solidFill>
                <a:latin typeface="Palatino Linotype"/>
                <a:ea typeface="Palatino Linotype"/>
                <a:cs typeface="Palatino Linotype"/>
                <a:sym typeface="Palatino Linotyp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92" name="Google Shape;292;p40"/>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0"/>
              </a:spcBef>
              <a:spcAft>
                <a:spcPts val="0"/>
              </a:spcAft>
              <a:buSzPts val="2250"/>
              <a:buNone/>
              <a:defRPr>
                <a:latin typeface="Palatino Linotype"/>
                <a:ea typeface="Palatino Linotype"/>
                <a:cs typeface="Palatino Linotype"/>
                <a:sym typeface="Palatino Linotype"/>
              </a:defRPr>
            </a:lvl1pPr>
            <a:lvl2pPr marL="1219170" lvl="1" indent="-304792" algn="l" rtl="0">
              <a:lnSpc>
                <a:spcPct val="100000"/>
              </a:lnSpc>
              <a:spcBef>
                <a:spcPts val="800"/>
              </a:spcBef>
              <a:spcAft>
                <a:spcPts val="0"/>
              </a:spcAft>
              <a:buSzPts val="2000"/>
              <a:buNone/>
              <a:defRPr/>
            </a:lvl2pPr>
            <a:lvl3pPr marL="1828754" lvl="2" indent="-304792" algn="l" rtl="0">
              <a:lnSpc>
                <a:spcPct val="100000"/>
              </a:lnSpc>
              <a:spcBef>
                <a:spcPts val="400"/>
              </a:spcBef>
              <a:spcAft>
                <a:spcPts val="0"/>
              </a:spcAft>
              <a:buSzPts val="2000"/>
              <a:buNone/>
              <a:defRPr/>
            </a:lvl3pPr>
            <a:lvl4pPr marL="2438339" lvl="3" indent="-304792" algn="l" rtl="0">
              <a:lnSpc>
                <a:spcPct val="100000"/>
              </a:lnSpc>
              <a:spcBef>
                <a:spcPts val="400"/>
              </a:spcBef>
              <a:spcAft>
                <a:spcPts val="0"/>
              </a:spcAft>
              <a:buSzPts val="2000"/>
              <a:buNone/>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293" name="Google Shape;293;p40"/>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2250"/>
              <a:buFont typeface="Arial"/>
              <a:buNone/>
              <a:defRPr sz="2400" b="1">
                <a:solidFill>
                  <a:srgbClr val="222222"/>
                </a:solidFill>
                <a:latin typeface="Palatino Linotype"/>
                <a:ea typeface="Palatino Linotype"/>
                <a:cs typeface="Palatino Linotype"/>
                <a:sym typeface="Palatino Linotype"/>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294" name="Google Shape;294;p40"/>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
        <p:nvSpPr>
          <p:cNvPr id="295" name="Google Shape;295;p40"/>
          <p:cNvSpPr/>
          <p:nvPr/>
        </p:nvSpPr>
        <p:spPr>
          <a:xfrm>
            <a:off x="2844800" y="6170716"/>
            <a:ext cx="8229600" cy="509600"/>
          </a:xfrm>
          <a:prstGeom prst="rect">
            <a:avLst/>
          </a:prstGeom>
          <a:solidFill>
            <a:schemeClr val="lt1"/>
          </a:solidFill>
          <a:ln>
            <a:noFill/>
          </a:ln>
        </p:spPr>
        <p:txBody>
          <a:bodyPr spcFirstLastPara="1" wrap="square" lIns="121900" tIns="60933" rIns="121900" bIns="60933" anchor="ctr" anchorCtr="0">
            <a:noAutofit/>
          </a:bodyPr>
          <a:lstStyle/>
          <a:p>
            <a:pPr marL="0" marR="0" lvl="0" indent="0" algn="ctr" rtl="0">
              <a:lnSpc>
                <a:spcPct val="93000"/>
              </a:lnSpc>
              <a:spcBef>
                <a:spcPts val="0"/>
              </a:spcBef>
              <a:spcAft>
                <a:spcPts val="0"/>
              </a:spcAft>
              <a:buClr>
                <a:srgbClr val="000000"/>
              </a:buClr>
              <a:buSzPts val="1800"/>
              <a:buFont typeface="Arial"/>
              <a:buNone/>
            </a:pPr>
            <a:endParaRPr sz="24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79426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de-C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28DE63-57E7-4993-9E07-8E358BA50017}" type="datetimeFigureOut">
              <a:rPr lang="de-CH" smtClean="0"/>
              <a:t>06.05.2025</a:t>
            </a:fld>
            <a:endParaRPr lang="de-C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190549-3041-441A-9B6F-804C7E834A31}" type="slidenum">
              <a:rPr lang="de-CH" smtClean="0"/>
              <a:t>‹#›</a:t>
            </a:fld>
            <a:endParaRPr lang="de-CH"/>
          </a:p>
        </p:txBody>
      </p:sp>
    </p:spTree>
    <p:extLst>
      <p:ext uri="{BB962C8B-B14F-4D97-AF65-F5344CB8AC3E}">
        <p14:creationId xmlns:p14="http://schemas.microsoft.com/office/powerpoint/2010/main" val="13304006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8" name="Google Shape;502;p65"/>
          <p:cNvSpPr txBox="1">
            <a:spLocks noGrp="1"/>
          </p:cNvSpPr>
          <p:nvPr>
            <p:ph type="body" idx="1"/>
          </p:nvPr>
        </p:nvSpPr>
        <p:spPr>
          <a:xfrm>
            <a:off x="4132053" y="3422615"/>
            <a:ext cx="8059947" cy="1572079"/>
          </a:xfrm>
          <a:prstGeom prst="rect">
            <a:avLst/>
          </a:prstGeom>
          <a:noFill/>
          <a:ln>
            <a:noFill/>
          </a:ln>
        </p:spPr>
        <p:txBody>
          <a:bodyPr spcFirstLastPara="1" vert="horz" wrap="square" lIns="0" tIns="45700" rIns="91433" bIns="45700" rtlCol="0" anchor="b" anchorCtr="0">
            <a:noAutofit/>
          </a:bodyPr>
          <a:lstStyle/>
          <a:p>
            <a:pPr marL="0" indent="0">
              <a:spcBef>
                <a:spcPts val="0"/>
              </a:spcBef>
              <a:spcAft>
                <a:spcPts val="1600"/>
              </a:spcAft>
            </a:pPr>
            <a:r>
              <a:rPr lang="en-US" sz="2800" b="1" dirty="0" smtClean="0">
                <a:solidFill>
                  <a:schemeClr val="accent1"/>
                </a:solidFill>
                <a:latin typeface="Arial" panose="020B0604020202020204" pitchFamily="34" charset="0"/>
                <a:cs typeface="Arial" panose="020B0604020202020204" pitchFamily="34" charset="0"/>
              </a:rPr>
              <a:t>UNCERTAINTY QUANTIFICATION OF AGENT-BASED MODELS WITH APPLICATION TO MALARIA INTERVENTION MODELING</a:t>
            </a:r>
            <a:endParaRPr lang="en-US" sz="2800" b="1" dirty="0">
              <a:solidFill>
                <a:schemeClr val="accent1"/>
              </a:solidFill>
              <a:latin typeface="Arial" panose="020B0604020202020204" pitchFamily="34" charset="0"/>
              <a:cs typeface="Arial" panose="020B0604020202020204" pitchFamily="34" charset="0"/>
            </a:endParaRPr>
          </a:p>
        </p:txBody>
      </p:sp>
      <p:sp>
        <p:nvSpPr>
          <p:cNvPr id="4" name="Rectangle 3"/>
          <p:cNvSpPr/>
          <p:nvPr/>
        </p:nvSpPr>
        <p:spPr>
          <a:xfrm>
            <a:off x="4132053" y="5225516"/>
            <a:ext cx="7346829" cy="1083374"/>
          </a:xfrm>
          <a:prstGeom prst="rect">
            <a:avLst/>
          </a:prstGeom>
        </p:spPr>
        <p:txBody>
          <a:bodyPr wrap="square">
            <a:spAutoFit/>
          </a:bodyPr>
          <a:lstStyle/>
          <a:p>
            <a:pPr lvl="0" algn="ctr">
              <a:lnSpc>
                <a:spcPct val="115000"/>
              </a:lnSpc>
              <a:buClr>
                <a:schemeClr val="dk1"/>
              </a:buClr>
              <a:buSzPts val="1100"/>
            </a:pPr>
            <a:r>
              <a:rPr lang="en-US" sz="2000" b="1" dirty="0" smtClean="0">
                <a:solidFill>
                  <a:schemeClr val="dk1"/>
                </a:solidFill>
                <a:latin typeface="Arial"/>
                <a:ea typeface="Arial"/>
                <a:cs typeface="Arial"/>
                <a:sym typeface="Arial"/>
              </a:rPr>
              <a:t>PhD Update</a:t>
            </a:r>
          </a:p>
          <a:p>
            <a:pPr lvl="0" algn="ctr">
              <a:lnSpc>
                <a:spcPct val="115000"/>
              </a:lnSpc>
              <a:buClr>
                <a:schemeClr val="dk1"/>
              </a:buClr>
              <a:buSzPts val="1100"/>
            </a:pPr>
            <a:endParaRPr lang="en-US" dirty="0">
              <a:solidFill>
                <a:schemeClr val="dk1"/>
              </a:solidFill>
              <a:latin typeface="Arial"/>
              <a:ea typeface="Arial"/>
              <a:cs typeface="Arial"/>
              <a:sym typeface="Arial"/>
            </a:endParaRPr>
          </a:p>
          <a:p>
            <a:pPr lvl="0" algn="ctr">
              <a:lnSpc>
                <a:spcPct val="115000"/>
              </a:lnSpc>
              <a:buClr>
                <a:schemeClr val="dk1"/>
              </a:buClr>
              <a:buSzPts val="1100"/>
            </a:pPr>
            <a:r>
              <a:rPr lang="en-US" dirty="0" smtClean="0">
                <a:solidFill>
                  <a:schemeClr val="dk1"/>
                </a:solidFill>
                <a:latin typeface="Arial"/>
                <a:ea typeface="Arial"/>
                <a:cs typeface="Arial"/>
                <a:sym typeface="Arial"/>
              </a:rPr>
              <a:t>16</a:t>
            </a:r>
            <a:r>
              <a:rPr lang="en-US" baseline="30000" dirty="0" smtClean="0">
                <a:solidFill>
                  <a:schemeClr val="dk1"/>
                </a:solidFill>
                <a:latin typeface="Arial"/>
                <a:ea typeface="Arial"/>
                <a:cs typeface="Arial"/>
                <a:sym typeface="Arial"/>
              </a:rPr>
              <a:t>th</a:t>
            </a:r>
            <a:r>
              <a:rPr lang="en-US" dirty="0" smtClean="0">
                <a:solidFill>
                  <a:schemeClr val="dk1"/>
                </a:solidFill>
                <a:latin typeface="Arial"/>
                <a:ea typeface="Arial"/>
                <a:cs typeface="Arial"/>
                <a:sym typeface="Arial"/>
              </a:rPr>
              <a:t> October 2024</a:t>
            </a: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083025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745200"/>
          </a:xfrm>
        </p:spPr>
        <p:txBody>
          <a:bodyPr/>
          <a:lstStyle/>
          <a:p>
            <a:r>
              <a:rPr lang="en-US" sz="2800" b="1" dirty="0" smtClean="0">
                <a:latin typeface="+mn-lt"/>
              </a:rPr>
              <a:t>Aim</a:t>
            </a:r>
            <a:endParaRPr lang="en-US" sz="2800" b="1" dirty="0">
              <a:latin typeface="+mn-lt"/>
            </a:endParaRPr>
          </a:p>
        </p:txBody>
      </p:sp>
      <p:sp>
        <p:nvSpPr>
          <p:cNvPr id="62" name="Rounded Rectangle 61"/>
          <p:cNvSpPr/>
          <p:nvPr/>
        </p:nvSpPr>
        <p:spPr>
          <a:xfrm>
            <a:off x="2651076" y="423422"/>
            <a:ext cx="7007831" cy="5552912"/>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2800" dirty="0" smtClean="0"/>
              <a:t>To quantify and propagate the </a:t>
            </a:r>
            <a:r>
              <a:rPr lang="en-US" sz="2800" dirty="0"/>
              <a:t>uncertainty from various parameters in the OpenMalaria Ghana model, beyond just the entomological inoculation rate (EIR) and to determine the impact of these uncertainties on simulating the effect of malaria interventions at the sub-national </a:t>
            </a:r>
            <a:r>
              <a:rPr lang="en-US" sz="2800" dirty="0" smtClean="0"/>
              <a:t>level.</a:t>
            </a:r>
            <a:endParaRPr lang="de-CH" sz="2800" dirty="0"/>
          </a:p>
        </p:txBody>
      </p:sp>
    </p:spTree>
    <p:extLst>
      <p:ext uri="{BB962C8B-B14F-4D97-AF65-F5344CB8AC3E}">
        <p14:creationId xmlns:p14="http://schemas.microsoft.com/office/powerpoint/2010/main" val="30038861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8" name="Google Shape;519;p67"/>
          <p:cNvSpPr txBox="1">
            <a:spLocks/>
          </p:cNvSpPr>
          <p:nvPr/>
        </p:nvSpPr>
        <p:spPr>
          <a:xfrm>
            <a:off x="323528" y="0"/>
            <a:ext cx="11868471" cy="745200"/>
          </a:xfrm>
          <a:prstGeom prst="rect">
            <a:avLst/>
          </a:prstGeom>
          <a:noFill/>
          <a:ln>
            <a:noFill/>
          </a:ln>
        </p:spPr>
        <p:txBody>
          <a:bodyPr spcFirstLastPara="1" wrap="square" lIns="0" tIns="60933" rIns="121900" bIns="60933" anchor="ctr" anchorCtr="0">
            <a:noAutofit/>
          </a:bodyPr>
          <a:lstStyle>
            <a:defPPr marR="0" lvl="0" algn="l" rtl="0">
              <a:lnSpc>
                <a:spcPct val="100000"/>
              </a:lnSpc>
              <a:spcBef>
                <a:spcPts val="0"/>
              </a:spcBef>
              <a:spcAft>
                <a:spcPts val="0"/>
              </a:spcAft>
            </a:defPPr>
            <a:lvl1pPr marR="0" lvl="0" algn="just" rtl="0">
              <a:lnSpc>
                <a:spcPct val="90000"/>
              </a:lnSpc>
              <a:spcBef>
                <a:spcPts val="0"/>
              </a:spcBef>
              <a:spcAft>
                <a:spcPts val="0"/>
              </a:spcAft>
              <a:buClr>
                <a:schemeClr val="accent1"/>
              </a:buClr>
              <a:buSzPts val="2400"/>
              <a:buFont typeface="Palatino Linotype"/>
              <a:buNone/>
              <a:defRPr sz="2400" b="0" i="0" u="none" strike="noStrike" cap="none">
                <a:solidFill>
                  <a:schemeClr val="accent1"/>
                </a:solidFill>
                <a:latin typeface="Palatino Linotype"/>
                <a:ea typeface="Palatino Linotype"/>
                <a:cs typeface="Palatino Linotype"/>
                <a:sym typeface="Palatino Linotyp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800" b="1" kern="0" dirty="0" smtClean="0">
                <a:latin typeface="+mn-lt"/>
              </a:rPr>
              <a:t>Uncertainty Quantification can be classified in two forms</a:t>
            </a:r>
            <a:endParaRPr lang="en-US" sz="2800" b="1" kern="0" dirty="0">
              <a:latin typeface="+mn-lt"/>
            </a:endParaRPr>
          </a:p>
        </p:txBody>
      </p:sp>
      <p:graphicFrame>
        <p:nvGraphicFramePr>
          <p:cNvPr id="2" name="Diagram 1"/>
          <p:cNvGraphicFramePr/>
          <p:nvPr>
            <p:extLst/>
          </p:nvPr>
        </p:nvGraphicFramePr>
        <p:xfrm>
          <a:off x="1203864" y="1820174"/>
          <a:ext cx="8128000" cy="49320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Oval 2"/>
          <p:cNvSpPr/>
          <p:nvPr/>
        </p:nvSpPr>
        <p:spPr>
          <a:xfrm>
            <a:off x="9514936" y="2147979"/>
            <a:ext cx="2234241" cy="158726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2400" dirty="0" smtClean="0"/>
              <a:t>Sensitivity Analysis</a:t>
            </a:r>
            <a:endParaRPr lang="de-CH" sz="2400" dirty="0"/>
          </a:p>
        </p:txBody>
      </p:sp>
      <p:sp>
        <p:nvSpPr>
          <p:cNvPr id="7" name="Oval 6"/>
          <p:cNvSpPr/>
          <p:nvPr/>
        </p:nvSpPr>
        <p:spPr>
          <a:xfrm>
            <a:off x="9514936" y="4819291"/>
            <a:ext cx="2337759" cy="158726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2400" dirty="0" smtClean="0"/>
              <a:t>Model Calibration</a:t>
            </a:r>
            <a:endParaRPr lang="de-CH" sz="2400" dirty="0"/>
          </a:p>
        </p:txBody>
      </p:sp>
      <p:sp>
        <p:nvSpPr>
          <p:cNvPr id="4" name="Rectangle 3"/>
          <p:cNvSpPr/>
          <p:nvPr/>
        </p:nvSpPr>
        <p:spPr>
          <a:xfrm>
            <a:off x="323528" y="736122"/>
            <a:ext cx="11720423" cy="830997"/>
          </a:xfrm>
          <a:prstGeom prst="rect">
            <a:avLst/>
          </a:prstGeom>
        </p:spPr>
        <p:txBody>
          <a:bodyPr wrap="square">
            <a:spAutoFit/>
          </a:bodyPr>
          <a:lstStyle/>
          <a:p>
            <a:pPr marL="285750" indent="-285750">
              <a:buFont typeface="Arial" panose="020B0604020202020204" pitchFamily="34" charset="0"/>
              <a:buChar char="•"/>
            </a:pPr>
            <a:r>
              <a:rPr lang="en-US" sz="2400" b="1" dirty="0" smtClean="0"/>
              <a:t>The </a:t>
            </a:r>
            <a:r>
              <a:rPr lang="en-US" sz="2400" b="1" dirty="0"/>
              <a:t>field of Uncertainty Quantification </a:t>
            </a:r>
            <a:r>
              <a:rPr lang="en-US" sz="2400" b="1" dirty="0" smtClean="0"/>
              <a:t>offers </a:t>
            </a:r>
            <a:r>
              <a:rPr lang="en-US" sz="2400" b="1" dirty="0"/>
              <a:t>a means of quantifying and </a:t>
            </a:r>
            <a:r>
              <a:rPr lang="en-US" sz="2400" b="1" dirty="0" smtClean="0"/>
              <a:t>characterizing </a:t>
            </a:r>
            <a:r>
              <a:rPr lang="en-US" sz="2400" b="1" dirty="0"/>
              <a:t>uncertainties in models and the real </a:t>
            </a:r>
            <a:r>
              <a:rPr lang="en-US" sz="2400" b="1" dirty="0" smtClean="0"/>
              <a:t>world.</a:t>
            </a:r>
            <a:endParaRPr lang="de-CH" sz="2400" b="1" dirty="0"/>
          </a:p>
        </p:txBody>
      </p:sp>
    </p:spTree>
    <p:extLst>
      <p:ext uri="{BB962C8B-B14F-4D97-AF65-F5344CB8AC3E}">
        <p14:creationId xmlns:p14="http://schemas.microsoft.com/office/powerpoint/2010/main" val="4109200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graphicEl>
                                              <a:dgm id="{40BCD131-2073-4EDE-9795-02928553C85F}"/>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graphicEl>
                                              <a:dgm id="{234E15B5-1992-433F-AE7A-2BD232D5F9C1}"/>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graphicEl>
                                              <a:dgm id="{116AF5B1-E45C-4738-8EBC-F071EB4E45FD}"/>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graphicEl>
                                              <a:dgm id="{AF97286F-DE4D-4D21-923A-0C8E3289DDB2}"/>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Graphic spid="2" grpId="0">
        <p:bldSub>
          <a:bldDgm bld="one"/>
        </p:bldSub>
      </p:bldGraphic>
      <p:bldP spid="3"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8"/>
          <p:cNvSpPr txBox="1">
            <a:spLocks noGrp="1"/>
          </p:cNvSpPr>
          <p:nvPr>
            <p:ph type="title"/>
          </p:nvPr>
        </p:nvSpPr>
        <p:spPr>
          <a:xfrm>
            <a:off x="125976" y="110546"/>
            <a:ext cx="10850000" cy="528551"/>
          </a:xfrm>
          <a:prstGeom prst="rect">
            <a:avLst/>
          </a:prstGeom>
          <a:noFill/>
          <a:ln>
            <a:noFill/>
          </a:ln>
        </p:spPr>
        <p:txBody>
          <a:bodyPr spcFirstLastPara="1" wrap="square" lIns="0" tIns="60933" rIns="121900" bIns="60933" anchor="ctr" anchorCtr="0">
            <a:noAutofit/>
          </a:bodyPr>
          <a:lstStyle/>
          <a:p>
            <a:r>
              <a:rPr lang="en" sz="2800" b="1" dirty="0" smtClean="0">
                <a:latin typeface="+mn-lt"/>
              </a:rPr>
              <a:t>Research Objectives</a:t>
            </a:r>
            <a:endParaRPr sz="2800" b="1" dirty="0">
              <a:latin typeface="+mn-lt"/>
            </a:endParaRPr>
          </a:p>
        </p:txBody>
      </p:sp>
      <p:graphicFrame>
        <p:nvGraphicFramePr>
          <p:cNvPr id="4" name="Diagram 3"/>
          <p:cNvGraphicFramePr/>
          <p:nvPr>
            <p:extLst/>
          </p:nvPr>
        </p:nvGraphicFramePr>
        <p:xfrm>
          <a:off x="0" y="719668"/>
          <a:ext cx="12192000" cy="9813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Google Shape;539;p70"/>
          <p:cNvPicPr preferRelativeResize="0"/>
          <p:nvPr/>
        </p:nvPicPr>
        <p:blipFill>
          <a:blip r:embed="rId8">
            <a:alphaModFix/>
          </a:blip>
          <a:stretch>
            <a:fillRect/>
          </a:stretch>
        </p:blipFill>
        <p:spPr>
          <a:xfrm>
            <a:off x="0" y="3730752"/>
            <a:ext cx="4713216" cy="2121408"/>
          </a:xfrm>
          <a:prstGeom prst="rect">
            <a:avLst/>
          </a:prstGeom>
          <a:noFill/>
          <a:ln>
            <a:noFill/>
          </a:ln>
        </p:spPr>
      </p:pic>
      <p:sp>
        <p:nvSpPr>
          <p:cNvPr id="5" name="Rounded Rectangle 4"/>
          <p:cNvSpPr/>
          <p:nvPr/>
        </p:nvSpPr>
        <p:spPr>
          <a:xfrm>
            <a:off x="235704" y="2006952"/>
            <a:ext cx="4554179" cy="1297859"/>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CH" dirty="0" smtClean="0">
                <a:solidFill>
                  <a:schemeClr val="tx1"/>
                </a:solidFill>
              </a:rPr>
              <a:t>Perform </a:t>
            </a:r>
            <a:r>
              <a:rPr lang="de-CH" dirty="0" err="1" smtClean="0">
                <a:solidFill>
                  <a:schemeClr val="tx1"/>
                </a:solidFill>
              </a:rPr>
              <a:t>sensitivity</a:t>
            </a:r>
            <a:r>
              <a:rPr lang="de-CH" dirty="0" smtClean="0">
                <a:solidFill>
                  <a:schemeClr val="tx1"/>
                </a:solidFill>
              </a:rPr>
              <a:t> </a:t>
            </a:r>
            <a:r>
              <a:rPr lang="de-CH" dirty="0" err="1" smtClean="0">
                <a:solidFill>
                  <a:schemeClr val="tx1"/>
                </a:solidFill>
              </a:rPr>
              <a:t>analysis</a:t>
            </a:r>
            <a:r>
              <a:rPr lang="de-CH" dirty="0" smtClean="0">
                <a:solidFill>
                  <a:schemeClr val="tx1"/>
                </a:solidFill>
              </a:rPr>
              <a:t> </a:t>
            </a:r>
            <a:r>
              <a:rPr lang="de-CH" dirty="0" err="1" smtClean="0">
                <a:solidFill>
                  <a:schemeClr val="tx1"/>
                </a:solidFill>
              </a:rPr>
              <a:t>of</a:t>
            </a:r>
            <a:r>
              <a:rPr lang="de-CH" dirty="0" smtClean="0">
                <a:solidFill>
                  <a:schemeClr val="tx1"/>
                </a:solidFill>
              </a:rPr>
              <a:t> </a:t>
            </a:r>
            <a:r>
              <a:rPr lang="de-CH" b="1" dirty="0" err="1" smtClean="0">
                <a:solidFill>
                  <a:schemeClr val="tx1"/>
                </a:solidFill>
              </a:rPr>
              <a:t>coverage</a:t>
            </a:r>
            <a:r>
              <a:rPr lang="de-CH" dirty="0" smtClean="0">
                <a:solidFill>
                  <a:schemeClr val="tx1"/>
                </a:solidFill>
              </a:rPr>
              <a:t>, </a:t>
            </a:r>
            <a:r>
              <a:rPr lang="de-CH" b="1" dirty="0" err="1" smtClean="0">
                <a:solidFill>
                  <a:schemeClr val="tx1"/>
                </a:solidFill>
              </a:rPr>
              <a:t>halflife</a:t>
            </a:r>
            <a:r>
              <a:rPr lang="de-CH" b="1" dirty="0" smtClean="0">
                <a:solidFill>
                  <a:schemeClr val="tx1"/>
                </a:solidFill>
              </a:rPr>
              <a:t> </a:t>
            </a:r>
            <a:r>
              <a:rPr lang="de-CH" b="1" dirty="0" err="1" smtClean="0">
                <a:solidFill>
                  <a:schemeClr val="tx1"/>
                </a:solidFill>
              </a:rPr>
              <a:t>of</a:t>
            </a:r>
            <a:r>
              <a:rPr lang="de-CH" b="1" dirty="0" smtClean="0">
                <a:solidFill>
                  <a:schemeClr val="tx1"/>
                </a:solidFill>
              </a:rPr>
              <a:t> </a:t>
            </a:r>
            <a:r>
              <a:rPr lang="de-CH" b="1" dirty="0" err="1" smtClean="0">
                <a:solidFill>
                  <a:schemeClr val="tx1"/>
                </a:solidFill>
              </a:rPr>
              <a:t>efficacy</a:t>
            </a:r>
            <a:r>
              <a:rPr lang="de-CH" b="1" dirty="0" smtClean="0">
                <a:solidFill>
                  <a:schemeClr val="tx1"/>
                </a:solidFill>
              </a:rPr>
              <a:t> </a:t>
            </a:r>
            <a:r>
              <a:rPr lang="de-CH" dirty="0" err="1" smtClean="0">
                <a:solidFill>
                  <a:schemeClr val="tx1"/>
                </a:solidFill>
              </a:rPr>
              <a:t>and</a:t>
            </a:r>
            <a:r>
              <a:rPr lang="de-CH" dirty="0" smtClean="0">
                <a:solidFill>
                  <a:schemeClr val="tx1"/>
                </a:solidFill>
              </a:rPr>
              <a:t> </a:t>
            </a:r>
            <a:r>
              <a:rPr lang="de-CH" b="1" dirty="0" err="1" smtClean="0">
                <a:solidFill>
                  <a:schemeClr val="tx1"/>
                </a:solidFill>
              </a:rPr>
              <a:t>vector</a:t>
            </a:r>
            <a:r>
              <a:rPr lang="de-CH" b="1" dirty="0" smtClean="0">
                <a:solidFill>
                  <a:schemeClr val="tx1"/>
                </a:solidFill>
              </a:rPr>
              <a:t> </a:t>
            </a:r>
            <a:r>
              <a:rPr lang="de-CH" b="1" dirty="0" err="1" smtClean="0">
                <a:solidFill>
                  <a:schemeClr val="tx1"/>
                </a:solidFill>
              </a:rPr>
              <a:t>composition</a:t>
            </a:r>
            <a:r>
              <a:rPr lang="de-CH" dirty="0" smtClean="0">
                <a:solidFill>
                  <a:schemeClr val="tx1"/>
                </a:solidFill>
              </a:rPr>
              <a:t> </a:t>
            </a:r>
            <a:r>
              <a:rPr lang="de-CH" dirty="0" err="1" smtClean="0">
                <a:solidFill>
                  <a:schemeClr val="tx1"/>
                </a:solidFill>
              </a:rPr>
              <a:t>towards</a:t>
            </a:r>
            <a:r>
              <a:rPr lang="de-CH" dirty="0" smtClean="0">
                <a:solidFill>
                  <a:schemeClr val="tx1"/>
                </a:solidFill>
              </a:rPr>
              <a:t> </a:t>
            </a:r>
            <a:r>
              <a:rPr lang="de-CH" dirty="0" err="1" smtClean="0">
                <a:solidFill>
                  <a:schemeClr val="tx1"/>
                </a:solidFill>
              </a:rPr>
              <a:t>prevalence</a:t>
            </a:r>
            <a:r>
              <a:rPr lang="de-CH" dirty="0" smtClean="0">
                <a:solidFill>
                  <a:schemeClr val="tx1"/>
                </a:solidFill>
              </a:rPr>
              <a:t> </a:t>
            </a:r>
            <a:r>
              <a:rPr lang="de-CH" dirty="0" err="1" smtClean="0">
                <a:solidFill>
                  <a:schemeClr val="tx1"/>
                </a:solidFill>
              </a:rPr>
              <a:t>reduction</a:t>
            </a:r>
            <a:r>
              <a:rPr lang="de-CH" dirty="0" smtClean="0">
                <a:solidFill>
                  <a:schemeClr val="tx1"/>
                </a:solidFill>
              </a:rPr>
              <a:t> </a:t>
            </a:r>
            <a:r>
              <a:rPr lang="de-CH" dirty="0" err="1" smtClean="0">
                <a:solidFill>
                  <a:schemeClr val="tx1"/>
                </a:solidFill>
              </a:rPr>
              <a:t>and</a:t>
            </a:r>
            <a:r>
              <a:rPr lang="de-CH" dirty="0" smtClean="0">
                <a:solidFill>
                  <a:schemeClr val="tx1"/>
                </a:solidFill>
              </a:rPr>
              <a:t> </a:t>
            </a:r>
            <a:r>
              <a:rPr lang="de-CH" dirty="0" err="1" smtClean="0">
                <a:solidFill>
                  <a:schemeClr val="tx1"/>
                </a:solidFill>
              </a:rPr>
              <a:t>clinical</a:t>
            </a:r>
            <a:r>
              <a:rPr lang="de-CH" dirty="0" smtClean="0">
                <a:solidFill>
                  <a:schemeClr val="tx1"/>
                </a:solidFill>
              </a:rPr>
              <a:t> </a:t>
            </a:r>
            <a:r>
              <a:rPr lang="de-CH" dirty="0" err="1" smtClean="0">
                <a:solidFill>
                  <a:schemeClr val="tx1"/>
                </a:solidFill>
              </a:rPr>
              <a:t>cases</a:t>
            </a:r>
            <a:r>
              <a:rPr lang="de-CH" dirty="0" smtClean="0">
                <a:solidFill>
                  <a:schemeClr val="tx1"/>
                </a:solidFill>
              </a:rPr>
              <a:t> </a:t>
            </a:r>
            <a:r>
              <a:rPr lang="de-CH" dirty="0" err="1" smtClean="0">
                <a:solidFill>
                  <a:schemeClr val="tx1"/>
                </a:solidFill>
              </a:rPr>
              <a:t>averted</a:t>
            </a:r>
            <a:r>
              <a:rPr lang="de-CH" dirty="0" smtClean="0">
                <a:solidFill>
                  <a:schemeClr val="tx1"/>
                </a:solidFill>
              </a:rPr>
              <a:t> </a:t>
            </a:r>
            <a:r>
              <a:rPr lang="de-CH" b="1" dirty="0" smtClean="0">
                <a:solidFill>
                  <a:schemeClr val="bg1"/>
                </a:solidFill>
              </a:rPr>
              <a:t>(Forward </a:t>
            </a:r>
            <a:r>
              <a:rPr lang="de-CH" b="1" dirty="0" err="1" smtClean="0">
                <a:solidFill>
                  <a:schemeClr val="bg1"/>
                </a:solidFill>
              </a:rPr>
              <a:t>propagation</a:t>
            </a:r>
            <a:r>
              <a:rPr lang="de-CH" b="1" dirty="0" smtClean="0">
                <a:solidFill>
                  <a:schemeClr val="bg1"/>
                </a:solidFill>
              </a:rPr>
              <a:t> </a:t>
            </a:r>
            <a:r>
              <a:rPr lang="de-CH" b="1" dirty="0" err="1" smtClean="0">
                <a:solidFill>
                  <a:schemeClr val="bg1"/>
                </a:solidFill>
              </a:rPr>
              <a:t>of</a:t>
            </a:r>
            <a:r>
              <a:rPr lang="de-CH" b="1" dirty="0" smtClean="0">
                <a:solidFill>
                  <a:schemeClr val="bg1"/>
                </a:solidFill>
              </a:rPr>
              <a:t> uncertainty)</a:t>
            </a:r>
          </a:p>
        </p:txBody>
      </p:sp>
      <p:sp>
        <p:nvSpPr>
          <p:cNvPr id="16" name="Oval 4"/>
          <p:cNvSpPr txBox="1"/>
          <p:nvPr/>
        </p:nvSpPr>
        <p:spPr>
          <a:xfrm>
            <a:off x="6295013" y="3597058"/>
            <a:ext cx="2454309" cy="2538566"/>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sz="2000" kern="1200" dirty="0" smtClean="0"/>
              <a:t>Results of the sensitivity analysis will help the NMEP to carefully choose intervention re-allocation if needed, during the midterm review</a:t>
            </a:r>
            <a:endParaRPr lang="en-US" sz="2000" kern="1200" dirty="0"/>
          </a:p>
        </p:txBody>
      </p:sp>
      <p:grpSp>
        <p:nvGrpSpPr>
          <p:cNvPr id="17" name="Group 16"/>
          <p:cNvGrpSpPr/>
          <p:nvPr/>
        </p:nvGrpSpPr>
        <p:grpSpPr>
          <a:xfrm>
            <a:off x="8749322" y="4491589"/>
            <a:ext cx="643276" cy="599734"/>
            <a:chOff x="2514443" y="1287487"/>
            <a:chExt cx="433401" cy="433401"/>
          </a:xfrm>
        </p:grpSpPr>
        <p:sp>
          <p:nvSpPr>
            <p:cNvPr id="18" name="Plus 17"/>
            <p:cNvSpPr/>
            <p:nvPr/>
          </p:nvSpPr>
          <p:spPr>
            <a:xfrm>
              <a:off x="2514443" y="1287487"/>
              <a:ext cx="433401" cy="433401"/>
            </a:xfrm>
            <a:prstGeom prst="mathPlus">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19" name="Plus 4"/>
            <p:cNvSpPr txBox="1"/>
            <p:nvPr/>
          </p:nvSpPr>
          <p:spPr>
            <a:xfrm>
              <a:off x="2571890" y="1453220"/>
              <a:ext cx="318507" cy="10193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US" sz="700" kern="1200" dirty="0"/>
            </a:p>
          </p:txBody>
        </p:sp>
      </p:grpSp>
      <p:sp>
        <p:nvSpPr>
          <p:cNvPr id="22" name="Oval 4"/>
          <p:cNvSpPr txBox="1"/>
          <p:nvPr/>
        </p:nvSpPr>
        <p:spPr>
          <a:xfrm>
            <a:off x="9392598" y="3597058"/>
            <a:ext cx="2401926" cy="24562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sz="2000" kern="1200" dirty="0" smtClean="0"/>
              <a:t>The sensitivity analysis will be integrated in the OpenMalaria workflow package, which will be made publicly available</a:t>
            </a:r>
            <a:endParaRPr lang="de-CH" sz="2000" kern="1200" dirty="0" smtClean="0">
              <a:solidFill>
                <a:schemeClr val="tx1"/>
              </a:solidFill>
            </a:endParaRPr>
          </a:p>
        </p:txBody>
      </p:sp>
      <p:grpSp>
        <p:nvGrpSpPr>
          <p:cNvPr id="23" name="Group 22"/>
          <p:cNvGrpSpPr/>
          <p:nvPr/>
        </p:nvGrpSpPr>
        <p:grpSpPr>
          <a:xfrm>
            <a:off x="4789883" y="3483339"/>
            <a:ext cx="1095338" cy="513916"/>
            <a:chOff x="3669577" y="2912122"/>
            <a:chExt cx="1439719" cy="423049"/>
          </a:xfrm>
        </p:grpSpPr>
        <p:sp>
          <p:nvSpPr>
            <p:cNvPr id="24" name="Right Arrow 23"/>
            <p:cNvSpPr/>
            <p:nvPr/>
          </p:nvSpPr>
          <p:spPr>
            <a:xfrm rot="21548800">
              <a:off x="3669577" y="2912122"/>
              <a:ext cx="1439719" cy="423049"/>
            </a:xfrm>
            <a:prstGeom prst="rightArrow">
              <a:avLst>
                <a:gd name="adj1" fmla="val 60000"/>
                <a:gd name="adj2" fmla="val 50000"/>
              </a:avLst>
            </a:prstGeom>
          </p:spPr>
          <p:style>
            <a:lnRef idx="0">
              <a:schemeClr val="accent2">
                <a:shade val="90000"/>
                <a:hueOff val="-83344"/>
                <a:satOff val="-13822"/>
                <a:lumOff val="19244"/>
                <a:alphaOff val="0"/>
              </a:schemeClr>
            </a:lnRef>
            <a:fillRef idx="1">
              <a:schemeClr val="accent2">
                <a:shade val="90000"/>
                <a:hueOff val="-83344"/>
                <a:satOff val="-13822"/>
                <a:lumOff val="19244"/>
                <a:alphaOff val="0"/>
              </a:schemeClr>
            </a:fillRef>
            <a:effectRef idx="1">
              <a:schemeClr val="accent2">
                <a:shade val="90000"/>
                <a:hueOff val="-83344"/>
                <a:satOff val="-13822"/>
                <a:lumOff val="19244"/>
                <a:alphaOff val="0"/>
              </a:schemeClr>
            </a:effectRef>
            <a:fontRef idx="minor">
              <a:schemeClr val="lt1"/>
            </a:fontRef>
          </p:style>
        </p:sp>
        <p:sp>
          <p:nvSpPr>
            <p:cNvPr id="25" name="Right Arrow 4"/>
            <p:cNvSpPr txBox="1"/>
            <p:nvPr/>
          </p:nvSpPr>
          <p:spPr>
            <a:xfrm rot="21548800">
              <a:off x="3669584" y="2997677"/>
              <a:ext cx="1312804" cy="2538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US" sz="1900" kern="1200"/>
            </a:p>
          </p:txBody>
        </p:sp>
      </p:grpSp>
      <p:sp>
        <p:nvSpPr>
          <p:cNvPr id="26" name="TextBox 25"/>
          <p:cNvSpPr txBox="1"/>
          <p:nvPr/>
        </p:nvSpPr>
        <p:spPr>
          <a:xfrm>
            <a:off x="125975" y="5932810"/>
            <a:ext cx="4587241" cy="307777"/>
          </a:xfrm>
          <a:prstGeom prst="rect">
            <a:avLst/>
          </a:prstGeom>
          <a:noFill/>
        </p:spPr>
        <p:txBody>
          <a:bodyPr wrap="square" rtlCol="0">
            <a:spAutoFit/>
          </a:bodyPr>
          <a:lstStyle/>
          <a:p>
            <a:r>
              <a:rPr lang="de-CH" sz="1400" dirty="0" smtClean="0"/>
              <a:t>Source:</a:t>
            </a:r>
            <a:r>
              <a:rPr lang="en-US" sz="1400" dirty="0"/>
              <a:t> </a:t>
            </a:r>
            <a:r>
              <a:rPr lang="en-US" sz="1400" dirty="0" smtClean="0"/>
              <a:t>Sensitivity </a:t>
            </a:r>
            <a:r>
              <a:rPr lang="en-US" sz="1400" dirty="0"/>
              <a:t>Analysis: The </a:t>
            </a:r>
            <a:r>
              <a:rPr lang="en-US" sz="1400" dirty="0" smtClean="0"/>
              <a:t>Basics</a:t>
            </a:r>
            <a:endParaRPr lang="de-CH" sz="1400" dirty="0"/>
          </a:p>
        </p:txBody>
      </p:sp>
    </p:spTree>
    <p:extLst>
      <p:ext uri="{BB962C8B-B14F-4D97-AF65-F5344CB8AC3E}">
        <p14:creationId xmlns:p14="http://schemas.microsoft.com/office/powerpoint/2010/main" val="2933387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6" grpId="0" animBg="1"/>
      <p:bldP spid="22" grpId="0" animBg="1"/>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8"/>
          <p:cNvSpPr txBox="1">
            <a:spLocks noGrp="1"/>
          </p:cNvSpPr>
          <p:nvPr>
            <p:ph type="title"/>
          </p:nvPr>
        </p:nvSpPr>
        <p:spPr>
          <a:xfrm>
            <a:off x="125976" y="110546"/>
            <a:ext cx="10850000" cy="528551"/>
          </a:xfrm>
          <a:prstGeom prst="rect">
            <a:avLst/>
          </a:prstGeom>
          <a:noFill/>
          <a:ln>
            <a:noFill/>
          </a:ln>
        </p:spPr>
        <p:txBody>
          <a:bodyPr spcFirstLastPara="1" wrap="square" lIns="0" tIns="60933" rIns="121900" bIns="60933" anchor="ctr" anchorCtr="0">
            <a:noAutofit/>
          </a:bodyPr>
          <a:lstStyle/>
          <a:p>
            <a:r>
              <a:rPr lang="en" sz="2800" b="1" dirty="0" smtClean="0">
                <a:latin typeface="+mn-lt"/>
              </a:rPr>
              <a:t>Research Objectives</a:t>
            </a:r>
            <a:endParaRPr sz="2800" b="1" dirty="0">
              <a:latin typeface="+mn-lt"/>
            </a:endParaRPr>
          </a:p>
        </p:txBody>
      </p:sp>
      <p:graphicFrame>
        <p:nvGraphicFramePr>
          <p:cNvPr id="4" name="Diagram 3"/>
          <p:cNvGraphicFramePr/>
          <p:nvPr>
            <p:extLst/>
          </p:nvPr>
        </p:nvGraphicFramePr>
        <p:xfrm>
          <a:off x="0" y="719668"/>
          <a:ext cx="12192000" cy="9813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ounded Rectangle 6"/>
          <p:cNvSpPr/>
          <p:nvPr/>
        </p:nvSpPr>
        <p:spPr>
          <a:xfrm>
            <a:off x="3452355" y="1870446"/>
            <a:ext cx="5069058" cy="1297859"/>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Develop </a:t>
            </a:r>
            <a:r>
              <a:rPr lang="en-US" dirty="0" smtClean="0">
                <a:solidFill>
                  <a:schemeClr val="tx1"/>
                </a:solidFill>
              </a:rPr>
              <a:t>framework </a:t>
            </a:r>
            <a:r>
              <a:rPr lang="en-US" dirty="0">
                <a:solidFill>
                  <a:schemeClr val="tx1"/>
                </a:solidFill>
              </a:rPr>
              <a:t>to infer multiple parameters and perform uncertainty quantification for malaria interventions applied to the Ghana </a:t>
            </a:r>
            <a:r>
              <a:rPr lang="en-US" dirty="0" smtClean="0">
                <a:solidFill>
                  <a:schemeClr val="tx1"/>
                </a:solidFill>
              </a:rPr>
              <a:t>data</a:t>
            </a:r>
            <a:r>
              <a:rPr lang="en-US" dirty="0"/>
              <a:t> </a:t>
            </a:r>
            <a:r>
              <a:rPr lang="en-US" b="1" dirty="0" smtClean="0"/>
              <a:t>(Inverse uncertainty quantification)</a:t>
            </a:r>
            <a:endParaRPr lang="de-CH" b="1" dirty="0"/>
          </a:p>
        </p:txBody>
      </p:sp>
      <p:sp>
        <p:nvSpPr>
          <p:cNvPr id="9" name="Oval 4"/>
          <p:cNvSpPr txBox="1"/>
          <p:nvPr/>
        </p:nvSpPr>
        <p:spPr>
          <a:xfrm>
            <a:off x="9632573" y="3550640"/>
            <a:ext cx="2454309" cy="2538566"/>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dirty="0"/>
              <a:t>a fully implemented, tested, and documented sampling-based inference framework. This framework will be used to calibrate the OpenMalaria Ghana model</a:t>
            </a:r>
            <a:endParaRPr lang="en-US" sz="2000" kern="1200" dirty="0"/>
          </a:p>
        </p:txBody>
      </p:sp>
      <p:grpSp>
        <p:nvGrpSpPr>
          <p:cNvPr id="10" name="Group 9"/>
          <p:cNvGrpSpPr/>
          <p:nvPr/>
        </p:nvGrpSpPr>
        <p:grpSpPr>
          <a:xfrm>
            <a:off x="8446008" y="4200162"/>
            <a:ext cx="1095338" cy="513916"/>
            <a:chOff x="3669577" y="2912122"/>
            <a:chExt cx="1439719" cy="423049"/>
          </a:xfrm>
        </p:grpSpPr>
        <p:sp>
          <p:nvSpPr>
            <p:cNvPr id="11" name="Right Arrow 10"/>
            <p:cNvSpPr/>
            <p:nvPr/>
          </p:nvSpPr>
          <p:spPr>
            <a:xfrm rot="21548800">
              <a:off x="3669577" y="2912122"/>
              <a:ext cx="1439719" cy="423049"/>
            </a:xfrm>
            <a:prstGeom prst="rightArrow">
              <a:avLst>
                <a:gd name="adj1" fmla="val 60000"/>
                <a:gd name="adj2" fmla="val 50000"/>
              </a:avLst>
            </a:prstGeom>
          </p:spPr>
          <p:style>
            <a:lnRef idx="0">
              <a:schemeClr val="accent2">
                <a:shade val="90000"/>
                <a:hueOff val="-83344"/>
                <a:satOff val="-13822"/>
                <a:lumOff val="19244"/>
                <a:alphaOff val="0"/>
              </a:schemeClr>
            </a:lnRef>
            <a:fillRef idx="1">
              <a:schemeClr val="accent2">
                <a:shade val="90000"/>
                <a:hueOff val="-83344"/>
                <a:satOff val="-13822"/>
                <a:lumOff val="19244"/>
                <a:alphaOff val="0"/>
              </a:schemeClr>
            </a:fillRef>
            <a:effectRef idx="1">
              <a:schemeClr val="accent2">
                <a:shade val="90000"/>
                <a:hueOff val="-83344"/>
                <a:satOff val="-13822"/>
                <a:lumOff val="19244"/>
                <a:alphaOff val="0"/>
              </a:schemeClr>
            </a:effectRef>
            <a:fontRef idx="minor">
              <a:schemeClr val="lt1"/>
            </a:fontRef>
          </p:style>
        </p:sp>
        <p:sp>
          <p:nvSpPr>
            <p:cNvPr id="12" name="Right Arrow 4"/>
            <p:cNvSpPr txBox="1"/>
            <p:nvPr/>
          </p:nvSpPr>
          <p:spPr>
            <a:xfrm rot="21548800">
              <a:off x="3669584" y="2997677"/>
              <a:ext cx="1312804" cy="2538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US" sz="1900" kern="1200"/>
            </a:p>
          </p:txBody>
        </p:sp>
      </p:grpSp>
      <p:sp>
        <p:nvSpPr>
          <p:cNvPr id="13" name="TextBox 12"/>
          <p:cNvSpPr txBox="1"/>
          <p:nvPr/>
        </p:nvSpPr>
        <p:spPr>
          <a:xfrm>
            <a:off x="3323532" y="6448698"/>
            <a:ext cx="4587241" cy="307777"/>
          </a:xfrm>
          <a:prstGeom prst="rect">
            <a:avLst/>
          </a:prstGeom>
          <a:noFill/>
        </p:spPr>
        <p:txBody>
          <a:bodyPr wrap="square" rtlCol="0">
            <a:spAutoFit/>
          </a:bodyPr>
          <a:lstStyle/>
          <a:p>
            <a:r>
              <a:rPr lang="de-CH" sz="1400" dirty="0" smtClean="0"/>
              <a:t>Source: MAP / </a:t>
            </a:r>
            <a:r>
              <a:rPr lang="de-CH" sz="1400" dirty="0" err="1" smtClean="0"/>
              <a:t>OpenMalaria</a:t>
            </a:r>
            <a:r>
              <a:rPr lang="de-CH" sz="1400" dirty="0" smtClean="0"/>
              <a:t> </a:t>
            </a:r>
            <a:r>
              <a:rPr lang="de-CH" sz="1400" dirty="0" err="1" smtClean="0"/>
              <a:t>simulations</a:t>
            </a:r>
            <a:endParaRPr lang="de-CH" sz="1400" i="1" dirty="0"/>
          </a:p>
        </p:txBody>
      </p:sp>
      <p:sp>
        <p:nvSpPr>
          <p:cNvPr id="46" name="TextBox 45"/>
          <p:cNvSpPr txBox="1"/>
          <p:nvPr/>
        </p:nvSpPr>
        <p:spPr>
          <a:xfrm>
            <a:off x="3323529" y="6448698"/>
            <a:ext cx="4587241" cy="307777"/>
          </a:xfrm>
          <a:prstGeom prst="rect">
            <a:avLst/>
          </a:prstGeom>
          <a:noFill/>
        </p:spPr>
        <p:txBody>
          <a:bodyPr wrap="square" rtlCol="0">
            <a:spAutoFit/>
          </a:bodyPr>
          <a:lstStyle/>
          <a:p>
            <a:r>
              <a:rPr lang="de-CH" sz="1400" dirty="0" smtClean="0"/>
              <a:t>Source: MAP / </a:t>
            </a:r>
            <a:r>
              <a:rPr lang="de-CH" sz="1400" dirty="0" err="1" smtClean="0"/>
              <a:t>OpenMalaria</a:t>
            </a:r>
            <a:r>
              <a:rPr lang="de-CH" sz="1400" dirty="0" smtClean="0"/>
              <a:t> </a:t>
            </a:r>
            <a:r>
              <a:rPr lang="de-CH" sz="1400" dirty="0" err="1" smtClean="0"/>
              <a:t>simulations</a:t>
            </a:r>
            <a:endParaRPr lang="de-CH" sz="1400" i="1" dirty="0"/>
          </a:p>
        </p:txBody>
      </p:sp>
      <p:sp>
        <p:nvSpPr>
          <p:cNvPr id="52" name="TextBox 51"/>
          <p:cNvSpPr txBox="1"/>
          <p:nvPr/>
        </p:nvSpPr>
        <p:spPr>
          <a:xfrm>
            <a:off x="3323525" y="6448698"/>
            <a:ext cx="4587241" cy="307777"/>
          </a:xfrm>
          <a:prstGeom prst="rect">
            <a:avLst/>
          </a:prstGeom>
          <a:noFill/>
        </p:spPr>
        <p:txBody>
          <a:bodyPr wrap="square" rtlCol="0">
            <a:spAutoFit/>
          </a:bodyPr>
          <a:lstStyle/>
          <a:p>
            <a:r>
              <a:rPr lang="de-CH" sz="1400" dirty="0" smtClean="0"/>
              <a:t>Source: MAP / </a:t>
            </a:r>
            <a:r>
              <a:rPr lang="de-CH" sz="1400" dirty="0" err="1" smtClean="0"/>
              <a:t>OpenMalaria</a:t>
            </a:r>
            <a:r>
              <a:rPr lang="de-CH" sz="1400" dirty="0" smtClean="0"/>
              <a:t> </a:t>
            </a:r>
            <a:r>
              <a:rPr lang="de-CH" sz="1400" dirty="0" err="1" smtClean="0"/>
              <a:t>simulations</a:t>
            </a:r>
            <a:endParaRPr lang="de-CH" sz="1400" i="1" dirty="0"/>
          </a:p>
        </p:txBody>
      </p:sp>
      <p:pic>
        <p:nvPicPr>
          <p:cNvPr id="57" name="Picture 56"/>
          <p:cNvPicPr>
            <a:picLocks noChangeAspect="1"/>
          </p:cNvPicPr>
          <p:nvPr/>
        </p:nvPicPr>
        <p:blipFill>
          <a:blip r:embed="rId8"/>
          <a:stretch>
            <a:fillRect/>
          </a:stretch>
        </p:blipFill>
        <p:spPr>
          <a:xfrm>
            <a:off x="1584241" y="3191148"/>
            <a:ext cx="6858000" cy="3257550"/>
          </a:xfrm>
          <a:prstGeom prst="rect">
            <a:avLst/>
          </a:prstGeom>
        </p:spPr>
      </p:pic>
      <p:sp>
        <p:nvSpPr>
          <p:cNvPr id="59" name="TextBox 58"/>
          <p:cNvSpPr txBox="1"/>
          <p:nvPr/>
        </p:nvSpPr>
        <p:spPr>
          <a:xfrm>
            <a:off x="3323529" y="6448698"/>
            <a:ext cx="4587241" cy="307777"/>
          </a:xfrm>
          <a:prstGeom prst="rect">
            <a:avLst/>
          </a:prstGeom>
          <a:noFill/>
        </p:spPr>
        <p:txBody>
          <a:bodyPr wrap="square" rtlCol="0">
            <a:spAutoFit/>
          </a:bodyPr>
          <a:lstStyle/>
          <a:p>
            <a:r>
              <a:rPr lang="de-CH" sz="1400" dirty="0" smtClean="0"/>
              <a:t>Source: MAP / </a:t>
            </a:r>
            <a:r>
              <a:rPr lang="de-CH" sz="1400" dirty="0" err="1" smtClean="0"/>
              <a:t>OpenMalaria</a:t>
            </a:r>
            <a:r>
              <a:rPr lang="de-CH" sz="1400" dirty="0" smtClean="0"/>
              <a:t> </a:t>
            </a:r>
            <a:r>
              <a:rPr lang="de-CH" sz="1400" dirty="0" err="1" smtClean="0"/>
              <a:t>simulations</a:t>
            </a:r>
            <a:endParaRPr lang="de-CH" sz="1400" i="1" dirty="0"/>
          </a:p>
        </p:txBody>
      </p:sp>
    </p:spTree>
    <p:extLst>
      <p:ext uri="{BB962C8B-B14F-4D97-AF65-F5344CB8AC3E}">
        <p14:creationId xmlns:p14="http://schemas.microsoft.com/office/powerpoint/2010/main" val="3585861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5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8"/>
          <p:cNvSpPr txBox="1">
            <a:spLocks noGrp="1"/>
          </p:cNvSpPr>
          <p:nvPr>
            <p:ph type="title"/>
          </p:nvPr>
        </p:nvSpPr>
        <p:spPr>
          <a:xfrm>
            <a:off x="125976" y="110546"/>
            <a:ext cx="10850000" cy="528551"/>
          </a:xfrm>
          <a:prstGeom prst="rect">
            <a:avLst/>
          </a:prstGeom>
          <a:noFill/>
          <a:ln>
            <a:noFill/>
          </a:ln>
        </p:spPr>
        <p:txBody>
          <a:bodyPr spcFirstLastPara="1" wrap="square" lIns="0" tIns="60933" rIns="121900" bIns="60933" anchor="ctr" anchorCtr="0">
            <a:noAutofit/>
          </a:bodyPr>
          <a:lstStyle/>
          <a:p>
            <a:r>
              <a:rPr lang="en" sz="2800" b="1" dirty="0" smtClean="0">
                <a:latin typeface="+mn-lt"/>
              </a:rPr>
              <a:t>Research Objectives</a:t>
            </a:r>
            <a:endParaRPr sz="2800" b="1" dirty="0">
              <a:latin typeface="+mn-lt"/>
            </a:endParaRPr>
          </a:p>
        </p:txBody>
      </p:sp>
      <p:graphicFrame>
        <p:nvGraphicFramePr>
          <p:cNvPr id="4" name="Diagram 3"/>
          <p:cNvGraphicFramePr/>
          <p:nvPr>
            <p:extLst/>
          </p:nvPr>
        </p:nvGraphicFramePr>
        <p:xfrm>
          <a:off x="0" y="719668"/>
          <a:ext cx="12192000" cy="9813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ounded Rectangle 6"/>
          <p:cNvSpPr/>
          <p:nvPr/>
        </p:nvSpPr>
        <p:spPr>
          <a:xfrm>
            <a:off x="7372350" y="1781553"/>
            <a:ext cx="4554179" cy="1297859"/>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refine </a:t>
            </a:r>
            <a:r>
              <a:rPr lang="en-US" dirty="0">
                <a:solidFill>
                  <a:schemeClr val="tx1"/>
                </a:solidFill>
              </a:rPr>
              <a:t>modeling scenarios for Ghana at the </a:t>
            </a:r>
            <a:r>
              <a:rPr lang="en-US" dirty="0" smtClean="0">
                <a:solidFill>
                  <a:schemeClr val="tx1"/>
                </a:solidFill>
              </a:rPr>
              <a:t>district </a:t>
            </a:r>
            <a:r>
              <a:rPr lang="en-US" dirty="0">
                <a:solidFill>
                  <a:schemeClr val="tx1"/>
                </a:solidFill>
              </a:rPr>
              <a:t>level and define prioritization criteria for combinations of interventions</a:t>
            </a:r>
            <a:endParaRPr lang="de-CH" dirty="0">
              <a:solidFill>
                <a:schemeClr val="tx1"/>
              </a:solidFill>
            </a:endParaRPr>
          </a:p>
        </p:txBody>
      </p:sp>
      <p:pic>
        <p:nvPicPr>
          <p:cNvPr id="5" name="Picture 4"/>
          <p:cNvPicPr>
            <a:picLocks noChangeAspect="1"/>
          </p:cNvPicPr>
          <p:nvPr/>
        </p:nvPicPr>
        <p:blipFill>
          <a:blip r:embed="rId8"/>
          <a:stretch>
            <a:fillRect/>
          </a:stretch>
        </p:blipFill>
        <p:spPr>
          <a:xfrm>
            <a:off x="7088167" y="3264408"/>
            <a:ext cx="2043404" cy="3255264"/>
          </a:xfrm>
          <a:prstGeom prst="rect">
            <a:avLst/>
          </a:prstGeom>
        </p:spPr>
      </p:pic>
      <p:sp>
        <p:nvSpPr>
          <p:cNvPr id="11" name="Curved Right Arrow 10"/>
          <p:cNvSpPr/>
          <p:nvPr/>
        </p:nvSpPr>
        <p:spPr>
          <a:xfrm>
            <a:off x="6660006" y="2961208"/>
            <a:ext cx="585216" cy="941832"/>
          </a:xfrm>
          <a:prstGeom prst="curvedRight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CH">
              <a:solidFill>
                <a:schemeClr val="tx1"/>
              </a:solidFill>
            </a:endParaRPr>
          </a:p>
        </p:txBody>
      </p:sp>
      <p:sp>
        <p:nvSpPr>
          <p:cNvPr id="13" name="TextBox 12"/>
          <p:cNvSpPr txBox="1"/>
          <p:nvPr/>
        </p:nvSpPr>
        <p:spPr>
          <a:xfrm>
            <a:off x="6837950" y="6515095"/>
            <a:ext cx="4587241" cy="307777"/>
          </a:xfrm>
          <a:prstGeom prst="rect">
            <a:avLst/>
          </a:prstGeom>
          <a:noFill/>
        </p:spPr>
        <p:txBody>
          <a:bodyPr wrap="square" rtlCol="0">
            <a:spAutoFit/>
          </a:bodyPr>
          <a:lstStyle/>
          <a:p>
            <a:r>
              <a:rPr lang="de-CH" sz="1400" dirty="0" smtClean="0"/>
              <a:t>Source: Ghana NMESP 2024-2028</a:t>
            </a:r>
            <a:r>
              <a:rPr lang="en-US" sz="1400" i="1" dirty="0" smtClean="0"/>
              <a:t>.</a:t>
            </a:r>
            <a:endParaRPr lang="de-CH" sz="1400" i="1" dirty="0"/>
          </a:p>
        </p:txBody>
      </p:sp>
      <p:pic>
        <p:nvPicPr>
          <p:cNvPr id="12" name="Picture 11"/>
          <p:cNvPicPr>
            <a:picLocks noChangeAspect="1"/>
          </p:cNvPicPr>
          <p:nvPr/>
        </p:nvPicPr>
        <p:blipFill>
          <a:blip r:embed="rId9"/>
          <a:stretch>
            <a:fillRect/>
          </a:stretch>
        </p:blipFill>
        <p:spPr>
          <a:xfrm>
            <a:off x="9381788" y="3535191"/>
            <a:ext cx="2705100" cy="2524125"/>
          </a:xfrm>
          <a:prstGeom prst="rect">
            <a:avLst/>
          </a:prstGeom>
        </p:spPr>
      </p:pic>
    </p:spTree>
    <p:extLst>
      <p:ext uri="{BB962C8B-B14F-4D97-AF65-F5344CB8AC3E}">
        <p14:creationId xmlns:p14="http://schemas.microsoft.com/office/powerpoint/2010/main" val="2771236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745200"/>
          </a:xfrm>
        </p:spPr>
        <p:txBody>
          <a:bodyPr/>
          <a:lstStyle/>
          <a:p>
            <a:r>
              <a:rPr lang="en-US" sz="2800" b="1" dirty="0" smtClean="0">
                <a:latin typeface="+mn-lt"/>
              </a:rPr>
              <a:t>Progress Update – MAIN ACTIVITIES</a:t>
            </a:r>
            <a:endParaRPr lang="en-US" sz="2800" b="1" dirty="0">
              <a:latin typeface="+mn-lt"/>
            </a:endParaRPr>
          </a:p>
        </p:txBody>
      </p:sp>
      <p:graphicFrame>
        <p:nvGraphicFramePr>
          <p:cNvPr id="2" name="Table 1"/>
          <p:cNvGraphicFramePr>
            <a:graphicFrameLocks noGrp="1"/>
          </p:cNvGraphicFramePr>
          <p:nvPr>
            <p:extLst>
              <p:ext uri="{D42A27DB-BD31-4B8C-83A1-F6EECF244321}">
                <p14:modId xmlns:p14="http://schemas.microsoft.com/office/powerpoint/2010/main" val="928700213"/>
              </p:ext>
            </p:extLst>
          </p:nvPr>
        </p:nvGraphicFramePr>
        <p:xfrm>
          <a:off x="565507" y="1280382"/>
          <a:ext cx="10635892" cy="2702545"/>
        </p:xfrm>
        <a:graphic>
          <a:graphicData uri="http://schemas.openxmlformats.org/drawingml/2006/table">
            <a:tbl>
              <a:tblPr firstRow="1" bandRow="1">
                <a:tableStyleId>{1FECB4D8-DB02-4DC6-A0A2-4F2EBAE1DC90}</a:tableStyleId>
              </a:tblPr>
              <a:tblGrid>
                <a:gridCol w="5317946">
                  <a:extLst>
                    <a:ext uri="{9D8B030D-6E8A-4147-A177-3AD203B41FA5}">
                      <a16:colId xmlns:a16="http://schemas.microsoft.com/office/drawing/2014/main" val="1681933380"/>
                    </a:ext>
                  </a:extLst>
                </a:gridCol>
                <a:gridCol w="5317946">
                  <a:extLst>
                    <a:ext uri="{9D8B030D-6E8A-4147-A177-3AD203B41FA5}">
                      <a16:colId xmlns:a16="http://schemas.microsoft.com/office/drawing/2014/main" val="1402814708"/>
                    </a:ext>
                  </a:extLst>
                </a:gridCol>
              </a:tblGrid>
              <a:tr h="566867">
                <a:tc>
                  <a:txBody>
                    <a:bodyPr/>
                    <a:lstStyle/>
                    <a:p>
                      <a:pPr algn="ctr"/>
                      <a:r>
                        <a:rPr lang="de-CH" dirty="0" smtClean="0"/>
                        <a:t>ACTIVITY</a:t>
                      </a:r>
                      <a:endParaRPr lang="de-CH" b="1" dirty="0"/>
                    </a:p>
                  </a:txBody>
                  <a:tcPr/>
                </a:tc>
                <a:tc>
                  <a:txBody>
                    <a:bodyPr/>
                    <a:lstStyle/>
                    <a:p>
                      <a:pPr algn="ctr"/>
                      <a:r>
                        <a:rPr lang="de-CH" dirty="0" smtClean="0"/>
                        <a:t>DATE (2024)</a:t>
                      </a:r>
                      <a:endParaRPr lang="de-CH" b="1" dirty="0"/>
                    </a:p>
                  </a:txBody>
                  <a:tcPr/>
                </a:tc>
                <a:extLst>
                  <a:ext uri="{0D108BD9-81ED-4DB2-BD59-A6C34878D82A}">
                    <a16:rowId xmlns:a16="http://schemas.microsoft.com/office/drawing/2014/main" val="2195506936"/>
                  </a:ext>
                </a:extLst>
              </a:tr>
              <a:tr h="566867">
                <a:tc>
                  <a:txBody>
                    <a:bodyPr/>
                    <a:lstStyle/>
                    <a:p>
                      <a:pPr algn="ctr"/>
                      <a:r>
                        <a:rPr lang="de-CH" dirty="0" smtClean="0"/>
                        <a:t>COURSES (10 ECTS)</a:t>
                      </a:r>
                      <a:endParaRPr lang="de-CH" dirty="0"/>
                    </a:p>
                  </a:txBody>
                  <a:tcPr/>
                </a:tc>
                <a:tc>
                  <a:txBody>
                    <a:bodyPr/>
                    <a:lstStyle/>
                    <a:p>
                      <a:pPr algn="ctr"/>
                      <a:r>
                        <a:rPr lang="de-CH" dirty="0" smtClean="0"/>
                        <a:t>FEBRUARY – JUNE </a:t>
                      </a:r>
                      <a:endParaRPr lang="de-CH" dirty="0"/>
                    </a:p>
                  </a:txBody>
                  <a:tcPr/>
                </a:tc>
                <a:extLst>
                  <a:ext uri="{0D108BD9-81ED-4DB2-BD59-A6C34878D82A}">
                    <a16:rowId xmlns:a16="http://schemas.microsoft.com/office/drawing/2014/main" val="4241712211"/>
                  </a:ext>
                </a:extLst>
              </a:tr>
              <a:tr h="566867">
                <a:tc>
                  <a:txBody>
                    <a:bodyPr/>
                    <a:lstStyle/>
                    <a:p>
                      <a:pPr algn="ctr"/>
                      <a:r>
                        <a:rPr lang="de-CH" dirty="0" smtClean="0"/>
                        <a:t>OPENMALARIA TRAINING</a:t>
                      </a:r>
                      <a:endParaRPr lang="de-CH" dirty="0"/>
                    </a:p>
                  </a:txBody>
                  <a:tcPr/>
                </a:tc>
                <a:tc>
                  <a:txBody>
                    <a:bodyPr/>
                    <a:lstStyle/>
                    <a:p>
                      <a:pPr algn="ctr"/>
                      <a:r>
                        <a:rPr lang="de-CH" dirty="0" smtClean="0"/>
                        <a:t>MAY – JULY </a:t>
                      </a:r>
                      <a:endParaRPr lang="de-CH" dirty="0"/>
                    </a:p>
                  </a:txBody>
                  <a:tcPr/>
                </a:tc>
                <a:extLst>
                  <a:ext uri="{0D108BD9-81ED-4DB2-BD59-A6C34878D82A}">
                    <a16:rowId xmlns:a16="http://schemas.microsoft.com/office/drawing/2014/main" val="2505058517"/>
                  </a:ext>
                </a:extLst>
              </a:tr>
              <a:tr h="435077">
                <a:tc>
                  <a:txBody>
                    <a:bodyPr/>
                    <a:lstStyle/>
                    <a:p>
                      <a:pPr algn="ctr"/>
                      <a:r>
                        <a:rPr lang="de-CH" dirty="0" smtClean="0"/>
                        <a:t>PROPOSAL WRITING, PRESENTATION AND SUBMISSION </a:t>
                      </a:r>
                      <a:endParaRPr lang="de-CH" dirty="0"/>
                    </a:p>
                  </a:txBody>
                  <a:tcPr/>
                </a:tc>
                <a:tc>
                  <a:txBody>
                    <a:bodyPr/>
                    <a:lstStyle/>
                    <a:p>
                      <a:pPr algn="ctr"/>
                      <a:r>
                        <a:rPr lang="de-CH" dirty="0" smtClean="0"/>
                        <a:t>FEBRUARY – AUGUST </a:t>
                      </a:r>
                      <a:endParaRPr lang="de-CH" dirty="0"/>
                    </a:p>
                  </a:txBody>
                  <a:tcPr/>
                </a:tc>
                <a:extLst>
                  <a:ext uri="{0D108BD9-81ED-4DB2-BD59-A6C34878D82A}">
                    <a16:rowId xmlns:a16="http://schemas.microsoft.com/office/drawing/2014/main" val="2961666755"/>
                  </a:ext>
                </a:extLst>
              </a:tr>
              <a:tr h="566867">
                <a:tc>
                  <a:txBody>
                    <a:bodyPr/>
                    <a:lstStyle/>
                    <a:p>
                      <a:pPr algn="ctr"/>
                      <a:r>
                        <a:rPr lang="de-CH" dirty="0" smtClean="0"/>
                        <a:t>OBJECTIVE 1</a:t>
                      </a:r>
                      <a:endParaRPr lang="de-CH" dirty="0"/>
                    </a:p>
                  </a:txBody>
                  <a:tcPr/>
                </a:tc>
                <a:tc>
                  <a:txBody>
                    <a:bodyPr/>
                    <a:lstStyle/>
                    <a:p>
                      <a:pPr algn="ctr"/>
                      <a:r>
                        <a:rPr lang="de-CH" dirty="0" smtClean="0"/>
                        <a:t>SEPTEMBER</a:t>
                      </a:r>
                      <a:r>
                        <a:rPr lang="de-CH" baseline="0" dirty="0" smtClean="0"/>
                        <a:t> – ONGOING </a:t>
                      </a:r>
                      <a:endParaRPr lang="de-CH" dirty="0"/>
                    </a:p>
                  </a:txBody>
                  <a:tcPr/>
                </a:tc>
                <a:extLst>
                  <a:ext uri="{0D108BD9-81ED-4DB2-BD59-A6C34878D82A}">
                    <a16:rowId xmlns:a16="http://schemas.microsoft.com/office/drawing/2014/main" val="65725649"/>
                  </a:ext>
                </a:extLst>
              </a:tr>
            </a:tbl>
          </a:graphicData>
        </a:graphic>
      </p:graphicFrame>
    </p:spTree>
    <p:extLst>
      <p:ext uri="{BB962C8B-B14F-4D97-AF65-F5344CB8AC3E}">
        <p14:creationId xmlns:p14="http://schemas.microsoft.com/office/powerpoint/2010/main" val="29356498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86338"/>
            <a:ext cx="12074013" cy="745200"/>
          </a:xfrm>
        </p:spPr>
        <p:txBody>
          <a:bodyPr/>
          <a:lstStyle/>
          <a:p>
            <a:r>
              <a:rPr lang="en-US" sz="2800" b="1" dirty="0" smtClean="0">
                <a:latin typeface="+mn-lt"/>
              </a:rPr>
              <a:t>Progress Update </a:t>
            </a:r>
            <a:r>
              <a:rPr lang="en-US" sz="2800" b="1" dirty="0" smtClean="0">
                <a:latin typeface="+mn-lt"/>
              </a:rPr>
              <a:t>– </a:t>
            </a:r>
            <a:r>
              <a:rPr lang="en-US" sz="2800" b="1" dirty="0" err="1" smtClean="0">
                <a:latin typeface="+mn-lt"/>
              </a:rPr>
              <a:t>Timeplan</a:t>
            </a:r>
            <a:r>
              <a:rPr lang="en-US" sz="2800" b="1" dirty="0" smtClean="0">
                <a:latin typeface="+mn-lt"/>
              </a:rPr>
              <a:t> (Oct 2024)</a:t>
            </a:r>
            <a:endParaRPr lang="en-US" sz="2800" b="1" dirty="0">
              <a:latin typeface="+mn-lt"/>
            </a:endParaRPr>
          </a:p>
        </p:txBody>
      </p:sp>
      <p:pic>
        <p:nvPicPr>
          <p:cNvPr id="4" name="Picture 3"/>
          <p:cNvPicPr>
            <a:picLocks noChangeAspect="1"/>
          </p:cNvPicPr>
          <p:nvPr/>
        </p:nvPicPr>
        <p:blipFill>
          <a:blip r:embed="rId3"/>
          <a:stretch>
            <a:fillRect/>
          </a:stretch>
        </p:blipFill>
        <p:spPr>
          <a:xfrm>
            <a:off x="781240" y="1229296"/>
            <a:ext cx="10391775" cy="5514975"/>
          </a:xfrm>
          <a:prstGeom prst="rect">
            <a:avLst/>
          </a:prstGeom>
        </p:spPr>
      </p:pic>
      <p:sp>
        <p:nvSpPr>
          <p:cNvPr id="10" name="Down Arrow 9"/>
          <p:cNvSpPr/>
          <p:nvPr/>
        </p:nvSpPr>
        <p:spPr>
          <a:xfrm>
            <a:off x="5486400" y="1101280"/>
            <a:ext cx="109728" cy="2282000"/>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Tree>
    <p:extLst>
      <p:ext uri="{BB962C8B-B14F-4D97-AF65-F5344CB8AC3E}">
        <p14:creationId xmlns:p14="http://schemas.microsoft.com/office/powerpoint/2010/main" val="2432670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86338"/>
            <a:ext cx="12074013" cy="745200"/>
          </a:xfrm>
        </p:spPr>
        <p:txBody>
          <a:bodyPr/>
          <a:lstStyle/>
          <a:p>
            <a:r>
              <a:rPr lang="en-US" sz="2800" b="1" dirty="0" smtClean="0">
                <a:latin typeface="+mn-lt"/>
              </a:rPr>
              <a:t>Progress Update </a:t>
            </a:r>
            <a:r>
              <a:rPr lang="en-US" sz="2800" b="1" dirty="0" smtClean="0">
                <a:latin typeface="+mn-lt"/>
              </a:rPr>
              <a:t>– </a:t>
            </a:r>
            <a:r>
              <a:rPr lang="en-US" sz="2800" b="1" dirty="0" err="1" smtClean="0">
                <a:latin typeface="+mn-lt"/>
              </a:rPr>
              <a:t>Timeplan</a:t>
            </a:r>
            <a:r>
              <a:rPr lang="en-US" sz="2800" b="1" dirty="0" smtClean="0">
                <a:latin typeface="+mn-lt"/>
              </a:rPr>
              <a:t> (May 2025)</a:t>
            </a:r>
            <a:endParaRPr lang="en-US" sz="2800" b="1" dirty="0">
              <a:latin typeface="+mn-lt"/>
            </a:endParaRPr>
          </a:p>
        </p:txBody>
      </p:sp>
      <p:sp>
        <p:nvSpPr>
          <p:cNvPr id="12" name="Rectangle 11"/>
          <p:cNvSpPr/>
          <p:nvPr/>
        </p:nvSpPr>
        <p:spPr>
          <a:xfrm>
            <a:off x="3823855" y="2161309"/>
            <a:ext cx="203199" cy="3702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2" name="Picture 1"/>
          <p:cNvPicPr>
            <a:picLocks noChangeAspect="1"/>
          </p:cNvPicPr>
          <p:nvPr/>
        </p:nvPicPr>
        <p:blipFill>
          <a:blip r:embed="rId3"/>
          <a:stretch>
            <a:fillRect/>
          </a:stretch>
        </p:blipFill>
        <p:spPr>
          <a:xfrm>
            <a:off x="600364" y="502026"/>
            <a:ext cx="10639136" cy="5961264"/>
          </a:xfrm>
          <a:prstGeom prst="rect">
            <a:avLst/>
          </a:prstGeom>
        </p:spPr>
      </p:pic>
    </p:spTree>
    <p:extLst>
      <p:ext uri="{BB962C8B-B14F-4D97-AF65-F5344CB8AC3E}">
        <p14:creationId xmlns:p14="http://schemas.microsoft.com/office/powerpoint/2010/main" val="60724931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745200"/>
          </a:xfrm>
        </p:spPr>
        <p:txBody>
          <a:bodyPr/>
          <a:lstStyle/>
          <a:p>
            <a:r>
              <a:rPr lang="en-US" sz="2800" b="1" dirty="0" smtClean="0">
                <a:latin typeface="+mn-lt"/>
              </a:rPr>
              <a:t>Objective 1 </a:t>
            </a:r>
            <a:endParaRPr lang="en-US" sz="2800" b="1" dirty="0">
              <a:latin typeface="+mn-lt"/>
            </a:endParaRPr>
          </a:p>
        </p:txBody>
      </p:sp>
      <p:sp>
        <p:nvSpPr>
          <p:cNvPr id="2" name="Rectangle 1"/>
          <p:cNvSpPr/>
          <p:nvPr/>
        </p:nvSpPr>
        <p:spPr>
          <a:xfrm>
            <a:off x="117986" y="701132"/>
            <a:ext cx="11159706" cy="4893647"/>
          </a:xfrm>
          <a:prstGeom prst="rect">
            <a:avLst/>
          </a:prstGeom>
        </p:spPr>
        <p:txBody>
          <a:bodyPr wrap="square">
            <a:spAutoFit/>
          </a:bodyPr>
          <a:lstStyle/>
          <a:p>
            <a:r>
              <a:rPr lang="de-CH" sz="2400" b="1" dirty="0" smtClean="0">
                <a:solidFill>
                  <a:schemeClr val="tx1"/>
                </a:solidFill>
              </a:rPr>
              <a:t>Perform </a:t>
            </a:r>
            <a:r>
              <a:rPr lang="de-CH" sz="2400" b="1" dirty="0" err="1" smtClean="0">
                <a:solidFill>
                  <a:schemeClr val="tx1"/>
                </a:solidFill>
              </a:rPr>
              <a:t>sensitivity</a:t>
            </a:r>
            <a:r>
              <a:rPr lang="de-CH" sz="2400" b="1" dirty="0" smtClean="0">
                <a:solidFill>
                  <a:schemeClr val="tx1"/>
                </a:solidFill>
              </a:rPr>
              <a:t> </a:t>
            </a:r>
            <a:r>
              <a:rPr lang="de-CH" sz="2400" b="1" dirty="0" err="1" smtClean="0">
                <a:solidFill>
                  <a:schemeClr val="tx1"/>
                </a:solidFill>
              </a:rPr>
              <a:t>analysis</a:t>
            </a:r>
            <a:r>
              <a:rPr lang="de-CH" sz="2400" b="1" dirty="0" smtClean="0">
                <a:solidFill>
                  <a:schemeClr val="tx1"/>
                </a:solidFill>
              </a:rPr>
              <a:t> </a:t>
            </a:r>
            <a:r>
              <a:rPr lang="de-CH" sz="2400" b="1" dirty="0" err="1" smtClean="0">
                <a:solidFill>
                  <a:schemeClr val="tx1"/>
                </a:solidFill>
              </a:rPr>
              <a:t>of</a:t>
            </a:r>
            <a:r>
              <a:rPr lang="de-CH" sz="2400" b="1" dirty="0" smtClean="0">
                <a:solidFill>
                  <a:schemeClr val="tx1"/>
                </a:solidFill>
              </a:rPr>
              <a:t> </a:t>
            </a:r>
            <a:r>
              <a:rPr lang="de-CH" sz="2400" b="1" dirty="0" err="1" smtClean="0">
                <a:solidFill>
                  <a:schemeClr val="tx1"/>
                </a:solidFill>
              </a:rPr>
              <a:t>coverage</a:t>
            </a:r>
            <a:r>
              <a:rPr lang="de-CH" sz="2400" b="1" dirty="0" smtClean="0">
                <a:solidFill>
                  <a:schemeClr val="tx1"/>
                </a:solidFill>
              </a:rPr>
              <a:t>, </a:t>
            </a:r>
            <a:r>
              <a:rPr lang="de-CH" sz="2400" b="1" dirty="0" err="1" smtClean="0">
                <a:solidFill>
                  <a:schemeClr val="tx1"/>
                </a:solidFill>
              </a:rPr>
              <a:t>halflife</a:t>
            </a:r>
            <a:r>
              <a:rPr lang="de-CH" sz="2400" b="1" dirty="0" smtClean="0">
                <a:solidFill>
                  <a:schemeClr val="tx1"/>
                </a:solidFill>
              </a:rPr>
              <a:t> </a:t>
            </a:r>
            <a:r>
              <a:rPr lang="de-CH" sz="2400" b="1" dirty="0" err="1" smtClean="0">
                <a:solidFill>
                  <a:schemeClr val="tx1"/>
                </a:solidFill>
              </a:rPr>
              <a:t>of</a:t>
            </a:r>
            <a:r>
              <a:rPr lang="de-CH" sz="2400" b="1" dirty="0" smtClean="0">
                <a:solidFill>
                  <a:schemeClr val="tx1"/>
                </a:solidFill>
              </a:rPr>
              <a:t> </a:t>
            </a:r>
            <a:r>
              <a:rPr lang="de-CH" sz="2400" b="1" dirty="0" err="1" smtClean="0">
                <a:solidFill>
                  <a:schemeClr val="tx1"/>
                </a:solidFill>
              </a:rPr>
              <a:t>efficacy</a:t>
            </a:r>
            <a:r>
              <a:rPr lang="de-CH" sz="2400" b="1" dirty="0" smtClean="0">
                <a:solidFill>
                  <a:schemeClr val="tx1"/>
                </a:solidFill>
              </a:rPr>
              <a:t> </a:t>
            </a:r>
            <a:r>
              <a:rPr lang="de-CH" sz="2400" b="1" dirty="0" err="1" smtClean="0">
                <a:solidFill>
                  <a:schemeClr val="tx1"/>
                </a:solidFill>
              </a:rPr>
              <a:t>and</a:t>
            </a:r>
            <a:r>
              <a:rPr lang="de-CH" sz="2400" b="1" dirty="0" smtClean="0">
                <a:solidFill>
                  <a:schemeClr val="tx1"/>
                </a:solidFill>
              </a:rPr>
              <a:t> </a:t>
            </a:r>
            <a:r>
              <a:rPr lang="de-CH" sz="2400" b="1" dirty="0" err="1" smtClean="0">
                <a:solidFill>
                  <a:schemeClr val="tx1"/>
                </a:solidFill>
              </a:rPr>
              <a:t>vector</a:t>
            </a:r>
            <a:r>
              <a:rPr lang="de-CH" sz="2400" b="1" dirty="0" smtClean="0">
                <a:solidFill>
                  <a:schemeClr val="tx1"/>
                </a:solidFill>
              </a:rPr>
              <a:t> </a:t>
            </a:r>
            <a:r>
              <a:rPr lang="de-CH" sz="2400" b="1" dirty="0" err="1" smtClean="0">
                <a:solidFill>
                  <a:schemeClr val="tx1"/>
                </a:solidFill>
              </a:rPr>
              <a:t>composition</a:t>
            </a:r>
            <a:r>
              <a:rPr lang="de-CH" sz="2400" b="1" dirty="0" smtClean="0">
                <a:solidFill>
                  <a:schemeClr val="tx1"/>
                </a:solidFill>
              </a:rPr>
              <a:t> </a:t>
            </a:r>
            <a:r>
              <a:rPr lang="de-CH" sz="2400" b="1" dirty="0" err="1" smtClean="0">
                <a:solidFill>
                  <a:schemeClr val="tx1"/>
                </a:solidFill>
              </a:rPr>
              <a:t>towards</a:t>
            </a:r>
            <a:r>
              <a:rPr lang="de-CH" sz="2400" b="1" dirty="0" smtClean="0">
                <a:solidFill>
                  <a:schemeClr val="tx1"/>
                </a:solidFill>
              </a:rPr>
              <a:t> </a:t>
            </a:r>
            <a:r>
              <a:rPr lang="de-CH" sz="2400" b="1" dirty="0" err="1" smtClean="0">
                <a:solidFill>
                  <a:schemeClr val="tx1"/>
                </a:solidFill>
              </a:rPr>
              <a:t>prevalence</a:t>
            </a:r>
            <a:r>
              <a:rPr lang="de-CH" sz="2400" b="1" dirty="0" smtClean="0">
                <a:solidFill>
                  <a:schemeClr val="tx1"/>
                </a:solidFill>
              </a:rPr>
              <a:t> </a:t>
            </a:r>
            <a:r>
              <a:rPr lang="de-CH" sz="2400" b="1" dirty="0" err="1" smtClean="0">
                <a:solidFill>
                  <a:schemeClr val="tx1"/>
                </a:solidFill>
              </a:rPr>
              <a:t>reduction</a:t>
            </a:r>
            <a:r>
              <a:rPr lang="de-CH" sz="2400" b="1" dirty="0" smtClean="0">
                <a:solidFill>
                  <a:schemeClr val="tx1"/>
                </a:solidFill>
              </a:rPr>
              <a:t> </a:t>
            </a:r>
            <a:r>
              <a:rPr lang="de-CH" sz="2400" b="1" dirty="0" err="1" smtClean="0">
                <a:solidFill>
                  <a:schemeClr val="tx1"/>
                </a:solidFill>
              </a:rPr>
              <a:t>and</a:t>
            </a:r>
            <a:r>
              <a:rPr lang="de-CH" sz="2400" b="1" dirty="0" smtClean="0">
                <a:solidFill>
                  <a:schemeClr val="tx1"/>
                </a:solidFill>
              </a:rPr>
              <a:t> </a:t>
            </a:r>
            <a:r>
              <a:rPr lang="de-CH" sz="2400" b="1" dirty="0" err="1" smtClean="0">
                <a:solidFill>
                  <a:schemeClr val="tx1"/>
                </a:solidFill>
              </a:rPr>
              <a:t>clinical</a:t>
            </a:r>
            <a:r>
              <a:rPr lang="de-CH" sz="2400" b="1" dirty="0" smtClean="0">
                <a:solidFill>
                  <a:schemeClr val="tx1"/>
                </a:solidFill>
              </a:rPr>
              <a:t> </a:t>
            </a:r>
            <a:r>
              <a:rPr lang="de-CH" sz="2400" b="1" dirty="0" err="1" smtClean="0">
                <a:solidFill>
                  <a:schemeClr val="tx1"/>
                </a:solidFill>
              </a:rPr>
              <a:t>cases</a:t>
            </a:r>
            <a:r>
              <a:rPr lang="de-CH" sz="2400" b="1" dirty="0" smtClean="0">
                <a:solidFill>
                  <a:schemeClr val="tx1"/>
                </a:solidFill>
              </a:rPr>
              <a:t> </a:t>
            </a:r>
            <a:r>
              <a:rPr lang="de-CH" sz="2400" b="1" dirty="0" err="1" smtClean="0">
                <a:solidFill>
                  <a:schemeClr val="tx1"/>
                </a:solidFill>
              </a:rPr>
              <a:t>averted</a:t>
            </a:r>
            <a:r>
              <a:rPr lang="de-CH" sz="2400" b="1" dirty="0" smtClean="0">
                <a:solidFill>
                  <a:schemeClr val="tx1"/>
                </a:solidFill>
              </a:rPr>
              <a:t>.</a:t>
            </a:r>
          </a:p>
          <a:p>
            <a:endParaRPr lang="de-CH" sz="2400" b="1" dirty="0" smtClean="0">
              <a:solidFill>
                <a:schemeClr val="tx1"/>
              </a:solidFill>
            </a:endParaRPr>
          </a:p>
          <a:p>
            <a:pPr lvl="1"/>
            <a:r>
              <a:rPr lang="de-CH" sz="2400" b="1" dirty="0" smtClean="0">
                <a:solidFill>
                  <a:schemeClr val="tx1"/>
                </a:solidFill>
              </a:rPr>
              <a:t>Perform </a:t>
            </a:r>
            <a:r>
              <a:rPr lang="de-CH" sz="2400" b="1" dirty="0" err="1" smtClean="0">
                <a:solidFill>
                  <a:schemeClr val="tx1"/>
                </a:solidFill>
              </a:rPr>
              <a:t>sensitivity</a:t>
            </a:r>
            <a:r>
              <a:rPr lang="de-CH" sz="2400" b="1" dirty="0" smtClean="0">
                <a:solidFill>
                  <a:schemeClr val="tx1"/>
                </a:solidFill>
              </a:rPr>
              <a:t> </a:t>
            </a:r>
            <a:r>
              <a:rPr lang="de-CH" sz="2400" b="1" dirty="0" err="1" smtClean="0">
                <a:solidFill>
                  <a:schemeClr val="tx1"/>
                </a:solidFill>
              </a:rPr>
              <a:t>analysis</a:t>
            </a:r>
            <a:r>
              <a:rPr lang="de-CH" sz="2400" b="1" dirty="0" smtClean="0">
                <a:solidFill>
                  <a:schemeClr val="tx1"/>
                </a:solidFill>
              </a:rPr>
              <a:t> </a:t>
            </a:r>
            <a:r>
              <a:rPr lang="de-CH" sz="2400" b="1" dirty="0" err="1" smtClean="0">
                <a:solidFill>
                  <a:schemeClr val="tx1"/>
                </a:solidFill>
              </a:rPr>
              <a:t>of</a:t>
            </a:r>
            <a:r>
              <a:rPr lang="de-CH" sz="2400" b="1" dirty="0" smtClean="0">
                <a:solidFill>
                  <a:schemeClr val="tx1"/>
                </a:solidFill>
              </a:rPr>
              <a:t> </a:t>
            </a:r>
            <a:r>
              <a:rPr lang="de-CH" sz="2400" b="1" dirty="0" err="1" smtClean="0">
                <a:solidFill>
                  <a:schemeClr val="tx1"/>
                </a:solidFill>
              </a:rPr>
              <a:t>future</a:t>
            </a:r>
            <a:r>
              <a:rPr lang="de-CH" sz="2400" b="1" dirty="0" smtClean="0">
                <a:solidFill>
                  <a:schemeClr val="tx1"/>
                </a:solidFill>
              </a:rPr>
              <a:t> </a:t>
            </a:r>
            <a:r>
              <a:rPr lang="de-CH" sz="2400" b="1" dirty="0" err="1" smtClean="0">
                <a:solidFill>
                  <a:schemeClr val="tx1"/>
                </a:solidFill>
              </a:rPr>
              <a:t>intervention</a:t>
            </a:r>
            <a:r>
              <a:rPr lang="de-CH" sz="2400" b="1" dirty="0" smtClean="0">
                <a:solidFill>
                  <a:schemeClr val="tx1"/>
                </a:solidFill>
              </a:rPr>
              <a:t> </a:t>
            </a:r>
            <a:r>
              <a:rPr lang="de-CH" sz="2400" b="1" dirty="0" err="1" smtClean="0">
                <a:solidFill>
                  <a:schemeClr val="tx1"/>
                </a:solidFill>
              </a:rPr>
              <a:t>coverage</a:t>
            </a:r>
            <a:r>
              <a:rPr lang="de-CH" sz="2400" b="1" dirty="0" smtClean="0">
                <a:solidFill>
                  <a:schemeClr val="tx1"/>
                </a:solidFill>
              </a:rPr>
              <a:t>  </a:t>
            </a:r>
            <a:r>
              <a:rPr lang="de-CH" sz="2400" b="1" dirty="0" err="1" smtClean="0">
                <a:solidFill>
                  <a:schemeClr val="tx1"/>
                </a:solidFill>
              </a:rPr>
              <a:t>towards</a:t>
            </a:r>
            <a:r>
              <a:rPr lang="de-CH" sz="2400" b="1" dirty="0" smtClean="0">
                <a:solidFill>
                  <a:schemeClr val="tx1"/>
                </a:solidFill>
              </a:rPr>
              <a:t> </a:t>
            </a:r>
            <a:r>
              <a:rPr lang="de-CH" sz="2400" b="1" dirty="0" err="1" smtClean="0">
                <a:solidFill>
                  <a:schemeClr val="tx1"/>
                </a:solidFill>
              </a:rPr>
              <a:t>prevalence</a:t>
            </a:r>
            <a:r>
              <a:rPr lang="de-CH" sz="2400" b="1" dirty="0" smtClean="0">
                <a:solidFill>
                  <a:schemeClr val="tx1"/>
                </a:solidFill>
              </a:rPr>
              <a:t> rate in </a:t>
            </a:r>
            <a:r>
              <a:rPr lang="de-CH" sz="2400" b="1" dirty="0" err="1" smtClean="0">
                <a:solidFill>
                  <a:schemeClr val="tx1"/>
                </a:solidFill>
              </a:rPr>
              <a:t>the</a:t>
            </a:r>
            <a:r>
              <a:rPr lang="de-CH" sz="2400" b="1" dirty="0" smtClean="0">
                <a:solidFill>
                  <a:schemeClr val="tx1"/>
                </a:solidFill>
              </a:rPr>
              <a:t> </a:t>
            </a:r>
            <a:r>
              <a:rPr lang="de-CH" sz="2400" b="1" dirty="0" err="1" smtClean="0">
                <a:solidFill>
                  <a:schemeClr val="tx1"/>
                </a:solidFill>
              </a:rPr>
              <a:t>Upper</a:t>
            </a:r>
            <a:r>
              <a:rPr lang="de-CH" sz="2400" b="1" dirty="0" smtClean="0">
                <a:solidFill>
                  <a:schemeClr val="tx1"/>
                </a:solidFill>
              </a:rPr>
              <a:t> East4 </a:t>
            </a:r>
            <a:r>
              <a:rPr lang="de-CH" sz="2400" b="1" dirty="0" err="1" smtClean="0">
                <a:solidFill>
                  <a:schemeClr val="tx1"/>
                </a:solidFill>
              </a:rPr>
              <a:t>region</a:t>
            </a:r>
            <a:r>
              <a:rPr lang="de-CH" sz="2400" b="1" dirty="0" smtClean="0">
                <a:solidFill>
                  <a:schemeClr val="tx1"/>
                </a:solidFill>
              </a:rPr>
              <a:t>, Ghana</a:t>
            </a:r>
          </a:p>
          <a:p>
            <a:pPr lvl="1"/>
            <a:endParaRPr lang="de-CH" sz="2400" b="1" dirty="0" smtClean="0">
              <a:solidFill>
                <a:schemeClr val="tx1"/>
              </a:solidFill>
            </a:endParaRPr>
          </a:p>
          <a:p>
            <a:pPr marL="800100" lvl="1" indent="-342900">
              <a:buFont typeface="Arial" panose="020B0604020202020204" pitchFamily="34" charset="0"/>
              <a:buChar char="•"/>
            </a:pPr>
            <a:r>
              <a:rPr lang="de-CH" sz="2400" dirty="0" smtClean="0">
                <a:solidFill>
                  <a:schemeClr val="tx1"/>
                </a:solidFill>
              </a:rPr>
              <a:t>3 </a:t>
            </a:r>
            <a:r>
              <a:rPr lang="de-CH" sz="2400" dirty="0" err="1" smtClean="0">
                <a:solidFill>
                  <a:schemeClr val="tx1"/>
                </a:solidFill>
              </a:rPr>
              <a:t>Interventions</a:t>
            </a:r>
            <a:r>
              <a:rPr lang="de-CH" sz="2400" dirty="0" smtClean="0">
                <a:solidFill>
                  <a:schemeClr val="tx1"/>
                </a:solidFill>
              </a:rPr>
              <a:t>: LLINS, SMC, RTSS </a:t>
            </a:r>
          </a:p>
          <a:p>
            <a:pPr lvl="1"/>
            <a:endParaRPr lang="de-CH" sz="2400" dirty="0"/>
          </a:p>
          <a:p>
            <a:pPr marL="800100" lvl="1" indent="-342900">
              <a:buFont typeface="Arial" panose="020B0604020202020204" pitchFamily="34" charset="0"/>
              <a:buChar char="•"/>
            </a:pPr>
            <a:r>
              <a:rPr lang="de-CH" sz="2400" dirty="0" smtClean="0"/>
              <a:t>OAT </a:t>
            </a:r>
            <a:r>
              <a:rPr lang="de-CH" sz="2400" dirty="0" err="1" smtClean="0"/>
              <a:t>and</a:t>
            </a:r>
            <a:r>
              <a:rPr lang="de-CH" sz="2400" dirty="0" smtClean="0"/>
              <a:t> Sobol’ </a:t>
            </a:r>
            <a:r>
              <a:rPr lang="de-CH" sz="2400" dirty="0" err="1" smtClean="0"/>
              <a:t>sensitivity</a:t>
            </a:r>
            <a:r>
              <a:rPr lang="de-CH" sz="2400" dirty="0" smtClean="0"/>
              <a:t> </a:t>
            </a:r>
            <a:r>
              <a:rPr lang="de-CH" sz="2400" dirty="0" err="1" smtClean="0"/>
              <a:t>analysis</a:t>
            </a:r>
            <a:endParaRPr lang="de-CH" sz="2400" dirty="0" smtClean="0"/>
          </a:p>
          <a:p>
            <a:pPr lvl="1"/>
            <a:endParaRPr lang="de-CH" sz="2400" dirty="0" smtClean="0"/>
          </a:p>
          <a:p>
            <a:pPr marL="800100" lvl="1" indent="-342900">
              <a:buFont typeface="Arial" panose="020B0604020202020204" pitchFamily="34" charset="0"/>
              <a:buChar char="•"/>
            </a:pPr>
            <a:r>
              <a:rPr lang="de-CH" sz="2400" dirty="0" smtClean="0"/>
              <a:t>Historical </a:t>
            </a:r>
            <a:r>
              <a:rPr lang="de-CH" sz="2400" dirty="0" err="1" smtClean="0"/>
              <a:t>intervention</a:t>
            </a:r>
            <a:r>
              <a:rPr lang="de-CH" sz="2400" dirty="0" smtClean="0"/>
              <a:t> </a:t>
            </a:r>
            <a:r>
              <a:rPr lang="de-CH" sz="2400" dirty="0" err="1" smtClean="0"/>
              <a:t>coverage</a:t>
            </a:r>
            <a:r>
              <a:rPr lang="de-CH" sz="2400" dirty="0" smtClean="0"/>
              <a:t> </a:t>
            </a:r>
            <a:r>
              <a:rPr lang="de-CH" sz="2400" dirty="0" err="1" smtClean="0"/>
              <a:t>for</a:t>
            </a:r>
            <a:r>
              <a:rPr lang="de-CH" sz="2400" dirty="0" smtClean="0"/>
              <a:t> GA </a:t>
            </a:r>
            <a:r>
              <a:rPr lang="de-CH" sz="2400" dirty="0" err="1" smtClean="0"/>
              <a:t>and</a:t>
            </a:r>
            <a:r>
              <a:rPr lang="de-CH" sz="2400" dirty="0" smtClean="0"/>
              <a:t> NE</a:t>
            </a:r>
          </a:p>
          <a:p>
            <a:pPr lvl="1"/>
            <a:endParaRPr lang="de-CH" sz="2400" dirty="0" smtClean="0"/>
          </a:p>
          <a:p>
            <a:pPr marL="800100" lvl="1" indent="-342900">
              <a:buFont typeface="Arial" panose="020B0604020202020204" pitchFamily="34" charset="0"/>
              <a:buChar char="•"/>
            </a:pPr>
            <a:r>
              <a:rPr lang="de-CH" sz="2400" b="1" dirty="0" smtClean="0"/>
              <a:t>Future </a:t>
            </a:r>
            <a:r>
              <a:rPr lang="de-CH" sz="2400" b="1" dirty="0" err="1" smtClean="0"/>
              <a:t>intervention</a:t>
            </a:r>
            <a:r>
              <a:rPr lang="de-CH" sz="2400" b="1" dirty="0" smtClean="0"/>
              <a:t> </a:t>
            </a:r>
            <a:r>
              <a:rPr lang="de-CH" sz="2400" b="1" dirty="0" err="1" smtClean="0"/>
              <a:t>coverage</a:t>
            </a:r>
            <a:r>
              <a:rPr lang="de-CH" sz="2400" b="1" dirty="0" smtClean="0"/>
              <a:t> </a:t>
            </a:r>
            <a:r>
              <a:rPr lang="de-CH" sz="2400" b="1" dirty="0" err="1" smtClean="0"/>
              <a:t>for</a:t>
            </a:r>
            <a:r>
              <a:rPr lang="de-CH" sz="2400" dirty="0" smtClean="0"/>
              <a:t> Ashanti1 </a:t>
            </a:r>
            <a:r>
              <a:rPr lang="de-CH" sz="2400" dirty="0" err="1" smtClean="0"/>
              <a:t>and</a:t>
            </a:r>
            <a:r>
              <a:rPr lang="de-CH" sz="2400" dirty="0" smtClean="0"/>
              <a:t> </a:t>
            </a:r>
            <a:r>
              <a:rPr lang="de-CH" sz="2400" b="1" dirty="0" err="1" smtClean="0"/>
              <a:t>Upper</a:t>
            </a:r>
            <a:r>
              <a:rPr lang="de-CH" sz="2400" b="1" dirty="0" smtClean="0"/>
              <a:t> East4</a:t>
            </a:r>
            <a:endParaRPr lang="de-CH" sz="2400" b="1" dirty="0"/>
          </a:p>
        </p:txBody>
      </p:sp>
      <p:sp>
        <p:nvSpPr>
          <p:cNvPr id="3" name="Right Arrow 2"/>
          <p:cNvSpPr/>
          <p:nvPr/>
        </p:nvSpPr>
        <p:spPr>
          <a:xfrm>
            <a:off x="117986" y="1923690"/>
            <a:ext cx="448573" cy="2329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Tree>
    <p:extLst>
      <p:ext uri="{BB962C8B-B14F-4D97-AF65-F5344CB8AC3E}">
        <p14:creationId xmlns:p14="http://schemas.microsoft.com/office/powerpoint/2010/main" val="30479951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745200"/>
          </a:xfrm>
        </p:spPr>
        <p:txBody>
          <a:bodyPr/>
          <a:lstStyle/>
          <a:p>
            <a:r>
              <a:rPr lang="en-US" sz="2800" b="1" dirty="0" smtClean="0">
                <a:latin typeface="+mn-lt"/>
              </a:rPr>
              <a:t>Objective 1 – OAT Sensitivity </a:t>
            </a:r>
            <a:r>
              <a:rPr lang="en-US" sz="1800" b="1" dirty="0" smtClean="0">
                <a:latin typeface="+mn-lt"/>
              </a:rPr>
              <a:t>(</a:t>
            </a:r>
            <a:r>
              <a:rPr lang="en-US" sz="1800" b="1" u="sng" dirty="0"/>
              <a:t>EIR AS A PREDICTOR IN BOTH TRAINING AND </a:t>
            </a:r>
            <a:r>
              <a:rPr lang="en-US" sz="1800" b="1" u="sng" dirty="0" smtClean="0"/>
              <a:t>PREDICTION</a:t>
            </a:r>
            <a:r>
              <a:rPr lang="en-US" sz="1800" b="1" dirty="0" smtClean="0">
                <a:latin typeface="+mn-lt"/>
              </a:rPr>
              <a:t>) </a:t>
            </a:r>
            <a:endParaRPr lang="en-US" sz="1800" b="1" dirty="0">
              <a:latin typeface="+mn-lt"/>
            </a:endParaRPr>
          </a:p>
        </p:txBody>
      </p:sp>
      <p:pic>
        <p:nvPicPr>
          <p:cNvPr id="5" name="Picture 4"/>
          <p:cNvPicPr/>
          <p:nvPr/>
        </p:nvPicPr>
        <p:blipFill>
          <a:blip r:embed="rId3"/>
          <a:stretch>
            <a:fillRect/>
          </a:stretch>
        </p:blipFill>
        <p:spPr>
          <a:xfrm>
            <a:off x="181155" y="1011608"/>
            <a:ext cx="11067691" cy="5734248"/>
          </a:xfrm>
          <a:prstGeom prst="rect">
            <a:avLst/>
          </a:prstGeom>
        </p:spPr>
      </p:pic>
    </p:spTree>
    <p:extLst>
      <p:ext uri="{BB962C8B-B14F-4D97-AF65-F5344CB8AC3E}">
        <p14:creationId xmlns:p14="http://schemas.microsoft.com/office/powerpoint/2010/main" val="42912581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745200"/>
          </a:xfrm>
        </p:spPr>
        <p:txBody>
          <a:bodyPr/>
          <a:lstStyle/>
          <a:p>
            <a:r>
              <a:rPr lang="en-US" sz="2800" b="1" dirty="0" smtClean="0">
                <a:latin typeface="+mn-lt"/>
              </a:rPr>
              <a:t>Objective 1 – </a:t>
            </a:r>
            <a:r>
              <a:rPr lang="en-US" sz="2800" b="1" dirty="0" err="1" smtClean="0">
                <a:latin typeface="+mn-lt"/>
              </a:rPr>
              <a:t>Sobol</a:t>
            </a:r>
            <a:r>
              <a:rPr lang="en-US" sz="2800" b="1" dirty="0" smtClean="0">
                <a:latin typeface="+mn-lt"/>
              </a:rPr>
              <a:t>’ Sensitivity </a:t>
            </a:r>
            <a:r>
              <a:rPr lang="en-US" sz="1800" b="1" dirty="0" smtClean="0">
                <a:latin typeface="+mn-lt"/>
              </a:rPr>
              <a:t>(</a:t>
            </a:r>
            <a:r>
              <a:rPr lang="en-US" sz="1800" b="1" u="sng" dirty="0" smtClean="0">
                <a:latin typeface="+mn-lt"/>
              </a:rPr>
              <a:t>FULL </a:t>
            </a:r>
            <a:r>
              <a:rPr lang="en-US" sz="1800" b="1" u="sng" dirty="0">
                <a:latin typeface="+mn-lt"/>
              </a:rPr>
              <a:t>EIR RANGE FOR TRAINING AND PREDICTION (LHS SAMPLING</a:t>
            </a:r>
            <a:r>
              <a:rPr lang="en-US" sz="1800" b="1" u="sng" dirty="0" smtClean="0">
                <a:latin typeface="+mn-lt"/>
              </a:rPr>
              <a:t>))</a:t>
            </a:r>
            <a:r>
              <a:rPr lang="de-CH" sz="1800" dirty="0">
                <a:latin typeface="+mn-lt"/>
              </a:rPr>
              <a:t/>
            </a:r>
            <a:br>
              <a:rPr lang="de-CH" sz="1800" dirty="0">
                <a:latin typeface="+mn-lt"/>
              </a:rPr>
            </a:br>
            <a:r>
              <a:rPr lang="en-US" sz="2800" b="1" dirty="0" smtClean="0">
                <a:latin typeface="+mn-lt"/>
              </a:rPr>
              <a:t> </a:t>
            </a:r>
            <a:endParaRPr lang="en-US" sz="2800" b="1" dirty="0">
              <a:latin typeface="+mn-lt"/>
            </a:endParaRPr>
          </a:p>
        </p:txBody>
      </p:sp>
      <p:pic>
        <p:nvPicPr>
          <p:cNvPr id="4" name="Picture 3"/>
          <p:cNvPicPr/>
          <p:nvPr/>
        </p:nvPicPr>
        <p:blipFill>
          <a:blip r:embed="rId3"/>
          <a:stretch>
            <a:fillRect/>
          </a:stretch>
        </p:blipFill>
        <p:spPr>
          <a:xfrm>
            <a:off x="586596" y="954925"/>
            <a:ext cx="10990053" cy="5834063"/>
          </a:xfrm>
          <a:prstGeom prst="rect">
            <a:avLst/>
          </a:prstGeom>
        </p:spPr>
      </p:pic>
    </p:spTree>
    <p:extLst>
      <p:ext uri="{BB962C8B-B14F-4D97-AF65-F5344CB8AC3E}">
        <p14:creationId xmlns:p14="http://schemas.microsoft.com/office/powerpoint/2010/main" val="21557942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745200"/>
          </a:xfrm>
        </p:spPr>
        <p:txBody>
          <a:bodyPr/>
          <a:lstStyle/>
          <a:p>
            <a:r>
              <a:rPr lang="en-US" sz="2800" b="1" dirty="0" smtClean="0">
                <a:latin typeface="+mn-lt"/>
              </a:rPr>
              <a:t>Objective 1 – </a:t>
            </a:r>
            <a:r>
              <a:rPr lang="en-US" sz="2800" b="1" dirty="0" err="1" smtClean="0">
                <a:latin typeface="+mn-lt"/>
              </a:rPr>
              <a:t>Sobol</a:t>
            </a:r>
            <a:r>
              <a:rPr lang="en-US" sz="2800" b="1" dirty="0" smtClean="0">
                <a:latin typeface="+mn-lt"/>
              </a:rPr>
              <a:t>’ Sensitivity </a:t>
            </a:r>
            <a:endParaRPr lang="en-US" sz="2800" b="1" dirty="0">
              <a:latin typeface="+mn-lt"/>
            </a:endParaRPr>
          </a:p>
        </p:txBody>
      </p:sp>
      <p:pic>
        <p:nvPicPr>
          <p:cNvPr id="5" name="Picture 4"/>
          <p:cNvPicPr/>
          <p:nvPr/>
        </p:nvPicPr>
        <p:blipFill>
          <a:blip r:embed="rId3"/>
          <a:stretch>
            <a:fillRect/>
          </a:stretch>
        </p:blipFill>
        <p:spPr>
          <a:xfrm>
            <a:off x="1164566" y="796022"/>
            <a:ext cx="9040138" cy="5632210"/>
          </a:xfrm>
          <a:prstGeom prst="rect">
            <a:avLst/>
          </a:prstGeom>
        </p:spPr>
      </p:pic>
    </p:spTree>
    <p:extLst>
      <p:ext uri="{BB962C8B-B14F-4D97-AF65-F5344CB8AC3E}">
        <p14:creationId xmlns:p14="http://schemas.microsoft.com/office/powerpoint/2010/main" val="27540697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698</Words>
  <Application>Microsoft Office PowerPoint</Application>
  <PresentationFormat>Widescreen</PresentationFormat>
  <Paragraphs>72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Palatino Linotype</vt:lpstr>
      <vt:lpstr>Office Theme</vt:lpstr>
      <vt:lpstr>PowerPoint Presentation</vt:lpstr>
      <vt:lpstr>Aim</vt:lpstr>
      <vt:lpstr>PowerPoint Presentation</vt:lpstr>
      <vt:lpstr>Research Objectives</vt:lpstr>
      <vt:lpstr>Research Objectives</vt:lpstr>
      <vt:lpstr>Research Objectives</vt:lpstr>
      <vt:lpstr>Progress Update – MAIN ACTIVITIES</vt:lpstr>
      <vt:lpstr>Progress Update – Timeplan (Oct 2024)</vt:lpstr>
      <vt:lpstr>Progress Update – Timeplan (May 2025)</vt:lpstr>
      <vt:lpstr>Objective 1 </vt:lpstr>
      <vt:lpstr>Objective 1 – OAT Sensitivity (EIR AS A PREDICTOR IN BOTH TRAINING AND PREDICTION) </vt:lpstr>
      <vt:lpstr>Objective 1 – Sobol’ Sensitivity (FULL EIR RANGE FOR TRAINING AND PREDICTION (LHS SAMPLING))  </vt:lpstr>
      <vt:lpstr>Objective 1 – Sobol’ Sensitivity </vt:lpstr>
    </vt:vector>
  </TitlesOfParts>
  <Company>Swiss TPH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Zenabu Suboi</dc:creator>
  <cp:lastModifiedBy>Zenabu Suboi</cp:lastModifiedBy>
  <cp:revision>34</cp:revision>
  <dcterms:created xsi:type="dcterms:W3CDTF">2024-10-15T15:49:57Z</dcterms:created>
  <dcterms:modified xsi:type="dcterms:W3CDTF">2025-05-06T14:15:30Z</dcterms:modified>
</cp:coreProperties>
</file>