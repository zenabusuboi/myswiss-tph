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2" r:id="rId3"/>
    <p:sldId id="263" r:id="rId4"/>
    <p:sldId id="266" r:id="rId5"/>
    <p:sldId id="267" r:id="rId6"/>
    <p:sldId id="268" r:id="rId7"/>
    <p:sldId id="269" r:id="rId8"/>
    <p:sldId id="270" r:id="rId9"/>
    <p:sldId id="265" r:id="rId10"/>
    <p:sldId id="264" r:id="rId1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D8293-D47A-494B-99FC-05A331B2A710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BAEA9-9BE9-4635-85F5-9A0B7C4F18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0217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c2c056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e9c2c056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06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34995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2DFA55E-7669-6780-E749-1AD37F35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5D8AA4C5-EF61-B426-C48C-E8BD49859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5C559B34-2F74-D6B1-65A4-6DD5DC1C3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59419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000AF60-DCE1-6CB4-1085-8BDEBC73C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FDFDF8E2-196F-C747-DD5D-64C005001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4E409FC3-486B-5F62-73AB-E6F2307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07754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8FAEAC86-99BB-8359-4C20-9D1F93A6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9872F823-E345-7EF6-90C9-05509C8A5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23DD7D78-A7D4-5D00-C185-019179A05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61364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C88AB008-C784-C559-78A5-14C75E90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5526B015-BAFF-76A1-3293-56DB44949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BF217440-79C3-6E23-69C0-4C5983F6D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48100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6E1BBCD-E677-58C4-5616-2146644A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EAB4C024-705D-1F8B-9253-8F6D8E415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To address uncertainties, we identify and quantify the various sources of uncertainty</a:t>
            </a:r>
            <a:r>
              <a:rPr lang="en-US" baseline="0" dirty="0"/>
              <a:t> in intervention modeling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3F456DFE-B73A-BE6B-35EA-9D636363F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3753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B2FF20BE-D4EA-4C11-572A-7DB14AD6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A759AE55-44E3-3FE4-BC90-97159410F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9D4E1F40-C351-B82E-65C6-B83D92D52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66233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67C03C65-FD43-1084-8EDE-C0F45991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D8C2BB31-38D2-93FA-BBFE-EF268A118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ACF79001-1A39-7589-09FB-9632C3415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54273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B616ADC9-12D4-1245-2FFC-09311720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B9254773-627B-0C0B-E4CB-DEC1ED1E1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06FF38FC-3BA0-C0EB-FFBC-C627C1728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0303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58C2-7526-6F0D-46AE-280A8D359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C9050-CE6B-1BE5-FC68-19A8B7D87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33C3F-8090-6905-30D4-42F5A796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D4DF9-3B9F-7E5C-3EDE-133497C1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3023C-0C62-76D4-DA53-53C41C3E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1278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16CD-975F-7FBF-B4BD-3612A5D9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6DE53-F99E-AA19-F2DC-94EF6BA1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4695B-D5D8-2224-2BC2-A57509CE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B4EEF-FE3C-36AD-AD02-50B16E4F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545B4-38B1-2845-4C55-1BC00E39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4986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3C3E-79BA-D585-C42D-A727ED50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BC397-6953-A349-9344-54ED97CD7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5494E-38EA-4C5C-AAE1-D2BDA380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E87EB-FB3E-7B6E-EE84-233F9C88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6ACE-849F-07EF-C1DF-9CBB012B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9271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7112-C4EC-E611-767D-DC460662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F9A6-A6C3-16C2-DB72-90C7C1477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5DA3A-E632-9A8C-A4CB-410C8A7D1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01A9A-8493-DA5E-BD64-30EC1495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02626-2EFE-3D53-F1A5-6646C0CA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1C69E-7A68-A78B-A0AA-6780C15D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151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D19A-FA2E-9163-F42A-0CF3492D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D0421-361B-992F-A2ED-417280B5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5878D-30E5-054F-3118-0F833231B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52A56-FF74-6C46-758A-EF3A725AB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4613E-F66E-B3F7-9368-0CCB28411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7DBBE-7745-C421-2BA6-62497862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344EF-1D32-8FDB-31D0-640B8EFD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E18E9-E2E1-E364-8718-CF210498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3178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1C48-9E4C-1495-0E0A-13423A52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D74B6-80F0-D740-A2C5-C5197D30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FC185-CE59-BC44-EF72-3A086E13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A3412-F21B-EFF6-4851-B93AE4AE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2508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3D8FE-42C1-74D0-70E5-4B21EABC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584DC-A016-AF05-BDB2-90A15D83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A2065-A074-CC8B-72D3-60C679A8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9436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932D-116E-55D6-D501-735F2E98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77914-650E-D68B-8259-21A852D43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32952-AADB-4AE0-0507-3E0DAB9FC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540A1-567B-8144-716D-79E494A6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D4241-7A2B-949D-20B4-F07151D1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F39F1-BA61-3B4E-35D9-0A97E5705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27682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C5D6-97C9-AF89-A241-5FDBE311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1C861-7781-64BD-99A0-49F700C23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31DEF-1136-6E0A-2FA6-19616E615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0E887-763A-41DE-9844-4BDACECF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D6A70-B8B3-16E4-D41B-76D4CD08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9BC95-8165-A4C2-7C00-48CE3653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6513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8A89E-B6C0-4DE9-4B46-B4B2B3B9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03929-9C58-E2E8-6AC0-806A4F373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0B5D9-50B4-F989-93FB-2B1D8FA2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05F63-C58A-81F4-CC93-AB740DB4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463BE-D2C6-0F3F-5901-72C4EF5A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700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CCD48-8EF9-DA33-844D-AA43726C3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81497-7405-CD31-F752-01780C3E9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05E15-D32D-9075-FE90-A3210583F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97BFF-0974-68F0-24C9-68D1EA9F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DD1FB-F3FD-C881-F859-FF5E43F8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1302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186289" y="3621023"/>
            <a:ext cx="5935600" cy="1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  <a:defRPr sz="3733">
                <a:solidFill>
                  <a:schemeClr val="accent3"/>
                </a:solidFill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6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133"/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52283"/>
          <a:stretch/>
        </p:blipFill>
        <p:spPr>
          <a:xfrm>
            <a:off x="5203088" y="2168490"/>
            <a:ext cx="4134489" cy="114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38525" t="1212" b="236"/>
          <a:stretch/>
        </p:blipFill>
        <p:spPr>
          <a:xfrm>
            <a:off x="1" y="1"/>
            <a:ext cx="421543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600" cy="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395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alatino Linotype"/>
              <a:buNone/>
              <a:defRPr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0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2400" b="1">
                <a:solidFill>
                  <a:srgbClr val="22222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2pPr>
            <a:lvl3pPr marL="1828754" lvl="2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▪"/>
              <a:defRPr/>
            </a:lvl3pPr>
            <a:lvl4pPr marL="2438339" lvl="3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2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2844800" y="6170716"/>
            <a:ext cx="8229600" cy="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179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49432-9C3F-86BA-F7DB-C9EA7E7D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1E406-B545-A587-8BEF-19AB8D598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201E3-8477-F991-DB5E-8FC760162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AD9E7-2564-4B39-A736-416FDF981A79}" type="datetimeFigureOut">
              <a:rPr lang="en-CH" smtClean="0"/>
              <a:t>04.08.2025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7483-C1F4-FEC8-9F47-EE6DC4BE3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86B4-25FD-16D9-C307-008B43B67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2ED84-98C5-457C-B14D-EF52C4DDCED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48510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02;p65"/>
          <p:cNvSpPr txBox="1">
            <a:spLocks noGrp="1"/>
          </p:cNvSpPr>
          <p:nvPr>
            <p:ph type="body" idx="1"/>
          </p:nvPr>
        </p:nvSpPr>
        <p:spPr>
          <a:xfrm>
            <a:off x="4132053" y="3422615"/>
            <a:ext cx="8059947" cy="15720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33" bIns="45700" rtlCol="0" anchor="b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600"/>
              </a:spcAft>
            </a:pPr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Quantification of Agent-based Models with Application to Malaria Intervention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32054" y="5225516"/>
            <a:ext cx="4587074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PhD Update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August 2025</a:t>
            </a:r>
          </a:p>
        </p:txBody>
      </p:sp>
    </p:spTree>
    <p:extLst>
      <p:ext uri="{BB962C8B-B14F-4D97-AF65-F5344CB8AC3E}">
        <p14:creationId xmlns:p14="http://schemas.microsoft.com/office/powerpoint/2010/main" val="189013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Research Question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EBE6CDC-B8A7-8580-BF77-C3DEF322F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1261"/>
            <a:ext cx="1219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what coverage level does each malaria intervention (LLINs, IRS, SMC, malaria vaccine) begin to provide community-level protection?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H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776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960B263D-CCEA-65D3-726A-27742F88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334A7EC4-DC44-E1B8-E868-C99EF6DF1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Community protection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B200770-F80F-AD89-3D7A-71782AE25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6" y="892021"/>
            <a:ext cx="1207401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CH" sz="2400" b="1" dirty="0">
                <a:latin typeface="Arial" panose="020B0604020202020204" pitchFamily="34" charset="0"/>
                <a:cs typeface="Arial" panose="020B0604020202020204" pitchFamily="34" charset="0"/>
              </a:rPr>
              <a:t>Indirect effects</a:t>
            </a:r>
            <a:r>
              <a:rPr lang="en-CH" sz="2400" dirty="0">
                <a:latin typeface="Arial" panose="020B0604020202020204" pitchFamily="34" charset="0"/>
                <a:cs typeface="Arial" panose="020B0604020202020204" pitchFamily="34" charset="0"/>
              </a:rPr>
              <a:t> can be defined as the unintended positive or negative consequences of an intervention that influences disease transmission or health outcomes.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C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protection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reduction in infection prevalence among individuals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receiving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intervention due to lowered transmission in the community.</a:t>
            </a: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CH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CH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CH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the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intervention coverage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which a significant decline in prevalence among non-recipients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non-users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observed</a:t>
            </a: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If there is no community protection, prevalence remains flat in the non-intervention group / non-recipients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If there is community protection, prevalence starts to decrease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steeper the drop, the stronger the community protection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Identify the coverage level at which prevalence in non-recipients begin to drop</a:t>
            </a:r>
            <a:endParaRPr kumimoji="0" lang="en-CH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20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B74F9B7F-9BF9-CA41-AEFC-9742B88A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4B87CE2-45AD-0AA2-081A-42C440C2A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Impact prediction using GP emulator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D8C577B-95BB-90C7-6A42-A2035157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6" y="1032378"/>
            <a:ext cx="1183277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existing simulation output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Fix all other inputs (LLIN, IRS, Vaccine) at their 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aspirational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values.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Vary SMC coverage from 0.2 to 1.0 (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match GP training range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 the impact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(incidence reduction)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the GP</a:t>
            </a: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4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E7F37390-7382-90C4-1F15-0CBB2256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170BA43-FF26-B0C5-9D59-ABF2513EA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LLIN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6BEF05-66E1-DFF2-92CD-94A8EF69B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8" y="596754"/>
            <a:ext cx="11944964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5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E8C8B594-871B-B39C-5681-E49E6D7D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AA01D46E-9C75-27B0-13D3-629E2A4B5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>
                <a:latin typeface="+mn-lt"/>
              </a:rPr>
              <a:t>SMC</a:t>
            </a:r>
            <a:endParaRPr lang="en-US" sz="2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083B6-F22E-27D8-7BE0-E02B47D7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7" y="625331"/>
            <a:ext cx="11983066" cy="560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2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B6687E6-5E8C-B311-EDF5-6D5861B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F25B84B1-027D-49F8-E201-00866974A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IRS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4B661-8664-5557-3DAF-ABCF787CD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2" y="606280"/>
            <a:ext cx="11964015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0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D893C15C-152D-EF2A-9AD4-0F6980C3C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6434226-00CF-1CC2-9E29-6C35F67DC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Vaccine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34D6A-DF92-8196-6892-43853B8B4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3" y="606280"/>
            <a:ext cx="11951314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16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52EEE1B-7D4D-CA5D-87DC-0D1D33DA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DB40574E-82DA-E615-27B2-DF018AC94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Community protection - Challenges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D1AE20-0E94-8694-AD1D-9F896B20C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43" y="700968"/>
            <a:ext cx="1183277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Retrained GPs on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nSevere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nUncomp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incidence rate to predict impact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study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community effects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 need scenarios where a subset of the population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explicitly excluded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the intervention, but still experiences the reduced transmission from those who are covered.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Clearly defined cohorts (recipients and non-recipients)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  <a:cs typeface="Arial" panose="020B0604020202020204" pitchFamily="34" charset="0"/>
              </a:rPr>
              <a:t>Study transmission dynamics within cohorts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CH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CH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b="1" dirty="0">
                <a:latin typeface="Arial" panose="020B0604020202020204" pitchFamily="34" charset="0"/>
                <a:cs typeface="Arial" panose="020B0604020202020204" pitchFamily="34" charset="0"/>
              </a:rPr>
              <a:t>AIMS – Ghana Office – new policy</a:t>
            </a:r>
            <a:endParaRPr kumimoji="0" lang="en-CH" altLang="en-C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93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D924E3B2-ABEA-9F53-6DCD-9F2D54C2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6E8D0C45-66D3-9386-8B72-7B83F27D5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9973071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One-at-a-time Sensitivity analysis for some settings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C5C81-90C7-AFAA-DD1D-33B40D492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7" y="690641"/>
            <a:ext cx="12116423" cy="57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9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Widescreen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Palatino Linotype</vt:lpstr>
      <vt:lpstr>Office Theme</vt:lpstr>
      <vt:lpstr>PowerPoint Presentation</vt:lpstr>
      <vt:lpstr>Research Question</vt:lpstr>
      <vt:lpstr>Community protection</vt:lpstr>
      <vt:lpstr>Impact prediction using GP emulator</vt:lpstr>
      <vt:lpstr>LLIN</vt:lpstr>
      <vt:lpstr>SMC</vt:lpstr>
      <vt:lpstr>IRS</vt:lpstr>
      <vt:lpstr>Vaccine</vt:lpstr>
      <vt:lpstr>Community protection - Challenges</vt:lpstr>
      <vt:lpstr>One-at-a-time Sensitivity analysis for some settings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6</cp:revision>
  <dcterms:created xsi:type="dcterms:W3CDTF">2025-08-04T11:25:04Z</dcterms:created>
  <dcterms:modified xsi:type="dcterms:W3CDTF">2025-08-15T09:23:57Z</dcterms:modified>
</cp:coreProperties>
</file>