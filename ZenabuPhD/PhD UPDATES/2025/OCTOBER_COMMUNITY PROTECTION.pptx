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70" r:id="rId3"/>
    <p:sldId id="300" r:id="rId4"/>
    <p:sldId id="305" r:id="rId5"/>
    <p:sldId id="302" r:id="rId6"/>
    <p:sldId id="307" r:id="rId7"/>
    <p:sldId id="311" r:id="rId8"/>
    <p:sldId id="309" r:id="rId9"/>
    <p:sldId id="310" r:id="rId10"/>
    <p:sldId id="301" r:id="rId11"/>
    <p:sldId id="306" r:id="rId12"/>
    <p:sldId id="303" r:id="rId13"/>
    <p:sldId id="304" r:id="rId14"/>
    <p:sldId id="308" r:id="rId15"/>
    <p:sldId id="312" r:id="rId16"/>
  </p:sldIdLst>
  <p:sldSz cx="12192000" cy="6858000"/>
  <p:notesSz cx="6858000" cy="9144000"/>
  <p:defaultTextStyle>
    <a:defPPr>
      <a:defRPr lang="en-CH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569232-F1C9-4616-AF98-7511E2DCF4B1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49087CB-A676-477C-857C-46C79A4F7561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30589253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e9c2c056fb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g2e9c2c056f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3206093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FDC93532-A67A-6E81-4D1D-265C5AA3DB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96590D7F-A570-A9E5-2079-ACD5A2D9AA9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8AB8114B-EF9E-0011-216D-B40FA5D8F3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1548262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9CC929DA-9C23-81AC-E842-9EA272DE3A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E74D108-AFD1-5F7F-718F-40D151C9056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CDC490DC-E4D0-BE7E-503D-778CAF002B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5478310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8F7A2013-5F7A-6710-D30D-84147F5F94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6148A5F4-9DD1-10A5-CFCC-113025B2A3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F351B7C6-7E63-C231-74C6-9F6EB8C73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2234862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43B51B47-E015-689B-6E8E-D81B29BDFD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AB5779B-CAA5-4A2F-0BB0-4CFE6342CE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Waves are showing LLIN deployments </a:t>
            </a:r>
            <a:r>
              <a:rPr lang="en-US"/>
              <a:t>and cohort </a:t>
            </a:r>
            <a:r>
              <a:rPr lang="en-US" dirty="0"/>
              <a:t>removal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34B71987-7B1C-21B0-D3B0-BC8A34A5681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06890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4D9E207F-B871-42B4-545D-6E316FBAF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A156E626-CB49-556B-796B-A1E409CE6EC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7253FBB0-921A-C508-C44A-95E61A1160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42258268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541A0880-CD5B-CA5C-FB5F-E7DE89E329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54B3565F-C836-E6EC-F93C-DBA58830C5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9BE52495-CB48-2A72-4E5E-DA4515DE873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7436852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1DD24B15-2B60-9EFA-E3B5-FE750BFFA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09D5F063-915A-F9F7-DC7F-80F22E3203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09EFA56C-829A-2982-D43B-E20110C567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067923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7255FEDF-63E5-5ACE-8B3F-8092A57F8E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B71D9AB5-45F9-408F-1B66-F8123D5627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CC973DF1-8E9C-AFFD-ABD7-63F474B1E0B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6927870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C79B7FC-7F3B-93F2-2F05-0F3C2778D5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3C90053-68D7-27BD-E19C-44C131A516A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Showing prevalence over time after LLIN deployments</a:t>
            </a:r>
          </a:p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In high transmission settings, there is still prevalence in non-users at 100%usage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492A11B9-433F-AC99-22D2-65D3356C64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7609522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B385239D-2D1E-D97D-A067-D19F0C1246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6E8BA505-9C1D-D252-1524-E110AB000F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4E19BBEF-DA7B-BE1D-E13E-CD1044B81D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4863317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39C881F3-AEED-5F65-C001-1BF71750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31C06172-3B7C-F4BD-9CD6-0331A4A952C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r>
              <a:rPr lang="en-US" dirty="0"/>
              <a:t>There is still prevalence rate in non-users at 100% usage because </a:t>
            </a:r>
            <a:r>
              <a:rPr lang="en-US" dirty="0" err="1"/>
              <a:t>nPatent</a:t>
            </a:r>
            <a:r>
              <a:rPr lang="en-US" dirty="0"/>
              <a:t> and </a:t>
            </a:r>
            <a:r>
              <a:rPr lang="en-US" dirty="0" err="1"/>
              <a:t>nHost</a:t>
            </a:r>
            <a:r>
              <a:rPr lang="en-US" dirty="0"/>
              <a:t> are not entirely 0 at 100% usage</a:t>
            </a: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74DEF6FB-5957-B97B-6132-9645558C580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12651931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11D17562-56FC-4535-EAED-A520294F1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8BBEC3BE-AC61-4900-55C6-FB40D356D8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177F4C9C-4B21-B1CC-75D0-9B5AEDA95D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97302125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C7028D74-93EA-23F7-B00A-DA2E3F75C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672C24C6-2621-7D27-B68C-BE3443396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A12A0CDD-52B4-E524-A6BB-E8BF66E21A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9846254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5">
          <a:extLst>
            <a:ext uri="{FF2B5EF4-FFF2-40B4-BE49-F238E27FC236}">
              <a16:creationId xmlns:a16="http://schemas.microsoft.com/office/drawing/2014/main" id="{EDE73D24-169E-32DB-0C86-BB3025530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2e9de4d3219_0_2:notes">
            <a:extLst>
              <a:ext uri="{FF2B5EF4-FFF2-40B4-BE49-F238E27FC236}">
                <a16:creationId xmlns:a16="http://schemas.microsoft.com/office/drawing/2014/main" id="{C9F49B67-9357-1CD6-AF79-7B7C2F18A4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914401" y="4343406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225" tIns="44625" rIns="89225" bIns="44625" anchor="t" anchorCtr="0">
            <a:noAutofit/>
          </a:bodyPr>
          <a:lstStyle/>
          <a:p>
            <a:pPr marL="171450" lvl="0" indent="-171450" algn="l" rtl="0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300"/>
              <a:buFont typeface="Arial" panose="020B0604020202020204" pitchFamily="34" charset="0"/>
              <a:buChar char="•"/>
            </a:pPr>
            <a:endParaRPr dirty="0"/>
          </a:p>
        </p:txBody>
      </p:sp>
      <p:sp>
        <p:nvSpPr>
          <p:cNvPr id="517" name="Google Shape;517;g2e9de4d3219_0_2:notes">
            <a:extLst>
              <a:ext uri="{FF2B5EF4-FFF2-40B4-BE49-F238E27FC236}">
                <a16:creationId xmlns:a16="http://schemas.microsoft.com/office/drawing/2014/main" id="{8A01AD17-5AC4-90B9-6258-E2240D2103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  <p:extLst>
      <p:ext uri="{BB962C8B-B14F-4D97-AF65-F5344CB8AC3E}">
        <p14:creationId xmlns:p14="http://schemas.microsoft.com/office/powerpoint/2010/main" val="30558247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DFD17-7754-AD45-F645-A56B75D50A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A14582-C2A5-65C5-107F-A1F9F96BBC3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5D47EA-ACCB-0C19-C738-B7FB257F4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9E81CD-B0A8-AAED-844C-6A01980AAE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9D4221-84F7-3805-C657-F91353483E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190076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3CE2B-BD33-AE30-1E11-FC469C2ABB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B50DD-344B-8126-83D5-A1C833DC0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713DBE-081E-E7A6-C7A1-016812BC95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D9BBD-0B0B-DB78-1F79-D34BA59DD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054270-D42A-634F-44EC-9E11B4F39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733792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3A212-7710-80AD-0074-8CBA7E17A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EEB84-0220-7E86-B8A6-90C72B702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E4366-D5DD-6715-1FEA-07BB819AFD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2B8ABD-B610-89B8-63AA-6942776EA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363D5D-35D7-B133-9E61-635DCBD0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7961187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6EDA9-E327-3986-87D0-7A413B553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795B6A-1A1E-5FBD-72E0-A276ABC5CF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CA1EB5-13CB-DA7E-43CA-5C70EE3C03F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2C29DC-362B-86EC-C08B-09EC28C2E7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505228-4D04-6FD0-32FD-48691E0237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EFED8D-D77E-5A99-EEC8-8DC719C0D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50148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1EC48-74D3-EBD1-A9E5-D35F252A4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45EE64-1738-B250-8056-B0674BE090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C80077D-91EB-EC59-1182-5EED8E6A42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15EE5C-B0E1-D57E-CD13-EBF35029903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48DF381-6339-B7F0-AB1F-C46ED29A0D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EC3AE76-45D1-5A9B-9C86-A69A152805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7A942B-75BF-B10C-4708-EC57B3B9C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D35BF-C7A0-BA1A-3D32-2DC81E88DF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3967966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EB42C-C50E-EBDE-348E-008E023B3E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3D71FA-FD26-463A-3D92-43C8B4423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8CA323A-E64F-C6D9-A5B7-48BCC06394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C26913-ACA9-AEC9-920B-CA184AD83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40355923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159F927-2AD9-178C-FA59-16C48BA429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46ED475-853A-850B-F5ED-9A9D8DD5C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3728D-2016-EDBE-F37B-5B9C21EFF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5019358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580C36-FCFC-F142-82E8-D070B15EA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B70F0A-2C3A-1018-623D-A14513E310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E03871-A595-4615-1378-4278F28880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AF09F-B6AF-CD9B-3804-43CE5EA698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80B47B-724E-ABA1-786C-0FD5DDF92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B364F-9AD0-D011-737D-4D408DB2D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129369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61BB4-FEC8-F9AB-4D13-E37584A9CB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3AF970-29C6-8105-AA9E-C6DE9521A7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2E7671B-5574-C4D9-9AFE-A9C34FCA06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46F254-316B-B6D1-C6D7-774D9DC3CF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D0F674-DF0C-90DA-43E7-D452B687D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EA84AB-2AAE-3D9F-9528-173F19F7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875626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26BB5D-5946-B906-F622-F9D6023FCA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DFA3A3-3591-AFF7-EF87-1F57F55DAC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FEFE4A-F811-03F7-1511-BAA08AC973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C70AB5-EDC0-F7FD-D827-20FFAF666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31D55-3DF5-7336-27D4-8404D10E54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5427586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80A33D0-C617-C85B-BFC9-E060CE57E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9BE572-B5C6-6BF0-9DCD-99553B1D3D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2FC0B8-506D-87FE-4785-A2D3CDF14B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284F1D-D709-8B86-FD11-ABC45EDA82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C32B4F-70E1-02CD-6C01-BF31408048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3485793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ver">
  <p:cSld name="Cover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body" idx="1"/>
          </p:nvPr>
        </p:nvSpPr>
        <p:spPr>
          <a:xfrm>
            <a:off x="5186289" y="3621023"/>
            <a:ext cx="5935600" cy="11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b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3500"/>
              <a:buNone/>
              <a:defRPr sz="3733">
                <a:solidFill>
                  <a:schemeClr val="accent3"/>
                </a:solidFill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2"/>
          </p:nvPr>
        </p:nvSpPr>
        <p:spPr>
          <a:xfrm>
            <a:off x="5186292" y="5443833"/>
            <a:ext cx="5935600" cy="3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133"/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pic>
        <p:nvPicPr>
          <p:cNvPr id="53" name="Google Shape;53;p13"/>
          <p:cNvPicPr preferRelativeResize="0"/>
          <p:nvPr/>
        </p:nvPicPr>
        <p:blipFill rotWithShape="1">
          <a:blip r:embed="rId2">
            <a:alphaModFix/>
          </a:blip>
          <a:srcRect b="52283"/>
          <a:stretch/>
        </p:blipFill>
        <p:spPr>
          <a:xfrm>
            <a:off x="5203088" y="2168490"/>
            <a:ext cx="4134489" cy="1142057"/>
          </a:xfrm>
          <a:prstGeom prst="rect">
            <a:avLst/>
          </a:prstGeom>
          <a:noFill/>
          <a:ln>
            <a:noFill/>
          </a:ln>
        </p:spPr>
      </p:pic>
      <p:pic>
        <p:nvPicPr>
          <p:cNvPr id="54" name="Google Shape;54;p13"/>
          <p:cNvPicPr preferRelativeResize="0"/>
          <p:nvPr/>
        </p:nvPicPr>
        <p:blipFill rotWithShape="1">
          <a:blip r:embed="rId3">
            <a:alphaModFix/>
          </a:blip>
          <a:srcRect l="38525" t="1212" b="236"/>
          <a:stretch/>
        </p:blipFill>
        <p:spPr>
          <a:xfrm>
            <a:off x="1" y="1"/>
            <a:ext cx="421543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>
            <a:spLocks noGrp="1"/>
          </p:cNvSpPr>
          <p:nvPr>
            <p:ph type="body" idx="3"/>
          </p:nvPr>
        </p:nvSpPr>
        <p:spPr>
          <a:xfrm>
            <a:off x="5186289" y="4921157"/>
            <a:ext cx="5935600" cy="4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noAutofit/>
          </a:bodyPr>
          <a:lstStyle>
            <a:lvl1pPr marL="609585" lvl="0" indent="-304792" algn="l" rtl="0">
              <a:lnSpc>
                <a:spcPct val="93000"/>
              </a:lnSpc>
              <a:spcBef>
                <a:spcPts val="400"/>
              </a:spcBef>
              <a:spcAft>
                <a:spcPts val="0"/>
              </a:spcAft>
              <a:buSzPts val="2500"/>
              <a:buNone/>
              <a:defRPr sz="2667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219170" lvl="1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2pPr>
            <a:lvl3pPr marL="1828754" lvl="2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■"/>
              <a:defRPr/>
            </a:lvl3pPr>
            <a:lvl4pPr marL="2438339" lvl="3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●"/>
              <a:defRPr/>
            </a:lvl4pPr>
            <a:lvl5pPr marL="3047924" lvl="4" indent="-448722" algn="l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700"/>
              <a:buChar char="○"/>
              <a:defRPr/>
            </a:lvl5pPr>
            <a:lvl6pPr marL="3657509" lvl="5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marL="4267093" lvl="6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marL="4876678" lvl="7" indent="-423323" algn="l" rtl="0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marL="5486263" lvl="8" indent="-423323" algn="l" rtl="0">
              <a:lnSpc>
                <a:spcPct val="9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76091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15">
          <p15:clr>
            <a:srgbClr val="FBAE40"/>
          </p15:clr>
        </p15:guide>
        <p15:guide id="2" pos="216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40"/>
          <p:cNvSpPr txBox="1">
            <a:spLocks noGrp="1"/>
          </p:cNvSpPr>
          <p:nvPr>
            <p:ph type="title"/>
          </p:nvPr>
        </p:nvSpPr>
        <p:spPr>
          <a:xfrm>
            <a:off x="666751" y="366185"/>
            <a:ext cx="10850000" cy="74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Palatino Linotype"/>
              <a:buNone/>
              <a:defRPr>
                <a:solidFill>
                  <a:schemeClr val="accent1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2" name="Google Shape;292;p40"/>
          <p:cNvSpPr txBox="1">
            <a:spLocks noGrp="1"/>
          </p:cNvSpPr>
          <p:nvPr>
            <p:ph type="body" idx="1"/>
          </p:nvPr>
        </p:nvSpPr>
        <p:spPr>
          <a:xfrm>
            <a:off x="666751" y="1762064"/>
            <a:ext cx="10850000" cy="388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50"/>
              <a:buNone/>
              <a:defRPr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304792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SzPts val="2000"/>
              <a:buNone/>
              <a:defRPr/>
            </a:lvl2pPr>
            <a:lvl3pPr marL="1828754" lvl="2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3pPr>
            <a:lvl4pPr marL="2438339" lvl="3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40"/>
          <p:cNvSpPr txBox="1">
            <a:spLocks noGrp="1"/>
          </p:cNvSpPr>
          <p:nvPr>
            <p:ph type="body" idx="2"/>
          </p:nvPr>
        </p:nvSpPr>
        <p:spPr>
          <a:xfrm>
            <a:off x="666749" y="1220755"/>
            <a:ext cx="10850000" cy="43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609585" lvl="0" indent="-304792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Font typeface="Arial"/>
              <a:buNone/>
              <a:defRPr sz="2400" b="1">
                <a:solidFill>
                  <a:srgbClr val="222222"/>
                </a:solidFill>
                <a:latin typeface="Palatino Linotype"/>
                <a:ea typeface="Palatino Linotype"/>
                <a:cs typeface="Palatino Linotype"/>
                <a:sym typeface="Palatino Linotype"/>
              </a:defRPr>
            </a:lvl1pPr>
            <a:lvl2pPr marL="1219170" lvl="1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2pPr>
            <a:lvl3pPr marL="1828754" lvl="2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▪"/>
              <a:defRPr/>
            </a:lvl3pPr>
            <a:lvl4pPr marL="2438339" lvl="3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4pPr>
            <a:lvl5pPr marL="3047924" lvl="4" indent="-495288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250"/>
              <a:buChar char="-"/>
              <a:defRPr/>
            </a:lvl5pPr>
            <a:lvl6pPr marL="3657509" lvl="5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4267093" lvl="6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4876678" lvl="7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5486263" lvl="8" indent="-457189" algn="l" rtl="0">
              <a:lnSpc>
                <a:spcPct val="90000"/>
              </a:lnSpc>
              <a:spcBef>
                <a:spcPts val="667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4" name="Google Shape;294;p40"/>
          <p:cNvSpPr txBox="1">
            <a:spLocks noGrp="1"/>
          </p:cNvSpPr>
          <p:nvPr>
            <p:ph type="ftr" idx="11"/>
          </p:nvPr>
        </p:nvSpPr>
        <p:spPr>
          <a:xfrm>
            <a:off x="675216" y="5655759"/>
            <a:ext cx="10833200" cy="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ctr" anchorCtr="0">
            <a:noAutofit/>
          </a:bodyPr>
          <a:lstStyle>
            <a:lvl1pPr lvl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40"/>
          <p:cNvSpPr/>
          <p:nvPr/>
        </p:nvSpPr>
        <p:spPr>
          <a:xfrm>
            <a:off x="2844800" y="6170716"/>
            <a:ext cx="8229600" cy="509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121900" tIns="60933" rIns="121900" bIns="60933" anchor="ctr" anchorCtr="0">
            <a:noAutofit/>
          </a:bodyPr>
          <a:lstStyle/>
          <a:p>
            <a:pPr marL="0" marR="0" lvl="0" indent="0" algn="ctr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2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322700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541B47-3F69-E63E-CF73-2B9FD6B46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5C24-E991-52C1-C1ED-8A62AAAC7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D5C31F-B8D9-D2FE-317E-2C03D9C0B7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345DE5-E427-4884-B6AE-E00F944CEBE5}" type="datetimeFigureOut">
              <a:rPr lang="en-CH" smtClean="0"/>
              <a:t>02.12.2025</a:t>
            </a:fld>
            <a:endParaRPr lang="en-C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2F6002-AF3F-11D6-BCD2-27931B6C5E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5768FA-E669-B5A4-6983-BFCE8D7118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2BF89C-A843-47AD-B07A-1A793F2D3D0D}" type="slidenum">
              <a:rPr lang="en-CH" smtClean="0"/>
              <a:t>‹#›</a:t>
            </a:fld>
            <a:endParaRPr lang="en-CH"/>
          </a:p>
        </p:txBody>
      </p:sp>
    </p:spTree>
    <p:extLst>
      <p:ext uri="{BB962C8B-B14F-4D97-AF65-F5344CB8AC3E}">
        <p14:creationId xmlns:p14="http://schemas.microsoft.com/office/powerpoint/2010/main" val="206008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H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502;p65"/>
          <p:cNvSpPr txBox="1">
            <a:spLocks noGrp="1"/>
          </p:cNvSpPr>
          <p:nvPr>
            <p:ph type="body" idx="1"/>
          </p:nvPr>
        </p:nvSpPr>
        <p:spPr>
          <a:xfrm>
            <a:off x="4132053" y="3422615"/>
            <a:ext cx="8059947" cy="1572079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0" tIns="45700" rIns="91433" bIns="45700" rtlCol="0" anchor="b" anchorCtr="0">
            <a:noAutofit/>
          </a:bodyPr>
          <a:lstStyle/>
          <a:p>
            <a:pPr marL="0" indent="0">
              <a:spcBef>
                <a:spcPts val="0"/>
              </a:spcBef>
              <a:spcAft>
                <a:spcPts val="1600"/>
              </a:spcAft>
            </a:pPr>
            <a:r>
              <a:rPr lang="en-US" sz="2800" b="1" dirty="0">
                <a:solidFill>
                  <a:schemeClr val="accent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Indirect or community protection and prioritization of malaria interventions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32054" y="5225516"/>
            <a:ext cx="4587074" cy="1083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PhD Update</a:t>
            </a: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endParaRPr lang="en-US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lvl="0" algn="ctr">
              <a:lnSpc>
                <a:spcPct val="115000"/>
              </a:lnSpc>
              <a:buClr>
                <a:schemeClr val="dk1"/>
              </a:buClr>
              <a:buSzPts val="1100"/>
            </a:pPr>
            <a:r>
              <a:rPr lang="en-US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Oct 2025</a:t>
            </a:r>
          </a:p>
        </p:txBody>
      </p:sp>
    </p:spTree>
    <p:extLst>
      <p:ext uri="{BB962C8B-B14F-4D97-AF65-F5344CB8AC3E}">
        <p14:creationId xmlns:p14="http://schemas.microsoft.com/office/powerpoint/2010/main" val="18901391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384A3973-4032-50DC-6FF1-2C558F7589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237040B7-8A05-7342-9E35-1E22585C09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Background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C821752-78DF-89D0-D601-A84967067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93" y="982176"/>
            <a:ext cx="12074014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Funding for malaria control is declining, below what is required to reach global targets. As a result, there is an urgent need to reprioritize malaria interventions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Benefits to non-users (indirect effects) are critical when measuring the impact of interventions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Ignoring community effects leads to biased estimates of health impact and cost-effectiveness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To assess the effectiveness of these interventions in an unbiased manner, their broader effects throughout the population should be considered, </a:t>
            </a:r>
            <a:r>
              <a:rPr lang="en-CH" sz="2400" dirty="0">
                <a:latin typeface="Arial" panose="020B0604020202020204" pitchFamily="34" charset="0"/>
                <a:cs typeface="Arial" panose="020B0604020202020204" pitchFamily="34" charset="0"/>
              </a:rPr>
              <a:t>including among those not directly receiving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the</a:t>
            </a:r>
            <a:r>
              <a:rPr lang="en-CH" sz="2400" dirty="0">
                <a:latin typeface="Arial" panose="020B0604020202020204" pitchFamily="34" charset="0"/>
                <a:cs typeface="Arial" panose="020B0604020202020204" pitchFamily="34" charset="0"/>
              </a:rPr>
              <a:t> intervention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  <a:cs typeface="Arial" panose="020B0604020202020204" pitchFamily="34" charset="0"/>
              </a:rPr>
              <a:t>We aim to use mathematical modeling to simulate malaria transmission under various scenarios and quantify direct and indirect protection, compare LLINs and SMC in Ghana as a case study and provide evidence to support intervention prioritization under constrained resources.</a:t>
            </a:r>
          </a:p>
        </p:txBody>
      </p:sp>
    </p:spTree>
    <p:extLst>
      <p:ext uri="{BB962C8B-B14F-4D97-AF65-F5344CB8AC3E}">
        <p14:creationId xmlns:p14="http://schemas.microsoft.com/office/powerpoint/2010/main" val="37003986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A729EE7-80F4-20C8-6AA1-91C65895DC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BD968D95-1CDC-AE38-D3AC-6F1F2DE3307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Approach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5A60B323-2E8B-2198-63EA-B598676EBF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5557" y="936010"/>
            <a:ext cx="11440886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Focus on one district – </a:t>
            </a:r>
            <a:r>
              <a:rPr lang="en-US" altLang="en-CH" sz="2400" b="1" dirty="0" err="1">
                <a:latin typeface="Arial" panose="020B0604020202020204" pitchFamily="34" charset="0"/>
              </a:rPr>
              <a:t>Biakoye</a:t>
            </a:r>
            <a:r>
              <a:rPr lang="en-US" altLang="en-CH" sz="2400" dirty="0">
                <a:latin typeface="Arial" panose="020B0604020202020204" pitchFamily="34" charset="0"/>
              </a:rPr>
              <a:t> in Oti region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Set-p cohorts for LLIN users and non-users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Simulate malaria transmission dynamics, varying LLIN coverage - </a:t>
            </a:r>
            <a:r>
              <a:rPr lang="en-US" altLang="en-CH" sz="2400" b="1" dirty="0">
                <a:latin typeface="Arial" panose="020B0604020202020204" pitchFamily="34" charset="0"/>
              </a:rPr>
              <a:t>(0, 0.2, 0.4, 0.6, 0.8, 1)</a:t>
            </a:r>
            <a:r>
              <a:rPr lang="en-US" altLang="en-CH" sz="2400" dirty="0">
                <a:latin typeface="Arial" panose="020B0604020202020204" pitchFamily="34" charset="0"/>
              </a:rPr>
              <a:t>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LLIN deployed starting</a:t>
            </a:r>
            <a:r>
              <a:rPr kumimoji="0" lang="en-US" altLang="en-CH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2021, 2024, 2027 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CH" sz="2400" dirty="0">
                <a:latin typeface="Arial" panose="020B0604020202020204" pitchFamily="34" charset="0"/>
              </a:rPr>
              <a:t>Malaria prevalence of users and non-users was compared to the counterfactual – </a:t>
            </a:r>
            <a:r>
              <a:rPr lang="en-US" altLang="en-CH" sz="2400" b="1" dirty="0">
                <a:latin typeface="Arial" panose="020B0604020202020204" pitchFamily="34" charset="0"/>
              </a:rPr>
              <a:t>0 coverage</a:t>
            </a:r>
            <a:endParaRPr kumimoji="0" lang="en-US" altLang="en-CH" sz="24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58461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9B08CC7-F9FC-A9F7-3FDA-20BDD43AC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19E80AF3-3C38-0214-DA25-1C645D5B76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Approach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5CA5B2CC-15BB-99AA-74D6-2F67CCD2FD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986" y="738099"/>
                <a:ext cx="12074014" cy="568925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vert="horz" wrap="square" lIns="91440" tIns="45720" rIns="91440" bIns="45720" numCol="1" anchor="ctr" anchorCtr="0" compatLnSpc="1">
                <a:prstTxWarp prst="textNoShape">
                  <a:avLst/>
                </a:prstTxWarp>
                <a:spAutoFit/>
              </a:bodyPr>
              <a:lstStyle/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CH" sz="2400" b="1" dirty="0"/>
                  <a:t>Prev₀</a:t>
                </a:r>
                <a:r>
                  <a:rPr lang="en-CH" sz="2400" dirty="0"/>
                  <a:t> = prevalence in </a:t>
                </a:r>
                <a:r>
                  <a:rPr lang="en-US" sz="2400" dirty="0"/>
                  <a:t>the</a:t>
                </a:r>
                <a:r>
                  <a:rPr lang="en-CH" sz="2400" dirty="0"/>
                  <a:t> population with </a:t>
                </a:r>
                <a:r>
                  <a:rPr lang="en-CH" sz="2400" b="1" dirty="0"/>
                  <a:t>0% LLIN coverage</a:t>
                </a:r>
                <a:r>
                  <a:rPr lang="en-CH" sz="2400" dirty="0"/>
                  <a:t> (counterfactual)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CH" sz="2400" b="1" dirty="0" err="1"/>
                  <a:t>Prev_users</a:t>
                </a:r>
                <a:r>
                  <a:rPr lang="en-CH" sz="2400" dirty="0"/>
                  <a:t> = prevalence in </a:t>
                </a:r>
                <a:r>
                  <a:rPr lang="en-CH" sz="2400" b="1" dirty="0"/>
                  <a:t>LLIN users</a:t>
                </a:r>
                <a:r>
                  <a:rPr lang="en-CH" sz="2400" dirty="0"/>
                  <a:t> at a given coverage </a:t>
                </a:r>
                <a:endParaRPr lang="en-US" sz="2400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CH" sz="2400" b="1" dirty="0" err="1"/>
                  <a:t>Prev_non</a:t>
                </a:r>
                <a:r>
                  <a:rPr lang="en-US" sz="2400" b="1" dirty="0"/>
                  <a:t>-</a:t>
                </a:r>
                <a:r>
                  <a:rPr lang="en-CH" sz="2400" b="1" dirty="0"/>
                  <a:t>users</a:t>
                </a:r>
                <a:r>
                  <a:rPr lang="en-CH" sz="2400" dirty="0"/>
                  <a:t> = prevalence in </a:t>
                </a:r>
                <a:r>
                  <a:rPr lang="en-CH" sz="2400" b="1" dirty="0"/>
                  <a:t>non-users</a:t>
                </a:r>
                <a:r>
                  <a:rPr lang="en-CH" sz="2400" dirty="0"/>
                  <a:t> at the same coverage</a:t>
                </a:r>
              </a:p>
              <a:p>
                <a:endParaRPr lang="en-US" sz="2400" dirty="0"/>
              </a:p>
              <a:p>
                <a:r>
                  <a:rPr lang="en-US" sz="2400" b="1" dirty="0"/>
                  <a:t>Calculate direct and indirect protections as </a:t>
                </a:r>
                <a:r>
                  <a:rPr lang="en-CH" sz="2400" b="1" dirty="0"/>
                  <a:t>prevalence reduction</a:t>
                </a:r>
                <a:r>
                  <a:rPr lang="en-CH" sz="2400" dirty="0"/>
                  <a:t> relative to the counterfactual</a:t>
                </a:r>
                <a:r>
                  <a:rPr lang="en-US" sz="2400" dirty="0"/>
                  <a:t>:</a:t>
                </a:r>
                <a:r>
                  <a:rPr lang="en-CH" sz="2400" dirty="0"/>
                  <a:t> </a:t>
                </a:r>
                <a:endParaRPr lang="en-US" sz="2400" dirty="0"/>
              </a:p>
              <a:p>
                <a:endParaRPr lang="en-US" sz="2400" b="1" dirty="0"/>
              </a:p>
              <a:p>
                <a:r>
                  <a:rPr lang="en-US" sz="2400" b="1" dirty="0"/>
                  <a:t>Direct protection:</a:t>
                </a:r>
                <a:r>
                  <a:rPr lang="en-US" sz="2400" dirty="0"/>
                  <a:t> The reduction in prevalence </a:t>
                </a:r>
                <a:r>
                  <a:rPr lang="en-US" sz="2400" b="1" dirty="0"/>
                  <a:t>experienced only by users of the intervention</a:t>
                </a:r>
                <a:r>
                  <a:rPr lang="en-US" sz="2400" dirty="0"/>
                  <a:t>.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/>
                        <m:t>Direct</m:t>
                      </m:r>
                      <m:r>
                        <m:rPr>
                          <m:nor/>
                        </m:rPr>
                        <a:rPr lang="en-US" sz="2400" b="0" i="1"/>
                        <m:t> </m:t>
                      </m:r>
                      <m:r>
                        <m:rPr>
                          <m:nor/>
                        </m:rPr>
                        <a:rPr lang="en-US" sz="2400" b="0" i="1"/>
                        <m:t>protection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Prev</m:t>
                          </m:r>
                        </m:e>
                        <m: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i="1"/>
                            <m:t>Prev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i="1"/>
                            <m:t>users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at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b="0" i="1" smtClean="0"/>
                            <m:t>coverage</m:t>
                          </m:r>
                        </m:sub>
                      </m:sSub>
                    </m:oMath>
                  </m:oMathPara>
                </a14:m>
                <a:endParaRPr lang="ar-AE" sz="2400" b="0" dirty="0"/>
              </a:p>
              <a:p>
                <a:endParaRPr lang="en-US" sz="2400" b="1" dirty="0"/>
              </a:p>
              <a:p>
                <a:r>
                  <a:rPr lang="en-US" sz="2400" b="1" dirty="0"/>
                  <a:t>Indirect protection: </a:t>
                </a:r>
                <a:r>
                  <a:rPr lang="en-US" sz="2400" dirty="0"/>
                  <a:t>The additional reduction in prevalence experienced by </a:t>
                </a:r>
                <a:r>
                  <a:rPr lang="en-US" sz="2400" b="1" dirty="0"/>
                  <a:t>non-users</a:t>
                </a:r>
                <a:r>
                  <a:rPr lang="en-US" sz="2400" dirty="0"/>
                  <a:t>, or the extra benefit users get </a:t>
                </a:r>
                <a:r>
                  <a:rPr lang="en-US" sz="2400" b="1" dirty="0"/>
                  <a:t>because others in the community also use LLINs</a:t>
                </a:r>
                <a:r>
                  <a:rPr lang="en-US" sz="2400" dirty="0"/>
                  <a:t>.</a:t>
                </a:r>
              </a:p>
              <a:p>
                <a:r>
                  <a:rPr lang="en-US" sz="2400" b="1" dirty="0"/>
                  <a:t>Quantified as:</a:t>
                </a:r>
                <a:endParaRPr lang="en-US" sz="24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sz="2400" b="0"/>
                        <m:t>Indirect</m:t>
                      </m:r>
                      <m:r>
                        <m:rPr>
                          <m:nor/>
                        </m:rPr>
                        <a:rPr lang="en-US" sz="2400" b="0" i="1"/>
                        <m:t> </m:t>
                      </m:r>
                      <m:r>
                        <m:rPr>
                          <m:nor/>
                        </m:rPr>
                        <a:rPr lang="en-US" sz="2400" b="0" i="1"/>
                        <m:t>protection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Prev</m:t>
                              </m:r>
                            </m:e>
                            <m:sub>
                              <m:r>
                                <a:rPr lang="ar-AE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 −</m:t>
                          </m:r>
                          <m:sSub>
                            <m:sSubPr>
                              <m:ctrlPr>
                                <a:rPr lang="ar-AE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nor/>
                                </m:rPr>
                                <a:rPr lang="en-US" i="1"/>
                                <m:t>Prev</m:t>
                              </m:r>
                            </m:e>
                            <m:sub>
                              <m:r>
                                <m:rPr>
                                  <m:nor/>
                                </m:rPr>
                                <a:rPr lang="en-US" i="1"/>
                                <m:t>non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−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users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at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 </m:t>
                              </m:r>
                              <m:r>
                                <m:rPr>
                                  <m:nor/>
                                </m:rPr>
                                <a:rPr lang="en-US" i="1"/>
                                <m:t>coverage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ar-AE" sz="2400" b="0" dirty="0"/>
              </a:p>
            </p:txBody>
          </p:sp>
        </mc:Choice>
        <mc:Fallback xmlns="">
          <p:sp>
            <p:nvSpPr>
              <p:cNvPr id="4" name="Rectangle 2">
                <a:extLst>
                  <a:ext uri="{FF2B5EF4-FFF2-40B4-BE49-F238E27FC236}">
                    <a16:creationId xmlns:a16="http://schemas.microsoft.com/office/drawing/2014/main" id="{5CA5B2CC-15BB-99AA-74D6-2F67CCD2FD53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7986" y="738099"/>
                <a:ext cx="12074014" cy="5689250"/>
              </a:xfrm>
              <a:prstGeom prst="rect">
                <a:avLst/>
              </a:prstGeom>
              <a:blipFill>
                <a:blip r:embed="rId3"/>
                <a:stretch>
                  <a:fillRect l="-757" t="-322" b="-322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C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57648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80A8B886-2E94-49C4-C617-B4CD3E4A48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177E4369-E217-9F93-B707-892FC772B14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824298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</a:t>
            </a:r>
            <a:r>
              <a:rPr lang="en-US" sz="2800" b="1" dirty="0" err="1">
                <a:latin typeface="+mn-lt"/>
              </a:rPr>
              <a:t>nHost</a:t>
            </a:r>
            <a:r>
              <a:rPr lang="en-US" sz="2800" b="1" dirty="0">
                <a:latin typeface="+mn-lt"/>
              </a:rPr>
              <a:t> over time at different usage levels (EIR=60)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5997155D-45B9-3992-8770-9B9230391C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4" y="596754"/>
            <a:ext cx="11913212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59077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BF78928B-3334-F8EC-E655-62FB4623D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1FEC9C4B-F413-FB67-4DF3-94EA1D2706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824298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</a:t>
            </a:r>
            <a:r>
              <a:rPr lang="en-US" sz="2800" b="1" dirty="0" err="1">
                <a:latin typeface="+mn-lt"/>
              </a:rPr>
              <a:t>nPatent</a:t>
            </a:r>
            <a:r>
              <a:rPr lang="en-US" sz="2800" b="1" dirty="0">
                <a:latin typeface="+mn-lt"/>
              </a:rPr>
              <a:t> over time at different usage levels </a:t>
            </a:r>
            <a:r>
              <a:rPr lang="en-US" sz="2800" b="1" dirty="0"/>
              <a:t>(EIR=60)</a:t>
            </a:r>
            <a:endParaRPr lang="en-US" sz="2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D32992-C4BB-DAC7-84EA-78C7AB99A2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596754"/>
            <a:ext cx="11894161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36952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DBD480E4-377C-F947-22A5-06448B28E4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00C6A4FD-B4FE-7112-F5E9-E72835B6DF9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824298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prevalence over time by usage and EIR </a:t>
            </a:r>
            <a:r>
              <a:rPr lang="en-US" sz="2800" b="1" dirty="0"/>
              <a:t>levels</a:t>
            </a:r>
            <a:endParaRPr lang="en-US" sz="2800" b="1" dirty="0">
              <a:latin typeface="+mn-lt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25A4D31-814C-3E71-BE4B-CBF41B996F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4" y="606280"/>
            <a:ext cx="11913212" cy="5645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69107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0D0EEFC-997D-CFAD-9545-FFED0F24A2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B0C3D174-F9F3-5804-ECB6-B71E3C8B14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824298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</a:t>
            </a:r>
            <a:r>
              <a:rPr lang="en-US" sz="2800" b="1" dirty="0" err="1">
                <a:latin typeface="+mn-lt"/>
              </a:rPr>
              <a:t>nHost</a:t>
            </a:r>
            <a:r>
              <a:rPr lang="en-US" sz="2800" b="1" dirty="0">
                <a:latin typeface="+mn-lt"/>
              </a:rPr>
              <a:t> over time at different usage levels (EIR=60)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93DD853-9526-D0CE-0C48-B237FD9E42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8" y="596754"/>
            <a:ext cx="11932263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641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1A276081-30E1-AE6C-E922-BADBBCE7DC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7A9D75AE-135D-3D1D-A6E5-9C111DBF37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824298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</a:t>
            </a:r>
            <a:r>
              <a:rPr lang="en-US" sz="2800" b="1" dirty="0" err="1">
                <a:latin typeface="+mn-lt"/>
              </a:rPr>
              <a:t>nPatent</a:t>
            </a:r>
            <a:r>
              <a:rPr lang="en-US" sz="2800" b="1" dirty="0">
                <a:latin typeface="+mn-lt"/>
              </a:rPr>
              <a:t> over time at different usage levels </a:t>
            </a:r>
            <a:r>
              <a:rPr lang="en-US" sz="2800" b="1" dirty="0"/>
              <a:t>(EIR=60)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BE4D81-4376-C22F-96B8-9400624460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68" y="596754"/>
            <a:ext cx="11932263" cy="566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79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FB62F3DB-71BC-6834-5CA7-2BD1E919E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DCAA8699-D773-3C8B-5070-36753827C2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944145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plot of malaria prevalence in users and non-users by usage and EIR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D9E02B3-28B4-998F-0500-3AC1CBBACF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51" y="796022"/>
            <a:ext cx="11932263" cy="5696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79447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2D8FD3C0-F59B-CCEC-EC5D-2CE5DAF28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E15DA826-3285-8D89-EA26-F64158EA03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one campaign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C36CDE-EBE7-D311-E3E8-BCE388D98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343" y="590404"/>
            <a:ext cx="11951314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6294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1A323AFC-5FC3-5A12-773B-B114D62ACA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44A1CC37-3FB6-10BC-A8FC-C487E4CB74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11637012" cy="745200"/>
          </a:xfrm>
        </p:spPr>
        <p:txBody>
          <a:bodyPr/>
          <a:lstStyle/>
          <a:p>
            <a:r>
              <a:rPr lang="en-US" sz="2800" b="1" dirty="0">
                <a:latin typeface="+mn-lt"/>
              </a:rPr>
              <a:t>Results: average prevalence rate over the course of a single campaign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EE4BDA5-3E61-8D9A-3A9D-2ED1ADED22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577703"/>
            <a:ext cx="11894161" cy="5702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523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E1340D0B-9FD6-492D-D0AD-DFDCCF226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654B48D0-29D8-D4D9-0C97-234A02E544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>
                <a:latin typeface="+mn-lt"/>
              </a:rPr>
              <a:t>Results</a:t>
            </a:r>
            <a:endParaRPr lang="en-US" sz="2800" b="1" dirty="0">
              <a:latin typeface="+mn-lt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A3FCA23-E3FA-EBDE-45BA-8F144C1889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394" y="609455"/>
            <a:ext cx="11913212" cy="5639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0105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A4D827F3-6563-B1FD-F0C4-3F61229E20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0CD41B60-BDF6-C588-A9F3-DC2C9CF952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>
                <a:latin typeface="+mn-lt"/>
              </a:rPr>
              <a:t>Results</a:t>
            </a:r>
            <a:endParaRPr lang="en-US" sz="2800" b="1" dirty="0">
              <a:latin typeface="+mn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FDAE61-C7A3-2122-D244-FCC6C3C688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19" y="590404"/>
            <a:ext cx="11894161" cy="5677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66814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8">
          <a:extLst>
            <a:ext uri="{FF2B5EF4-FFF2-40B4-BE49-F238E27FC236}">
              <a16:creationId xmlns:a16="http://schemas.microsoft.com/office/drawing/2014/main" id="{7F3872C7-7654-792C-81B2-E8C903BC4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67">
            <a:extLst>
              <a:ext uri="{FF2B5EF4-FFF2-40B4-BE49-F238E27FC236}">
                <a16:creationId xmlns:a16="http://schemas.microsoft.com/office/drawing/2014/main" id="{802CB4A1-B423-3DEC-094D-5185E98EAF2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986" y="50822"/>
            <a:ext cx="7132559" cy="745200"/>
          </a:xfrm>
        </p:spPr>
        <p:txBody>
          <a:bodyPr/>
          <a:lstStyle/>
          <a:p>
            <a:r>
              <a:rPr lang="en-US" sz="2800" b="1">
                <a:latin typeface="+mn-lt"/>
              </a:rPr>
              <a:t>Results</a:t>
            </a:r>
            <a:endParaRPr lang="en-US" sz="2800" b="1" dirty="0">
              <a:latin typeface="+mn-lt"/>
            </a:endParaRPr>
          </a:p>
        </p:txBody>
      </p:sp>
      <p:pic>
        <p:nvPicPr>
          <p:cNvPr id="3" name="Picture 2" descr="A graph with lines and numbers&#10;&#10;AI-generated content may be incorrect.">
            <a:extLst>
              <a:ext uri="{FF2B5EF4-FFF2-40B4-BE49-F238E27FC236}">
                <a16:creationId xmlns:a16="http://schemas.microsoft.com/office/drawing/2014/main" id="{CB9FA597-1B85-2974-380B-15F11324930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19323"/>
            <a:ext cx="12192000" cy="5819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62828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473</Words>
  <Application>Microsoft Office PowerPoint</Application>
  <PresentationFormat>Widescreen</PresentationFormat>
  <Paragraphs>44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Aptos</vt:lpstr>
      <vt:lpstr>Aptos Display</vt:lpstr>
      <vt:lpstr>Arial</vt:lpstr>
      <vt:lpstr>Calibri</vt:lpstr>
      <vt:lpstr>Cambria Math</vt:lpstr>
      <vt:lpstr>Palatino Linotype</vt:lpstr>
      <vt:lpstr>Office Theme</vt:lpstr>
      <vt:lpstr>PowerPoint Presentation</vt:lpstr>
      <vt:lpstr>Background</vt:lpstr>
      <vt:lpstr>Approach</vt:lpstr>
      <vt:lpstr>Approach</vt:lpstr>
      <vt:lpstr>Results: Plot of nHost over time at different usage levels (EIR=60)</vt:lpstr>
      <vt:lpstr>Results: Plot of nPatent over time at different usage levels (EIR=60)</vt:lpstr>
      <vt:lpstr>Results: Plot of prevalence over time by usage and EIR levels</vt:lpstr>
      <vt:lpstr>Results: Plot of nHost over time at different usage levels (EIR=60)</vt:lpstr>
      <vt:lpstr>Results: Plot of nPatent over time at different usage levels (EIR=60)</vt:lpstr>
      <vt:lpstr>Results: plot of malaria prevalence in users and non-users by usage and EIR</vt:lpstr>
      <vt:lpstr>Results: one campaign</vt:lpstr>
      <vt:lpstr>Results: average prevalence rate over the course of a single campaign</vt:lpstr>
      <vt:lpstr>Results</vt:lpstr>
      <vt:lpstr>Results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Zenabu Suboi</dc:creator>
  <cp:lastModifiedBy>Zenabu Suboi</cp:lastModifiedBy>
  <cp:revision>13</cp:revision>
  <dcterms:created xsi:type="dcterms:W3CDTF">2025-10-29T11:22:24Z</dcterms:created>
  <dcterms:modified xsi:type="dcterms:W3CDTF">2025-12-02T10:41:01Z</dcterms:modified>
</cp:coreProperties>
</file>