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58" r:id="rId3"/>
    <p:sldId id="259" r:id="rId4"/>
    <p:sldId id="260" r:id="rId5"/>
    <p:sldId id="261" r:id="rId6"/>
    <p:sldId id="262" r:id="rId7"/>
    <p:sldId id="263" r:id="rId8"/>
    <p:sldId id="264" r:id="rId9"/>
    <p:sldId id="265" r:id="rId10"/>
    <p:sldId id="266" r:id="rId11"/>
    <p:sldId id="267" r:id="rId12"/>
    <p:sldId id="269" r:id="rId13"/>
    <p:sldId id="270" r:id="rId14"/>
    <p:sldId id="271" r:id="rId15"/>
    <p:sldId id="272" r:id="rId16"/>
    <p:sldId id="277" r:id="rId17"/>
    <p:sldId id="274" r:id="rId18"/>
    <p:sldId id="275" r:id="rId19"/>
    <p:sldId id="276" r:id="rId20"/>
    <p:sldId id="280" r:id="rId21"/>
    <p:sldId id="281" r:id="rId22"/>
    <p:sldId id="278" r:id="rId23"/>
    <p:sldId id="279" r:id="rId24"/>
    <p:sldId id="282"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668"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7982B6-261F-4E0D-85CF-AFB8898FA926}" type="doc">
      <dgm:prSet loTypeId="urn:microsoft.com/office/officeart/2005/8/layout/vList6" loCatId="list" qsTypeId="urn:microsoft.com/office/officeart/2005/8/quickstyle/simple3" qsCatId="simple" csTypeId="urn:microsoft.com/office/officeart/2005/8/colors/accent1_2" csCatId="accent1" phldr="1"/>
      <dgm:spPr/>
      <dgm:t>
        <a:bodyPr/>
        <a:lstStyle/>
        <a:p>
          <a:endParaRPr lang="en-US"/>
        </a:p>
      </dgm:t>
    </dgm:pt>
    <dgm:pt modelId="{6BD30B86-6E63-484E-9CF9-D5C6180BE587}">
      <dgm:prSet phldrT="[Text]" custT="1"/>
      <dgm:spPr/>
      <dgm:t>
        <a:bodyPr/>
        <a:lstStyle/>
        <a:p>
          <a:r>
            <a:rPr lang="en-US" sz="2800" dirty="0" smtClean="0"/>
            <a:t>Forward Propagation of Uncertainty</a:t>
          </a:r>
          <a:endParaRPr lang="en-US" sz="2800" dirty="0"/>
        </a:p>
      </dgm:t>
    </dgm:pt>
    <dgm:pt modelId="{E550FB3D-3EE7-453C-9528-C2A578C98294}" type="parTrans" cxnId="{4C1FD9F4-5CD8-42FF-ACF4-CE191FA36AEB}">
      <dgm:prSet/>
      <dgm:spPr/>
      <dgm:t>
        <a:bodyPr/>
        <a:lstStyle/>
        <a:p>
          <a:endParaRPr lang="en-US"/>
        </a:p>
      </dgm:t>
    </dgm:pt>
    <dgm:pt modelId="{C3B58F22-DF41-4CBC-A43D-5B82C008BEF1}" type="sibTrans" cxnId="{4C1FD9F4-5CD8-42FF-ACF4-CE191FA36AEB}">
      <dgm:prSet/>
      <dgm:spPr/>
      <dgm:t>
        <a:bodyPr/>
        <a:lstStyle/>
        <a:p>
          <a:endParaRPr lang="en-US"/>
        </a:p>
      </dgm:t>
    </dgm:pt>
    <dgm:pt modelId="{6B2FAED9-D35B-40EF-8571-857622692A77}">
      <dgm:prSet phldrT="[Text]" custT="1"/>
      <dgm:spPr/>
      <dgm:t>
        <a:bodyPr/>
        <a:lstStyle/>
        <a:p>
          <a:r>
            <a:rPr lang="en-US" sz="2800" dirty="0" smtClean="0"/>
            <a:t>Investigates the impacts of random input values of model parameters on model outputs</a:t>
          </a:r>
          <a:endParaRPr lang="en-US" sz="2800" dirty="0"/>
        </a:p>
      </dgm:t>
    </dgm:pt>
    <dgm:pt modelId="{36446724-EDA3-4799-BE41-305A8FE567CC}" type="parTrans" cxnId="{412359B2-18DB-4350-846A-9E645FB4A7EF}">
      <dgm:prSet/>
      <dgm:spPr/>
      <dgm:t>
        <a:bodyPr/>
        <a:lstStyle/>
        <a:p>
          <a:endParaRPr lang="en-US"/>
        </a:p>
      </dgm:t>
    </dgm:pt>
    <dgm:pt modelId="{9C197227-3985-4A0F-8C70-6DA014A00B96}" type="sibTrans" cxnId="{412359B2-18DB-4350-846A-9E645FB4A7EF}">
      <dgm:prSet/>
      <dgm:spPr/>
      <dgm:t>
        <a:bodyPr/>
        <a:lstStyle/>
        <a:p>
          <a:endParaRPr lang="en-US"/>
        </a:p>
      </dgm:t>
    </dgm:pt>
    <dgm:pt modelId="{8813CC15-E3AF-4EE9-8CC3-08E0DF124B2B}">
      <dgm:prSet phldrT="[Text]" custT="1"/>
      <dgm:spPr/>
      <dgm:t>
        <a:bodyPr/>
        <a:lstStyle/>
        <a:p>
          <a:r>
            <a:rPr lang="en-US" sz="2800" dirty="0" smtClean="0"/>
            <a:t>Inverse Uncertainty Quantification</a:t>
          </a:r>
          <a:endParaRPr lang="en-US" sz="2800" dirty="0"/>
        </a:p>
      </dgm:t>
    </dgm:pt>
    <dgm:pt modelId="{CE7CB66D-843B-4D82-ACAE-307F659C6710}" type="parTrans" cxnId="{EA2C217A-5BBF-4435-9F5B-0883B361B148}">
      <dgm:prSet/>
      <dgm:spPr/>
      <dgm:t>
        <a:bodyPr/>
        <a:lstStyle/>
        <a:p>
          <a:endParaRPr lang="en-US"/>
        </a:p>
      </dgm:t>
    </dgm:pt>
    <dgm:pt modelId="{1ED23F48-7363-4CE9-8B2C-FED4F4DB44AD}" type="sibTrans" cxnId="{EA2C217A-5BBF-4435-9F5B-0883B361B148}">
      <dgm:prSet/>
      <dgm:spPr/>
      <dgm:t>
        <a:bodyPr/>
        <a:lstStyle/>
        <a:p>
          <a:endParaRPr lang="en-US"/>
        </a:p>
      </dgm:t>
    </dgm:pt>
    <dgm:pt modelId="{53A706F1-7BE7-4B65-8C79-64D92BB217B0}">
      <dgm:prSet phldrT="[Text]" custT="1"/>
      <dgm:spPr/>
      <dgm:t>
        <a:bodyPr/>
        <a:lstStyle/>
        <a:p>
          <a:r>
            <a:rPr lang="en-US" sz="2800" dirty="0" smtClean="0"/>
            <a:t>using experimental data to learn about the sources of modeling uncertainty</a:t>
          </a:r>
          <a:endParaRPr lang="en-US" sz="2800" dirty="0"/>
        </a:p>
      </dgm:t>
    </dgm:pt>
    <dgm:pt modelId="{84C15831-477D-44C5-8EF7-3058C1722A7A}" type="parTrans" cxnId="{3517BC94-0B70-4749-8E13-46F75F6A0C6C}">
      <dgm:prSet/>
      <dgm:spPr/>
      <dgm:t>
        <a:bodyPr/>
        <a:lstStyle/>
        <a:p>
          <a:endParaRPr lang="en-US"/>
        </a:p>
      </dgm:t>
    </dgm:pt>
    <dgm:pt modelId="{F24A94F5-7CF3-43C4-BDCF-42C4BCCE841B}" type="sibTrans" cxnId="{3517BC94-0B70-4749-8E13-46F75F6A0C6C}">
      <dgm:prSet/>
      <dgm:spPr/>
      <dgm:t>
        <a:bodyPr/>
        <a:lstStyle/>
        <a:p>
          <a:endParaRPr lang="en-US"/>
        </a:p>
      </dgm:t>
    </dgm:pt>
    <dgm:pt modelId="{F6BC2A56-8E24-4633-9F0F-74F252669F27}" type="pres">
      <dgm:prSet presAssocID="{1E7982B6-261F-4E0D-85CF-AFB8898FA926}" presName="Name0" presStyleCnt="0">
        <dgm:presLayoutVars>
          <dgm:dir/>
          <dgm:animLvl val="lvl"/>
          <dgm:resizeHandles/>
        </dgm:presLayoutVars>
      </dgm:prSet>
      <dgm:spPr/>
      <dgm:t>
        <a:bodyPr/>
        <a:lstStyle/>
        <a:p>
          <a:endParaRPr lang="en-US"/>
        </a:p>
      </dgm:t>
    </dgm:pt>
    <dgm:pt modelId="{5C9A9BF0-147B-4478-A0E6-6DFE025FBCAC}" type="pres">
      <dgm:prSet presAssocID="{6BD30B86-6E63-484E-9CF9-D5C6180BE587}" presName="linNode" presStyleCnt="0"/>
      <dgm:spPr/>
    </dgm:pt>
    <dgm:pt modelId="{40BCD131-2073-4EDE-9795-02928553C85F}" type="pres">
      <dgm:prSet presAssocID="{6BD30B86-6E63-484E-9CF9-D5C6180BE587}" presName="parentShp" presStyleLbl="node1" presStyleIdx="0" presStyleCnt="2" custLinFactNeighborY="-26">
        <dgm:presLayoutVars>
          <dgm:bulletEnabled val="1"/>
        </dgm:presLayoutVars>
      </dgm:prSet>
      <dgm:spPr/>
      <dgm:t>
        <a:bodyPr/>
        <a:lstStyle/>
        <a:p>
          <a:endParaRPr lang="en-US"/>
        </a:p>
      </dgm:t>
    </dgm:pt>
    <dgm:pt modelId="{234E15B5-1992-433F-AE7A-2BD232D5F9C1}" type="pres">
      <dgm:prSet presAssocID="{6BD30B86-6E63-484E-9CF9-D5C6180BE587}" presName="childShp" presStyleLbl="bgAccFollowNode1" presStyleIdx="0" presStyleCnt="2" custLinFactNeighborX="-358" custLinFactNeighborY="-26">
        <dgm:presLayoutVars>
          <dgm:bulletEnabled val="1"/>
        </dgm:presLayoutVars>
      </dgm:prSet>
      <dgm:spPr/>
      <dgm:t>
        <a:bodyPr/>
        <a:lstStyle/>
        <a:p>
          <a:endParaRPr lang="en-US"/>
        </a:p>
      </dgm:t>
    </dgm:pt>
    <dgm:pt modelId="{147B896B-C0B3-4FD6-BB5D-C71145D3502F}" type="pres">
      <dgm:prSet presAssocID="{C3B58F22-DF41-4CBC-A43D-5B82C008BEF1}" presName="spacing" presStyleCnt="0"/>
      <dgm:spPr/>
    </dgm:pt>
    <dgm:pt modelId="{C8195DB9-FD51-4F69-B60F-250E8247B09B}" type="pres">
      <dgm:prSet presAssocID="{8813CC15-E3AF-4EE9-8CC3-08E0DF124B2B}" presName="linNode" presStyleCnt="0"/>
      <dgm:spPr/>
    </dgm:pt>
    <dgm:pt modelId="{116AF5B1-E45C-4738-8EBC-F071EB4E45FD}" type="pres">
      <dgm:prSet presAssocID="{8813CC15-E3AF-4EE9-8CC3-08E0DF124B2B}" presName="parentShp" presStyleLbl="node1" presStyleIdx="1" presStyleCnt="2">
        <dgm:presLayoutVars>
          <dgm:bulletEnabled val="1"/>
        </dgm:presLayoutVars>
      </dgm:prSet>
      <dgm:spPr/>
      <dgm:t>
        <a:bodyPr/>
        <a:lstStyle/>
        <a:p>
          <a:endParaRPr lang="en-US"/>
        </a:p>
      </dgm:t>
    </dgm:pt>
    <dgm:pt modelId="{AF97286F-DE4D-4D21-923A-0C8E3289DDB2}" type="pres">
      <dgm:prSet presAssocID="{8813CC15-E3AF-4EE9-8CC3-08E0DF124B2B}" presName="childShp" presStyleLbl="bgAccFollowNode1" presStyleIdx="1" presStyleCnt="2">
        <dgm:presLayoutVars>
          <dgm:bulletEnabled val="1"/>
        </dgm:presLayoutVars>
      </dgm:prSet>
      <dgm:spPr/>
      <dgm:t>
        <a:bodyPr/>
        <a:lstStyle/>
        <a:p>
          <a:endParaRPr lang="en-US"/>
        </a:p>
      </dgm:t>
    </dgm:pt>
  </dgm:ptLst>
  <dgm:cxnLst>
    <dgm:cxn modelId="{3517BC94-0B70-4749-8E13-46F75F6A0C6C}" srcId="{8813CC15-E3AF-4EE9-8CC3-08E0DF124B2B}" destId="{53A706F1-7BE7-4B65-8C79-64D92BB217B0}" srcOrd="0" destOrd="0" parTransId="{84C15831-477D-44C5-8EF7-3058C1722A7A}" sibTransId="{F24A94F5-7CF3-43C4-BDCF-42C4BCCE841B}"/>
    <dgm:cxn modelId="{4C1FD9F4-5CD8-42FF-ACF4-CE191FA36AEB}" srcId="{1E7982B6-261F-4E0D-85CF-AFB8898FA926}" destId="{6BD30B86-6E63-484E-9CF9-D5C6180BE587}" srcOrd="0" destOrd="0" parTransId="{E550FB3D-3EE7-453C-9528-C2A578C98294}" sibTransId="{C3B58F22-DF41-4CBC-A43D-5B82C008BEF1}"/>
    <dgm:cxn modelId="{DA6BDA08-0FC6-4E53-AB47-241F6623AEF4}" type="presOf" srcId="{1E7982B6-261F-4E0D-85CF-AFB8898FA926}" destId="{F6BC2A56-8E24-4633-9F0F-74F252669F27}" srcOrd="0" destOrd="0" presId="urn:microsoft.com/office/officeart/2005/8/layout/vList6"/>
    <dgm:cxn modelId="{A0405EAE-990B-4F20-B289-67131FB4278D}" type="presOf" srcId="{8813CC15-E3AF-4EE9-8CC3-08E0DF124B2B}" destId="{116AF5B1-E45C-4738-8EBC-F071EB4E45FD}" srcOrd="0" destOrd="0" presId="urn:microsoft.com/office/officeart/2005/8/layout/vList6"/>
    <dgm:cxn modelId="{51D2EB02-6BD6-422D-9314-1F385B053707}" type="presOf" srcId="{6BD30B86-6E63-484E-9CF9-D5C6180BE587}" destId="{40BCD131-2073-4EDE-9795-02928553C85F}" srcOrd="0" destOrd="0" presId="urn:microsoft.com/office/officeart/2005/8/layout/vList6"/>
    <dgm:cxn modelId="{412359B2-18DB-4350-846A-9E645FB4A7EF}" srcId="{6BD30B86-6E63-484E-9CF9-D5C6180BE587}" destId="{6B2FAED9-D35B-40EF-8571-857622692A77}" srcOrd="0" destOrd="0" parTransId="{36446724-EDA3-4799-BE41-305A8FE567CC}" sibTransId="{9C197227-3985-4A0F-8C70-6DA014A00B96}"/>
    <dgm:cxn modelId="{A1F09CA7-7683-4B05-9E24-EA96970D0CE2}" type="presOf" srcId="{53A706F1-7BE7-4B65-8C79-64D92BB217B0}" destId="{AF97286F-DE4D-4D21-923A-0C8E3289DDB2}" srcOrd="0" destOrd="0" presId="urn:microsoft.com/office/officeart/2005/8/layout/vList6"/>
    <dgm:cxn modelId="{A4404D18-9CBF-4384-8998-477683FAA36D}" type="presOf" srcId="{6B2FAED9-D35B-40EF-8571-857622692A77}" destId="{234E15B5-1992-433F-AE7A-2BD232D5F9C1}" srcOrd="0" destOrd="0" presId="urn:microsoft.com/office/officeart/2005/8/layout/vList6"/>
    <dgm:cxn modelId="{EA2C217A-5BBF-4435-9F5B-0883B361B148}" srcId="{1E7982B6-261F-4E0D-85CF-AFB8898FA926}" destId="{8813CC15-E3AF-4EE9-8CC3-08E0DF124B2B}" srcOrd="1" destOrd="0" parTransId="{CE7CB66D-843B-4D82-ACAE-307F659C6710}" sibTransId="{1ED23F48-7363-4CE9-8B2C-FED4F4DB44AD}"/>
    <dgm:cxn modelId="{36754631-76C3-48D8-9A08-076AD0002927}" type="presParOf" srcId="{F6BC2A56-8E24-4633-9F0F-74F252669F27}" destId="{5C9A9BF0-147B-4478-A0E6-6DFE025FBCAC}" srcOrd="0" destOrd="0" presId="urn:microsoft.com/office/officeart/2005/8/layout/vList6"/>
    <dgm:cxn modelId="{B62D4D64-F963-4188-9EBB-A1FCD2D788A1}" type="presParOf" srcId="{5C9A9BF0-147B-4478-A0E6-6DFE025FBCAC}" destId="{40BCD131-2073-4EDE-9795-02928553C85F}" srcOrd="0" destOrd="0" presId="urn:microsoft.com/office/officeart/2005/8/layout/vList6"/>
    <dgm:cxn modelId="{D79D9F45-60D5-4931-8000-F4313BB970EC}" type="presParOf" srcId="{5C9A9BF0-147B-4478-A0E6-6DFE025FBCAC}" destId="{234E15B5-1992-433F-AE7A-2BD232D5F9C1}" srcOrd="1" destOrd="0" presId="urn:microsoft.com/office/officeart/2005/8/layout/vList6"/>
    <dgm:cxn modelId="{C96FDB45-8DA8-4286-99A5-492ABF5FC4B2}" type="presParOf" srcId="{F6BC2A56-8E24-4633-9F0F-74F252669F27}" destId="{147B896B-C0B3-4FD6-BB5D-C71145D3502F}" srcOrd="1" destOrd="0" presId="urn:microsoft.com/office/officeart/2005/8/layout/vList6"/>
    <dgm:cxn modelId="{F7BFAE50-D638-4DE9-A0B3-E3CE5E5F8963}" type="presParOf" srcId="{F6BC2A56-8E24-4633-9F0F-74F252669F27}" destId="{C8195DB9-FD51-4F69-B60F-250E8247B09B}" srcOrd="2" destOrd="0" presId="urn:microsoft.com/office/officeart/2005/8/layout/vList6"/>
    <dgm:cxn modelId="{854C853F-1733-4F57-9FAA-5E4AC053F8A2}" type="presParOf" srcId="{C8195DB9-FD51-4F69-B60F-250E8247B09B}" destId="{116AF5B1-E45C-4738-8EBC-F071EB4E45FD}" srcOrd="0" destOrd="0" presId="urn:microsoft.com/office/officeart/2005/8/layout/vList6"/>
    <dgm:cxn modelId="{BC2874F3-D691-486F-BE9C-33A6E7CBEBAE}" type="presParOf" srcId="{C8195DB9-FD51-4F69-B60F-250E8247B09B}" destId="{AF97286F-DE4D-4D21-923A-0C8E3289DDB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dgm:t>
        <a:bodyPr/>
        <a:lstStyle/>
        <a:p>
          <a:r>
            <a:rPr lang="en-US" sz="1600" dirty="0" smtClean="0"/>
            <a:t>Objective 1: Understand the key drivers of impact of malaria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smtClean="0"/>
            <a:t>Objective 2: Develop a novel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E15B5-1992-433F-AE7A-2BD232D5F9C1}">
      <dsp:nvSpPr>
        <dsp:cNvPr id="0" name=""/>
        <dsp:cNvSpPr/>
      </dsp:nvSpPr>
      <dsp:spPr>
        <a:xfrm>
          <a:off x="3239560" y="0"/>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Investigates the impacts of random input values of model parameters on model outputs</a:t>
          </a:r>
          <a:endParaRPr lang="en-US" sz="2800" kern="1200" dirty="0"/>
        </a:p>
      </dsp:txBody>
      <dsp:txXfrm>
        <a:off x="3239560" y="293504"/>
        <a:ext cx="3996288" cy="1761024"/>
      </dsp:txXfrm>
    </dsp:sp>
    <dsp:sp modelId="{40BCD131-2073-4EDE-9795-02928553C85F}">
      <dsp:nvSpPr>
        <dsp:cNvPr id="0" name=""/>
        <dsp:cNvSpPr/>
      </dsp:nvSpPr>
      <dsp:spPr>
        <a:xfrm>
          <a:off x="0" y="0"/>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Forward Propagation of Uncertainty</a:t>
          </a:r>
          <a:endParaRPr lang="en-US" sz="2800" kern="1200" dirty="0"/>
        </a:p>
      </dsp:txBody>
      <dsp:txXfrm>
        <a:off x="114621" y="114621"/>
        <a:ext cx="3021958" cy="2118790"/>
      </dsp:txXfrm>
    </dsp:sp>
    <dsp:sp modelId="{AF97286F-DE4D-4D21-923A-0C8E3289DDB2}">
      <dsp:nvSpPr>
        <dsp:cNvPr id="0" name=""/>
        <dsp:cNvSpPr/>
      </dsp:nvSpPr>
      <dsp:spPr>
        <a:xfrm>
          <a:off x="3251199" y="2583438"/>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using experimental data to learn about the sources of modeling uncertainty</a:t>
          </a:r>
          <a:endParaRPr lang="en-US" sz="2800" kern="1200" dirty="0"/>
        </a:p>
      </dsp:txBody>
      <dsp:txXfrm>
        <a:off x="3251199" y="2876942"/>
        <a:ext cx="3996288" cy="1761024"/>
      </dsp:txXfrm>
    </dsp:sp>
    <dsp:sp modelId="{116AF5B1-E45C-4738-8EBC-F071EB4E45FD}">
      <dsp:nvSpPr>
        <dsp:cNvPr id="0" name=""/>
        <dsp:cNvSpPr/>
      </dsp:nvSpPr>
      <dsp:spPr>
        <a:xfrm>
          <a:off x="0" y="2583438"/>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Inverse Uncertainty Quantification</a:t>
          </a:r>
          <a:endParaRPr lang="en-US" sz="2800" kern="1200" dirty="0"/>
        </a:p>
      </dsp:txBody>
      <dsp:txXfrm>
        <a:off x="114621" y="2698059"/>
        <a:ext cx="3021958" cy="21187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malaria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 novel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D3B6F-F0F8-4454-A2BC-182633D2198D}" type="datetimeFigureOut">
              <a:rPr lang="de-CH" smtClean="0"/>
              <a:t>07.03.2025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9D26DB-5FF6-4074-B0EE-FDB37FAF11DC}" type="slidenum">
              <a:rPr lang="de-CH" smtClean="0"/>
              <a:t>‹#›</a:t>
            </a:fld>
            <a:endParaRPr lang="de-CH"/>
          </a:p>
        </p:txBody>
      </p:sp>
    </p:spTree>
    <p:extLst>
      <p:ext uri="{BB962C8B-B14F-4D97-AF65-F5344CB8AC3E}">
        <p14:creationId xmlns:p14="http://schemas.microsoft.com/office/powerpoint/2010/main" val="2649616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e9c2c056fb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e9c2c056f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5695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145067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070935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09505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858191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392772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64220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97724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5534664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796964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946404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180242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791321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660190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956342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709196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293028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324041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000792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e9c2c056fb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e9c2c056f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04074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495704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5779399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16744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114887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de-C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de-CH"/>
          </a:p>
        </p:txBody>
      </p:sp>
      <p:sp>
        <p:nvSpPr>
          <p:cNvPr id="4" name="Date Placeholder 3"/>
          <p:cNvSpPr>
            <a:spLocks noGrp="1"/>
          </p:cNvSpPr>
          <p:nvPr>
            <p:ph type="dt" sz="half" idx="10"/>
          </p:nvPr>
        </p:nvSpPr>
        <p:spPr/>
        <p:txBody>
          <a:bodyPr/>
          <a:lstStyle/>
          <a:p>
            <a:fld id="{4A87BCC6-2822-4B68-92B6-878A8E79FCCA}"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246192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4A87BCC6-2822-4B68-92B6-878A8E79FCCA}"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2576508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de-C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87BCC6-2822-4B68-92B6-878A8E79FCCA}"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2915355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Date Placeholder 4"/>
          <p:cNvSpPr>
            <a:spLocks noGrp="1"/>
          </p:cNvSpPr>
          <p:nvPr>
            <p:ph type="dt" sz="half" idx="10"/>
          </p:nvPr>
        </p:nvSpPr>
        <p:spPr/>
        <p:txBody>
          <a:bodyPr/>
          <a:lstStyle/>
          <a:p>
            <a:fld id="{4A87BCC6-2822-4B68-92B6-878A8E79FCCA}" type="datetimeFigureOut">
              <a:rPr lang="de-CH" smtClean="0"/>
              <a:t>07.03.2025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2793327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de-C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7" name="Date Placeholder 6"/>
          <p:cNvSpPr>
            <a:spLocks noGrp="1"/>
          </p:cNvSpPr>
          <p:nvPr>
            <p:ph type="dt" sz="half" idx="10"/>
          </p:nvPr>
        </p:nvSpPr>
        <p:spPr/>
        <p:txBody>
          <a:bodyPr/>
          <a:lstStyle/>
          <a:p>
            <a:fld id="{4A87BCC6-2822-4B68-92B6-878A8E79FCCA}" type="datetimeFigureOut">
              <a:rPr lang="de-CH" smtClean="0"/>
              <a:t>07.03.2025</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147565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Date Placeholder 2"/>
          <p:cNvSpPr>
            <a:spLocks noGrp="1"/>
          </p:cNvSpPr>
          <p:nvPr>
            <p:ph type="dt" sz="half" idx="10"/>
          </p:nvPr>
        </p:nvSpPr>
        <p:spPr/>
        <p:txBody>
          <a:bodyPr/>
          <a:lstStyle/>
          <a:p>
            <a:fld id="{4A87BCC6-2822-4B68-92B6-878A8E79FCCA}" type="datetimeFigureOut">
              <a:rPr lang="de-CH" smtClean="0"/>
              <a:t>07.03.2025</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1778056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87BCC6-2822-4B68-92B6-878A8E79FCCA}" type="datetimeFigureOut">
              <a:rPr lang="de-CH" smtClean="0"/>
              <a:t>07.03.2025</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2861149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A87BCC6-2822-4B68-92B6-878A8E79FCCA}" type="datetimeFigureOut">
              <a:rPr lang="de-CH" smtClean="0"/>
              <a:t>07.03.2025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120452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A87BCC6-2822-4B68-92B6-878A8E79FCCA}" type="datetimeFigureOut">
              <a:rPr lang="de-CH" smtClean="0"/>
              <a:t>07.03.2025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3379762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4A87BCC6-2822-4B68-92B6-878A8E79FCCA}"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1232436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de-C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4A87BCC6-2822-4B68-92B6-878A8E79FCCA}"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EFB70065-8E06-4653-9030-CCCE7AA9A99B}" type="slidenum">
              <a:rPr lang="de-CH" smtClean="0"/>
              <a:t>‹#›</a:t>
            </a:fld>
            <a:endParaRPr lang="de-CH"/>
          </a:p>
        </p:txBody>
      </p:sp>
    </p:spTree>
    <p:extLst>
      <p:ext uri="{BB962C8B-B14F-4D97-AF65-F5344CB8AC3E}">
        <p14:creationId xmlns:p14="http://schemas.microsoft.com/office/powerpoint/2010/main" val="3322755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p:cSld name="Cover">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5186289" y="3621023"/>
            <a:ext cx="5935600" cy="1166800"/>
          </a:xfrm>
          <a:prstGeom prst="rect">
            <a:avLst/>
          </a:prstGeom>
          <a:noFill/>
          <a:ln>
            <a:noFill/>
          </a:ln>
        </p:spPr>
        <p:txBody>
          <a:bodyPr spcFirstLastPara="1" wrap="square" lIns="0" tIns="34275" rIns="68575" bIns="34275" anchor="b" anchorCtr="0">
            <a:noAutofit/>
          </a:bodyPr>
          <a:lstStyle>
            <a:lvl1pPr marL="609585" lvl="0" indent="-304792" algn="l" rtl="0">
              <a:lnSpc>
                <a:spcPct val="100000"/>
              </a:lnSpc>
              <a:spcBef>
                <a:spcPts val="400"/>
              </a:spcBef>
              <a:spcAft>
                <a:spcPts val="0"/>
              </a:spcAft>
              <a:buSzPts val="3500"/>
              <a:buNone/>
              <a:defRPr sz="3733">
                <a:solidFill>
                  <a:schemeClr val="accent3"/>
                </a:solidFil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2" name="Google Shape;52;p13"/>
          <p:cNvSpPr txBox="1">
            <a:spLocks noGrp="1"/>
          </p:cNvSpPr>
          <p:nvPr>
            <p:ph type="body" idx="2"/>
          </p:nvPr>
        </p:nvSpPr>
        <p:spPr>
          <a:xfrm>
            <a:off x="5186292" y="5443833"/>
            <a:ext cx="5935600" cy="383200"/>
          </a:xfrm>
          <a:prstGeom prst="rect">
            <a:avLst/>
          </a:prstGeom>
          <a:noFill/>
          <a:ln>
            <a:noFill/>
          </a:ln>
        </p:spPr>
        <p:txBody>
          <a:bodyPr spcFirstLastPara="1" wrap="square" lIns="0" tIns="34275" rIns="68575" bIns="34275" anchor="t" anchorCtr="0">
            <a:noAutofit/>
          </a:bodyPr>
          <a:lstStyle>
            <a:lvl1pPr marL="609585" lvl="0" indent="-304792" algn="l" rtl="0">
              <a:lnSpc>
                <a:spcPct val="100000"/>
              </a:lnSpc>
              <a:spcBef>
                <a:spcPts val="400"/>
              </a:spcBef>
              <a:spcAft>
                <a:spcPts val="0"/>
              </a:spcAft>
              <a:buSzPts val="2000"/>
              <a:buNone/>
              <a:defRPr sz="2133"/>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pic>
        <p:nvPicPr>
          <p:cNvPr id="53" name="Google Shape;53;p13"/>
          <p:cNvPicPr preferRelativeResize="0"/>
          <p:nvPr/>
        </p:nvPicPr>
        <p:blipFill rotWithShape="1">
          <a:blip r:embed="rId2">
            <a:alphaModFix/>
          </a:blip>
          <a:srcRect b="52283"/>
          <a:stretch/>
        </p:blipFill>
        <p:spPr>
          <a:xfrm>
            <a:off x="5203088" y="2168490"/>
            <a:ext cx="4134489" cy="1142057"/>
          </a:xfrm>
          <a:prstGeom prst="rect">
            <a:avLst/>
          </a:prstGeom>
          <a:noFill/>
          <a:ln>
            <a:noFill/>
          </a:ln>
        </p:spPr>
      </p:pic>
      <p:pic>
        <p:nvPicPr>
          <p:cNvPr id="54" name="Google Shape;54;p13"/>
          <p:cNvPicPr preferRelativeResize="0"/>
          <p:nvPr/>
        </p:nvPicPr>
        <p:blipFill rotWithShape="1">
          <a:blip r:embed="rId3">
            <a:alphaModFix/>
          </a:blip>
          <a:srcRect l="38525" t="1212" b="236"/>
          <a:stretch/>
        </p:blipFill>
        <p:spPr>
          <a:xfrm>
            <a:off x="1" y="1"/>
            <a:ext cx="4215433" cy="6858001"/>
          </a:xfrm>
          <a:prstGeom prst="rect">
            <a:avLst/>
          </a:prstGeom>
          <a:noFill/>
          <a:ln>
            <a:noFill/>
          </a:ln>
        </p:spPr>
      </p:pic>
      <p:sp>
        <p:nvSpPr>
          <p:cNvPr id="55" name="Google Shape;55;p13"/>
          <p:cNvSpPr txBox="1">
            <a:spLocks noGrp="1"/>
          </p:cNvSpPr>
          <p:nvPr>
            <p:ph type="body" idx="3"/>
          </p:nvPr>
        </p:nvSpPr>
        <p:spPr>
          <a:xfrm>
            <a:off x="5186289" y="4921157"/>
            <a:ext cx="5935600" cy="466400"/>
          </a:xfrm>
          <a:prstGeom prst="rect">
            <a:avLst/>
          </a:prstGeom>
          <a:noFill/>
          <a:ln>
            <a:noFill/>
          </a:ln>
        </p:spPr>
        <p:txBody>
          <a:bodyPr spcFirstLastPara="1" wrap="square" lIns="0" tIns="34275" rIns="68575" bIns="34275" anchor="t" anchorCtr="0">
            <a:noAutofit/>
          </a:bodyPr>
          <a:lstStyle>
            <a:lvl1pPr marL="609585" lvl="0" indent="-304792" algn="l" rtl="0">
              <a:lnSpc>
                <a:spcPct val="93000"/>
              </a:lnSpc>
              <a:spcBef>
                <a:spcPts val="400"/>
              </a:spcBef>
              <a:spcAft>
                <a:spcPts val="0"/>
              </a:spcAft>
              <a:buSzPts val="2500"/>
              <a:buNone/>
              <a:defRPr sz="2667">
                <a:solidFill>
                  <a:schemeClr val="accent2"/>
                </a:solidFill>
                <a:latin typeface="Arial"/>
                <a:ea typeface="Arial"/>
                <a:cs typeface="Arial"/>
                <a:sym typeface="Aria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Tree>
    <p:extLst>
      <p:ext uri="{BB962C8B-B14F-4D97-AF65-F5344CB8AC3E}">
        <p14:creationId xmlns:p14="http://schemas.microsoft.com/office/powerpoint/2010/main" val="403716113"/>
      </p:ext>
    </p:extLst>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90"/>
        <p:cNvGrpSpPr/>
        <p:nvPr/>
      </p:nvGrpSpPr>
      <p:grpSpPr>
        <a:xfrm>
          <a:off x="0" y="0"/>
          <a:ext cx="0" cy="0"/>
          <a:chOff x="0" y="0"/>
          <a:chExt cx="0" cy="0"/>
        </a:xfrm>
      </p:grpSpPr>
      <p:sp>
        <p:nvSpPr>
          <p:cNvPr id="291" name="Google Shape;291;p4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Palatino Linotype"/>
              <a:buNone/>
              <a:defRPr>
                <a:solidFill>
                  <a:schemeClr val="accent1"/>
                </a:solidFill>
                <a:latin typeface="Palatino Linotype"/>
                <a:ea typeface="Palatino Linotype"/>
                <a:cs typeface="Palatino Linotype"/>
                <a:sym typeface="Palatino Linotyp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0"/>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0"/>
              </a:spcBef>
              <a:spcAft>
                <a:spcPts val="0"/>
              </a:spcAft>
              <a:buSzPts val="2250"/>
              <a:buNone/>
              <a:defRPr>
                <a:latin typeface="Palatino Linotype"/>
                <a:ea typeface="Palatino Linotype"/>
                <a:cs typeface="Palatino Linotype"/>
                <a:sym typeface="Palatino Linotype"/>
              </a:defRPr>
            </a:lvl1pPr>
            <a:lvl2pPr marL="1219170" lvl="1" indent="-304792" algn="l" rtl="0">
              <a:lnSpc>
                <a:spcPct val="100000"/>
              </a:lnSpc>
              <a:spcBef>
                <a:spcPts val="800"/>
              </a:spcBef>
              <a:spcAft>
                <a:spcPts val="0"/>
              </a:spcAft>
              <a:buSzPts val="2000"/>
              <a:buNone/>
              <a:defRPr/>
            </a:lvl2pPr>
            <a:lvl3pPr marL="1828754" lvl="2" indent="-304792" algn="l" rtl="0">
              <a:lnSpc>
                <a:spcPct val="100000"/>
              </a:lnSpc>
              <a:spcBef>
                <a:spcPts val="400"/>
              </a:spcBef>
              <a:spcAft>
                <a:spcPts val="0"/>
              </a:spcAft>
              <a:buSzPts val="2000"/>
              <a:buNone/>
              <a:defRPr/>
            </a:lvl3pPr>
            <a:lvl4pPr marL="2438339" lvl="3" indent="-304792" algn="l" rtl="0">
              <a:lnSpc>
                <a:spcPct val="100000"/>
              </a:lnSpc>
              <a:spcBef>
                <a:spcPts val="400"/>
              </a:spcBef>
              <a:spcAft>
                <a:spcPts val="0"/>
              </a:spcAft>
              <a:buSzPts val="2000"/>
              <a:buNone/>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3" name="Google Shape;293;p4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4" name="Google Shape;294;p4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
        <p:nvSpPr>
          <p:cNvPr id="295" name="Google Shape;295;p40"/>
          <p:cNvSpPr/>
          <p:nvPr/>
        </p:nvSpPr>
        <p:spPr>
          <a:xfrm>
            <a:off x="2844800" y="6170716"/>
            <a:ext cx="8229600" cy="5096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31301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de-C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87BCC6-2822-4B68-92B6-878A8E79FCCA}" type="datetimeFigureOut">
              <a:rPr lang="de-CH" smtClean="0"/>
              <a:t>07.03.2025</a:t>
            </a:fld>
            <a:endParaRPr lang="de-C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B70065-8E06-4653-9030-CCCE7AA9A99B}" type="slidenum">
              <a:rPr lang="de-CH" smtClean="0"/>
              <a:t>‹#›</a:t>
            </a:fld>
            <a:endParaRPr lang="de-CH"/>
          </a:p>
        </p:txBody>
      </p:sp>
    </p:spTree>
    <p:extLst>
      <p:ext uri="{BB962C8B-B14F-4D97-AF65-F5344CB8AC3E}">
        <p14:creationId xmlns:p14="http://schemas.microsoft.com/office/powerpoint/2010/main" val="487443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8" name="Google Shape;502;p65"/>
          <p:cNvSpPr txBox="1">
            <a:spLocks noGrp="1"/>
          </p:cNvSpPr>
          <p:nvPr>
            <p:ph type="body" idx="1"/>
          </p:nvPr>
        </p:nvSpPr>
        <p:spPr>
          <a:xfrm>
            <a:off x="4132053" y="3422615"/>
            <a:ext cx="8059947" cy="1572079"/>
          </a:xfrm>
          <a:prstGeom prst="rect">
            <a:avLst/>
          </a:prstGeom>
          <a:noFill/>
          <a:ln>
            <a:noFill/>
          </a:ln>
        </p:spPr>
        <p:txBody>
          <a:bodyPr spcFirstLastPara="1" vert="horz" wrap="square" lIns="0" tIns="45700" rIns="91433" bIns="45700" rtlCol="0" anchor="b" anchorCtr="0">
            <a:noAutofit/>
          </a:bodyPr>
          <a:lstStyle/>
          <a:p>
            <a:pPr marL="0" indent="0">
              <a:spcBef>
                <a:spcPts val="0"/>
              </a:spcBef>
              <a:spcAft>
                <a:spcPts val="1600"/>
              </a:spcAft>
            </a:pPr>
            <a:r>
              <a:rPr lang="en-US" sz="2800" b="1" dirty="0" smtClean="0">
                <a:solidFill>
                  <a:schemeClr val="accent1"/>
                </a:solidFill>
                <a:latin typeface="Arial" panose="020B0604020202020204" pitchFamily="34" charset="0"/>
                <a:cs typeface="Arial" panose="020B0604020202020204" pitchFamily="34" charset="0"/>
              </a:rPr>
              <a:t>UNCERTAINTY QUANTIFICATION OF AGENT-BASED MODELS WITH APPLICATION TO MALARIA INTERVENTION MODELING</a:t>
            </a:r>
            <a:endParaRPr lang="en-US" sz="2800" b="1" dirty="0">
              <a:solidFill>
                <a:schemeClr val="accent1"/>
              </a:solidFill>
              <a:latin typeface="Arial" panose="020B0604020202020204" pitchFamily="34" charset="0"/>
              <a:cs typeface="Arial" panose="020B0604020202020204" pitchFamily="34" charset="0"/>
            </a:endParaRPr>
          </a:p>
        </p:txBody>
      </p:sp>
      <p:sp>
        <p:nvSpPr>
          <p:cNvPr id="4" name="Rectangle 3"/>
          <p:cNvSpPr/>
          <p:nvPr/>
        </p:nvSpPr>
        <p:spPr>
          <a:xfrm>
            <a:off x="4132054" y="5225516"/>
            <a:ext cx="4587074" cy="1083374"/>
          </a:xfrm>
          <a:prstGeom prst="rect">
            <a:avLst/>
          </a:prstGeom>
        </p:spPr>
        <p:txBody>
          <a:bodyPr wrap="square">
            <a:spAutoFit/>
          </a:bodyPr>
          <a:lstStyle/>
          <a:p>
            <a:pPr lvl="0" algn="ctr">
              <a:lnSpc>
                <a:spcPct val="115000"/>
              </a:lnSpc>
              <a:buClr>
                <a:schemeClr val="dk1"/>
              </a:buClr>
              <a:buSzPts val="1100"/>
            </a:pPr>
            <a:r>
              <a:rPr lang="en-US" sz="2000" b="1" dirty="0" smtClean="0">
                <a:solidFill>
                  <a:schemeClr val="dk1"/>
                </a:solidFill>
                <a:latin typeface="Arial"/>
                <a:ea typeface="Arial"/>
                <a:cs typeface="Arial"/>
                <a:sym typeface="Arial"/>
              </a:rPr>
              <a:t>PhD Update</a:t>
            </a:r>
          </a:p>
          <a:p>
            <a:pPr lvl="0" algn="ctr">
              <a:lnSpc>
                <a:spcPct val="115000"/>
              </a:lnSpc>
              <a:buClr>
                <a:schemeClr val="dk1"/>
              </a:buClr>
              <a:buSzPts val="1100"/>
            </a:pPr>
            <a:endParaRPr lang="en-US" dirty="0">
              <a:solidFill>
                <a:schemeClr val="dk1"/>
              </a:solidFill>
              <a:latin typeface="Arial"/>
              <a:ea typeface="Arial"/>
              <a:cs typeface="Arial"/>
              <a:sym typeface="Arial"/>
            </a:endParaRPr>
          </a:p>
          <a:p>
            <a:pPr lvl="0" algn="ctr">
              <a:lnSpc>
                <a:spcPct val="115000"/>
              </a:lnSpc>
              <a:buClr>
                <a:schemeClr val="dk1"/>
              </a:buClr>
              <a:buSzPts val="1100"/>
            </a:pPr>
            <a:r>
              <a:rPr lang="en-US" dirty="0" smtClean="0">
                <a:solidFill>
                  <a:schemeClr val="dk1"/>
                </a:solidFill>
                <a:latin typeface="Arial"/>
                <a:ea typeface="Arial"/>
                <a:cs typeface="Arial"/>
                <a:sym typeface="Arial"/>
              </a:rPr>
              <a:t>February 2025</a:t>
            </a: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144389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Aim</a:t>
            </a:r>
            <a:endParaRPr lang="en-US" sz="2800" b="1" dirty="0">
              <a:latin typeface="+mn-lt"/>
            </a:endParaRPr>
          </a:p>
        </p:txBody>
      </p:sp>
      <p:sp>
        <p:nvSpPr>
          <p:cNvPr id="62" name="Rounded Rectangle 61"/>
          <p:cNvSpPr/>
          <p:nvPr/>
        </p:nvSpPr>
        <p:spPr>
          <a:xfrm>
            <a:off x="1742174" y="712180"/>
            <a:ext cx="8994764" cy="555291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3200" dirty="0" smtClean="0"/>
              <a:t>To quantify and propagate the </a:t>
            </a:r>
            <a:r>
              <a:rPr lang="en-US" sz="3200" dirty="0"/>
              <a:t>uncertainty from various parameters in the OpenMalaria Ghana model, beyond just the entomological inoculation rate (EIR) and to determine the impact of these uncertainties on simulating the effect of malaria interventions at the sub-national </a:t>
            </a:r>
            <a:r>
              <a:rPr lang="en-US" sz="3200" dirty="0" smtClean="0"/>
              <a:t>level.</a:t>
            </a:r>
            <a:endParaRPr lang="de-CH" sz="3200" dirty="0"/>
          </a:p>
        </p:txBody>
      </p:sp>
    </p:spTree>
    <p:extLst>
      <p:ext uri="{BB962C8B-B14F-4D97-AF65-F5344CB8AC3E}">
        <p14:creationId xmlns:p14="http://schemas.microsoft.com/office/powerpoint/2010/main" val="30689601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8" name="Google Shape;519;p67"/>
          <p:cNvSpPr txBox="1">
            <a:spLocks/>
          </p:cNvSpPr>
          <p:nvPr/>
        </p:nvSpPr>
        <p:spPr>
          <a:xfrm>
            <a:off x="323528" y="0"/>
            <a:ext cx="11868471" cy="745200"/>
          </a:xfrm>
          <a:prstGeom prst="rect">
            <a:avLst/>
          </a:prstGeom>
          <a:noFill/>
          <a:ln>
            <a:noFill/>
          </a:ln>
        </p:spPr>
        <p:txBody>
          <a:bodyPr spcFirstLastPara="1" wrap="square" lIns="0" tIns="60933" rIns="121900" bIns="60933" anchor="ctr" anchorCtr="0">
            <a:noAutofit/>
          </a:bodyPr>
          <a:lstStyle>
            <a:defPPr marR="0" lvl="0" algn="l" rtl="0">
              <a:lnSpc>
                <a:spcPct val="100000"/>
              </a:lnSpc>
              <a:spcBef>
                <a:spcPts val="0"/>
              </a:spcBef>
              <a:spcAft>
                <a:spcPts val="0"/>
              </a:spcAft>
            </a:defPPr>
            <a:lvl1pPr marR="0" lvl="0" algn="just" rtl="0">
              <a:lnSpc>
                <a:spcPct val="90000"/>
              </a:lnSpc>
              <a:spcBef>
                <a:spcPts val="0"/>
              </a:spcBef>
              <a:spcAft>
                <a:spcPts val="0"/>
              </a:spcAft>
              <a:buClr>
                <a:schemeClr val="accent1"/>
              </a:buClr>
              <a:buSzPts val="2400"/>
              <a:buFont typeface="Palatino Linotype"/>
              <a:buNone/>
              <a:defRPr sz="2400" b="0" i="0" u="none" strike="noStrike" cap="none">
                <a:solidFill>
                  <a:schemeClr val="accent1"/>
                </a:solidFill>
                <a:latin typeface="Palatino Linotype"/>
                <a:ea typeface="Palatino Linotype"/>
                <a:cs typeface="Palatino Linotype"/>
                <a:sym typeface="Palatino Linoty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800" b="1" kern="0" dirty="0" smtClean="0">
                <a:latin typeface="+mn-lt"/>
              </a:rPr>
              <a:t>Uncertainty Quantification can be classified in two forms</a:t>
            </a:r>
            <a:endParaRPr lang="en-US" sz="2800" b="1" kern="0" dirty="0">
              <a:latin typeface="+mn-lt"/>
            </a:endParaRPr>
          </a:p>
        </p:txBody>
      </p:sp>
      <p:graphicFrame>
        <p:nvGraphicFramePr>
          <p:cNvPr id="2" name="Diagram 1"/>
          <p:cNvGraphicFramePr/>
          <p:nvPr>
            <p:extLst/>
          </p:nvPr>
        </p:nvGraphicFramePr>
        <p:xfrm>
          <a:off x="1203864" y="1820174"/>
          <a:ext cx="8128000" cy="49320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9514936" y="2147979"/>
            <a:ext cx="2234241"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Sensitivity Analysis</a:t>
            </a:r>
            <a:endParaRPr lang="de-CH" sz="2400" dirty="0"/>
          </a:p>
        </p:txBody>
      </p:sp>
      <p:sp>
        <p:nvSpPr>
          <p:cNvPr id="7" name="Oval 6"/>
          <p:cNvSpPr/>
          <p:nvPr/>
        </p:nvSpPr>
        <p:spPr>
          <a:xfrm>
            <a:off x="9514936" y="4819291"/>
            <a:ext cx="2337759"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Model Calibration</a:t>
            </a:r>
            <a:endParaRPr lang="de-CH" sz="2400" dirty="0"/>
          </a:p>
        </p:txBody>
      </p:sp>
      <p:sp>
        <p:nvSpPr>
          <p:cNvPr id="4" name="Rectangle 3"/>
          <p:cNvSpPr/>
          <p:nvPr/>
        </p:nvSpPr>
        <p:spPr>
          <a:xfrm>
            <a:off x="323528" y="736122"/>
            <a:ext cx="11720423" cy="830997"/>
          </a:xfrm>
          <a:prstGeom prst="rect">
            <a:avLst/>
          </a:prstGeom>
        </p:spPr>
        <p:txBody>
          <a:bodyPr wrap="square">
            <a:spAutoFit/>
          </a:bodyPr>
          <a:lstStyle/>
          <a:p>
            <a:pPr marL="285750" indent="-285750">
              <a:buFont typeface="Arial" panose="020B0604020202020204" pitchFamily="34" charset="0"/>
              <a:buChar char="•"/>
            </a:pPr>
            <a:r>
              <a:rPr lang="en-US" sz="2400" b="1" dirty="0" smtClean="0"/>
              <a:t>The </a:t>
            </a:r>
            <a:r>
              <a:rPr lang="en-US" sz="2400" b="1" dirty="0"/>
              <a:t>field of Uncertainty Quantification </a:t>
            </a:r>
            <a:r>
              <a:rPr lang="en-US" sz="2400" b="1" dirty="0" smtClean="0"/>
              <a:t>offers </a:t>
            </a:r>
            <a:r>
              <a:rPr lang="en-US" sz="2400" b="1" dirty="0"/>
              <a:t>a means of quantifying and </a:t>
            </a:r>
            <a:r>
              <a:rPr lang="en-US" sz="2400" b="1" dirty="0" smtClean="0"/>
              <a:t>characterizing </a:t>
            </a:r>
            <a:r>
              <a:rPr lang="en-US" sz="2400" b="1" dirty="0"/>
              <a:t>uncertainties in models and the real </a:t>
            </a:r>
            <a:r>
              <a:rPr lang="en-US" sz="2400" b="1" dirty="0" smtClean="0"/>
              <a:t>world.</a:t>
            </a:r>
            <a:endParaRPr lang="de-CH" sz="2400" b="1" dirty="0"/>
          </a:p>
        </p:txBody>
      </p:sp>
    </p:spTree>
    <p:extLst>
      <p:ext uri="{BB962C8B-B14F-4D97-AF65-F5344CB8AC3E}">
        <p14:creationId xmlns:p14="http://schemas.microsoft.com/office/powerpoint/2010/main" val="386908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40BCD131-2073-4EDE-9795-02928553C85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234E15B5-1992-433F-AE7A-2BD232D5F9C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116AF5B1-E45C-4738-8EBC-F071EB4E45F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AF97286F-DE4D-4D21-923A-0C8E3289DDB2}"/>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2" grpId="0">
        <p:bldSub>
          <a:bldDgm bld="one"/>
        </p:bldSub>
      </p:bldGraphic>
      <p:bldP spid="3"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oogle Shape;539;p70"/>
          <p:cNvPicPr preferRelativeResize="0"/>
          <p:nvPr/>
        </p:nvPicPr>
        <p:blipFill>
          <a:blip r:embed="rId8">
            <a:alphaModFix/>
          </a:blip>
          <a:stretch>
            <a:fillRect/>
          </a:stretch>
        </p:blipFill>
        <p:spPr>
          <a:xfrm>
            <a:off x="-1" y="3730751"/>
            <a:ext cx="6234545" cy="2596157"/>
          </a:xfrm>
          <a:prstGeom prst="rect">
            <a:avLst/>
          </a:prstGeom>
          <a:noFill/>
          <a:ln>
            <a:noFill/>
          </a:ln>
        </p:spPr>
      </p:pic>
      <p:sp>
        <p:nvSpPr>
          <p:cNvPr id="5" name="Rounded Rectangle 4"/>
          <p:cNvSpPr/>
          <p:nvPr/>
        </p:nvSpPr>
        <p:spPr>
          <a:xfrm>
            <a:off x="235704" y="2006952"/>
            <a:ext cx="6229751"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dirty="0" smtClean="0">
                <a:solidFill>
                  <a:schemeClr val="tx1"/>
                </a:solidFill>
              </a:rPr>
              <a:t>Perform </a:t>
            </a:r>
            <a:r>
              <a:rPr lang="de-CH" dirty="0" err="1" smtClean="0">
                <a:solidFill>
                  <a:schemeClr val="tx1"/>
                </a:solidFill>
              </a:rPr>
              <a:t>sensitivity</a:t>
            </a:r>
            <a:r>
              <a:rPr lang="de-CH" dirty="0" smtClean="0">
                <a:solidFill>
                  <a:schemeClr val="tx1"/>
                </a:solidFill>
              </a:rPr>
              <a:t> </a:t>
            </a:r>
            <a:r>
              <a:rPr lang="de-CH" dirty="0" err="1" smtClean="0">
                <a:solidFill>
                  <a:schemeClr val="tx1"/>
                </a:solidFill>
              </a:rPr>
              <a:t>analysis</a:t>
            </a:r>
            <a:r>
              <a:rPr lang="de-CH" dirty="0" smtClean="0">
                <a:solidFill>
                  <a:schemeClr val="tx1"/>
                </a:solidFill>
              </a:rPr>
              <a:t> </a:t>
            </a:r>
            <a:r>
              <a:rPr lang="de-CH" dirty="0" err="1" smtClean="0">
                <a:solidFill>
                  <a:schemeClr val="tx1"/>
                </a:solidFill>
              </a:rPr>
              <a:t>of</a:t>
            </a:r>
            <a:r>
              <a:rPr lang="de-CH" dirty="0" smtClean="0">
                <a:solidFill>
                  <a:schemeClr val="tx1"/>
                </a:solidFill>
              </a:rPr>
              <a:t> </a:t>
            </a:r>
            <a:r>
              <a:rPr lang="de-CH" b="1" dirty="0" err="1" smtClean="0">
                <a:solidFill>
                  <a:schemeClr val="tx1"/>
                </a:solidFill>
              </a:rPr>
              <a:t>coverage</a:t>
            </a:r>
            <a:r>
              <a:rPr lang="de-CH" dirty="0" smtClean="0">
                <a:solidFill>
                  <a:schemeClr val="tx1"/>
                </a:solidFill>
              </a:rPr>
              <a:t>, </a:t>
            </a:r>
            <a:r>
              <a:rPr lang="de-CH" b="1" dirty="0" err="1" smtClean="0">
                <a:solidFill>
                  <a:schemeClr val="tx1"/>
                </a:solidFill>
              </a:rPr>
              <a:t>halflife</a:t>
            </a:r>
            <a:r>
              <a:rPr lang="de-CH" b="1" dirty="0" smtClean="0">
                <a:solidFill>
                  <a:schemeClr val="tx1"/>
                </a:solidFill>
              </a:rPr>
              <a:t> </a:t>
            </a:r>
            <a:r>
              <a:rPr lang="de-CH" b="1" dirty="0" err="1" smtClean="0">
                <a:solidFill>
                  <a:schemeClr val="tx1"/>
                </a:solidFill>
              </a:rPr>
              <a:t>of</a:t>
            </a:r>
            <a:r>
              <a:rPr lang="de-CH" b="1" dirty="0" smtClean="0">
                <a:solidFill>
                  <a:schemeClr val="tx1"/>
                </a:solidFill>
              </a:rPr>
              <a:t> </a:t>
            </a:r>
            <a:r>
              <a:rPr lang="de-CH" b="1" dirty="0" err="1" smtClean="0">
                <a:solidFill>
                  <a:schemeClr val="tx1"/>
                </a:solidFill>
              </a:rPr>
              <a:t>efficacy</a:t>
            </a:r>
            <a:r>
              <a:rPr lang="de-CH" b="1" dirty="0" smtClean="0">
                <a:solidFill>
                  <a:schemeClr val="tx1"/>
                </a:solidFill>
              </a:rPr>
              <a:t> </a:t>
            </a:r>
            <a:r>
              <a:rPr lang="de-CH" dirty="0" err="1" smtClean="0">
                <a:solidFill>
                  <a:schemeClr val="tx1"/>
                </a:solidFill>
              </a:rPr>
              <a:t>and</a:t>
            </a:r>
            <a:r>
              <a:rPr lang="de-CH" dirty="0" smtClean="0">
                <a:solidFill>
                  <a:schemeClr val="tx1"/>
                </a:solidFill>
              </a:rPr>
              <a:t> </a:t>
            </a:r>
            <a:r>
              <a:rPr lang="de-CH" b="1" dirty="0" err="1" smtClean="0">
                <a:solidFill>
                  <a:schemeClr val="tx1"/>
                </a:solidFill>
              </a:rPr>
              <a:t>vector</a:t>
            </a:r>
            <a:r>
              <a:rPr lang="de-CH" b="1" dirty="0" smtClean="0">
                <a:solidFill>
                  <a:schemeClr val="tx1"/>
                </a:solidFill>
              </a:rPr>
              <a:t> </a:t>
            </a:r>
            <a:r>
              <a:rPr lang="de-CH" b="1" dirty="0" err="1" smtClean="0">
                <a:solidFill>
                  <a:schemeClr val="tx1"/>
                </a:solidFill>
              </a:rPr>
              <a:t>composition</a:t>
            </a:r>
            <a:r>
              <a:rPr lang="de-CH" dirty="0" smtClean="0">
                <a:solidFill>
                  <a:schemeClr val="tx1"/>
                </a:solidFill>
              </a:rPr>
              <a:t> </a:t>
            </a:r>
            <a:r>
              <a:rPr lang="de-CH" dirty="0" err="1" smtClean="0">
                <a:solidFill>
                  <a:schemeClr val="tx1"/>
                </a:solidFill>
              </a:rPr>
              <a:t>towards</a:t>
            </a:r>
            <a:r>
              <a:rPr lang="de-CH" dirty="0" smtClean="0">
                <a:solidFill>
                  <a:schemeClr val="tx1"/>
                </a:solidFill>
              </a:rPr>
              <a:t> </a:t>
            </a:r>
            <a:r>
              <a:rPr lang="de-CH" dirty="0" err="1" smtClean="0">
                <a:solidFill>
                  <a:schemeClr val="tx1"/>
                </a:solidFill>
              </a:rPr>
              <a:t>prevalence</a:t>
            </a:r>
            <a:r>
              <a:rPr lang="de-CH" dirty="0" smtClean="0">
                <a:solidFill>
                  <a:schemeClr val="tx1"/>
                </a:solidFill>
              </a:rPr>
              <a:t> </a:t>
            </a:r>
            <a:r>
              <a:rPr lang="de-CH" dirty="0" err="1" smtClean="0">
                <a:solidFill>
                  <a:schemeClr val="tx1"/>
                </a:solidFill>
              </a:rPr>
              <a:t>reduction</a:t>
            </a:r>
            <a:r>
              <a:rPr lang="de-CH" dirty="0" smtClean="0">
                <a:solidFill>
                  <a:schemeClr val="tx1"/>
                </a:solidFill>
              </a:rPr>
              <a:t> </a:t>
            </a:r>
            <a:r>
              <a:rPr lang="de-CH" dirty="0" err="1" smtClean="0">
                <a:solidFill>
                  <a:schemeClr val="tx1"/>
                </a:solidFill>
              </a:rPr>
              <a:t>and</a:t>
            </a:r>
            <a:r>
              <a:rPr lang="de-CH" dirty="0" smtClean="0">
                <a:solidFill>
                  <a:schemeClr val="tx1"/>
                </a:solidFill>
              </a:rPr>
              <a:t> </a:t>
            </a:r>
            <a:r>
              <a:rPr lang="de-CH" dirty="0" err="1" smtClean="0">
                <a:solidFill>
                  <a:schemeClr val="tx1"/>
                </a:solidFill>
              </a:rPr>
              <a:t>clinical</a:t>
            </a:r>
            <a:r>
              <a:rPr lang="de-CH" dirty="0" smtClean="0">
                <a:solidFill>
                  <a:schemeClr val="tx1"/>
                </a:solidFill>
              </a:rPr>
              <a:t> </a:t>
            </a:r>
            <a:r>
              <a:rPr lang="de-CH" dirty="0" err="1" smtClean="0">
                <a:solidFill>
                  <a:schemeClr val="tx1"/>
                </a:solidFill>
              </a:rPr>
              <a:t>cases</a:t>
            </a:r>
            <a:r>
              <a:rPr lang="de-CH" dirty="0" smtClean="0">
                <a:solidFill>
                  <a:schemeClr val="tx1"/>
                </a:solidFill>
              </a:rPr>
              <a:t> </a:t>
            </a:r>
            <a:r>
              <a:rPr lang="de-CH" dirty="0" err="1" smtClean="0">
                <a:solidFill>
                  <a:schemeClr val="tx1"/>
                </a:solidFill>
              </a:rPr>
              <a:t>averted</a:t>
            </a:r>
            <a:r>
              <a:rPr lang="de-CH" dirty="0" smtClean="0">
                <a:solidFill>
                  <a:schemeClr val="tx1"/>
                </a:solidFill>
              </a:rPr>
              <a:t> </a:t>
            </a:r>
            <a:r>
              <a:rPr lang="de-CH" b="1" dirty="0" smtClean="0">
                <a:solidFill>
                  <a:schemeClr val="bg1"/>
                </a:solidFill>
              </a:rPr>
              <a:t>(Forward Propagation </a:t>
            </a:r>
            <a:r>
              <a:rPr lang="de-CH" b="1" dirty="0" err="1" smtClean="0">
                <a:solidFill>
                  <a:schemeClr val="bg1"/>
                </a:solidFill>
              </a:rPr>
              <a:t>of</a:t>
            </a:r>
            <a:r>
              <a:rPr lang="de-CH" b="1" dirty="0" smtClean="0">
                <a:solidFill>
                  <a:schemeClr val="bg1"/>
                </a:solidFill>
              </a:rPr>
              <a:t> uncertainty)</a:t>
            </a:r>
          </a:p>
        </p:txBody>
      </p:sp>
      <p:sp>
        <p:nvSpPr>
          <p:cNvPr id="26" name="TextBox 25"/>
          <p:cNvSpPr txBox="1"/>
          <p:nvPr/>
        </p:nvSpPr>
        <p:spPr>
          <a:xfrm>
            <a:off x="235704" y="6550223"/>
            <a:ext cx="4587241" cy="307777"/>
          </a:xfrm>
          <a:prstGeom prst="rect">
            <a:avLst/>
          </a:prstGeom>
          <a:noFill/>
        </p:spPr>
        <p:txBody>
          <a:bodyPr wrap="square" rtlCol="0">
            <a:spAutoFit/>
          </a:bodyPr>
          <a:lstStyle/>
          <a:p>
            <a:r>
              <a:rPr lang="de-CH" sz="1400" dirty="0" smtClean="0"/>
              <a:t>Source:</a:t>
            </a:r>
            <a:r>
              <a:rPr lang="en-US" sz="1400" dirty="0"/>
              <a:t> </a:t>
            </a:r>
            <a:r>
              <a:rPr lang="en-US" sz="1400" dirty="0" smtClean="0"/>
              <a:t>Sensitivity </a:t>
            </a:r>
            <a:r>
              <a:rPr lang="en-US" sz="1400" dirty="0"/>
              <a:t>Analysis: The </a:t>
            </a:r>
            <a:r>
              <a:rPr lang="en-US" sz="1400" dirty="0" smtClean="0"/>
              <a:t>Basics</a:t>
            </a:r>
            <a:endParaRPr lang="de-CH" sz="1400" dirty="0"/>
          </a:p>
        </p:txBody>
      </p:sp>
    </p:spTree>
    <p:extLst>
      <p:ext uri="{BB962C8B-B14F-4D97-AF65-F5344CB8AC3E}">
        <p14:creationId xmlns:p14="http://schemas.microsoft.com/office/powerpoint/2010/main" val="253921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Variance-based sensitivity analysis (Sobol)</a:t>
            </a:r>
            <a:endParaRPr sz="2800" b="1" dirty="0">
              <a:latin typeface="+mn-lt"/>
            </a:endParaRPr>
          </a:p>
        </p:txBody>
      </p:sp>
      <p:pic>
        <p:nvPicPr>
          <p:cNvPr id="8" name="Picture 7"/>
          <p:cNvPicPr>
            <a:picLocks noChangeAspect="1"/>
          </p:cNvPicPr>
          <p:nvPr/>
        </p:nvPicPr>
        <p:blipFill>
          <a:blip r:embed="rId3"/>
          <a:stretch>
            <a:fillRect/>
          </a:stretch>
        </p:blipFill>
        <p:spPr>
          <a:xfrm>
            <a:off x="1496212" y="1550849"/>
            <a:ext cx="7924800" cy="1133475"/>
          </a:xfrm>
          <a:prstGeom prst="rect">
            <a:avLst/>
          </a:prstGeom>
        </p:spPr>
      </p:pic>
      <p:pic>
        <p:nvPicPr>
          <p:cNvPr id="10" name="Picture 9"/>
          <p:cNvPicPr>
            <a:picLocks noChangeAspect="1"/>
          </p:cNvPicPr>
          <p:nvPr/>
        </p:nvPicPr>
        <p:blipFill>
          <a:blip r:embed="rId4"/>
          <a:stretch>
            <a:fillRect/>
          </a:stretch>
        </p:blipFill>
        <p:spPr>
          <a:xfrm>
            <a:off x="1496212" y="2690672"/>
            <a:ext cx="6838950" cy="1704975"/>
          </a:xfrm>
          <a:prstGeom prst="rect">
            <a:avLst/>
          </a:prstGeom>
        </p:spPr>
      </p:pic>
      <p:pic>
        <p:nvPicPr>
          <p:cNvPr id="11" name="Picture 10"/>
          <p:cNvPicPr>
            <a:picLocks noChangeAspect="1"/>
          </p:cNvPicPr>
          <p:nvPr/>
        </p:nvPicPr>
        <p:blipFill>
          <a:blip r:embed="rId5"/>
          <a:stretch>
            <a:fillRect/>
          </a:stretch>
        </p:blipFill>
        <p:spPr>
          <a:xfrm>
            <a:off x="1105542" y="5109358"/>
            <a:ext cx="9829800" cy="1038225"/>
          </a:xfrm>
          <a:prstGeom prst="rect">
            <a:avLst/>
          </a:prstGeom>
        </p:spPr>
      </p:pic>
    </p:spTree>
    <p:extLst>
      <p:ext uri="{BB962C8B-B14F-4D97-AF65-F5344CB8AC3E}">
        <p14:creationId xmlns:p14="http://schemas.microsoft.com/office/powerpoint/2010/main" val="8864839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7132559" cy="745200"/>
          </a:xfrm>
        </p:spPr>
        <p:txBody>
          <a:bodyPr/>
          <a:lstStyle/>
          <a:p>
            <a:r>
              <a:rPr lang="en-US" sz="2800" b="1" dirty="0" smtClean="0">
                <a:latin typeface="+mn-lt"/>
              </a:rPr>
              <a:t>Objective 1 – </a:t>
            </a:r>
            <a:r>
              <a:rPr lang="de-CH" sz="2800" b="1" dirty="0" err="1" smtClean="0">
                <a:solidFill>
                  <a:schemeClr val="tx1"/>
                </a:solidFill>
                <a:latin typeface="+mn-lt"/>
              </a:rPr>
              <a:t>Modifying</a:t>
            </a:r>
            <a:r>
              <a:rPr lang="de-CH" sz="2800" b="1" dirty="0" smtClean="0">
                <a:solidFill>
                  <a:schemeClr val="tx1"/>
                </a:solidFill>
                <a:latin typeface="+mn-lt"/>
              </a:rPr>
              <a:t> </a:t>
            </a:r>
            <a:r>
              <a:rPr lang="de-CH" sz="2800" b="1" dirty="0" err="1" smtClean="0">
                <a:solidFill>
                  <a:schemeClr val="tx1"/>
                </a:solidFill>
                <a:latin typeface="+mn-lt"/>
              </a:rPr>
              <a:t>the</a:t>
            </a:r>
            <a:r>
              <a:rPr lang="de-CH" sz="2800" b="1" dirty="0" smtClean="0">
                <a:solidFill>
                  <a:schemeClr val="tx1"/>
                </a:solidFill>
                <a:latin typeface="+mn-lt"/>
              </a:rPr>
              <a:t> </a:t>
            </a:r>
            <a:r>
              <a:rPr lang="de-CH" sz="2800" b="1" dirty="0" err="1">
                <a:solidFill>
                  <a:schemeClr val="tx1"/>
                </a:solidFill>
                <a:latin typeface="+mn-lt"/>
              </a:rPr>
              <a:t>existing</a:t>
            </a:r>
            <a:r>
              <a:rPr lang="de-CH" sz="2800" b="1" dirty="0">
                <a:solidFill>
                  <a:schemeClr val="tx1"/>
                </a:solidFill>
                <a:latin typeface="+mn-lt"/>
              </a:rPr>
              <a:t> </a:t>
            </a:r>
            <a:r>
              <a:rPr lang="de-CH" sz="2800" b="1" dirty="0" err="1" smtClean="0">
                <a:solidFill>
                  <a:schemeClr val="tx1"/>
                </a:solidFill>
                <a:latin typeface="+mn-lt"/>
              </a:rPr>
              <a:t>workflow</a:t>
            </a:r>
            <a:endParaRPr lang="en-US" sz="2800" b="1" dirty="0">
              <a:latin typeface="+mn-lt"/>
            </a:endParaRPr>
          </a:p>
        </p:txBody>
      </p:sp>
      <p:sp>
        <p:nvSpPr>
          <p:cNvPr id="2" name="Rectangle 1"/>
          <p:cNvSpPr/>
          <p:nvPr/>
        </p:nvSpPr>
        <p:spPr>
          <a:xfrm>
            <a:off x="238059" y="1199895"/>
            <a:ext cx="11150377" cy="3785652"/>
          </a:xfrm>
          <a:prstGeom prst="rect">
            <a:avLst/>
          </a:prstGeom>
        </p:spPr>
        <p:txBody>
          <a:bodyPr wrap="square">
            <a:spAutoFit/>
          </a:bodyPr>
          <a:lstStyle/>
          <a:p>
            <a:pPr marL="342900" indent="-342900">
              <a:buFont typeface="Arial" panose="020B0604020202020204" pitchFamily="34" charset="0"/>
              <a:buChar char="•"/>
            </a:pPr>
            <a:r>
              <a:rPr lang="de-CH" sz="2400" dirty="0" smtClean="0">
                <a:latin typeface="Arial" panose="020B0604020202020204" pitchFamily="34" charset="0"/>
                <a:cs typeface="Arial" panose="020B0604020202020204" pitchFamily="34" charset="0"/>
              </a:rPr>
              <a:t>Chose a </a:t>
            </a:r>
            <a:r>
              <a:rPr lang="de-CH" sz="2400" b="1" dirty="0" err="1" smtClean="0">
                <a:latin typeface="Arial" panose="020B0604020202020204" pitchFamily="34" charset="0"/>
                <a:cs typeface="Arial" panose="020B0604020202020204" pitchFamily="34" charset="0"/>
              </a:rPr>
              <a:t>sampling</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scheme</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to</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number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OM </a:t>
            </a:r>
            <a:r>
              <a:rPr lang="de-CH" sz="2400" dirty="0" err="1" smtClean="0">
                <a:latin typeface="Arial" panose="020B0604020202020204" pitchFamily="34" charset="0"/>
                <a:cs typeface="Arial" panose="020B0604020202020204" pitchFamily="34" charset="0"/>
              </a:rPr>
              <a:t>simulations</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runtime</a:t>
            </a:r>
            <a:r>
              <a:rPr lang="de-CH" sz="2400" dirty="0" smtClean="0">
                <a:latin typeface="Arial" panose="020B0604020202020204" pitchFamily="34" charset="0"/>
                <a:cs typeface="Arial" panose="020B0604020202020204" pitchFamily="34" charset="0"/>
              </a:rPr>
              <a:t> </a:t>
            </a:r>
          </a:p>
          <a:p>
            <a:pPr marL="800100" lvl="1" indent="-342900">
              <a:buFont typeface="Arial" panose="020B0604020202020204" pitchFamily="34" charset="0"/>
              <a:buChar char="•"/>
            </a:pPr>
            <a:r>
              <a:rPr lang="de-CH" sz="2400" dirty="0" err="1" smtClean="0">
                <a:latin typeface="Arial" panose="020B0604020202020204" pitchFamily="34" charset="0"/>
                <a:cs typeface="Arial" panose="020B0604020202020204" pitchFamily="34" charset="0"/>
              </a:rPr>
              <a:t>How</a:t>
            </a:r>
            <a:r>
              <a:rPr lang="de-CH" sz="2400" dirty="0" smtClean="0">
                <a:latin typeface="Arial" panose="020B0604020202020204" pitchFamily="34" charset="0"/>
                <a:cs typeface="Arial" panose="020B0604020202020204" pitchFamily="34" charset="0"/>
              </a:rPr>
              <a:t> do </a:t>
            </a:r>
            <a:r>
              <a:rPr lang="de-CH" sz="2400" dirty="0" err="1" smtClean="0">
                <a:latin typeface="Arial" panose="020B0604020202020204" pitchFamily="34" charset="0"/>
                <a:cs typeface="Arial" panose="020B0604020202020204" pitchFamily="34" charset="0"/>
              </a:rPr>
              <a:t>we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the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number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OM </a:t>
            </a:r>
            <a:r>
              <a:rPr lang="de-CH" sz="2400" dirty="0" err="1" smtClean="0">
                <a:latin typeface="Arial" panose="020B0604020202020204" pitchFamily="34" charset="0"/>
                <a:cs typeface="Arial" panose="020B0604020202020204" pitchFamily="34" charset="0"/>
              </a:rPr>
              <a:t>simulations</a:t>
            </a:r>
            <a:r>
              <a:rPr lang="de-CH" sz="2400" dirty="0" smtClean="0">
                <a:latin typeface="Arial" panose="020B0604020202020204" pitchFamily="34" charset="0"/>
                <a:cs typeface="Arial" panose="020B0604020202020204" pitchFamily="34" charset="0"/>
              </a:rPr>
              <a:t> in </a:t>
            </a:r>
            <a:r>
              <a:rPr lang="de-CH" sz="2400" dirty="0" err="1" smtClean="0">
                <a:latin typeface="Arial" panose="020B0604020202020204" pitchFamily="34" charset="0"/>
                <a:cs typeface="Arial" panose="020B0604020202020204" pitchFamily="34" charset="0"/>
              </a:rPr>
              <a:t>order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to</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drastically</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runtime</a:t>
            </a:r>
            <a:r>
              <a:rPr lang="de-CH" sz="2400" dirty="0" smtClean="0">
                <a:latin typeface="Arial" panose="020B0604020202020204" pitchFamily="34" charset="0"/>
                <a:cs typeface="Arial" panose="020B0604020202020204" pitchFamily="34" charset="0"/>
              </a:rPr>
              <a:t>? </a:t>
            </a:r>
          </a:p>
          <a:p>
            <a:pPr marL="800100" lvl="1" indent="-342900">
              <a:buFont typeface="Arial" panose="020B0604020202020204" pitchFamily="34" charset="0"/>
              <a:buChar char="•"/>
            </a:pPr>
            <a:r>
              <a:rPr lang="de-CH" sz="2400" dirty="0" err="1" smtClean="0">
                <a:latin typeface="Arial" panose="020B0604020202020204" pitchFamily="34" charset="0"/>
                <a:cs typeface="Arial" panose="020B0604020202020204" pitchFamily="34" charset="0"/>
              </a:rPr>
              <a:t>Tried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other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sampling</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designs</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instead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sweeps</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de-CH" sz="2400" b="1" dirty="0" err="1" smtClean="0">
                <a:latin typeface="Arial" panose="020B0604020202020204" pitchFamily="34" charset="0"/>
                <a:cs typeface="Arial" panose="020B0604020202020204" pitchFamily="34" charset="0"/>
              </a:rPr>
              <a:t>Trained</a:t>
            </a:r>
            <a:r>
              <a:rPr lang="de-CH" sz="2400" b="1" dirty="0" smtClean="0">
                <a:latin typeface="Arial" panose="020B0604020202020204" pitchFamily="34" charset="0"/>
                <a:cs typeface="Arial" panose="020B0604020202020204" pitchFamily="34" charset="0"/>
              </a:rPr>
              <a:t> GP </a:t>
            </a:r>
            <a:r>
              <a:rPr lang="de-CH" sz="2400" b="1" dirty="0" err="1" smtClean="0">
                <a:latin typeface="Arial" panose="020B0604020202020204" pitchFamily="34" charset="0"/>
                <a:cs typeface="Arial" panose="020B0604020202020204" pitchFamily="34" charset="0"/>
              </a:rPr>
              <a:t>model</a:t>
            </a:r>
            <a:r>
              <a:rPr lang="de-CH" sz="2400" b="1" dirty="0" smtClean="0">
                <a:latin typeface="Arial" panose="020B0604020202020204" pitchFamily="34" charset="0"/>
                <a:cs typeface="Arial" panose="020B0604020202020204" pitchFamily="34" charset="0"/>
              </a:rPr>
              <a:t> </a:t>
            </a:r>
            <a:r>
              <a:rPr lang="de-CH" sz="2400" dirty="0" smtClean="0">
                <a:latin typeface="Arial" panose="020B0604020202020204" pitchFamily="34" charset="0"/>
                <a:cs typeface="Arial" panose="020B0604020202020204" pitchFamily="34" charset="0"/>
              </a:rPr>
              <a:t>on </a:t>
            </a:r>
            <a:r>
              <a:rPr lang="de-CH" sz="2400" b="1" dirty="0" smtClean="0">
                <a:latin typeface="Arial" panose="020B0604020202020204" pitchFamily="34" charset="0"/>
                <a:cs typeface="Arial" panose="020B0604020202020204" pitchFamily="34" charset="0"/>
              </a:rPr>
              <a:t>EIR</a:t>
            </a:r>
            <a:r>
              <a:rPr lang="de-CH" sz="2400"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intervention</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coverages</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prevalence</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reduction</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and</a:t>
            </a:r>
            <a:r>
              <a:rPr lang="de-CH" sz="2400"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used</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model</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for</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prediction</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while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performing</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sensitivity</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analysis</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de-CH" sz="2400" dirty="0" smtClean="0">
                <a:solidFill>
                  <a:schemeClr val="tx1"/>
                </a:solidFill>
                <a:latin typeface="Arial" panose="020B0604020202020204" pitchFamily="34" charset="0"/>
                <a:cs typeface="Arial" panose="020B0604020202020204" pitchFamily="34" charset="0"/>
              </a:rPr>
              <a:t>Choose a </a:t>
            </a:r>
            <a:r>
              <a:rPr lang="de-CH" sz="2400" b="1" dirty="0" err="1" smtClean="0">
                <a:solidFill>
                  <a:schemeClr val="tx1"/>
                </a:solidFill>
                <a:latin typeface="Arial" panose="020B0604020202020204" pitchFamily="34" charset="0"/>
                <a:cs typeface="Arial" panose="020B0604020202020204" pitchFamily="34" charset="0"/>
              </a:rPr>
              <a:t>sensitivity</a:t>
            </a:r>
            <a:r>
              <a:rPr lang="de-CH" sz="2400" b="1" dirty="0" smtClean="0">
                <a:solidFill>
                  <a:schemeClr val="tx1"/>
                </a:solidFill>
                <a:latin typeface="Arial" panose="020B0604020202020204" pitchFamily="34" charset="0"/>
                <a:cs typeface="Arial" panose="020B0604020202020204" pitchFamily="34" charset="0"/>
              </a:rPr>
              <a:t> </a:t>
            </a:r>
            <a:r>
              <a:rPr lang="de-CH" sz="2400" b="1" dirty="0" err="1" smtClean="0">
                <a:solidFill>
                  <a:schemeClr val="tx1"/>
                </a:solidFill>
                <a:latin typeface="Arial" panose="020B0604020202020204" pitchFamily="34" charset="0"/>
                <a:cs typeface="Arial" panose="020B0604020202020204" pitchFamily="34" charset="0"/>
              </a:rPr>
              <a:t>method</a:t>
            </a:r>
            <a:r>
              <a:rPr lang="de-CH" sz="2400" b="1" dirty="0" smtClean="0">
                <a:solidFill>
                  <a:schemeClr val="tx1"/>
                </a:solidFill>
                <a:latin typeface="Arial" panose="020B0604020202020204" pitchFamily="34" charset="0"/>
                <a:cs typeface="Arial" panose="020B0604020202020204" pitchFamily="34" charset="0"/>
              </a:rPr>
              <a:t> </a:t>
            </a:r>
            <a:r>
              <a:rPr lang="de-CH" sz="2400" dirty="0" smtClean="0">
                <a:solidFill>
                  <a:schemeClr val="tx1"/>
                </a:solidFill>
                <a:latin typeface="Arial" panose="020B0604020202020204" pitchFamily="34" charset="0"/>
                <a:cs typeface="Arial" panose="020B0604020202020204" pitchFamily="34" charset="0"/>
              </a:rPr>
              <a:t>(</a:t>
            </a:r>
            <a:r>
              <a:rPr lang="de-CH" sz="2400" dirty="0" err="1" smtClean="0">
                <a:solidFill>
                  <a:schemeClr val="tx1"/>
                </a:solidFill>
                <a:latin typeface="Arial" panose="020B0604020202020204" pitchFamily="34" charset="0"/>
                <a:cs typeface="Arial" panose="020B0604020202020204" pitchFamily="34" charset="0"/>
              </a:rPr>
              <a:t>compared</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soboljansen</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and</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sobolsalt</a:t>
            </a:r>
            <a:r>
              <a:rPr lang="de-CH" sz="2400" dirty="0" smtClean="0">
                <a:solidFill>
                  <a:schemeClr val="tx1"/>
                </a:solidFill>
                <a:latin typeface="Arial" panose="020B0604020202020204" pitchFamily="34" charset="0"/>
                <a:cs typeface="Arial" panose="020B0604020202020204" pitchFamily="34" charset="0"/>
              </a:rPr>
              <a:t>)</a:t>
            </a:r>
          </a:p>
          <a:p>
            <a:endParaRPr lang="de-CH" sz="2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68441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651822"/>
          </a:xfrm>
        </p:spPr>
        <p:txBody>
          <a:bodyPr/>
          <a:lstStyle/>
          <a:p>
            <a:pPr algn="l"/>
            <a:r>
              <a:rPr lang="en-US" sz="2800" b="1" dirty="0" smtClean="0">
                <a:latin typeface="+mn-lt"/>
              </a:rPr>
              <a:t>1 – </a:t>
            </a:r>
            <a:r>
              <a:rPr lang="en-US" sz="2800" b="1" u="sng" dirty="0">
                <a:latin typeface="+mn-lt"/>
              </a:rPr>
              <a:t>LHS vs MED SAMPLING (100 POINTS)</a:t>
            </a:r>
            <a:r>
              <a:rPr lang="de-CH" sz="2800" dirty="0">
                <a:latin typeface="+mn-lt"/>
              </a:rPr>
              <a:t/>
            </a:r>
            <a:br>
              <a:rPr lang="de-CH" sz="2800" dirty="0">
                <a:latin typeface="+mn-lt"/>
              </a:rPr>
            </a:br>
            <a:endParaRPr lang="en-US" sz="2800" b="1" dirty="0">
              <a:latin typeface="+mn-lt"/>
            </a:endParaRPr>
          </a:p>
        </p:txBody>
      </p:sp>
      <p:pic>
        <p:nvPicPr>
          <p:cNvPr id="4" name="Picture 3"/>
          <p:cNvPicPr/>
          <p:nvPr/>
        </p:nvPicPr>
        <p:blipFill>
          <a:blip r:embed="rId3"/>
          <a:stretch>
            <a:fillRect/>
          </a:stretch>
        </p:blipFill>
        <p:spPr>
          <a:xfrm>
            <a:off x="1338228" y="1708728"/>
            <a:ext cx="9633527" cy="4664364"/>
          </a:xfrm>
          <a:prstGeom prst="rect">
            <a:avLst/>
          </a:prstGeom>
        </p:spPr>
      </p:pic>
      <p:sp>
        <p:nvSpPr>
          <p:cNvPr id="3" name="Rectangle 2"/>
          <p:cNvSpPr/>
          <p:nvPr/>
        </p:nvSpPr>
        <p:spPr>
          <a:xfrm>
            <a:off x="295562" y="842926"/>
            <a:ext cx="8026401" cy="369332"/>
          </a:xfrm>
          <a:prstGeom prst="rect">
            <a:avLst/>
          </a:prstGeom>
        </p:spPr>
        <p:txBody>
          <a:bodyPr wrap="square">
            <a:spAutoFit/>
          </a:bodyPr>
          <a:lstStyle/>
          <a:p>
            <a:r>
              <a:rPr lang="en-US" dirty="0">
                <a:solidFill>
                  <a:srgbClr val="1D1C1D"/>
                </a:solidFill>
                <a:latin typeface="Slack-Lato"/>
              </a:rPr>
              <a:t>LHS or ME sampling during simulation setup cuts runtime drastically</a:t>
            </a:r>
            <a:endParaRPr lang="de-CH" dirty="0"/>
          </a:p>
        </p:txBody>
      </p:sp>
    </p:spTree>
    <p:extLst>
      <p:ext uri="{BB962C8B-B14F-4D97-AF65-F5344CB8AC3E}">
        <p14:creationId xmlns:p14="http://schemas.microsoft.com/office/powerpoint/2010/main" val="32654683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01113" y="622102"/>
            <a:ext cx="12074013" cy="377119"/>
          </a:xfrm>
        </p:spPr>
        <p:txBody>
          <a:bodyPr/>
          <a:lstStyle/>
          <a:p>
            <a:r>
              <a:rPr lang="en-US" sz="2800" b="1" dirty="0" smtClean="0">
                <a:latin typeface="+mn-lt"/>
              </a:rPr>
              <a:t>1 – </a:t>
            </a:r>
            <a:r>
              <a:rPr lang="en-US" sz="2800" dirty="0">
                <a:solidFill>
                  <a:srgbClr val="1D1C1D"/>
                </a:solidFill>
                <a:latin typeface="Slack-Lato"/>
              </a:rPr>
              <a:t>LHS or ME sampling during simulation setup cuts runtime drastically</a:t>
            </a:r>
            <a:br>
              <a:rPr lang="en-US" sz="2800" dirty="0">
                <a:solidFill>
                  <a:srgbClr val="1D1C1D"/>
                </a:solidFill>
                <a:latin typeface="Slack-Lato"/>
              </a:rPr>
            </a:br>
            <a:endParaRPr lang="en-US" sz="2800" b="1"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1037522368"/>
              </p:ext>
            </p:extLst>
          </p:nvPr>
        </p:nvGraphicFramePr>
        <p:xfrm>
          <a:off x="201113" y="1292216"/>
          <a:ext cx="11753464" cy="2394259"/>
        </p:xfrm>
        <a:graphic>
          <a:graphicData uri="http://schemas.openxmlformats.org/drawingml/2006/table">
            <a:tbl>
              <a:tblPr firstRow="1" firstCol="1" bandRow="1">
                <a:tableStyleId>{5C22544A-7EE6-4342-B048-85BDC9FD1C3A}</a:tableStyleId>
              </a:tblPr>
              <a:tblGrid>
                <a:gridCol w="2224407">
                  <a:extLst>
                    <a:ext uri="{9D8B030D-6E8A-4147-A177-3AD203B41FA5}">
                      <a16:colId xmlns:a16="http://schemas.microsoft.com/office/drawing/2014/main" val="1334802468"/>
                    </a:ext>
                  </a:extLst>
                </a:gridCol>
                <a:gridCol w="2599945">
                  <a:extLst>
                    <a:ext uri="{9D8B030D-6E8A-4147-A177-3AD203B41FA5}">
                      <a16:colId xmlns:a16="http://schemas.microsoft.com/office/drawing/2014/main" val="3834289153"/>
                    </a:ext>
                  </a:extLst>
                </a:gridCol>
                <a:gridCol w="2188135">
                  <a:extLst>
                    <a:ext uri="{9D8B030D-6E8A-4147-A177-3AD203B41FA5}">
                      <a16:colId xmlns:a16="http://schemas.microsoft.com/office/drawing/2014/main" val="1880181008"/>
                    </a:ext>
                  </a:extLst>
                </a:gridCol>
                <a:gridCol w="1649340">
                  <a:extLst>
                    <a:ext uri="{9D8B030D-6E8A-4147-A177-3AD203B41FA5}">
                      <a16:colId xmlns:a16="http://schemas.microsoft.com/office/drawing/2014/main" val="172947424"/>
                    </a:ext>
                  </a:extLst>
                </a:gridCol>
                <a:gridCol w="1398660">
                  <a:extLst>
                    <a:ext uri="{9D8B030D-6E8A-4147-A177-3AD203B41FA5}">
                      <a16:colId xmlns:a16="http://schemas.microsoft.com/office/drawing/2014/main" val="3778038330"/>
                    </a:ext>
                  </a:extLst>
                </a:gridCol>
                <a:gridCol w="1692977">
                  <a:extLst>
                    <a:ext uri="{9D8B030D-6E8A-4147-A177-3AD203B41FA5}">
                      <a16:colId xmlns:a16="http://schemas.microsoft.com/office/drawing/2014/main" val="1861597612"/>
                    </a:ext>
                  </a:extLst>
                </a:gridCol>
              </a:tblGrid>
              <a:tr h="989345">
                <a:tc>
                  <a:txBody>
                    <a:bodyPr/>
                    <a:lstStyle/>
                    <a:p>
                      <a:pPr>
                        <a:lnSpc>
                          <a:spcPct val="107000"/>
                        </a:lnSpc>
                        <a:spcAft>
                          <a:spcPts val="0"/>
                        </a:spcAft>
                      </a:pPr>
                      <a:r>
                        <a:rPr lang="de-CH" sz="2000" dirty="0">
                          <a:effectLst/>
                        </a:rPr>
                        <a:t>SETTING</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NUMBER OF SIMULATIONS REQUIRED (SWEEPS)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NUMBER OF SIMULATIONS REQUIRED (LHS)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R-SQUARED</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NUMBER OF X_COLS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GP TRAINING TIME (mins)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1711360"/>
                  </a:ext>
                </a:extLst>
              </a:tr>
              <a:tr h="375152">
                <a:tc>
                  <a:txBody>
                    <a:bodyPr/>
                    <a:lstStyle/>
                    <a:p>
                      <a:pPr>
                        <a:lnSpc>
                          <a:spcPct val="107000"/>
                        </a:lnSpc>
                        <a:spcAft>
                          <a:spcPts val="0"/>
                        </a:spcAft>
                      </a:pPr>
                      <a:r>
                        <a:rPr lang="en-US" sz="2000" dirty="0">
                          <a:effectLst/>
                        </a:rPr>
                        <a:t>UPPER.EAST4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50K (submitted)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 1500</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0.97 (sweep)</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4</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11.9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16352"/>
                  </a:ext>
                </a:extLst>
              </a:tr>
              <a:tr h="375152">
                <a:tc>
                  <a:txBody>
                    <a:bodyPr/>
                    <a:lstStyle/>
                    <a:p>
                      <a:pPr>
                        <a:lnSpc>
                          <a:spcPct val="107000"/>
                        </a:lnSpc>
                        <a:spcAft>
                          <a:spcPts val="0"/>
                        </a:spcAft>
                      </a:pPr>
                      <a:r>
                        <a:rPr lang="en-US" sz="2000" dirty="0">
                          <a:effectLst/>
                        </a:rPr>
                        <a:t>OTI</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300000 </a:t>
                      </a:r>
                      <a:r>
                        <a:rPr lang="en-US" sz="2000" dirty="0" smtClean="0">
                          <a:effectLst/>
                        </a:rPr>
                        <a:t>(not </a:t>
                      </a:r>
                      <a:r>
                        <a:rPr lang="en-US" sz="1800" dirty="0" smtClean="0">
                          <a:effectLst/>
                        </a:rPr>
                        <a:t>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2500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0.96 (LHS)</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1.9</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7861621"/>
                  </a:ext>
                </a:extLst>
              </a:tr>
              <a:tr h="654610">
                <a:tc>
                  <a:txBody>
                    <a:bodyPr/>
                    <a:lstStyle/>
                    <a:p>
                      <a:pPr>
                        <a:lnSpc>
                          <a:spcPct val="107000"/>
                        </a:lnSpc>
                        <a:spcAft>
                          <a:spcPts val="0"/>
                        </a:spcAft>
                      </a:pPr>
                      <a:r>
                        <a:rPr lang="en-US" sz="2000" dirty="0">
                          <a:effectLst/>
                        </a:rPr>
                        <a:t>BONO.EAST (</a:t>
                      </a:r>
                      <a:r>
                        <a:rPr lang="en-US" sz="2000" dirty="0" err="1">
                          <a:effectLst/>
                        </a:rPr>
                        <a:t>no_LSM</a:t>
                      </a:r>
                      <a:r>
                        <a:rPr lang="en-US" sz="2000" dirty="0">
                          <a:effectLst/>
                        </a:rPr>
                        <a:t>)</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212500 </a:t>
                      </a:r>
                      <a:r>
                        <a:rPr lang="en-US" sz="2000" dirty="0" smtClean="0">
                          <a:effectLst/>
                        </a:rPr>
                        <a:t>(not </a:t>
                      </a:r>
                      <a:r>
                        <a:rPr lang="en-US" sz="1800" dirty="0" smtClean="0">
                          <a:effectLst/>
                        </a:rPr>
                        <a:t>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2000</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2000" dirty="0" smtClean="0">
                          <a:effectLst/>
                        </a:rPr>
                        <a:t>0.95 </a:t>
                      </a:r>
                      <a:r>
                        <a:rPr lang="en-US" sz="1800" dirty="0" smtClean="0">
                          <a:effectLst/>
                        </a:rPr>
                        <a:t>(LHS)</a:t>
                      </a:r>
                      <a:endParaRPr lang="de-CH"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6796882"/>
                  </a:ext>
                </a:extLst>
              </a:tr>
            </a:tbl>
          </a:graphicData>
        </a:graphic>
      </p:graphicFrame>
    </p:spTree>
    <p:extLst>
      <p:ext uri="{BB962C8B-B14F-4D97-AF65-F5344CB8AC3E}">
        <p14:creationId xmlns:p14="http://schemas.microsoft.com/office/powerpoint/2010/main" val="30320152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01113" y="1212119"/>
            <a:ext cx="12074013" cy="45719"/>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1200" dirty="0" smtClean="0"/>
              <a:t/>
            </a:r>
            <a:br>
              <a:rPr lang="en-US" sz="1200" dirty="0" smtClean="0"/>
            </a:br>
            <a:r>
              <a:rPr lang="en-US" sz="1200" dirty="0" smtClean="0"/>
              <a:t/>
            </a:r>
            <a:br>
              <a:rPr lang="en-US" sz="1200" dirty="0" smtClean="0"/>
            </a:br>
            <a:r>
              <a:rPr lang="en-US" sz="1200" dirty="0"/>
              <a:t/>
            </a:r>
            <a:br>
              <a:rPr lang="en-US" sz="1200"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for 3 settings: full EIR sweep for UE and LHS for </a:t>
            </a:r>
            <a:r>
              <a:rPr lang="en-US" sz="2400" b="1" u="sng" dirty="0" err="1">
                <a:solidFill>
                  <a:schemeClr val="tx1"/>
                </a:solidFill>
                <a:latin typeface="Arial" panose="020B0604020202020204" pitchFamily="34" charset="0"/>
                <a:cs typeface="Arial" panose="020B0604020202020204" pitchFamily="34" charset="0"/>
              </a:rPr>
              <a:t>Oti</a:t>
            </a:r>
            <a:r>
              <a:rPr lang="en-US" sz="2400" b="1" u="sng" dirty="0">
                <a:solidFill>
                  <a:schemeClr val="tx1"/>
                </a:solidFill>
                <a:latin typeface="Arial" panose="020B0604020202020204" pitchFamily="34" charset="0"/>
                <a:cs typeface="Arial" panose="020B0604020202020204" pitchFamily="34" charset="0"/>
              </a:rPr>
              <a:t> and </a:t>
            </a:r>
            <a:r>
              <a:rPr lang="en-US" sz="2400" b="1" u="sng" dirty="0" smtClean="0">
                <a:solidFill>
                  <a:schemeClr val="tx1"/>
                </a:solidFill>
                <a:latin typeface="Arial" panose="020B0604020202020204" pitchFamily="34" charset="0"/>
                <a:cs typeface="Arial" panose="020B0604020202020204" pitchFamily="34" charset="0"/>
              </a:rPr>
              <a:t>BE</a:t>
            </a:r>
            <a:r>
              <a:rPr lang="en-US" sz="2800" dirty="0">
                <a:solidFill>
                  <a:srgbClr val="1D1C1D"/>
                </a:solidFill>
                <a:latin typeface="Slack-Lato"/>
              </a:rPr>
              <a:t/>
            </a:r>
            <a:br>
              <a:rPr lang="en-US" sz="2800" dirty="0">
                <a:solidFill>
                  <a:srgbClr val="1D1C1D"/>
                </a:solidFill>
                <a:latin typeface="Slack-Lato"/>
              </a:rPr>
            </a:br>
            <a:endParaRPr lang="en-US" sz="2800" b="1" dirty="0">
              <a:latin typeface="+mn-lt"/>
            </a:endParaRPr>
          </a:p>
        </p:txBody>
      </p:sp>
      <p:sp>
        <p:nvSpPr>
          <p:cNvPr id="4" name="TextBox 3"/>
          <p:cNvSpPr txBox="1"/>
          <p:nvPr/>
        </p:nvSpPr>
        <p:spPr>
          <a:xfrm>
            <a:off x="201113" y="2041236"/>
            <a:ext cx="10503832" cy="1200329"/>
          </a:xfrm>
          <a:prstGeom prst="rect">
            <a:avLst/>
          </a:prstGeom>
          <a:noFill/>
        </p:spPr>
        <p:txBody>
          <a:bodyPr wrap="square" rtlCol="0">
            <a:spAutoFit/>
          </a:bodyPr>
          <a:lstStyle/>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The GP was </a:t>
            </a:r>
            <a:r>
              <a:rPr lang="de-CH" sz="2400" dirty="0" err="1" smtClean="0">
                <a:latin typeface="Arial" panose="020B0604020202020204" pitchFamily="34" charset="0"/>
                <a:cs typeface="Arial" panose="020B0604020202020204" pitchFamily="34" charset="0"/>
              </a:rPr>
              <a:t>trained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all </a:t>
            </a:r>
            <a:r>
              <a:rPr lang="de-CH" sz="2400" dirty="0" err="1" smtClean="0">
                <a:latin typeface="Arial" panose="020B0604020202020204" pitchFamily="34" charset="0"/>
                <a:cs typeface="Arial" panose="020B0604020202020204" pitchFamily="34" charset="0"/>
              </a:rPr>
              <a:t>simulation</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data</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Model </a:t>
            </a:r>
            <a:r>
              <a:rPr lang="de-CH" sz="2400" dirty="0" err="1" smtClean="0">
                <a:latin typeface="Arial" panose="020B0604020202020204" pitchFamily="34" charset="0"/>
                <a:cs typeface="Arial" panose="020B0604020202020204" pitchFamily="34" charset="0"/>
              </a:rPr>
              <a:t>performance</a:t>
            </a:r>
            <a:r>
              <a:rPr lang="de-CH" sz="2400" dirty="0" smtClean="0">
                <a:latin typeface="Arial" panose="020B0604020202020204" pitchFamily="34" charset="0"/>
                <a:cs typeface="Arial" panose="020B0604020202020204" pitchFamily="34" charset="0"/>
              </a:rPr>
              <a:t> was </a:t>
            </a:r>
            <a:r>
              <a:rPr lang="de-CH" sz="2400" dirty="0" err="1" smtClean="0">
                <a:latin typeface="Arial" panose="020B0604020202020204" pitchFamily="34" charset="0"/>
                <a:cs typeface="Arial" panose="020B0604020202020204" pitchFamily="34" charset="0"/>
              </a:rPr>
              <a:t>evaluated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R-</a:t>
            </a:r>
            <a:r>
              <a:rPr lang="de-CH" sz="2400" dirty="0" err="1" smtClean="0">
                <a:latin typeface="Arial" panose="020B0604020202020204" pitchFamily="34" charset="0"/>
                <a:cs typeface="Arial" panose="020B0604020202020204" pitchFamily="34" charset="0"/>
              </a:rPr>
              <a:t>sqaured</a:t>
            </a:r>
            <a:endParaRPr lang="de-CH"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23328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83127" y="1"/>
            <a:ext cx="12191999" cy="1257838"/>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a:t>
            </a:r>
            <a:r>
              <a:rPr lang="en-US" sz="2400" b="1" u="sng" dirty="0" smtClean="0">
                <a:solidFill>
                  <a:schemeClr val="tx1"/>
                </a:solidFill>
                <a:latin typeface="Arial" panose="020B0604020202020204" pitchFamily="34" charset="0"/>
                <a:cs typeface="Arial" panose="020B0604020202020204" pitchFamily="34" charset="0"/>
              </a:rPr>
              <a:t>using different LHS sample sizes for </a:t>
            </a:r>
            <a:r>
              <a:rPr lang="en-US" sz="2800" b="1" u="sng" dirty="0" smtClean="0">
                <a:solidFill>
                  <a:schemeClr val="tx1"/>
                </a:solidFill>
                <a:latin typeface="Arial" panose="020B0604020202020204" pitchFamily="34" charset="0"/>
                <a:cs typeface="Arial" panose="020B0604020202020204" pitchFamily="34" charset="0"/>
              </a:rPr>
              <a:t>UE4</a:t>
            </a:r>
            <a:endParaRPr lang="en-US" sz="2800" b="1" dirty="0">
              <a:latin typeface="+mn-lt"/>
            </a:endParaRPr>
          </a:p>
        </p:txBody>
      </p:sp>
      <p:sp>
        <p:nvSpPr>
          <p:cNvPr id="4" name="TextBox 3"/>
          <p:cNvSpPr txBox="1"/>
          <p:nvPr/>
        </p:nvSpPr>
        <p:spPr>
          <a:xfrm>
            <a:off x="83127" y="1257839"/>
            <a:ext cx="10503832" cy="830997"/>
          </a:xfrm>
          <a:prstGeom prst="rect">
            <a:avLst/>
          </a:prstGeom>
          <a:noFill/>
        </p:spPr>
        <p:txBody>
          <a:bodyPr wrap="square" rtlCol="0">
            <a:spAutoFit/>
          </a:bodyPr>
          <a:lstStyle/>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The GP was </a:t>
            </a:r>
            <a:r>
              <a:rPr lang="de-CH" sz="2400" dirty="0" err="1" smtClean="0">
                <a:latin typeface="Arial" panose="020B0604020202020204" pitchFamily="34" charset="0"/>
                <a:cs typeface="Arial" panose="020B0604020202020204" pitchFamily="34" charset="0"/>
              </a:rPr>
              <a:t>trained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all </a:t>
            </a:r>
            <a:r>
              <a:rPr lang="de-CH" sz="2400" dirty="0" err="1" smtClean="0">
                <a:latin typeface="Arial" panose="020B0604020202020204" pitchFamily="34" charset="0"/>
                <a:cs typeface="Arial" panose="020B0604020202020204" pitchFamily="34" charset="0"/>
              </a:rPr>
              <a:t>simulation</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data</a:t>
            </a:r>
            <a:endParaRPr lang="de-CH"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Model </a:t>
            </a:r>
            <a:r>
              <a:rPr lang="de-CH" sz="2400" dirty="0" err="1" smtClean="0">
                <a:latin typeface="Arial" panose="020B0604020202020204" pitchFamily="34" charset="0"/>
                <a:cs typeface="Arial" panose="020B0604020202020204" pitchFamily="34" charset="0"/>
              </a:rPr>
              <a:t>performance</a:t>
            </a:r>
            <a:r>
              <a:rPr lang="de-CH" sz="2400" dirty="0" smtClean="0">
                <a:latin typeface="Arial" panose="020B0604020202020204" pitchFamily="34" charset="0"/>
                <a:cs typeface="Arial" panose="020B0604020202020204" pitchFamily="34" charset="0"/>
              </a:rPr>
              <a:t> was </a:t>
            </a:r>
            <a:r>
              <a:rPr lang="de-CH" sz="2400" dirty="0" err="1" smtClean="0">
                <a:latin typeface="Arial" panose="020B0604020202020204" pitchFamily="34" charset="0"/>
                <a:cs typeface="Arial" panose="020B0604020202020204" pitchFamily="34" charset="0"/>
              </a:rPr>
              <a:t>evaluated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R-</a:t>
            </a:r>
            <a:r>
              <a:rPr lang="de-CH" sz="2400" dirty="0" err="1" smtClean="0">
                <a:latin typeface="Arial" panose="020B0604020202020204" pitchFamily="34" charset="0"/>
                <a:cs typeface="Arial" panose="020B0604020202020204" pitchFamily="34" charset="0"/>
              </a:rPr>
              <a:t>sqaured</a:t>
            </a:r>
            <a:endParaRPr lang="de-CH" sz="24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697" y="1257839"/>
            <a:ext cx="11111345" cy="5372842"/>
          </a:xfrm>
          <a:prstGeom prst="rect">
            <a:avLst/>
          </a:prstGeom>
        </p:spPr>
      </p:pic>
    </p:spTree>
    <p:extLst>
      <p:ext uri="{BB962C8B-B14F-4D97-AF65-F5344CB8AC3E}">
        <p14:creationId xmlns:p14="http://schemas.microsoft.com/office/powerpoint/2010/main" val="40766160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83127" y="1"/>
            <a:ext cx="12191999" cy="1257838"/>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a:t>
            </a:r>
            <a:r>
              <a:rPr lang="en-US" sz="2400" b="1" u="sng" dirty="0" smtClean="0">
                <a:solidFill>
                  <a:schemeClr val="tx1"/>
                </a:solidFill>
                <a:latin typeface="Arial" panose="020B0604020202020204" pitchFamily="34" charset="0"/>
                <a:cs typeface="Arial" panose="020B0604020202020204" pitchFamily="34" charset="0"/>
              </a:rPr>
              <a:t>using different LHS sample sizes for </a:t>
            </a:r>
            <a:r>
              <a:rPr lang="en-US" sz="2800" b="1" u="sng" dirty="0" smtClean="0">
                <a:solidFill>
                  <a:schemeClr val="tx1"/>
                </a:solidFill>
                <a:latin typeface="Arial" panose="020B0604020202020204" pitchFamily="34" charset="0"/>
                <a:cs typeface="Arial" panose="020B0604020202020204" pitchFamily="34" charset="0"/>
              </a:rPr>
              <a:t>UE4</a:t>
            </a:r>
            <a:endParaRPr lang="en-US" sz="2800" b="1" dirty="0">
              <a:latin typeface="+mn-l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786" y="1277642"/>
            <a:ext cx="5424372" cy="5580358"/>
          </a:xfrm>
          <a:prstGeom prst="rect">
            <a:avLst/>
          </a:prstGeom>
        </p:spPr>
      </p:pic>
      <p:pic>
        <p:nvPicPr>
          <p:cNvPr id="2" name="Picture 1"/>
          <p:cNvPicPr>
            <a:picLocks noChangeAspect="1"/>
          </p:cNvPicPr>
          <p:nvPr/>
        </p:nvPicPr>
        <p:blipFill>
          <a:blip r:embed="rId4"/>
          <a:stretch>
            <a:fillRect/>
          </a:stretch>
        </p:blipFill>
        <p:spPr>
          <a:xfrm>
            <a:off x="5775158" y="1501540"/>
            <a:ext cx="6401486" cy="3118585"/>
          </a:xfrm>
          <a:prstGeom prst="rect">
            <a:avLst/>
          </a:prstGeom>
        </p:spPr>
      </p:pic>
    </p:spTree>
    <p:extLst>
      <p:ext uri="{BB962C8B-B14F-4D97-AF65-F5344CB8AC3E}">
        <p14:creationId xmlns:p14="http://schemas.microsoft.com/office/powerpoint/2010/main" val="38801566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2168" y="1717283"/>
            <a:ext cx="12109832" cy="4191865"/>
          </a:xfrm>
          <a:prstGeom prst="rect">
            <a:avLst/>
          </a:prstGeom>
        </p:spPr>
      </p:pic>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Sobol </a:t>
            </a:r>
            <a:r>
              <a:rPr lang="de-CH" sz="2800" dirty="0" err="1" smtClean="0">
                <a:latin typeface="+mn-lt"/>
              </a:rPr>
              <a:t>methods</a:t>
            </a:r>
            <a:r>
              <a:rPr lang="de-CH" sz="2800" dirty="0" smtClean="0">
                <a:latin typeface="+mn-lt"/>
              </a:rPr>
              <a:t> </a:t>
            </a:r>
            <a:r>
              <a:rPr lang="de-CH" sz="2800" dirty="0" err="1" smtClean="0">
                <a:latin typeface="+mn-lt"/>
              </a:rPr>
              <a:t>comparison</a:t>
            </a:r>
            <a:endParaRPr lang="de-CH" sz="2800" dirty="0">
              <a:latin typeface="+mn-lt"/>
            </a:endParaRPr>
          </a:p>
        </p:txBody>
      </p:sp>
      <p:sp>
        <p:nvSpPr>
          <p:cNvPr id="7" name="Rectangle 6"/>
          <p:cNvSpPr/>
          <p:nvPr/>
        </p:nvSpPr>
        <p:spPr>
          <a:xfrm>
            <a:off x="177224" y="687379"/>
            <a:ext cx="11848699" cy="685059"/>
          </a:xfrm>
          <a:prstGeom prst="rect">
            <a:avLst/>
          </a:prstGeom>
        </p:spPr>
        <p:txBody>
          <a:bodyPr wrap="square">
            <a:spAutoFit/>
          </a:bodyPr>
          <a:lstStyle/>
          <a:p>
            <a:pPr>
              <a:lnSpc>
                <a:spcPct val="107000"/>
              </a:lnSpc>
              <a:spcAft>
                <a:spcPts val="800"/>
              </a:spcAft>
            </a:pPr>
            <a:r>
              <a:rPr lang="en-US" b="1" dirty="0" err="1" smtClean="0">
                <a:latin typeface="Arial" panose="020B0604020202020204" pitchFamily="34" charset="0"/>
                <a:ea typeface="Calibri" panose="020F0502020204030204" pitchFamily="34" charset="0"/>
                <a:cs typeface="Times New Roman" panose="02020603050405020304" pitchFamily="18" charset="0"/>
              </a:rPr>
              <a:t>Sobol</a:t>
            </a:r>
            <a:r>
              <a:rPr lang="en-US" b="1" dirty="0" smtClean="0">
                <a:latin typeface="Arial" panose="020B0604020202020204" pitchFamily="34" charset="0"/>
                <a:ea typeface="Calibri" panose="020F0502020204030204" pitchFamily="34" charset="0"/>
                <a:cs typeface="Times New Roman" panose="02020603050405020304" pitchFamily="18" charset="0"/>
              </a:rPr>
              <a:t> sensitivity analysis of future coverages of malaria interventions for 3 settings in </a:t>
            </a:r>
            <a:r>
              <a:rPr lang="en-US" b="1" dirty="0" err="1" smtClean="0">
                <a:latin typeface="Arial" panose="020B0604020202020204" pitchFamily="34" charset="0"/>
                <a:ea typeface="Calibri" panose="020F0502020204030204" pitchFamily="34" charset="0"/>
                <a:cs typeface="Times New Roman" panose="02020603050405020304" pitchFamily="18" charset="0"/>
              </a:rPr>
              <a:t>ghana</a:t>
            </a:r>
            <a:r>
              <a:rPr lang="en-US" b="1" dirty="0" smtClean="0">
                <a:latin typeface="Arial" panose="020B0604020202020204" pitchFamily="34" charset="0"/>
                <a:ea typeface="Calibri" panose="020F0502020204030204" pitchFamily="34" charset="0"/>
                <a:cs typeface="Times New Roman" panose="02020603050405020304" pitchFamily="18" charset="0"/>
              </a:rPr>
              <a:t>: upper.EAST4, OTI and </a:t>
            </a:r>
            <a:r>
              <a:rPr lang="en-US" b="1" dirty="0" err="1" smtClean="0">
                <a:latin typeface="Arial" panose="020B0604020202020204" pitchFamily="34" charset="0"/>
                <a:ea typeface="Calibri" panose="020F0502020204030204" pitchFamily="34" charset="0"/>
                <a:cs typeface="Times New Roman" panose="02020603050405020304" pitchFamily="18" charset="0"/>
              </a:rPr>
              <a:t>BONO.East</a:t>
            </a:r>
            <a:r>
              <a:rPr lang="en-US" b="1" dirty="0" smtClean="0">
                <a:latin typeface="Arial" panose="020B0604020202020204" pitchFamily="34" charset="0"/>
                <a:ea typeface="Calibri" panose="020F0502020204030204" pitchFamily="34" charset="0"/>
                <a:cs typeface="Times New Roman" panose="02020603050405020304" pitchFamily="18" charset="0"/>
              </a:rPr>
              <a:t>.</a:t>
            </a:r>
            <a:endParaRPr lang="de-CH"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61364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Sobol </a:t>
            </a:r>
            <a:r>
              <a:rPr lang="de-CH" sz="2800" dirty="0" err="1" smtClean="0">
                <a:latin typeface="+mn-lt"/>
              </a:rPr>
              <a:t>methods</a:t>
            </a:r>
            <a:r>
              <a:rPr lang="de-CH" sz="2800" dirty="0" smtClean="0">
                <a:latin typeface="+mn-lt"/>
              </a:rPr>
              <a:t> </a:t>
            </a:r>
            <a:r>
              <a:rPr lang="de-CH" sz="2800" dirty="0" err="1" smtClean="0">
                <a:latin typeface="+mn-lt"/>
              </a:rPr>
              <a:t>comparison</a:t>
            </a:r>
            <a:endParaRPr lang="de-CH" sz="2800" dirty="0">
              <a:latin typeface="+mn-lt"/>
            </a:endParaRPr>
          </a:p>
        </p:txBody>
      </p:sp>
      <mc:AlternateContent xmlns:mc="http://schemas.openxmlformats.org/markup-compatibility/2006" xmlns:a14="http://schemas.microsoft.com/office/drawing/2010/main">
        <mc:Choice Requires="a14">
          <p:sp>
            <p:nvSpPr>
              <p:cNvPr id="4" name="Rectangle 3"/>
              <p:cNvSpPr/>
              <p:nvPr/>
            </p:nvSpPr>
            <p:spPr>
              <a:xfrm>
                <a:off x="177224" y="996243"/>
                <a:ext cx="11913176" cy="4557017"/>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2400" dirty="0">
                    <a:latin typeface="Arial" panose="020B0604020202020204" pitchFamily="34" charset="0"/>
                    <a:ea typeface="Calibri" panose="020F0502020204030204" pitchFamily="34" charset="0"/>
                    <a:cs typeface="Times New Roman" panose="02020603050405020304" pitchFamily="18" charset="0"/>
                  </a:rPr>
                  <a:t>Both methods obtained similar sensitivity </a:t>
                </a:r>
                <a:r>
                  <a:rPr lang="en-US" sz="2400" dirty="0" smtClean="0">
                    <a:latin typeface="Arial" panose="020B0604020202020204" pitchFamily="34" charset="0"/>
                    <a:ea typeface="Calibri" panose="020F0502020204030204" pitchFamily="34" charset="0"/>
                    <a:cs typeface="Times New Roman" panose="02020603050405020304" pitchFamily="18" charset="0"/>
                  </a:rPr>
                  <a:t>results</a:t>
                </a:r>
              </a:p>
              <a:p>
                <a:pPr lvl="0">
                  <a:lnSpc>
                    <a:spcPct val="107000"/>
                  </a:lnSpc>
                  <a:spcAft>
                    <a:spcPts val="0"/>
                  </a:spcAft>
                </a:pPr>
                <a:endParaRPr lang="de-CH"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b="1" dirty="0" err="1">
                    <a:latin typeface="Arial" panose="020B0604020202020204" pitchFamily="34" charset="0"/>
                    <a:ea typeface="Calibri" panose="020F0502020204030204" pitchFamily="34" charset="0"/>
                    <a:cs typeface="Times New Roman" panose="02020603050405020304" pitchFamily="18" charset="0"/>
                  </a:rPr>
                  <a:t>Soboljansen</a:t>
                </a:r>
                <a:r>
                  <a:rPr lang="en-US" sz="2400" dirty="0">
                    <a:latin typeface="Arial" panose="020B0604020202020204" pitchFamily="34" charset="0"/>
                    <a:ea typeface="Calibri" panose="020F0502020204030204" pitchFamily="34" charset="0"/>
                    <a:cs typeface="Times New Roman" panose="02020603050405020304" pitchFamily="18" charset="0"/>
                  </a:rPr>
                  <a:t> uses the best estimators so far for </a:t>
                </a:r>
                <a:r>
                  <a:rPr lang="en-US" sz="2400" b="1" dirty="0">
                    <a:latin typeface="Arial" panose="020B0604020202020204" pitchFamily="34" charset="0"/>
                    <a:ea typeface="Calibri" panose="020F0502020204030204" pitchFamily="34" charset="0"/>
                    <a:cs typeface="Times New Roman" panose="02020603050405020304" pitchFamily="18" charset="0"/>
                  </a:rPr>
                  <a:t>first</a:t>
                </a:r>
                <a:r>
                  <a:rPr lang="en-US" sz="2400" dirty="0">
                    <a:latin typeface="Arial" panose="020B0604020202020204" pitchFamily="34" charset="0"/>
                    <a:ea typeface="Calibri" panose="020F0502020204030204" pitchFamily="34" charset="0"/>
                    <a:cs typeface="Times New Roman" panose="02020603050405020304" pitchFamily="18" charset="0"/>
                  </a:rPr>
                  <a:t> and </a:t>
                </a:r>
                <a:r>
                  <a:rPr lang="en-US" sz="2400" b="1" dirty="0">
                    <a:latin typeface="Arial" panose="020B0604020202020204" pitchFamily="34" charset="0"/>
                    <a:ea typeface="Calibri" panose="020F0502020204030204" pitchFamily="34" charset="0"/>
                    <a:cs typeface="Times New Roman" panose="02020603050405020304" pitchFamily="18" charset="0"/>
                  </a:rPr>
                  <a:t>total order indices </a:t>
                </a:r>
                <a:r>
                  <a:rPr lang="en-US" sz="2400" dirty="0">
                    <a:latin typeface="Arial" panose="020B0604020202020204" pitchFamily="34" charset="0"/>
                    <a:ea typeface="Calibri" panose="020F0502020204030204" pitchFamily="34" charset="0"/>
                    <a:cs typeface="Times New Roman" panose="02020603050405020304" pitchFamily="18" charset="0"/>
                  </a:rPr>
                  <a:t>and takes into account a </a:t>
                </a:r>
                <a:r>
                  <a:rPr lang="en-US" sz="2400" b="1" dirty="0">
                    <a:latin typeface="Arial" panose="020B0604020202020204" pitchFamily="34" charset="0"/>
                    <a:ea typeface="Calibri" panose="020F0502020204030204" pitchFamily="34" charset="0"/>
                    <a:cs typeface="Times New Roman" panose="02020603050405020304" pitchFamily="18" charset="0"/>
                  </a:rPr>
                  <a:t>better configuration of the matrices </a:t>
                </a:r>
                <a:r>
                  <a:rPr lang="en-US" sz="2400" dirty="0">
                    <a:latin typeface="Arial" panose="020B0604020202020204" pitchFamily="34" charset="0"/>
                    <a:ea typeface="Calibri" panose="020F0502020204030204" pitchFamily="34" charset="0"/>
                    <a:cs typeface="Times New Roman" panose="02020603050405020304" pitchFamily="18" charset="0"/>
                  </a:rPr>
                  <a:t>A, </a:t>
                </a:r>
                <a14:m>
                  <m:oMath xmlns:m="http://schemas.openxmlformats.org/officeDocument/2006/math">
                    <m:sSub>
                      <m:sSubPr>
                        <m:ctrlPr>
                          <a:rPr lang="de-CH"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𝐴</m:t>
                        </m:r>
                      </m:e>
                      <m:sub>
                        <m:r>
                          <a:rPr lang="en-US" sz="2400" i="1">
                            <a:latin typeface="Cambria Math" panose="02040503050406030204" pitchFamily="18" charset="0"/>
                            <a:ea typeface="Calibri" panose="020F0502020204030204" pitchFamily="34" charset="0"/>
                            <a:cs typeface="Arial" panose="020B0604020202020204" pitchFamily="34" charset="0"/>
                          </a:rPr>
                          <m:t>𝐵</m:t>
                        </m:r>
                      </m:sub>
                    </m:sSub>
                  </m:oMath>
                </a14:m>
                <a:r>
                  <a:rPr lang="en-US" sz="2400" dirty="0">
                    <a:latin typeface="Arial" panose="020B0604020202020204" pitchFamily="34" charset="0"/>
                    <a:ea typeface="Calibri" panose="020F0502020204030204" pitchFamily="34" charset="0"/>
                    <a:cs typeface="Times New Roman" panose="02020603050405020304" pitchFamily="18" charset="0"/>
                  </a:rPr>
                  <a:t> and B. </a:t>
                </a:r>
                <a:endParaRPr lang="en-US" sz="2400" dirty="0" smtClean="0">
                  <a:latin typeface="Arial" panose="020B0604020202020204" pitchFamily="34" charset="0"/>
                  <a:ea typeface="Calibri" panose="020F0502020204030204" pitchFamily="34" charset="0"/>
                  <a:cs typeface="Times New Roman" panose="02020603050405020304" pitchFamily="18" charset="0"/>
                </a:endParaRPr>
              </a:p>
              <a:p>
                <a:pPr marL="800100" lvl="1" indent="-342900">
                  <a:lnSpc>
                    <a:spcPct val="107000"/>
                  </a:lnSpc>
                  <a:spcAft>
                    <a:spcPts val="800"/>
                  </a:spcAft>
                  <a:buFont typeface="Arial" panose="020B0604020202020204" pitchFamily="34" charset="0"/>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First generates a quasi-random matrix </a:t>
                </a:r>
                <a:r>
                  <a:rPr lang="en-US" sz="2400" i="1" dirty="0" smtClean="0">
                    <a:latin typeface="Arial" panose="020B0604020202020204" pitchFamily="34" charset="0"/>
                    <a:ea typeface="Calibri" panose="020F0502020204030204" pitchFamily="34" charset="0"/>
                    <a:cs typeface="Times New Roman" panose="02020603050405020304" pitchFamily="18" charset="0"/>
                  </a:rPr>
                  <a:t>(N, 2k)</a:t>
                </a:r>
              </a:p>
              <a:p>
                <a:pPr lvl="1">
                  <a:lnSpc>
                    <a:spcPct val="107000"/>
                  </a:lnSpc>
                  <a:spcAft>
                    <a:spcPts val="800"/>
                  </a:spcAft>
                </a:pPr>
                <a:endParaRPr lang="en-US" sz="2400" i="1" dirty="0" smtClean="0">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the </a:t>
                </a:r>
                <a:r>
                  <a:rPr lang="en-US" sz="2400" b="1" dirty="0">
                    <a:latin typeface="Arial" panose="020B0604020202020204" pitchFamily="34" charset="0"/>
                    <a:ea typeface="Calibri" panose="020F0502020204030204" pitchFamily="34" charset="0"/>
                    <a:cs typeface="Times New Roman" panose="02020603050405020304" pitchFamily="18" charset="0"/>
                  </a:rPr>
                  <a:t>uniformity</a:t>
                </a:r>
                <a:r>
                  <a:rPr lang="en-US" sz="2400" dirty="0">
                    <a:latin typeface="Arial" panose="020B0604020202020204" pitchFamily="34" charset="0"/>
                    <a:ea typeface="Calibri" panose="020F0502020204030204" pitchFamily="34" charset="0"/>
                    <a:cs typeface="Times New Roman" panose="02020603050405020304" pitchFamily="18" charset="0"/>
                  </a:rPr>
                  <a:t> of the quasi-random matrix </a:t>
                </a:r>
                <a:r>
                  <a:rPr lang="en-US" sz="2400" b="1" dirty="0">
                    <a:latin typeface="Arial" panose="020B0604020202020204" pitchFamily="34" charset="0"/>
                    <a:ea typeface="Calibri" panose="020F0502020204030204" pitchFamily="34" charset="0"/>
                    <a:cs typeface="Times New Roman" panose="02020603050405020304" pitchFamily="18" charset="0"/>
                  </a:rPr>
                  <a:t>deteriorates</a:t>
                </a:r>
                <a:r>
                  <a:rPr lang="en-US" sz="2400" dirty="0">
                    <a:latin typeface="Arial" panose="020B0604020202020204" pitchFamily="34" charset="0"/>
                    <a:ea typeface="Calibri" panose="020F0502020204030204" pitchFamily="34" charset="0"/>
                    <a:cs typeface="Times New Roman" panose="02020603050405020304" pitchFamily="18" charset="0"/>
                  </a:rPr>
                  <a:t> as the column index increases, with the first column being the best </a:t>
                </a:r>
                <a:r>
                  <a:rPr lang="en-US" sz="2400" dirty="0" err="1">
                    <a:latin typeface="Arial" panose="020B0604020202020204" pitchFamily="34" charset="0"/>
                    <a:ea typeface="Calibri" panose="020F0502020204030204" pitchFamily="34" charset="0"/>
                    <a:cs typeface="Times New Roman" panose="02020603050405020304" pitchFamily="18" charset="0"/>
                  </a:rPr>
                  <a:t>equidistributed</a:t>
                </a:r>
                <a:r>
                  <a:rPr lang="en-US" sz="2400" dirty="0">
                    <a:latin typeface="Arial" panose="020B0604020202020204" pitchFamily="34" charset="0"/>
                    <a:ea typeface="Calibri" panose="020F0502020204030204" pitchFamily="34" charset="0"/>
                    <a:cs typeface="Times New Roman" panose="02020603050405020304" pitchFamily="18" charset="0"/>
                  </a:rPr>
                  <a:t> in the interval [0, 1</a:t>
                </a:r>
                <a:r>
                  <a:rPr lang="en-US" sz="2400" dirty="0" smtClean="0">
                    <a:latin typeface="Arial" panose="020B0604020202020204" pitchFamily="34" charset="0"/>
                    <a:ea typeface="Calibri" panose="020F0502020204030204" pitchFamily="34" charset="0"/>
                    <a:cs typeface="Times New Roman" panose="02020603050405020304" pitchFamily="18" charset="0"/>
                  </a:rPr>
                  <a:t>].</a:t>
                </a:r>
              </a:p>
              <a:p>
                <a:pPr lvl="0">
                  <a:lnSpc>
                    <a:spcPct val="107000"/>
                  </a:lnSpc>
                  <a:spcAft>
                    <a:spcPts val="800"/>
                  </a:spcAft>
                </a:pPr>
                <a:r>
                  <a:rPr lang="en-US" sz="2400" dirty="0" smtClean="0">
                    <a:latin typeface="Arial" panose="020B060402020202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It </a:t>
                </a:r>
                <a:r>
                  <a:rPr lang="en-US" sz="2400" dirty="0">
                    <a:latin typeface="Arial" panose="020B0604020202020204" pitchFamily="34" charset="0"/>
                    <a:ea typeface="Calibri" panose="020F0502020204030204" pitchFamily="34" charset="0"/>
                    <a:cs typeface="Times New Roman" panose="02020603050405020304" pitchFamily="18" charset="0"/>
                  </a:rPr>
                  <a:t>is advisable to choose the </a:t>
                </a:r>
                <a:r>
                  <a:rPr lang="en-US" sz="2400" b="1" dirty="0">
                    <a:latin typeface="Arial" panose="020B0604020202020204" pitchFamily="34" charset="0"/>
                    <a:ea typeface="Calibri" panose="020F0502020204030204" pitchFamily="34" charset="0"/>
                    <a:cs typeface="Times New Roman" panose="02020603050405020304" pitchFamily="18" charset="0"/>
                  </a:rPr>
                  <a:t>root</a:t>
                </a:r>
                <a:r>
                  <a:rPr lang="en-US" sz="2400" dirty="0">
                    <a:latin typeface="Arial" panose="020B0604020202020204" pitchFamily="34" charset="0"/>
                    <a:ea typeface="Calibri" panose="020F0502020204030204" pitchFamily="34" charset="0"/>
                    <a:cs typeface="Times New Roman" panose="02020603050405020304" pitchFamily="18" charset="0"/>
                  </a:rPr>
                  <a:t> of the </a:t>
                </a:r>
                <a:r>
                  <a:rPr lang="en-US" sz="2400" b="1" dirty="0">
                    <a:latin typeface="Arial" panose="020B0604020202020204" pitchFamily="34" charset="0"/>
                    <a:ea typeface="Calibri" panose="020F0502020204030204" pitchFamily="34" charset="0"/>
                    <a:cs typeface="Times New Roman" panose="02020603050405020304" pitchFamily="18" charset="0"/>
                  </a:rPr>
                  <a:t>third matrix </a:t>
                </a:r>
                <a:r>
                  <a:rPr lang="en-US" sz="2400" dirty="0">
                    <a:latin typeface="Arial" panose="020B0604020202020204" pitchFamily="34" charset="0"/>
                    <a:ea typeface="Calibri" panose="020F0502020204030204" pitchFamily="34" charset="0"/>
                    <a:cs typeface="Times New Roman" panose="02020603050405020304" pitchFamily="18" charset="0"/>
                  </a:rPr>
                  <a:t>from </a:t>
                </a:r>
                <a:r>
                  <a:rPr lang="en-US" sz="2400" b="1" dirty="0">
                    <a:latin typeface="Arial" panose="020B0604020202020204" pitchFamily="34" charset="0"/>
                    <a:ea typeface="Calibri" panose="020F0502020204030204" pitchFamily="34" charset="0"/>
                    <a:cs typeface="Times New Roman" panose="02020603050405020304" pitchFamily="18" charset="0"/>
                  </a:rPr>
                  <a:t>A</a:t>
                </a:r>
                <a:r>
                  <a:rPr lang="en-US" sz="2400" dirty="0">
                    <a:latin typeface="Arial" panose="020B0604020202020204" pitchFamily="34" charset="0"/>
                    <a:ea typeface="Calibri" panose="020F0502020204030204" pitchFamily="34" charset="0"/>
                    <a:cs typeface="Times New Roman" panose="02020603050405020304" pitchFamily="18" charset="0"/>
                  </a:rPr>
                  <a:t> and not B</a:t>
                </a:r>
                <a:endParaRPr lang="de-CH"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77224" y="996243"/>
                <a:ext cx="11913176" cy="4557017"/>
              </a:xfrm>
              <a:prstGeom prst="rect">
                <a:avLst/>
              </a:prstGeom>
              <a:blipFill>
                <a:blip r:embed="rId3"/>
                <a:stretch>
                  <a:fillRect l="-819" t="-1337" b="-1471"/>
                </a:stretch>
              </a:blipFill>
            </p:spPr>
            <p:txBody>
              <a:bodyPr/>
              <a:lstStyle/>
              <a:p>
                <a:r>
                  <a:rPr lang="de-CH">
                    <a:noFill/>
                  </a:rPr>
                  <a:t> </a:t>
                </a:r>
              </a:p>
            </p:txBody>
          </p:sp>
        </mc:Fallback>
      </mc:AlternateContent>
      <p:sp>
        <p:nvSpPr>
          <p:cNvPr id="6" name="Rectangle 5"/>
          <p:cNvSpPr/>
          <p:nvPr/>
        </p:nvSpPr>
        <p:spPr>
          <a:xfrm>
            <a:off x="3217648" y="3244334"/>
            <a:ext cx="5756704" cy="369332"/>
          </a:xfrm>
          <a:prstGeom prst="rect">
            <a:avLst/>
          </a:prstGeom>
        </p:spPr>
        <p:txBody>
          <a:bodyPr wrap="none">
            <a:spAutoFit/>
          </a:bodyPr>
          <a:lstStyle/>
          <a:p>
            <a:pPr marL="285750" indent="-285750">
              <a:buFont typeface="Arial" panose="020B0604020202020204" pitchFamily="34" charset="0"/>
              <a:buChar char="•"/>
            </a:pPr>
            <a:r>
              <a:rPr lang="de-CH" dirty="0">
                <a:latin typeface="Arial" panose="020B0604020202020204" pitchFamily="34" charset="0"/>
                <a:cs typeface="Arial" panose="020B0604020202020204" pitchFamily="34" charset="0"/>
              </a:rPr>
              <a:t>Model </a:t>
            </a:r>
            <a:r>
              <a:rPr lang="de-CH" dirty="0" err="1">
                <a:latin typeface="Arial" panose="020B0604020202020204" pitchFamily="34" charset="0"/>
                <a:cs typeface="Arial" panose="020B0604020202020204" pitchFamily="34" charset="0"/>
              </a:rPr>
              <a:t>performance</a:t>
            </a:r>
            <a:r>
              <a:rPr lang="de-CH" dirty="0">
                <a:latin typeface="Arial" panose="020B0604020202020204" pitchFamily="34" charset="0"/>
                <a:cs typeface="Arial" panose="020B0604020202020204" pitchFamily="34" charset="0"/>
              </a:rPr>
              <a:t> was </a:t>
            </a:r>
            <a:r>
              <a:rPr lang="de-CH" dirty="0" err="1">
                <a:latin typeface="Arial" panose="020B0604020202020204" pitchFamily="34" charset="0"/>
                <a:cs typeface="Arial" panose="020B0604020202020204" pitchFamily="34" charset="0"/>
              </a:rPr>
              <a:t>evaluated</a:t>
            </a:r>
            <a:r>
              <a:rPr lang="de-CH" dirty="0">
                <a:latin typeface="Arial" panose="020B0604020202020204" pitchFamily="34" charset="0"/>
                <a:cs typeface="Arial" panose="020B0604020202020204" pitchFamily="34" charset="0"/>
              </a:rPr>
              <a:t> </a:t>
            </a:r>
            <a:r>
              <a:rPr lang="de-CH" dirty="0" err="1">
                <a:latin typeface="Arial" panose="020B0604020202020204" pitchFamily="34" charset="0"/>
                <a:cs typeface="Arial" panose="020B0604020202020204" pitchFamily="34" charset="0"/>
              </a:rPr>
              <a:t>using</a:t>
            </a:r>
            <a:r>
              <a:rPr lang="de-CH" dirty="0">
                <a:latin typeface="Arial" panose="020B0604020202020204" pitchFamily="34" charset="0"/>
                <a:cs typeface="Arial" panose="020B0604020202020204" pitchFamily="34" charset="0"/>
              </a:rPr>
              <a:t> R-</a:t>
            </a:r>
            <a:r>
              <a:rPr lang="de-CH" dirty="0" err="1">
                <a:latin typeface="Arial" panose="020B0604020202020204" pitchFamily="34" charset="0"/>
                <a:cs typeface="Arial" panose="020B0604020202020204" pitchFamily="34" charset="0"/>
              </a:rPr>
              <a:t>sqaured</a:t>
            </a:r>
            <a:endParaRPr lang="de-CH"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56686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a:t>
            </a:r>
            <a:r>
              <a:rPr lang="de-CH" sz="2800" dirty="0" smtClean="0">
                <a:latin typeface="Arial" panose="020B0604020202020204" pitchFamily="34" charset="0"/>
                <a:cs typeface="Arial" panose="020B0604020202020204" pitchFamily="34" charset="0"/>
              </a:rPr>
              <a:t>Sobol </a:t>
            </a:r>
            <a:r>
              <a:rPr lang="de-CH" sz="2800" dirty="0" err="1" smtClean="0">
                <a:latin typeface="Arial" panose="020B0604020202020204" pitchFamily="34" charset="0"/>
                <a:cs typeface="Arial" panose="020B0604020202020204" pitchFamily="34" charset="0"/>
              </a:rPr>
              <a:t>sensitivity</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analysis</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with</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setting-specific</a:t>
            </a:r>
            <a:r>
              <a:rPr lang="de-CH" sz="2800" dirty="0" smtClean="0">
                <a:latin typeface="Arial" panose="020B0604020202020204" pitchFamily="34" charset="0"/>
                <a:cs typeface="Arial" panose="020B0604020202020204" pitchFamily="34" charset="0"/>
              </a:rPr>
              <a:t> EIR </a:t>
            </a:r>
            <a:r>
              <a:rPr lang="de-CH" sz="2800" dirty="0" err="1" smtClean="0">
                <a:latin typeface="Arial" panose="020B0604020202020204" pitchFamily="34" charset="0"/>
                <a:cs typeface="Arial" panose="020B0604020202020204" pitchFamily="34" charset="0"/>
              </a:rPr>
              <a:t>and</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realistic</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intervention</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coverage</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ranges</a:t>
            </a:r>
            <a:r>
              <a:rPr lang="de-CH" sz="2800" dirty="0" smtClean="0">
                <a:latin typeface="Arial" panose="020B0604020202020204" pitchFamily="34" charset="0"/>
                <a:cs typeface="Arial" panose="020B0604020202020204" pitchFamily="34" charset="0"/>
              </a:rPr>
              <a:t> – APPROACH 1a</a:t>
            </a:r>
            <a:endParaRPr lang="de-CH" sz="2800" dirty="0">
              <a:latin typeface="Arial" panose="020B0604020202020204" pitchFamily="34" charset="0"/>
              <a:cs typeface="Arial" panose="020B0604020202020204" pitchFamily="34" charset="0"/>
            </a:endParaRPr>
          </a:p>
        </p:txBody>
      </p:sp>
      <p:sp>
        <p:nvSpPr>
          <p:cNvPr id="4" name="Rectangle 3"/>
          <p:cNvSpPr/>
          <p:nvPr/>
        </p:nvSpPr>
        <p:spPr>
          <a:xfrm>
            <a:off x="177224" y="996243"/>
            <a:ext cx="11913176" cy="3877985"/>
          </a:xfrm>
          <a:prstGeom prst="rect">
            <a:avLst/>
          </a:prstGeom>
        </p:spPr>
        <p:txBody>
          <a:bodyPr wrap="square">
            <a:spAutoFit/>
          </a:bodyPr>
          <a:lstStyle/>
          <a:p>
            <a:pPr marL="285750" indent="-285750">
              <a:buFont typeface="Arial" panose="020B0604020202020204" pitchFamily="34" charset="0"/>
              <a:buChar char="•"/>
            </a:pPr>
            <a:r>
              <a:rPr lang="de-CH" sz="2400" dirty="0" smtClean="0"/>
              <a:t> Train a GP </a:t>
            </a:r>
            <a:r>
              <a:rPr lang="de-CH" sz="2400" dirty="0" err="1" smtClean="0"/>
              <a:t>model</a:t>
            </a:r>
            <a:r>
              <a:rPr lang="de-CH" sz="2400" dirty="0" smtClean="0"/>
              <a:t> </a:t>
            </a:r>
            <a:r>
              <a:rPr lang="de-CH" sz="2400" dirty="0" err="1" smtClean="0"/>
              <a:t>for</a:t>
            </a:r>
            <a:r>
              <a:rPr lang="de-CH" sz="2400" dirty="0" smtClean="0"/>
              <a:t> </a:t>
            </a:r>
            <a:r>
              <a:rPr lang="de-CH" sz="2400" dirty="0" err="1" smtClean="0"/>
              <a:t>each</a:t>
            </a:r>
            <a:r>
              <a:rPr lang="de-CH" sz="2400" dirty="0" smtClean="0"/>
              <a:t> </a:t>
            </a:r>
            <a:r>
              <a:rPr lang="de-CH" sz="2400" dirty="0" err="1" smtClean="0"/>
              <a:t>setting</a:t>
            </a:r>
            <a:r>
              <a:rPr lang="de-CH" sz="2400" dirty="0" smtClean="0"/>
              <a:t> </a:t>
            </a:r>
            <a:r>
              <a:rPr lang="de-CH" sz="2400" dirty="0" err="1" smtClean="0"/>
              <a:t>for</a:t>
            </a:r>
            <a:r>
              <a:rPr lang="de-CH" sz="2400" dirty="0" smtClean="0"/>
              <a:t> 2-10 </a:t>
            </a:r>
            <a:r>
              <a:rPr lang="de-CH" sz="2400" dirty="0" err="1" smtClean="0"/>
              <a:t>age_group</a:t>
            </a:r>
            <a:r>
              <a:rPr lang="de-CH" sz="2400" dirty="0"/>
              <a:t>, </a:t>
            </a:r>
            <a:r>
              <a:rPr lang="de-CH" sz="2400" dirty="0" err="1"/>
              <a:t>using</a:t>
            </a:r>
            <a:r>
              <a:rPr lang="de-CH" sz="2400" dirty="0"/>
              <a:t> </a:t>
            </a:r>
            <a:r>
              <a:rPr lang="de-CH" sz="2400" dirty="0" smtClean="0"/>
              <a:t>EIR </a:t>
            </a:r>
            <a:r>
              <a:rPr lang="de-CH" sz="2400" dirty="0" err="1" smtClean="0"/>
              <a:t>range</a:t>
            </a:r>
            <a:r>
              <a:rPr lang="de-CH" sz="2400" dirty="0" smtClean="0"/>
              <a:t> (2-250) + </a:t>
            </a:r>
            <a:r>
              <a:rPr lang="de-CH" sz="2400" dirty="0" err="1" smtClean="0"/>
              <a:t>deployed</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Sobol </a:t>
            </a:r>
            <a:r>
              <a:rPr lang="de-CH" sz="2400" dirty="0" err="1" smtClean="0"/>
              <a:t>uses</a:t>
            </a:r>
            <a:r>
              <a:rPr lang="de-CH" sz="2400" dirty="0" smtClean="0"/>
              <a:t> </a:t>
            </a:r>
            <a:r>
              <a:rPr lang="de-CH" sz="2400" dirty="0" err="1" smtClean="0"/>
              <a:t>setting-specific</a:t>
            </a:r>
            <a:r>
              <a:rPr lang="de-CH" sz="2400" dirty="0" smtClean="0"/>
              <a:t> EIR + </a:t>
            </a:r>
            <a:r>
              <a:rPr lang="de-CH" sz="2400" dirty="0" err="1" smtClean="0"/>
              <a:t>realistic</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r>
              <a:rPr lang="de-CH" sz="2400" dirty="0" smtClean="0"/>
              <a:t> </a:t>
            </a:r>
            <a:r>
              <a:rPr lang="de-CH" sz="2400" dirty="0" err="1" smtClean="0"/>
              <a:t>of</a:t>
            </a:r>
            <a:r>
              <a:rPr lang="de-CH" sz="2400" dirty="0" smtClean="0"/>
              <a:t> </a:t>
            </a:r>
            <a:r>
              <a:rPr lang="de-CH" sz="2400" dirty="0" err="1" smtClean="0"/>
              <a:t>interventions</a:t>
            </a:r>
            <a:r>
              <a:rPr lang="de-CH" sz="2400" dirty="0" smtClean="0"/>
              <a:t> </a:t>
            </a:r>
            <a:r>
              <a:rPr lang="de-CH" sz="2400" dirty="0" err="1" smtClean="0"/>
              <a:t>to</a:t>
            </a:r>
            <a:r>
              <a:rPr lang="de-CH" sz="2400" dirty="0" smtClean="0"/>
              <a:t> </a:t>
            </a:r>
            <a:r>
              <a:rPr lang="de-CH" sz="2400" dirty="0" err="1" smtClean="0"/>
              <a:t>be</a:t>
            </a:r>
            <a:r>
              <a:rPr lang="de-CH" sz="2400" dirty="0" smtClean="0"/>
              <a:t> </a:t>
            </a:r>
            <a:r>
              <a:rPr lang="de-CH" sz="2400" dirty="0" err="1" smtClean="0"/>
              <a:t>deployed</a:t>
            </a:r>
            <a:endParaRPr lang="de-CH" sz="2400" dirty="0" smtClean="0"/>
          </a:p>
          <a:p>
            <a:pPr marL="285750" indent="-285750">
              <a:buFont typeface="Arial" panose="020B0604020202020204" pitchFamily="34" charset="0"/>
              <a:buChar char="•"/>
            </a:pPr>
            <a:r>
              <a:rPr lang="de-CH" sz="2400" dirty="0" smtClean="0"/>
              <a:t>Non-</a:t>
            </a:r>
            <a:r>
              <a:rPr lang="de-CH" sz="2400" dirty="0" err="1" smtClean="0"/>
              <a:t>deployed</a:t>
            </a:r>
            <a:r>
              <a:rPr lang="de-CH" sz="2400" dirty="0" smtClean="0"/>
              <a:t> </a:t>
            </a:r>
            <a:r>
              <a:rPr lang="de-CH" sz="2400" dirty="0" err="1" smtClean="0"/>
              <a:t>interventions</a:t>
            </a:r>
            <a:r>
              <a:rPr lang="de-CH" sz="2400" dirty="0" smtClean="0"/>
              <a:t> </a:t>
            </a:r>
            <a:r>
              <a:rPr lang="de-CH" sz="2400" dirty="0" err="1" smtClean="0"/>
              <a:t>are</a:t>
            </a:r>
            <a:r>
              <a:rPr lang="de-CH" sz="2400" dirty="0" smtClean="0"/>
              <a:t> </a:t>
            </a:r>
            <a:r>
              <a:rPr lang="de-CH" sz="2400" dirty="0" err="1" smtClean="0"/>
              <a:t>indicated</a:t>
            </a:r>
            <a:r>
              <a:rPr lang="de-CH" sz="2400" dirty="0" smtClean="0"/>
              <a:t> </a:t>
            </a:r>
            <a:r>
              <a:rPr lang="de-CH" sz="2400" dirty="0" err="1" smtClean="0"/>
              <a:t>as</a:t>
            </a:r>
            <a:r>
              <a:rPr lang="de-CH" sz="2400" dirty="0" smtClean="0"/>
              <a:t> NA on </a:t>
            </a:r>
            <a:r>
              <a:rPr lang="de-CH" sz="2400" dirty="0" err="1" smtClean="0"/>
              <a:t>the</a:t>
            </a:r>
            <a:r>
              <a:rPr lang="de-CH" sz="2400" dirty="0" smtClean="0"/>
              <a:t> </a:t>
            </a:r>
            <a:r>
              <a:rPr lang="de-CH" sz="2400" dirty="0" err="1" smtClean="0"/>
              <a:t>plot</a:t>
            </a:r>
            <a:endParaRPr lang="de-CH" sz="2400" dirty="0" smtClean="0"/>
          </a:p>
          <a:p>
            <a:endParaRPr lang="de-CH" sz="2400" dirty="0" smtClean="0"/>
          </a:p>
          <a:p>
            <a:pPr marL="285750" indent="-285750">
              <a:buFont typeface="Arial" panose="020B0604020202020204" pitchFamily="34" charset="0"/>
              <a:buChar char="•"/>
            </a:pPr>
            <a:r>
              <a:rPr lang="de-CH" sz="2400" dirty="0" smtClean="0"/>
              <a:t>Parameter </a:t>
            </a:r>
            <a:r>
              <a:rPr lang="de-CH" sz="2400" dirty="0" err="1" smtClean="0"/>
              <a:t>ranges</a:t>
            </a:r>
            <a:r>
              <a:rPr lang="de-CH" sz="2400" dirty="0" smtClean="0"/>
              <a:t>:</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futcovSMC0to5JulOct_min = 0.4, futcovSMC0to5JulOct_max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futRTSS3covStart2023_min = 0.5, futRTSS3covStart2023_max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 futNetcovstart2021_min = 0.2, futNetcovstart2021_max = 0.8</a:t>
            </a:r>
          </a:p>
          <a:p>
            <a:endParaRPr lang="de-CH" sz="2400" dirty="0" smtClean="0"/>
          </a:p>
        </p:txBody>
      </p:sp>
    </p:spTree>
    <p:extLst>
      <p:ext uri="{BB962C8B-B14F-4D97-AF65-F5344CB8AC3E}">
        <p14:creationId xmlns:p14="http://schemas.microsoft.com/office/powerpoint/2010/main" val="12909528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a:latin typeface="+mn-lt"/>
              </a:rPr>
              <a:t>workflow</a:t>
            </a:r>
            <a:r>
              <a:rPr lang="de-CH" sz="2800" dirty="0" smtClean="0">
                <a:latin typeface="+mn-lt"/>
              </a:rPr>
              <a:t> </a:t>
            </a:r>
            <a:endParaRPr lang="de-CH" sz="2800" dirty="0">
              <a:latin typeface="+mn-lt"/>
            </a:endParaRPr>
          </a:p>
        </p:txBody>
      </p:sp>
      <p:sp>
        <p:nvSpPr>
          <p:cNvPr id="7" name="TextBox 6"/>
          <p:cNvSpPr txBox="1"/>
          <p:nvPr/>
        </p:nvSpPr>
        <p:spPr>
          <a:xfrm>
            <a:off x="237744" y="782489"/>
            <a:ext cx="5328412" cy="1631216"/>
          </a:xfrm>
          <a:prstGeom prst="rect">
            <a:avLst/>
          </a:prstGeom>
          <a:noFill/>
        </p:spPr>
        <p:txBody>
          <a:bodyPr wrap="square" rtlCol="0">
            <a:spAutoFit/>
          </a:bodyPr>
          <a:lstStyle/>
          <a:p>
            <a:r>
              <a:rPr lang="en-US" sz="2000" b="1" dirty="0" err="1" smtClean="0"/>
              <a:t>Sobol</a:t>
            </a:r>
            <a:r>
              <a:rPr lang="en-US" sz="2000" b="1" dirty="0" smtClean="0"/>
              <a:t> sensitivity results </a:t>
            </a:r>
            <a:r>
              <a:rPr lang="en-US" sz="2000" dirty="0" smtClean="0"/>
              <a:t>show the </a:t>
            </a:r>
            <a:r>
              <a:rPr lang="en-US" sz="2000" b="1" dirty="0"/>
              <a:t>first order </a:t>
            </a:r>
            <a:r>
              <a:rPr lang="en-US" sz="2000" b="1" dirty="0" smtClean="0"/>
              <a:t>indices </a:t>
            </a:r>
            <a:r>
              <a:rPr lang="en-US" sz="2000" dirty="0"/>
              <a:t>of intervention coverage </a:t>
            </a:r>
            <a:r>
              <a:rPr lang="en-US" sz="2000" dirty="0" smtClean="0"/>
              <a:t>which allows </a:t>
            </a:r>
            <a:r>
              <a:rPr lang="en-US" sz="2000" dirty="0"/>
              <a:t>to </a:t>
            </a:r>
            <a:r>
              <a:rPr lang="en-US" sz="2000" b="1" dirty="0" smtClean="0"/>
              <a:t>rank </a:t>
            </a:r>
            <a:r>
              <a:rPr lang="en-US" sz="2000" b="1" dirty="0"/>
              <a:t>for each setting </a:t>
            </a:r>
            <a:r>
              <a:rPr lang="en-US" sz="2000" dirty="0"/>
              <a:t>which </a:t>
            </a:r>
            <a:r>
              <a:rPr lang="en-US" sz="2000" b="1" dirty="0"/>
              <a:t>intervention</a:t>
            </a:r>
            <a:r>
              <a:rPr lang="en-US" sz="2000" dirty="0"/>
              <a:t> is </a:t>
            </a:r>
            <a:r>
              <a:rPr lang="en-US" sz="2000" b="1" dirty="0"/>
              <a:t>most sensitive</a:t>
            </a:r>
            <a:r>
              <a:rPr lang="en-US" sz="2000" dirty="0"/>
              <a:t> to perturbation regarding the </a:t>
            </a:r>
            <a:r>
              <a:rPr lang="en-US" sz="2000" dirty="0" smtClean="0"/>
              <a:t>impact on prevalence reduction (by 2026).</a:t>
            </a:r>
            <a:endParaRPr lang="de-CH" sz="2000" dirty="0"/>
          </a:p>
        </p:txBody>
      </p:sp>
      <p:pic>
        <p:nvPicPr>
          <p:cNvPr id="9" name="Picture 8"/>
          <p:cNvPicPr>
            <a:picLocks noChangeAspect="1"/>
          </p:cNvPicPr>
          <p:nvPr/>
        </p:nvPicPr>
        <p:blipFill>
          <a:blip r:embed="rId3"/>
          <a:stretch>
            <a:fillRect/>
          </a:stretch>
        </p:blipFill>
        <p:spPr>
          <a:xfrm>
            <a:off x="5751924" y="324653"/>
            <a:ext cx="6044066" cy="6533347"/>
          </a:xfrm>
          <a:prstGeom prst="rect">
            <a:avLst/>
          </a:prstGeom>
        </p:spPr>
      </p:pic>
      <p:sp>
        <p:nvSpPr>
          <p:cNvPr id="5" name="TextBox 4"/>
          <p:cNvSpPr txBox="1"/>
          <p:nvPr/>
        </p:nvSpPr>
        <p:spPr>
          <a:xfrm>
            <a:off x="160742" y="2413705"/>
            <a:ext cx="5591182" cy="2862322"/>
          </a:xfrm>
          <a:prstGeom prst="rect">
            <a:avLst/>
          </a:prstGeom>
          <a:noFill/>
        </p:spPr>
        <p:txBody>
          <a:bodyPr wrap="square" rtlCol="0">
            <a:spAutoFit/>
          </a:bodyPr>
          <a:lstStyle/>
          <a:p>
            <a:pPr marL="285750" indent="-285750">
              <a:buFont typeface="Arial" panose="020B0604020202020204" pitchFamily="34" charset="0"/>
              <a:buChar char="•"/>
            </a:pPr>
            <a:r>
              <a:rPr lang="en-US" dirty="0" smtClean="0"/>
              <a:t>In terms of prioritization, this work it gives us an idea of what interventions to keep and whether coverage should be high or not</a:t>
            </a:r>
          </a:p>
          <a:p>
            <a:endParaRPr lang="en-US" dirty="0" smtClean="0"/>
          </a:p>
          <a:p>
            <a:pPr marL="285750" indent="-285750">
              <a:buFont typeface="Arial" panose="020B0604020202020204" pitchFamily="34" charset="0"/>
              <a:buChar char="•"/>
            </a:pPr>
            <a:r>
              <a:rPr lang="en-US" dirty="0" smtClean="0"/>
              <a:t>We need to include vaccines for some settings</a:t>
            </a:r>
          </a:p>
          <a:p>
            <a:pPr marL="285750" indent="-285750">
              <a:buFont typeface="Arial" panose="020B0604020202020204" pitchFamily="34" charset="0"/>
              <a:buChar char="•"/>
            </a:pPr>
            <a:r>
              <a:rPr lang="en-US" dirty="0" smtClean="0"/>
              <a:t>Policy question: where should we put our efforts? Is </a:t>
            </a:r>
            <a:r>
              <a:rPr lang="en-US" dirty="0" err="1" smtClean="0"/>
              <a:t>prev</a:t>
            </a:r>
            <a:r>
              <a:rPr lang="en-US" dirty="0" smtClean="0"/>
              <a:t> reduction more prone to loose impact if we maintain coverages of LLIN or SMC?</a:t>
            </a:r>
          </a:p>
          <a:p>
            <a:pPr marL="285750" indent="-285750">
              <a:buFont typeface="Arial" panose="020B0604020202020204" pitchFamily="34" charset="0"/>
              <a:buChar char="•"/>
            </a:pPr>
            <a:r>
              <a:rPr lang="en-US" dirty="0" smtClean="0"/>
              <a:t>Get more realistic ranges for RTSS and others</a:t>
            </a:r>
          </a:p>
          <a:p>
            <a:pPr marL="285750" indent="-285750">
              <a:buFont typeface="Arial" panose="020B0604020202020204" pitchFamily="34" charset="0"/>
              <a:buChar char="•"/>
            </a:pPr>
            <a:r>
              <a:rPr lang="en-US" dirty="0" smtClean="0"/>
              <a:t>Net2021 was the last campaign </a:t>
            </a:r>
            <a:endParaRPr lang="de-CH" dirty="0"/>
          </a:p>
        </p:txBody>
      </p:sp>
    </p:spTree>
    <p:extLst>
      <p:ext uri="{BB962C8B-B14F-4D97-AF65-F5344CB8AC3E}">
        <p14:creationId xmlns:p14="http://schemas.microsoft.com/office/powerpoint/2010/main" val="9723213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a:t>
            </a:r>
            <a:r>
              <a:rPr lang="de-CH" sz="2800" dirty="0" smtClean="0">
                <a:latin typeface="Arial" panose="020B0604020202020204" pitchFamily="34" charset="0"/>
                <a:cs typeface="Arial" panose="020B0604020202020204" pitchFamily="34" charset="0"/>
              </a:rPr>
              <a:t>Sobol </a:t>
            </a:r>
            <a:r>
              <a:rPr lang="de-CH" sz="2800" dirty="0" err="1" smtClean="0">
                <a:latin typeface="Arial" panose="020B0604020202020204" pitchFamily="34" charset="0"/>
                <a:cs typeface="Arial" panose="020B0604020202020204" pitchFamily="34" charset="0"/>
              </a:rPr>
              <a:t>sensitivity</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analysis</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with</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setting-specific</a:t>
            </a:r>
            <a:r>
              <a:rPr lang="de-CH" sz="2800" dirty="0" smtClean="0">
                <a:latin typeface="Arial" panose="020B0604020202020204" pitchFamily="34" charset="0"/>
                <a:cs typeface="Arial" panose="020B0604020202020204" pitchFamily="34" charset="0"/>
              </a:rPr>
              <a:t> EIR </a:t>
            </a:r>
            <a:r>
              <a:rPr lang="de-CH" sz="2800" dirty="0" err="1" smtClean="0">
                <a:latin typeface="Arial" panose="020B0604020202020204" pitchFamily="34" charset="0"/>
                <a:cs typeface="Arial" panose="020B0604020202020204" pitchFamily="34" charset="0"/>
              </a:rPr>
              <a:t>and</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realistic</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intervention</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coverage</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ranges</a:t>
            </a:r>
            <a:r>
              <a:rPr lang="de-CH" sz="2800" dirty="0" smtClean="0">
                <a:latin typeface="Arial" panose="020B0604020202020204" pitchFamily="34" charset="0"/>
                <a:cs typeface="Arial" panose="020B0604020202020204" pitchFamily="34" charset="0"/>
              </a:rPr>
              <a:t> – APPROACH 2a</a:t>
            </a:r>
            <a:endParaRPr lang="de-CH" sz="2800" dirty="0">
              <a:latin typeface="Arial" panose="020B0604020202020204" pitchFamily="34" charset="0"/>
              <a:cs typeface="Arial" panose="020B0604020202020204" pitchFamily="34" charset="0"/>
            </a:endParaRPr>
          </a:p>
        </p:txBody>
      </p:sp>
      <p:sp>
        <p:nvSpPr>
          <p:cNvPr id="4" name="Rectangle 3"/>
          <p:cNvSpPr/>
          <p:nvPr/>
        </p:nvSpPr>
        <p:spPr>
          <a:xfrm>
            <a:off x="177224" y="996243"/>
            <a:ext cx="11913176" cy="4247317"/>
          </a:xfrm>
          <a:prstGeom prst="rect">
            <a:avLst/>
          </a:prstGeom>
        </p:spPr>
        <p:txBody>
          <a:bodyPr wrap="square">
            <a:spAutoFit/>
          </a:bodyPr>
          <a:lstStyle/>
          <a:p>
            <a:pPr marL="285750" indent="-285750">
              <a:buFont typeface="Arial" panose="020B0604020202020204" pitchFamily="34" charset="0"/>
              <a:buChar char="•"/>
            </a:pPr>
            <a:r>
              <a:rPr lang="de-CH" sz="2400" dirty="0" smtClean="0"/>
              <a:t> Train a GP </a:t>
            </a:r>
            <a:r>
              <a:rPr lang="de-CH" sz="2400" dirty="0" err="1" smtClean="0"/>
              <a:t>model</a:t>
            </a:r>
            <a:r>
              <a:rPr lang="de-CH" sz="2400" dirty="0" smtClean="0"/>
              <a:t> </a:t>
            </a:r>
            <a:r>
              <a:rPr lang="de-CH" sz="2400" dirty="0" err="1" smtClean="0"/>
              <a:t>for</a:t>
            </a:r>
            <a:r>
              <a:rPr lang="de-CH" sz="2400" dirty="0" smtClean="0"/>
              <a:t> </a:t>
            </a:r>
            <a:r>
              <a:rPr lang="de-CH" sz="2400" dirty="0" err="1" smtClean="0"/>
              <a:t>each</a:t>
            </a:r>
            <a:r>
              <a:rPr lang="de-CH" sz="2400" dirty="0" smtClean="0"/>
              <a:t> </a:t>
            </a:r>
            <a:r>
              <a:rPr lang="de-CH" sz="2400" dirty="0" err="1" smtClean="0"/>
              <a:t>setting</a:t>
            </a:r>
            <a:r>
              <a:rPr lang="de-CH" sz="2400" dirty="0" smtClean="0"/>
              <a:t> </a:t>
            </a:r>
            <a:r>
              <a:rPr lang="de-CH" sz="2400" dirty="0" err="1" smtClean="0"/>
              <a:t>for</a:t>
            </a:r>
            <a:r>
              <a:rPr lang="de-CH" sz="2400" dirty="0" smtClean="0"/>
              <a:t> 2-10 </a:t>
            </a:r>
            <a:r>
              <a:rPr lang="de-CH" sz="2400" dirty="0" err="1" smtClean="0"/>
              <a:t>age_group</a:t>
            </a:r>
            <a:r>
              <a:rPr lang="de-CH" sz="2400" dirty="0" smtClean="0"/>
              <a:t>, </a:t>
            </a:r>
            <a:r>
              <a:rPr lang="de-CH" sz="2400" dirty="0" err="1"/>
              <a:t>using</a:t>
            </a:r>
            <a:r>
              <a:rPr lang="de-CH" sz="2400" dirty="0"/>
              <a:t> EIR </a:t>
            </a:r>
            <a:r>
              <a:rPr lang="de-CH" sz="2400" dirty="0" err="1" smtClean="0"/>
              <a:t>restricted</a:t>
            </a:r>
            <a:r>
              <a:rPr lang="de-CH" sz="2400" dirty="0" smtClean="0"/>
              <a:t> </a:t>
            </a:r>
            <a:r>
              <a:rPr lang="de-CH" sz="2400" dirty="0" err="1" smtClean="0"/>
              <a:t>to</a:t>
            </a:r>
            <a:r>
              <a:rPr lang="de-CH" sz="2400" dirty="0" smtClean="0"/>
              <a:t> </a:t>
            </a:r>
            <a:r>
              <a:rPr lang="de-CH" sz="2400" dirty="0" err="1" smtClean="0"/>
              <a:t>setting-specific</a:t>
            </a:r>
            <a:r>
              <a:rPr lang="de-CH" sz="2400" dirty="0" smtClean="0"/>
              <a:t> </a:t>
            </a:r>
            <a:r>
              <a:rPr lang="de-CH" sz="2400" dirty="0" err="1" smtClean="0"/>
              <a:t>range</a:t>
            </a:r>
            <a:r>
              <a:rPr lang="de-CH" sz="2400" dirty="0" smtClean="0"/>
              <a:t> + </a:t>
            </a:r>
            <a:r>
              <a:rPr lang="de-CH" sz="2400" dirty="0" err="1" smtClean="0"/>
              <a:t>deployed</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Setting </a:t>
            </a:r>
            <a:r>
              <a:rPr lang="de-CH" sz="2400" dirty="0" err="1" smtClean="0"/>
              <a:t>specific</a:t>
            </a:r>
            <a:r>
              <a:rPr lang="de-CH" sz="2400" dirty="0" smtClean="0"/>
              <a:t> EIR </a:t>
            </a:r>
            <a:r>
              <a:rPr lang="de-CH" sz="2400" dirty="0" err="1" smtClean="0"/>
              <a:t>used</a:t>
            </a:r>
            <a:r>
              <a:rPr lang="de-CH" sz="2400" dirty="0" smtClean="0"/>
              <a:t> </a:t>
            </a:r>
            <a:r>
              <a:rPr lang="de-CH" sz="2400" dirty="0" err="1" smtClean="0"/>
              <a:t>mean</a:t>
            </a:r>
            <a:r>
              <a:rPr lang="de-CH" sz="2400" dirty="0" smtClean="0"/>
              <a:t> EIR_CI </a:t>
            </a:r>
            <a:r>
              <a:rPr lang="de-CH" sz="2400" dirty="0" err="1" smtClean="0"/>
              <a:t>values</a:t>
            </a:r>
            <a:endParaRPr lang="de-CH" sz="2400" dirty="0" smtClean="0"/>
          </a:p>
          <a:p>
            <a:pPr marL="285750" indent="-285750">
              <a:buFont typeface="Arial" panose="020B0604020202020204" pitchFamily="34" charset="0"/>
              <a:buChar char="•"/>
            </a:pPr>
            <a:r>
              <a:rPr lang="de-CH" sz="2400" dirty="0" smtClean="0"/>
              <a:t>Sobol </a:t>
            </a:r>
            <a:r>
              <a:rPr lang="de-CH" sz="2400" dirty="0" err="1" smtClean="0"/>
              <a:t>Sensitivity</a:t>
            </a:r>
            <a:r>
              <a:rPr lang="de-CH" sz="2400" dirty="0" smtClean="0"/>
              <a:t> </a:t>
            </a:r>
            <a:r>
              <a:rPr lang="de-CH" sz="2400" dirty="0" err="1" smtClean="0"/>
              <a:t>analysis</a:t>
            </a:r>
            <a:r>
              <a:rPr lang="de-CH" sz="2400" dirty="0" smtClean="0"/>
              <a:t> </a:t>
            </a:r>
            <a:r>
              <a:rPr lang="de-CH" sz="2400" dirty="0" err="1" smtClean="0"/>
              <a:t>uses</a:t>
            </a:r>
            <a:r>
              <a:rPr lang="de-CH" sz="2400" dirty="0" smtClean="0"/>
              <a:t> </a:t>
            </a:r>
            <a:r>
              <a:rPr lang="de-CH" sz="2400" dirty="0" err="1" smtClean="0"/>
              <a:t>setting-specific</a:t>
            </a:r>
            <a:r>
              <a:rPr lang="de-CH" sz="2400" dirty="0" smtClean="0"/>
              <a:t> EIR + </a:t>
            </a:r>
            <a:r>
              <a:rPr lang="de-CH" sz="2400" dirty="0" err="1" smtClean="0"/>
              <a:t>realistic</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r>
              <a:rPr lang="de-CH" sz="2400" dirty="0" smtClean="0"/>
              <a:t> </a:t>
            </a:r>
            <a:r>
              <a:rPr lang="de-CH" sz="2400" dirty="0" err="1" smtClean="0"/>
              <a:t>of</a:t>
            </a:r>
            <a:r>
              <a:rPr lang="de-CH" sz="2400" dirty="0" smtClean="0"/>
              <a:t> </a:t>
            </a:r>
            <a:r>
              <a:rPr lang="de-CH" sz="2400" dirty="0" err="1" smtClean="0"/>
              <a:t>interventions</a:t>
            </a:r>
            <a:r>
              <a:rPr lang="de-CH" sz="2400" dirty="0" smtClean="0"/>
              <a:t> </a:t>
            </a:r>
            <a:r>
              <a:rPr lang="de-CH" sz="2400" dirty="0" err="1" smtClean="0"/>
              <a:t>to</a:t>
            </a:r>
            <a:r>
              <a:rPr lang="de-CH" sz="2400" dirty="0" smtClean="0"/>
              <a:t> </a:t>
            </a:r>
            <a:r>
              <a:rPr lang="de-CH" sz="2400" dirty="0" err="1" smtClean="0"/>
              <a:t>be</a:t>
            </a:r>
            <a:r>
              <a:rPr lang="de-CH" sz="2400" dirty="0" smtClean="0"/>
              <a:t> </a:t>
            </a:r>
            <a:r>
              <a:rPr lang="de-CH" sz="2400" dirty="0" err="1" smtClean="0"/>
              <a:t>deployed</a:t>
            </a:r>
            <a:endParaRPr lang="de-CH" sz="2400" dirty="0" smtClean="0"/>
          </a:p>
          <a:p>
            <a:pPr marL="285750" indent="-285750">
              <a:buFont typeface="Arial" panose="020B0604020202020204" pitchFamily="34" charset="0"/>
              <a:buChar char="•"/>
            </a:pPr>
            <a:r>
              <a:rPr lang="de-CH" sz="2400" dirty="0" smtClean="0"/>
              <a:t>Non-</a:t>
            </a:r>
            <a:r>
              <a:rPr lang="de-CH" sz="2400" dirty="0" err="1" smtClean="0"/>
              <a:t>deployed</a:t>
            </a:r>
            <a:r>
              <a:rPr lang="de-CH" sz="2400" dirty="0" smtClean="0"/>
              <a:t> </a:t>
            </a:r>
            <a:r>
              <a:rPr lang="de-CH" sz="2400" dirty="0" err="1" smtClean="0"/>
              <a:t>interventions</a:t>
            </a:r>
            <a:r>
              <a:rPr lang="de-CH" sz="2400" dirty="0" smtClean="0"/>
              <a:t> </a:t>
            </a:r>
            <a:r>
              <a:rPr lang="de-CH" sz="2400" dirty="0" err="1" smtClean="0"/>
              <a:t>are</a:t>
            </a:r>
            <a:r>
              <a:rPr lang="de-CH" sz="2400" dirty="0" smtClean="0"/>
              <a:t> </a:t>
            </a:r>
            <a:r>
              <a:rPr lang="de-CH" sz="2400" dirty="0" err="1" smtClean="0"/>
              <a:t>indicated</a:t>
            </a:r>
            <a:r>
              <a:rPr lang="de-CH" sz="2400" dirty="0" smtClean="0"/>
              <a:t> </a:t>
            </a:r>
            <a:r>
              <a:rPr lang="de-CH" sz="2400" dirty="0" err="1" smtClean="0"/>
              <a:t>as</a:t>
            </a:r>
            <a:r>
              <a:rPr lang="de-CH" sz="2400" dirty="0" smtClean="0"/>
              <a:t> NA on </a:t>
            </a:r>
            <a:r>
              <a:rPr lang="de-CH" sz="2400" dirty="0" err="1" smtClean="0"/>
              <a:t>the</a:t>
            </a:r>
            <a:r>
              <a:rPr lang="de-CH" sz="2400" dirty="0" smtClean="0"/>
              <a:t> </a:t>
            </a:r>
            <a:r>
              <a:rPr lang="de-CH" sz="2400" dirty="0" err="1" smtClean="0"/>
              <a:t>plot</a:t>
            </a:r>
            <a:endParaRPr lang="de-CH" sz="2400" dirty="0" smtClean="0"/>
          </a:p>
          <a:p>
            <a:endParaRPr lang="de-CH" sz="2400" dirty="0" smtClean="0"/>
          </a:p>
          <a:p>
            <a:pPr marL="285750" indent="-285750">
              <a:buFont typeface="Arial" panose="020B0604020202020204" pitchFamily="34" charset="0"/>
              <a:buChar char="•"/>
            </a:pPr>
            <a:r>
              <a:rPr lang="de-CH" sz="2400" dirty="0" smtClean="0"/>
              <a:t>Parameter </a:t>
            </a:r>
            <a:r>
              <a:rPr lang="de-CH" sz="2400" dirty="0" err="1" smtClean="0"/>
              <a:t>ranges</a:t>
            </a:r>
            <a:r>
              <a:rPr lang="de-CH" sz="2400" dirty="0" smtClean="0"/>
              <a:t>:</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futcovSMC0to5JulOct_min = 0.4, futcovSMC0to5JulOct_max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futRTSS3covStart2023_min = 0.5, futRTSS3covStart2023_max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 futNetcovstart2021_min = 0.2, futNetcovstart2021_max = 0.8</a:t>
            </a:r>
          </a:p>
          <a:p>
            <a:endParaRPr lang="de-CH" sz="2400" dirty="0" smtClean="0"/>
          </a:p>
        </p:txBody>
      </p:sp>
    </p:spTree>
    <p:extLst>
      <p:ext uri="{BB962C8B-B14F-4D97-AF65-F5344CB8AC3E}">
        <p14:creationId xmlns:p14="http://schemas.microsoft.com/office/powerpoint/2010/main" val="17990672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a:latin typeface="+mn-lt"/>
              </a:rPr>
              <a:t>workflow</a:t>
            </a:r>
            <a:r>
              <a:rPr lang="de-CH" sz="2800" dirty="0" smtClean="0">
                <a:latin typeface="+mn-lt"/>
              </a:rPr>
              <a:t> – </a:t>
            </a:r>
            <a:r>
              <a:rPr lang="de-CH" sz="2800" dirty="0" err="1" smtClean="0">
                <a:latin typeface="+mn-lt"/>
              </a:rPr>
              <a:t>approach</a:t>
            </a:r>
            <a:r>
              <a:rPr lang="de-CH" sz="2800" dirty="0" smtClean="0">
                <a:latin typeface="+mn-lt"/>
              </a:rPr>
              <a:t> 2</a:t>
            </a:r>
            <a:endParaRPr lang="de-CH" sz="2800" dirty="0">
              <a:latin typeface="+mn-lt"/>
            </a:endParaRPr>
          </a:p>
        </p:txBody>
      </p:sp>
      <p:pic>
        <p:nvPicPr>
          <p:cNvPr id="5" name="Picture 4"/>
          <p:cNvPicPr>
            <a:picLocks noChangeAspect="1"/>
          </p:cNvPicPr>
          <p:nvPr/>
        </p:nvPicPr>
        <p:blipFill>
          <a:blip r:embed="rId3"/>
          <a:stretch>
            <a:fillRect/>
          </a:stretch>
        </p:blipFill>
        <p:spPr>
          <a:xfrm>
            <a:off x="729672" y="1242400"/>
            <a:ext cx="11462328" cy="5519347"/>
          </a:xfrm>
          <a:prstGeom prst="rect">
            <a:avLst/>
          </a:prstGeom>
        </p:spPr>
      </p:pic>
      <p:sp>
        <p:nvSpPr>
          <p:cNvPr id="4" name="TextBox 3"/>
          <p:cNvSpPr txBox="1"/>
          <p:nvPr/>
        </p:nvSpPr>
        <p:spPr>
          <a:xfrm>
            <a:off x="237743" y="745484"/>
            <a:ext cx="7400729" cy="369332"/>
          </a:xfrm>
          <a:prstGeom prst="rect">
            <a:avLst/>
          </a:prstGeom>
          <a:noFill/>
        </p:spPr>
        <p:txBody>
          <a:bodyPr wrap="square" rtlCol="0">
            <a:spAutoFit/>
          </a:bodyPr>
          <a:lstStyle/>
          <a:p>
            <a:r>
              <a:rPr lang="de-CH" dirty="0" err="1" smtClean="0"/>
              <a:t>Used</a:t>
            </a:r>
            <a:r>
              <a:rPr lang="de-CH" dirty="0" smtClean="0"/>
              <a:t> </a:t>
            </a:r>
            <a:r>
              <a:rPr lang="de-CH" dirty="0" err="1" smtClean="0"/>
              <a:t>average</a:t>
            </a:r>
            <a:r>
              <a:rPr lang="de-CH" dirty="0" smtClean="0"/>
              <a:t> </a:t>
            </a:r>
            <a:r>
              <a:rPr lang="de-CH" dirty="0" err="1" smtClean="0"/>
              <a:t>EIR_lci</a:t>
            </a:r>
            <a:r>
              <a:rPr lang="de-CH" dirty="0" smtClean="0"/>
              <a:t> </a:t>
            </a:r>
            <a:r>
              <a:rPr lang="de-CH" dirty="0" err="1" smtClean="0"/>
              <a:t>and</a:t>
            </a:r>
            <a:r>
              <a:rPr lang="de-CH" dirty="0" smtClean="0"/>
              <a:t> </a:t>
            </a:r>
            <a:r>
              <a:rPr lang="de-CH" dirty="0" err="1" smtClean="0"/>
              <a:t>uci</a:t>
            </a:r>
            <a:r>
              <a:rPr lang="de-CH" dirty="0" smtClean="0"/>
              <a:t> </a:t>
            </a:r>
            <a:r>
              <a:rPr lang="de-CH" dirty="0" err="1" smtClean="0"/>
              <a:t>values</a:t>
            </a:r>
            <a:r>
              <a:rPr lang="de-CH" dirty="0" smtClean="0"/>
              <a:t> </a:t>
            </a:r>
            <a:r>
              <a:rPr lang="de-CH" dirty="0" err="1" smtClean="0"/>
              <a:t>across</a:t>
            </a:r>
            <a:r>
              <a:rPr lang="de-CH" dirty="0" smtClean="0"/>
              <a:t> </a:t>
            </a:r>
            <a:r>
              <a:rPr lang="de-CH" dirty="0" err="1" smtClean="0"/>
              <a:t>subs</a:t>
            </a:r>
            <a:r>
              <a:rPr lang="de-CH" dirty="0" smtClean="0"/>
              <a:t> </a:t>
            </a:r>
            <a:r>
              <a:rPr lang="de-CH" dirty="0" err="1" smtClean="0"/>
              <a:t>as</a:t>
            </a:r>
            <a:r>
              <a:rPr lang="de-CH" dirty="0" smtClean="0"/>
              <a:t> </a:t>
            </a:r>
            <a:r>
              <a:rPr lang="de-CH" dirty="0" err="1" smtClean="0"/>
              <a:t>param</a:t>
            </a:r>
            <a:r>
              <a:rPr lang="de-CH" dirty="0" smtClean="0"/>
              <a:t> </a:t>
            </a:r>
            <a:r>
              <a:rPr lang="de-CH" dirty="0" err="1" smtClean="0"/>
              <a:t>ranges</a:t>
            </a:r>
            <a:r>
              <a:rPr lang="de-CH" dirty="0" smtClean="0"/>
              <a:t> </a:t>
            </a:r>
            <a:endParaRPr lang="de-CH" dirty="0"/>
          </a:p>
        </p:txBody>
      </p:sp>
    </p:spTree>
    <p:extLst>
      <p:ext uri="{BB962C8B-B14F-4D97-AF65-F5344CB8AC3E}">
        <p14:creationId xmlns:p14="http://schemas.microsoft.com/office/powerpoint/2010/main" val="34362975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a:t>
            </a:r>
            <a:r>
              <a:rPr lang="de-CH" sz="2800" dirty="0" smtClean="0">
                <a:latin typeface="Arial" panose="020B0604020202020204" pitchFamily="34" charset="0"/>
                <a:cs typeface="Arial" panose="020B0604020202020204" pitchFamily="34" charset="0"/>
              </a:rPr>
              <a:t>Sobol </a:t>
            </a:r>
            <a:r>
              <a:rPr lang="de-CH" sz="2800" dirty="0" err="1" smtClean="0">
                <a:latin typeface="Arial" panose="020B0604020202020204" pitchFamily="34" charset="0"/>
                <a:cs typeface="Arial" panose="020B0604020202020204" pitchFamily="34" charset="0"/>
              </a:rPr>
              <a:t>sensitivity</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analysis</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with</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setting-specific</a:t>
            </a:r>
            <a:r>
              <a:rPr lang="de-CH" sz="2800" dirty="0" smtClean="0">
                <a:latin typeface="Arial" panose="020B0604020202020204" pitchFamily="34" charset="0"/>
                <a:cs typeface="Arial" panose="020B0604020202020204" pitchFamily="34" charset="0"/>
              </a:rPr>
              <a:t> EIR </a:t>
            </a:r>
            <a:r>
              <a:rPr lang="de-CH" sz="2800" dirty="0" err="1" smtClean="0">
                <a:latin typeface="Arial" panose="020B0604020202020204" pitchFamily="34" charset="0"/>
                <a:cs typeface="Arial" panose="020B0604020202020204" pitchFamily="34" charset="0"/>
              </a:rPr>
              <a:t>and</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realistic</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intervention</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coverage</a:t>
            </a:r>
            <a:r>
              <a:rPr lang="de-CH" sz="2800" dirty="0" smtClean="0">
                <a:latin typeface="Arial" panose="020B0604020202020204" pitchFamily="34" charset="0"/>
                <a:cs typeface="Arial" panose="020B0604020202020204" pitchFamily="34" charset="0"/>
              </a:rPr>
              <a:t> </a:t>
            </a:r>
            <a:r>
              <a:rPr lang="de-CH" sz="2800" dirty="0" err="1" smtClean="0">
                <a:latin typeface="Arial" panose="020B0604020202020204" pitchFamily="34" charset="0"/>
                <a:cs typeface="Arial" panose="020B0604020202020204" pitchFamily="34" charset="0"/>
              </a:rPr>
              <a:t>ranges</a:t>
            </a:r>
            <a:r>
              <a:rPr lang="de-CH" sz="2800" dirty="0" smtClean="0">
                <a:latin typeface="Arial" panose="020B0604020202020204" pitchFamily="34" charset="0"/>
                <a:cs typeface="Arial" panose="020B0604020202020204" pitchFamily="34" charset="0"/>
              </a:rPr>
              <a:t> – APPROACH </a:t>
            </a:r>
            <a:r>
              <a:rPr lang="de-CH" sz="2800" dirty="0">
                <a:latin typeface="Arial" panose="020B0604020202020204" pitchFamily="34" charset="0"/>
                <a:cs typeface="Arial" panose="020B0604020202020204" pitchFamily="34" charset="0"/>
              </a:rPr>
              <a:t>1</a:t>
            </a:r>
            <a:r>
              <a:rPr lang="de-CH" sz="2800" dirty="0" smtClean="0">
                <a:latin typeface="Arial" panose="020B0604020202020204" pitchFamily="34" charset="0"/>
                <a:cs typeface="Arial" panose="020B0604020202020204" pitchFamily="34" charset="0"/>
              </a:rPr>
              <a:t>b</a:t>
            </a:r>
            <a:endParaRPr lang="de-CH" sz="2800" dirty="0">
              <a:latin typeface="Arial" panose="020B0604020202020204" pitchFamily="34" charset="0"/>
              <a:cs typeface="Arial" panose="020B0604020202020204" pitchFamily="34" charset="0"/>
            </a:endParaRPr>
          </a:p>
        </p:txBody>
      </p:sp>
      <p:sp>
        <p:nvSpPr>
          <p:cNvPr id="4" name="Rectangle 3"/>
          <p:cNvSpPr/>
          <p:nvPr/>
        </p:nvSpPr>
        <p:spPr>
          <a:xfrm>
            <a:off x="177224" y="996243"/>
            <a:ext cx="11913176" cy="4616648"/>
          </a:xfrm>
          <a:prstGeom prst="rect">
            <a:avLst/>
          </a:prstGeom>
        </p:spPr>
        <p:txBody>
          <a:bodyPr wrap="square">
            <a:spAutoFit/>
          </a:bodyPr>
          <a:lstStyle/>
          <a:p>
            <a:pPr marL="285750" indent="-285750">
              <a:buFont typeface="Arial" panose="020B0604020202020204" pitchFamily="34" charset="0"/>
              <a:buChar char="•"/>
            </a:pPr>
            <a:r>
              <a:rPr lang="de-CH" sz="2400" dirty="0" smtClean="0"/>
              <a:t> Train a GP </a:t>
            </a:r>
            <a:r>
              <a:rPr lang="de-CH" sz="2400" dirty="0" err="1" smtClean="0"/>
              <a:t>model</a:t>
            </a:r>
            <a:r>
              <a:rPr lang="de-CH" sz="2400" dirty="0" smtClean="0"/>
              <a:t> </a:t>
            </a:r>
            <a:r>
              <a:rPr lang="de-CH" sz="2400" dirty="0" err="1" smtClean="0"/>
              <a:t>for</a:t>
            </a:r>
            <a:r>
              <a:rPr lang="de-CH" sz="2400" dirty="0" smtClean="0"/>
              <a:t> </a:t>
            </a:r>
            <a:r>
              <a:rPr lang="de-CH" sz="2400" dirty="0" err="1" smtClean="0"/>
              <a:t>each</a:t>
            </a:r>
            <a:r>
              <a:rPr lang="de-CH" sz="2400" dirty="0" smtClean="0"/>
              <a:t> </a:t>
            </a:r>
            <a:r>
              <a:rPr lang="de-CH" sz="2400" dirty="0" err="1" smtClean="0"/>
              <a:t>setting</a:t>
            </a:r>
            <a:r>
              <a:rPr lang="de-CH" sz="2400" dirty="0" smtClean="0"/>
              <a:t> </a:t>
            </a:r>
            <a:r>
              <a:rPr lang="de-CH" sz="2400" dirty="0" err="1" smtClean="0"/>
              <a:t>for</a:t>
            </a:r>
            <a:r>
              <a:rPr lang="de-CH" sz="2400" dirty="0" smtClean="0"/>
              <a:t> 2-10 </a:t>
            </a:r>
            <a:r>
              <a:rPr lang="de-CH" sz="2400" dirty="0" err="1" smtClean="0"/>
              <a:t>age_group</a:t>
            </a:r>
            <a:r>
              <a:rPr lang="de-CH" sz="2400" dirty="0" smtClean="0"/>
              <a:t>, </a:t>
            </a:r>
            <a:r>
              <a:rPr lang="de-CH" sz="2400" dirty="0" err="1" smtClean="0"/>
              <a:t>using</a:t>
            </a:r>
            <a:r>
              <a:rPr lang="de-CH" sz="2400" dirty="0" smtClean="0"/>
              <a:t> EIR </a:t>
            </a:r>
            <a:r>
              <a:rPr lang="de-CH" sz="2400" dirty="0" err="1" smtClean="0"/>
              <a:t>full</a:t>
            </a:r>
            <a:r>
              <a:rPr lang="de-CH" sz="2400" dirty="0" smtClean="0"/>
              <a:t> </a:t>
            </a:r>
            <a:r>
              <a:rPr lang="de-CH" sz="2400" dirty="0" err="1" smtClean="0"/>
              <a:t>range</a:t>
            </a:r>
            <a:r>
              <a:rPr lang="de-CH" sz="2400" dirty="0" smtClean="0"/>
              <a:t> </a:t>
            </a:r>
            <a:r>
              <a:rPr lang="de-CH" sz="2400" dirty="0" err="1" smtClean="0"/>
              <a:t>from</a:t>
            </a:r>
            <a:r>
              <a:rPr lang="de-CH" sz="2400" dirty="0" smtClean="0"/>
              <a:t> OM </a:t>
            </a:r>
            <a:r>
              <a:rPr lang="de-CH" sz="2400" dirty="0" err="1" smtClean="0"/>
              <a:t>outputs</a:t>
            </a:r>
            <a:r>
              <a:rPr lang="de-CH" sz="2400" dirty="0" smtClean="0"/>
              <a:t> + </a:t>
            </a:r>
            <a:r>
              <a:rPr lang="de-CH" sz="2400" dirty="0" err="1" smtClean="0"/>
              <a:t>deployed</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Setting </a:t>
            </a:r>
            <a:r>
              <a:rPr lang="de-CH" sz="2400" dirty="0" err="1" smtClean="0"/>
              <a:t>specific</a:t>
            </a:r>
            <a:r>
              <a:rPr lang="de-CH" sz="2400" dirty="0" smtClean="0"/>
              <a:t> EIR </a:t>
            </a:r>
            <a:r>
              <a:rPr lang="de-CH" sz="2400" dirty="0" err="1" smtClean="0"/>
              <a:t>used</a:t>
            </a:r>
            <a:r>
              <a:rPr lang="de-CH" sz="2400" dirty="0" smtClean="0"/>
              <a:t> </a:t>
            </a:r>
            <a:r>
              <a:rPr lang="de-CH" sz="2400" b="1" dirty="0" smtClean="0"/>
              <a:t>min </a:t>
            </a:r>
            <a:r>
              <a:rPr lang="de-CH" sz="2400" b="1" dirty="0" err="1" smtClean="0"/>
              <a:t>EIR_lci</a:t>
            </a:r>
            <a:r>
              <a:rPr lang="de-CH" sz="2400" b="1" dirty="0" smtClean="0"/>
              <a:t> </a:t>
            </a:r>
            <a:r>
              <a:rPr lang="de-CH" sz="2400" b="1" dirty="0" err="1" smtClean="0"/>
              <a:t>and</a:t>
            </a:r>
            <a:r>
              <a:rPr lang="de-CH" sz="2400" b="1" dirty="0" smtClean="0"/>
              <a:t> </a:t>
            </a:r>
            <a:r>
              <a:rPr lang="de-CH" sz="2400" b="1" dirty="0" err="1" smtClean="0"/>
              <a:t>EIR_uci</a:t>
            </a:r>
            <a:r>
              <a:rPr lang="de-CH" sz="2400" b="1" dirty="0" smtClean="0"/>
              <a:t> </a:t>
            </a:r>
            <a:r>
              <a:rPr lang="de-CH" sz="2400" dirty="0" err="1" smtClean="0"/>
              <a:t>values</a:t>
            </a:r>
            <a:r>
              <a:rPr lang="de-CH" sz="2400" dirty="0" smtClean="0"/>
              <a:t> </a:t>
            </a:r>
            <a:r>
              <a:rPr lang="de-CH" sz="2400" dirty="0" err="1" smtClean="0"/>
              <a:t>as</a:t>
            </a:r>
            <a:r>
              <a:rPr lang="de-CH" sz="2400" dirty="0" smtClean="0"/>
              <a:t> </a:t>
            </a:r>
            <a:r>
              <a:rPr lang="de-CH" sz="2400" dirty="0" err="1" smtClean="0"/>
              <a:t>param</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Sobol </a:t>
            </a:r>
            <a:r>
              <a:rPr lang="de-CH" sz="2400" dirty="0" err="1" smtClean="0"/>
              <a:t>Sensitivity</a:t>
            </a:r>
            <a:r>
              <a:rPr lang="de-CH" sz="2400" dirty="0" smtClean="0"/>
              <a:t> </a:t>
            </a:r>
            <a:r>
              <a:rPr lang="de-CH" sz="2400" dirty="0" err="1" smtClean="0"/>
              <a:t>analysis</a:t>
            </a:r>
            <a:r>
              <a:rPr lang="de-CH" sz="2400" dirty="0" smtClean="0"/>
              <a:t> </a:t>
            </a:r>
            <a:r>
              <a:rPr lang="de-CH" sz="2400" dirty="0" err="1" smtClean="0"/>
              <a:t>uses</a:t>
            </a:r>
            <a:r>
              <a:rPr lang="de-CH" sz="2400" dirty="0" smtClean="0"/>
              <a:t> </a:t>
            </a:r>
            <a:r>
              <a:rPr lang="de-CH" sz="2400" dirty="0" err="1" smtClean="0"/>
              <a:t>setting-specific</a:t>
            </a:r>
            <a:r>
              <a:rPr lang="de-CH" sz="2400" dirty="0" smtClean="0"/>
              <a:t> EIR + </a:t>
            </a:r>
            <a:r>
              <a:rPr lang="de-CH" sz="2400" dirty="0" err="1" smtClean="0"/>
              <a:t>realistic</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r>
              <a:rPr lang="de-CH" sz="2400" dirty="0" smtClean="0"/>
              <a:t> </a:t>
            </a:r>
            <a:r>
              <a:rPr lang="de-CH" sz="2400" dirty="0" err="1" smtClean="0"/>
              <a:t>of</a:t>
            </a:r>
            <a:r>
              <a:rPr lang="de-CH" sz="2400" dirty="0" smtClean="0"/>
              <a:t> </a:t>
            </a:r>
            <a:r>
              <a:rPr lang="de-CH" sz="2400" dirty="0" err="1" smtClean="0"/>
              <a:t>interventions</a:t>
            </a:r>
            <a:r>
              <a:rPr lang="de-CH" sz="2400" dirty="0" smtClean="0"/>
              <a:t> </a:t>
            </a:r>
            <a:r>
              <a:rPr lang="de-CH" sz="2400" dirty="0" err="1" smtClean="0"/>
              <a:t>to</a:t>
            </a:r>
            <a:r>
              <a:rPr lang="de-CH" sz="2400" dirty="0" smtClean="0"/>
              <a:t> </a:t>
            </a:r>
            <a:r>
              <a:rPr lang="de-CH" sz="2400" dirty="0" err="1" smtClean="0"/>
              <a:t>be</a:t>
            </a:r>
            <a:r>
              <a:rPr lang="de-CH" sz="2400" dirty="0" smtClean="0"/>
              <a:t> </a:t>
            </a:r>
            <a:r>
              <a:rPr lang="de-CH" sz="2400" dirty="0" err="1" smtClean="0"/>
              <a:t>deployed</a:t>
            </a:r>
            <a:endParaRPr lang="de-CH" sz="2400" dirty="0" smtClean="0"/>
          </a:p>
          <a:p>
            <a:pPr marL="285750" indent="-285750">
              <a:buFont typeface="Arial" panose="020B0604020202020204" pitchFamily="34" charset="0"/>
              <a:buChar char="•"/>
            </a:pPr>
            <a:r>
              <a:rPr lang="de-CH" sz="2400" dirty="0" smtClean="0"/>
              <a:t>This </a:t>
            </a:r>
            <a:r>
              <a:rPr lang="de-CH" sz="2400" dirty="0" err="1" smtClean="0"/>
              <a:t>is</a:t>
            </a:r>
            <a:r>
              <a:rPr lang="de-CH" sz="2400" dirty="0" smtClean="0"/>
              <a:t> </a:t>
            </a:r>
            <a:r>
              <a:rPr lang="de-CH" sz="2400" dirty="0" err="1" smtClean="0"/>
              <a:t>done</a:t>
            </a:r>
            <a:r>
              <a:rPr lang="de-CH" sz="2400" dirty="0" smtClean="0"/>
              <a:t> </a:t>
            </a:r>
            <a:r>
              <a:rPr lang="de-CH" sz="2400" dirty="0" err="1" smtClean="0"/>
              <a:t>for</a:t>
            </a:r>
            <a:r>
              <a:rPr lang="de-CH" sz="2400" dirty="0" smtClean="0"/>
              <a:t> 2 different EIR </a:t>
            </a:r>
            <a:r>
              <a:rPr lang="de-CH" sz="2400" dirty="0" err="1" smtClean="0"/>
              <a:t>calibration</a:t>
            </a:r>
            <a:r>
              <a:rPr lang="de-CH" sz="2400" dirty="0" smtClean="0"/>
              <a:t> </a:t>
            </a:r>
            <a:r>
              <a:rPr lang="de-CH" sz="2400" dirty="0" err="1" smtClean="0"/>
              <a:t>results</a:t>
            </a:r>
            <a:r>
              <a:rPr lang="de-CH" sz="2400" dirty="0" smtClean="0"/>
              <a:t> (2010 </a:t>
            </a:r>
            <a:r>
              <a:rPr lang="de-CH" sz="2400" dirty="0" err="1" smtClean="0"/>
              <a:t>and</a:t>
            </a:r>
            <a:r>
              <a:rPr lang="de-CH" sz="2400" dirty="0" smtClean="0"/>
              <a:t> 2015)</a:t>
            </a:r>
          </a:p>
          <a:p>
            <a:pPr marL="285750" indent="-285750">
              <a:buFont typeface="Arial" panose="020B0604020202020204" pitchFamily="34" charset="0"/>
              <a:buChar char="•"/>
            </a:pPr>
            <a:r>
              <a:rPr lang="de-CH" sz="2400" dirty="0" smtClean="0"/>
              <a:t>Non-</a:t>
            </a:r>
            <a:r>
              <a:rPr lang="de-CH" sz="2400" dirty="0" err="1" smtClean="0"/>
              <a:t>deployed</a:t>
            </a:r>
            <a:r>
              <a:rPr lang="de-CH" sz="2400" dirty="0" smtClean="0"/>
              <a:t> </a:t>
            </a:r>
            <a:r>
              <a:rPr lang="de-CH" sz="2400" dirty="0" err="1" smtClean="0"/>
              <a:t>interventions</a:t>
            </a:r>
            <a:r>
              <a:rPr lang="de-CH" sz="2400" dirty="0" smtClean="0"/>
              <a:t> </a:t>
            </a:r>
            <a:r>
              <a:rPr lang="de-CH" sz="2400" dirty="0" err="1" smtClean="0"/>
              <a:t>are</a:t>
            </a:r>
            <a:r>
              <a:rPr lang="de-CH" sz="2400" dirty="0" smtClean="0"/>
              <a:t> </a:t>
            </a:r>
            <a:r>
              <a:rPr lang="de-CH" sz="2400" dirty="0" err="1" smtClean="0"/>
              <a:t>indicated</a:t>
            </a:r>
            <a:r>
              <a:rPr lang="de-CH" sz="2400" dirty="0" smtClean="0"/>
              <a:t> </a:t>
            </a:r>
            <a:r>
              <a:rPr lang="de-CH" sz="2400" dirty="0" err="1" smtClean="0"/>
              <a:t>as</a:t>
            </a:r>
            <a:r>
              <a:rPr lang="de-CH" sz="2400" dirty="0" smtClean="0"/>
              <a:t> NA on </a:t>
            </a:r>
            <a:r>
              <a:rPr lang="de-CH" sz="2400" dirty="0" err="1" smtClean="0"/>
              <a:t>the</a:t>
            </a:r>
            <a:r>
              <a:rPr lang="de-CH" sz="2400" dirty="0" smtClean="0"/>
              <a:t> </a:t>
            </a:r>
            <a:r>
              <a:rPr lang="de-CH" sz="2400" dirty="0" err="1" smtClean="0"/>
              <a:t>plot</a:t>
            </a:r>
            <a:endParaRPr lang="de-CH" sz="2400" dirty="0" smtClean="0"/>
          </a:p>
          <a:p>
            <a:endParaRPr lang="de-CH" sz="2400" dirty="0" smtClean="0"/>
          </a:p>
          <a:p>
            <a:pPr marL="285750" indent="-285750">
              <a:buFont typeface="Arial" panose="020B0604020202020204" pitchFamily="34" charset="0"/>
              <a:buChar char="•"/>
            </a:pPr>
            <a:r>
              <a:rPr lang="de-CH" sz="2400" dirty="0" smtClean="0"/>
              <a:t>Parameter </a:t>
            </a:r>
            <a:r>
              <a:rPr lang="de-CH" sz="2400" dirty="0" err="1" smtClean="0"/>
              <a:t>ranges</a:t>
            </a:r>
            <a:r>
              <a:rPr lang="de-CH" sz="2400" dirty="0" smtClean="0"/>
              <a:t>:</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futcovSMC0to5JulOct_min = 0.4, futcovSMC0to5JulOct_max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futRTSS3covStart2023_min = 0.5, futRTSS3covStart2023_max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 futNetcovstart2021_min = 0.2, futNetcovstart2021_max = 0.8</a:t>
            </a:r>
          </a:p>
          <a:p>
            <a:endParaRPr lang="de-CH" sz="2400" dirty="0" smtClean="0"/>
          </a:p>
        </p:txBody>
      </p:sp>
    </p:spTree>
    <p:extLst>
      <p:ext uri="{BB962C8B-B14F-4D97-AF65-F5344CB8AC3E}">
        <p14:creationId xmlns:p14="http://schemas.microsoft.com/office/powerpoint/2010/main" val="22728797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3" y="0"/>
            <a:ext cx="11954256" cy="400433"/>
          </a:xfrm>
        </p:spPr>
        <p:txBody>
          <a:bodyPr/>
          <a:lstStyle/>
          <a:p>
            <a:r>
              <a:rPr lang="de-CH" sz="2800" dirty="0" smtClean="0">
                <a:latin typeface="+mn-lt"/>
              </a:rPr>
              <a:t>calibrationEIR_2010 </a:t>
            </a:r>
            <a:r>
              <a:rPr lang="de-CH" sz="2800" dirty="0" err="1" smtClean="0">
                <a:latin typeface="+mn-lt"/>
              </a:rPr>
              <a:t>and</a:t>
            </a:r>
            <a:r>
              <a:rPr lang="de-CH" sz="2800" dirty="0" smtClean="0">
                <a:latin typeface="+mn-lt"/>
              </a:rPr>
              <a:t> 2015</a:t>
            </a:r>
            <a:endParaRPr lang="de-CH" sz="2800" dirty="0">
              <a:latin typeface="+mn-lt"/>
            </a:endParaRPr>
          </a:p>
        </p:txBody>
      </p:sp>
      <p:sp>
        <p:nvSpPr>
          <p:cNvPr id="5" name="TextBox 4"/>
          <p:cNvSpPr txBox="1"/>
          <p:nvPr/>
        </p:nvSpPr>
        <p:spPr>
          <a:xfrm>
            <a:off x="237743" y="400433"/>
            <a:ext cx="11473965" cy="646331"/>
          </a:xfrm>
          <a:prstGeom prst="rect">
            <a:avLst/>
          </a:prstGeom>
          <a:noFill/>
        </p:spPr>
        <p:txBody>
          <a:bodyPr wrap="square" rtlCol="0">
            <a:spAutoFit/>
          </a:bodyPr>
          <a:lstStyle/>
          <a:p>
            <a:r>
              <a:rPr lang="de-CH" dirty="0" smtClean="0"/>
              <a:t>Train GP </a:t>
            </a:r>
            <a:r>
              <a:rPr lang="de-CH" dirty="0" err="1" smtClean="0"/>
              <a:t>with</a:t>
            </a:r>
            <a:r>
              <a:rPr lang="de-CH" dirty="0" smtClean="0"/>
              <a:t> </a:t>
            </a:r>
            <a:r>
              <a:rPr lang="de-CH" dirty="0" err="1" smtClean="0"/>
              <a:t>full</a:t>
            </a:r>
            <a:r>
              <a:rPr lang="de-CH" dirty="0" smtClean="0"/>
              <a:t> EIR </a:t>
            </a:r>
            <a:r>
              <a:rPr lang="de-CH" dirty="0" err="1" smtClean="0"/>
              <a:t>range</a:t>
            </a:r>
            <a:r>
              <a:rPr lang="de-CH" dirty="0" smtClean="0"/>
              <a:t> </a:t>
            </a:r>
            <a:r>
              <a:rPr lang="de-CH" dirty="0" err="1" smtClean="0"/>
              <a:t>for</a:t>
            </a:r>
            <a:r>
              <a:rPr lang="de-CH" dirty="0" smtClean="0"/>
              <a:t> </a:t>
            </a:r>
            <a:r>
              <a:rPr lang="de-CH" dirty="0" err="1" smtClean="0"/>
              <a:t>each</a:t>
            </a:r>
            <a:r>
              <a:rPr lang="de-CH" dirty="0" smtClean="0"/>
              <a:t> </a:t>
            </a:r>
            <a:r>
              <a:rPr lang="de-CH" dirty="0" err="1" smtClean="0"/>
              <a:t>setting</a:t>
            </a:r>
            <a:r>
              <a:rPr lang="de-CH" dirty="0" smtClean="0"/>
              <a:t> </a:t>
            </a:r>
            <a:r>
              <a:rPr lang="de-CH" dirty="0" err="1" smtClean="0"/>
              <a:t>from</a:t>
            </a:r>
            <a:r>
              <a:rPr lang="de-CH" dirty="0" smtClean="0"/>
              <a:t> OM </a:t>
            </a:r>
            <a:r>
              <a:rPr lang="de-CH" dirty="0" err="1" smtClean="0"/>
              <a:t>outputs</a:t>
            </a:r>
            <a:r>
              <a:rPr lang="de-CH" dirty="0" smtClean="0"/>
              <a:t> </a:t>
            </a:r>
            <a:r>
              <a:rPr lang="de-CH" dirty="0" err="1" smtClean="0"/>
              <a:t>and</a:t>
            </a:r>
            <a:r>
              <a:rPr lang="de-CH" dirty="0" smtClean="0"/>
              <a:t> </a:t>
            </a:r>
            <a:r>
              <a:rPr lang="de-CH" dirty="0" err="1" smtClean="0"/>
              <a:t>run</a:t>
            </a:r>
            <a:r>
              <a:rPr lang="de-CH" dirty="0" smtClean="0"/>
              <a:t> </a:t>
            </a:r>
            <a:r>
              <a:rPr lang="de-CH" dirty="0" err="1" smtClean="0"/>
              <a:t>sobol</a:t>
            </a:r>
            <a:r>
              <a:rPr lang="de-CH" dirty="0" smtClean="0"/>
              <a:t> </a:t>
            </a:r>
            <a:r>
              <a:rPr lang="de-CH" dirty="0" err="1" smtClean="0"/>
              <a:t>sensitivity</a:t>
            </a:r>
            <a:r>
              <a:rPr lang="de-CH" dirty="0" smtClean="0"/>
              <a:t> </a:t>
            </a:r>
            <a:r>
              <a:rPr lang="de-CH" dirty="0" err="1" smtClean="0"/>
              <a:t>analysis</a:t>
            </a:r>
            <a:r>
              <a:rPr lang="de-CH" dirty="0" smtClean="0"/>
              <a:t> </a:t>
            </a:r>
            <a:r>
              <a:rPr lang="de-CH" dirty="0" err="1" smtClean="0"/>
              <a:t>using</a:t>
            </a:r>
            <a:r>
              <a:rPr lang="de-CH" dirty="0" smtClean="0"/>
              <a:t> </a:t>
            </a:r>
            <a:r>
              <a:rPr lang="de-CH" b="1" dirty="0" err="1" smtClean="0"/>
              <a:t>minimum</a:t>
            </a:r>
            <a:r>
              <a:rPr lang="de-CH" b="1" dirty="0" smtClean="0"/>
              <a:t> EIR_LCI</a:t>
            </a:r>
            <a:r>
              <a:rPr lang="de-CH" dirty="0" smtClean="0"/>
              <a:t> </a:t>
            </a:r>
            <a:r>
              <a:rPr lang="de-CH" dirty="0" err="1" smtClean="0"/>
              <a:t>and</a:t>
            </a:r>
            <a:r>
              <a:rPr lang="de-CH" dirty="0" smtClean="0"/>
              <a:t> </a:t>
            </a:r>
            <a:r>
              <a:rPr lang="de-CH" b="1" dirty="0" err="1" smtClean="0"/>
              <a:t>maximum</a:t>
            </a:r>
            <a:r>
              <a:rPr lang="de-CH" b="1" dirty="0" smtClean="0"/>
              <a:t> EIR_UCI</a:t>
            </a:r>
            <a:r>
              <a:rPr lang="de-CH" dirty="0" smtClean="0"/>
              <a:t> </a:t>
            </a:r>
            <a:r>
              <a:rPr lang="de-CH" dirty="0" err="1" smtClean="0"/>
              <a:t>across</a:t>
            </a:r>
            <a:r>
              <a:rPr lang="de-CH" dirty="0" smtClean="0"/>
              <a:t> all </a:t>
            </a:r>
            <a:r>
              <a:rPr lang="de-CH" dirty="0" err="1" smtClean="0"/>
              <a:t>subs</a:t>
            </a:r>
            <a:r>
              <a:rPr lang="de-CH" dirty="0" smtClean="0"/>
              <a:t> per </a:t>
            </a:r>
            <a:r>
              <a:rPr lang="de-CH" dirty="0" err="1" smtClean="0"/>
              <a:t>setting</a:t>
            </a:r>
            <a:r>
              <a:rPr lang="de-CH" dirty="0" smtClean="0"/>
              <a:t> </a:t>
            </a:r>
            <a:r>
              <a:rPr lang="de-CH" dirty="0" err="1" smtClean="0"/>
              <a:t>as</a:t>
            </a:r>
            <a:r>
              <a:rPr lang="de-CH" dirty="0" smtClean="0"/>
              <a:t> </a:t>
            </a:r>
            <a:r>
              <a:rPr lang="de-CH" dirty="0" err="1" smtClean="0"/>
              <a:t>the</a:t>
            </a:r>
            <a:r>
              <a:rPr lang="de-CH" dirty="0" smtClean="0"/>
              <a:t> </a:t>
            </a:r>
            <a:r>
              <a:rPr lang="de-CH" dirty="0" err="1" smtClean="0"/>
              <a:t>parameter</a:t>
            </a:r>
            <a:r>
              <a:rPr lang="de-CH" dirty="0" smtClean="0"/>
              <a:t> </a:t>
            </a:r>
            <a:r>
              <a:rPr lang="de-CH" dirty="0" err="1" smtClean="0"/>
              <a:t>range</a:t>
            </a:r>
            <a:endParaRPr lang="de-CH" dirty="0"/>
          </a:p>
        </p:txBody>
      </p:sp>
      <p:pic>
        <p:nvPicPr>
          <p:cNvPr id="9" name="Picture 8"/>
          <p:cNvPicPr>
            <a:picLocks noChangeAspect="1"/>
          </p:cNvPicPr>
          <p:nvPr/>
        </p:nvPicPr>
        <p:blipFill>
          <a:blip r:embed="rId3"/>
          <a:stretch>
            <a:fillRect/>
          </a:stretch>
        </p:blipFill>
        <p:spPr>
          <a:xfrm>
            <a:off x="895150" y="1046764"/>
            <a:ext cx="10029524" cy="5840056"/>
          </a:xfrm>
          <a:prstGeom prst="rect">
            <a:avLst/>
          </a:prstGeom>
        </p:spPr>
      </p:pic>
    </p:spTree>
    <p:extLst>
      <p:ext uri="{BB962C8B-B14F-4D97-AF65-F5344CB8AC3E}">
        <p14:creationId xmlns:p14="http://schemas.microsoft.com/office/powerpoint/2010/main" val="14042904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8" name="Google Shape;502;p65"/>
          <p:cNvSpPr txBox="1">
            <a:spLocks noGrp="1"/>
          </p:cNvSpPr>
          <p:nvPr>
            <p:ph type="body" idx="1"/>
          </p:nvPr>
        </p:nvSpPr>
        <p:spPr>
          <a:xfrm>
            <a:off x="4132053" y="3422615"/>
            <a:ext cx="8059947" cy="1572079"/>
          </a:xfrm>
          <a:prstGeom prst="rect">
            <a:avLst/>
          </a:prstGeom>
          <a:noFill/>
          <a:ln>
            <a:noFill/>
          </a:ln>
        </p:spPr>
        <p:txBody>
          <a:bodyPr spcFirstLastPara="1" vert="horz" wrap="square" lIns="0" tIns="45700" rIns="91433" bIns="45700" rtlCol="0" anchor="b" anchorCtr="0">
            <a:noAutofit/>
          </a:bodyPr>
          <a:lstStyle/>
          <a:p>
            <a:pPr marL="0" indent="0">
              <a:spcBef>
                <a:spcPts val="0"/>
              </a:spcBef>
              <a:spcAft>
                <a:spcPts val="1600"/>
              </a:spcAft>
            </a:pPr>
            <a:r>
              <a:rPr lang="en-US" sz="2800" b="1" dirty="0" smtClean="0">
                <a:solidFill>
                  <a:schemeClr val="accent1"/>
                </a:solidFill>
                <a:latin typeface="Arial" panose="020B0604020202020204" pitchFamily="34" charset="0"/>
                <a:cs typeface="Arial" panose="020B0604020202020204" pitchFamily="34" charset="0"/>
              </a:rPr>
              <a:t>UNCERTAINTY QUANTIFICATION OF AGENT-BASED MODELS WITH APPLICATION TO MALARIA INTERVENTION MODELING</a:t>
            </a:r>
            <a:endParaRPr lang="en-US" sz="2800" b="1" dirty="0">
              <a:solidFill>
                <a:schemeClr val="accent1"/>
              </a:solidFill>
              <a:latin typeface="Arial" panose="020B0604020202020204" pitchFamily="34" charset="0"/>
              <a:cs typeface="Arial" panose="020B0604020202020204" pitchFamily="34" charset="0"/>
            </a:endParaRPr>
          </a:p>
        </p:txBody>
      </p:sp>
      <p:sp>
        <p:nvSpPr>
          <p:cNvPr id="4" name="Rectangle 3"/>
          <p:cNvSpPr/>
          <p:nvPr/>
        </p:nvSpPr>
        <p:spPr>
          <a:xfrm>
            <a:off x="4132054" y="5225516"/>
            <a:ext cx="4587074" cy="1083374"/>
          </a:xfrm>
          <a:prstGeom prst="rect">
            <a:avLst/>
          </a:prstGeom>
        </p:spPr>
        <p:txBody>
          <a:bodyPr wrap="square">
            <a:spAutoFit/>
          </a:bodyPr>
          <a:lstStyle/>
          <a:p>
            <a:pPr lvl="0" algn="ctr">
              <a:lnSpc>
                <a:spcPct val="115000"/>
              </a:lnSpc>
              <a:buClr>
                <a:schemeClr val="dk1"/>
              </a:buClr>
              <a:buSzPts val="1100"/>
            </a:pPr>
            <a:r>
              <a:rPr lang="en-US" sz="2000" b="1" dirty="0" smtClean="0">
                <a:solidFill>
                  <a:schemeClr val="dk1"/>
                </a:solidFill>
                <a:latin typeface="Arial"/>
                <a:ea typeface="Arial"/>
                <a:cs typeface="Arial"/>
                <a:sym typeface="Arial"/>
              </a:rPr>
              <a:t>PhD Update</a:t>
            </a:r>
          </a:p>
          <a:p>
            <a:pPr lvl="0" algn="ctr">
              <a:lnSpc>
                <a:spcPct val="115000"/>
              </a:lnSpc>
              <a:buClr>
                <a:schemeClr val="dk1"/>
              </a:buClr>
              <a:buSzPts val="1100"/>
            </a:pPr>
            <a:endParaRPr lang="en-US" dirty="0">
              <a:solidFill>
                <a:schemeClr val="dk1"/>
              </a:solidFill>
              <a:latin typeface="Arial"/>
              <a:ea typeface="Arial"/>
              <a:cs typeface="Arial"/>
              <a:sym typeface="Arial"/>
            </a:endParaRPr>
          </a:p>
          <a:p>
            <a:pPr lvl="0" algn="ctr">
              <a:lnSpc>
                <a:spcPct val="115000"/>
              </a:lnSpc>
              <a:buClr>
                <a:schemeClr val="dk1"/>
              </a:buClr>
              <a:buSzPts val="1100"/>
            </a:pPr>
            <a:r>
              <a:rPr lang="en-US" dirty="0" smtClean="0">
                <a:solidFill>
                  <a:schemeClr val="dk1"/>
                </a:solidFill>
                <a:latin typeface="Arial"/>
                <a:ea typeface="Arial"/>
                <a:cs typeface="Arial"/>
                <a:sym typeface="Arial"/>
              </a:rPr>
              <a:t>March 2025</a:t>
            </a: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908437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a:latin typeface="+mn-lt"/>
              </a:rPr>
              <a:t>workflow</a:t>
            </a:r>
            <a:r>
              <a:rPr lang="de-CH" sz="2800" dirty="0" smtClean="0">
                <a:latin typeface="+mn-lt"/>
              </a:rPr>
              <a:t> – </a:t>
            </a:r>
            <a:r>
              <a:rPr lang="de-CH" sz="2800" dirty="0" err="1" smtClean="0">
                <a:latin typeface="+mn-lt"/>
              </a:rPr>
              <a:t>approach</a:t>
            </a:r>
            <a:r>
              <a:rPr lang="de-CH" sz="2800" dirty="0" smtClean="0">
                <a:latin typeface="+mn-lt"/>
              </a:rPr>
              <a:t> 2</a:t>
            </a:r>
            <a:endParaRPr lang="de-CH" sz="2800" dirty="0">
              <a:latin typeface="+mn-lt"/>
            </a:endParaRPr>
          </a:p>
        </p:txBody>
      </p:sp>
      <p:pic>
        <p:nvPicPr>
          <p:cNvPr id="5" name="Picture 4"/>
          <p:cNvPicPr>
            <a:picLocks noChangeAspect="1"/>
          </p:cNvPicPr>
          <p:nvPr/>
        </p:nvPicPr>
        <p:blipFill>
          <a:blip r:embed="rId3"/>
          <a:stretch>
            <a:fillRect/>
          </a:stretch>
        </p:blipFill>
        <p:spPr>
          <a:xfrm>
            <a:off x="237743" y="1242400"/>
            <a:ext cx="11462328" cy="5519347"/>
          </a:xfrm>
          <a:prstGeom prst="rect">
            <a:avLst/>
          </a:prstGeom>
        </p:spPr>
      </p:pic>
      <p:sp>
        <p:nvSpPr>
          <p:cNvPr id="4" name="TextBox 3"/>
          <p:cNvSpPr txBox="1"/>
          <p:nvPr/>
        </p:nvSpPr>
        <p:spPr>
          <a:xfrm>
            <a:off x="237743" y="745484"/>
            <a:ext cx="7400729" cy="369332"/>
          </a:xfrm>
          <a:prstGeom prst="rect">
            <a:avLst/>
          </a:prstGeom>
          <a:noFill/>
        </p:spPr>
        <p:txBody>
          <a:bodyPr wrap="square" rtlCol="0">
            <a:spAutoFit/>
          </a:bodyPr>
          <a:lstStyle/>
          <a:p>
            <a:r>
              <a:rPr lang="de-CH" dirty="0" err="1" smtClean="0"/>
              <a:t>Used</a:t>
            </a:r>
            <a:r>
              <a:rPr lang="de-CH" dirty="0" smtClean="0"/>
              <a:t> </a:t>
            </a:r>
            <a:r>
              <a:rPr lang="de-CH" dirty="0" err="1" smtClean="0"/>
              <a:t>average</a:t>
            </a:r>
            <a:r>
              <a:rPr lang="de-CH" dirty="0" smtClean="0"/>
              <a:t> </a:t>
            </a:r>
            <a:r>
              <a:rPr lang="de-CH" dirty="0" err="1" smtClean="0"/>
              <a:t>EIR_lci</a:t>
            </a:r>
            <a:r>
              <a:rPr lang="de-CH" dirty="0" smtClean="0"/>
              <a:t> </a:t>
            </a:r>
            <a:r>
              <a:rPr lang="de-CH" dirty="0" err="1" smtClean="0"/>
              <a:t>and</a:t>
            </a:r>
            <a:r>
              <a:rPr lang="de-CH" dirty="0" smtClean="0"/>
              <a:t> </a:t>
            </a:r>
            <a:r>
              <a:rPr lang="de-CH" dirty="0" err="1" smtClean="0"/>
              <a:t>uci</a:t>
            </a:r>
            <a:r>
              <a:rPr lang="de-CH" dirty="0" smtClean="0"/>
              <a:t> </a:t>
            </a:r>
            <a:r>
              <a:rPr lang="de-CH" dirty="0" err="1" smtClean="0"/>
              <a:t>values</a:t>
            </a:r>
            <a:r>
              <a:rPr lang="de-CH" dirty="0" smtClean="0"/>
              <a:t> </a:t>
            </a:r>
            <a:r>
              <a:rPr lang="de-CH" dirty="0" err="1" smtClean="0"/>
              <a:t>across</a:t>
            </a:r>
            <a:r>
              <a:rPr lang="de-CH" dirty="0" smtClean="0"/>
              <a:t> </a:t>
            </a:r>
            <a:r>
              <a:rPr lang="de-CH" dirty="0" err="1" smtClean="0"/>
              <a:t>subs</a:t>
            </a:r>
            <a:r>
              <a:rPr lang="de-CH" dirty="0" smtClean="0"/>
              <a:t> </a:t>
            </a:r>
            <a:r>
              <a:rPr lang="de-CH" dirty="0" err="1" smtClean="0"/>
              <a:t>as</a:t>
            </a:r>
            <a:r>
              <a:rPr lang="de-CH" dirty="0" smtClean="0"/>
              <a:t> </a:t>
            </a:r>
            <a:r>
              <a:rPr lang="de-CH" dirty="0" err="1" smtClean="0"/>
              <a:t>param</a:t>
            </a:r>
            <a:r>
              <a:rPr lang="de-CH" dirty="0" smtClean="0"/>
              <a:t> </a:t>
            </a:r>
            <a:r>
              <a:rPr lang="de-CH" dirty="0" err="1" smtClean="0"/>
              <a:t>ranges</a:t>
            </a:r>
            <a:r>
              <a:rPr lang="de-CH" dirty="0" smtClean="0"/>
              <a:t> </a:t>
            </a:r>
            <a:endParaRPr lang="de-CH" dirty="0"/>
          </a:p>
        </p:txBody>
      </p:sp>
    </p:spTree>
    <p:extLst>
      <p:ext uri="{BB962C8B-B14F-4D97-AF65-F5344CB8AC3E}">
        <p14:creationId xmlns:p14="http://schemas.microsoft.com/office/powerpoint/2010/main" val="34176240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83127" y="1"/>
            <a:ext cx="12191999" cy="1257838"/>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2400" b="1" u="sng" dirty="0" smtClean="0">
                <a:solidFill>
                  <a:schemeClr val="tx1"/>
                </a:solidFill>
                <a:latin typeface="Arial" panose="020B0604020202020204" pitchFamily="34" charset="0"/>
                <a:cs typeface="Arial" panose="020B0604020202020204" pitchFamily="34" charset="0"/>
              </a:rPr>
              <a:t>LHS sample sizes for </a:t>
            </a:r>
            <a:r>
              <a:rPr lang="en-US" sz="2800" b="1" u="sng" dirty="0" smtClean="0">
                <a:solidFill>
                  <a:schemeClr val="tx1"/>
                </a:solidFill>
                <a:latin typeface="Arial" panose="020B0604020202020204" pitchFamily="34" charset="0"/>
                <a:cs typeface="Arial" panose="020B0604020202020204" pitchFamily="34" charset="0"/>
              </a:rPr>
              <a:t>UE4 vs R-squared</a:t>
            </a:r>
            <a:endParaRPr lang="en-US" sz="2800" b="1" dirty="0">
              <a:latin typeface="+mn-lt"/>
            </a:endParaRPr>
          </a:p>
        </p:txBody>
      </p:sp>
      <p:pic>
        <p:nvPicPr>
          <p:cNvPr id="2" name="Picture 1"/>
          <p:cNvPicPr>
            <a:picLocks noChangeAspect="1"/>
          </p:cNvPicPr>
          <p:nvPr/>
        </p:nvPicPr>
        <p:blipFill>
          <a:blip r:embed="rId3"/>
          <a:stretch>
            <a:fillRect/>
          </a:stretch>
        </p:blipFill>
        <p:spPr>
          <a:xfrm>
            <a:off x="1424832" y="1446122"/>
            <a:ext cx="9178514" cy="4471458"/>
          </a:xfrm>
          <a:prstGeom prst="rect">
            <a:avLst/>
          </a:prstGeom>
        </p:spPr>
      </p:pic>
    </p:spTree>
    <p:extLst>
      <p:ext uri="{BB962C8B-B14F-4D97-AF65-F5344CB8AC3E}">
        <p14:creationId xmlns:p14="http://schemas.microsoft.com/office/powerpoint/2010/main" val="16645274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err="1" smtClean="0">
                <a:latin typeface="+mn-lt"/>
              </a:rPr>
              <a:t>Current</a:t>
            </a:r>
            <a:r>
              <a:rPr lang="de-CH" sz="2800" b="1" dirty="0" smtClean="0">
                <a:latin typeface="+mn-lt"/>
              </a:rPr>
              <a:t> </a:t>
            </a:r>
            <a:r>
              <a:rPr lang="de-CH" sz="2800" b="1" dirty="0" err="1" smtClean="0">
                <a:latin typeface="+mn-lt"/>
              </a:rPr>
              <a:t>setup</a:t>
            </a:r>
            <a:r>
              <a:rPr lang="de-CH" sz="2800" b="1" dirty="0" smtClean="0">
                <a:latin typeface="+mn-lt"/>
              </a:rPr>
              <a:t> </a:t>
            </a:r>
            <a:r>
              <a:rPr lang="de-CH" sz="2800" b="1" dirty="0" err="1" smtClean="0">
                <a:latin typeface="+mn-lt"/>
              </a:rPr>
              <a:t>for</a:t>
            </a:r>
            <a:r>
              <a:rPr lang="de-CH" sz="2800" b="1" dirty="0" smtClean="0">
                <a:latin typeface="+mn-lt"/>
              </a:rPr>
              <a:t> OM </a:t>
            </a:r>
            <a:r>
              <a:rPr lang="de-CH" sz="2800" b="1" dirty="0" err="1" smtClean="0">
                <a:latin typeface="+mn-lt"/>
              </a:rPr>
              <a:t>simulations</a:t>
            </a:r>
            <a:r>
              <a:rPr lang="de-CH" sz="2800" b="1" dirty="0" smtClean="0">
                <a:latin typeface="+mn-lt"/>
              </a:rPr>
              <a:t> </a:t>
            </a:r>
            <a:r>
              <a:rPr lang="de-CH" sz="2800" b="1" dirty="0" err="1" smtClean="0">
                <a:latin typeface="+mn-lt"/>
              </a:rPr>
              <a:t>and</a:t>
            </a:r>
            <a:r>
              <a:rPr lang="de-CH" sz="2800" b="1" dirty="0" smtClean="0">
                <a:latin typeface="+mn-lt"/>
              </a:rPr>
              <a:t> </a:t>
            </a:r>
            <a:r>
              <a:rPr lang="de-CH" sz="2800" b="1" dirty="0" err="1" smtClean="0">
                <a:latin typeface="+mn-lt"/>
              </a:rPr>
              <a:t>sensitivity</a:t>
            </a:r>
            <a:r>
              <a:rPr lang="de-CH" sz="2800" b="1" dirty="0" smtClean="0">
                <a:latin typeface="+mn-lt"/>
              </a:rPr>
              <a:t> </a:t>
            </a:r>
            <a:r>
              <a:rPr lang="de-CH" sz="2800" b="1" dirty="0" err="1" smtClean="0">
                <a:latin typeface="+mn-lt"/>
              </a:rPr>
              <a:t>analysis</a:t>
            </a:r>
            <a:endParaRPr lang="de-CH" sz="2800" dirty="0">
              <a:latin typeface="Arial" panose="020B0604020202020204" pitchFamily="34" charset="0"/>
              <a:cs typeface="Arial" panose="020B0604020202020204" pitchFamily="34" charset="0"/>
            </a:endParaRPr>
          </a:p>
        </p:txBody>
      </p:sp>
      <p:sp>
        <p:nvSpPr>
          <p:cNvPr id="4" name="Rectangle 3"/>
          <p:cNvSpPr/>
          <p:nvPr/>
        </p:nvSpPr>
        <p:spPr>
          <a:xfrm>
            <a:off x="177224" y="996243"/>
            <a:ext cx="11913176" cy="4985980"/>
          </a:xfrm>
          <a:prstGeom prst="rect">
            <a:avLst/>
          </a:prstGeom>
        </p:spPr>
        <p:txBody>
          <a:bodyPr wrap="square">
            <a:spAutoFit/>
          </a:bodyPr>
          <a:lstStyle/>
          <a:p>
            <a:pPr marL="285750" indent="-285750">
              <a:buFont typeface="Arial" panose="020B0604020202020204" pitchFamily="34" charset="0"/>
              <a:buChar char="•"/>
            </a:pPr>
            <a:r>
              <a:rPr lang="de-CH" sz="2400" dirty="0" smtClean="0"/>
              <a:t> Sample </a:t>
            </a:r>
            <a:r>
              <a:rPr lang="de-CH" sz="2400" dirty="0" err="1" smtClean="0"/>
              <a:t>size</a:t>
            </a:r>
            <a:r>
              <a:rPr lang="de-CH" sz="2400" dirty="0" smtClean="0"/>
              <a:t> </a:t>
            </a:r>
            <a:r>
              <a:rPr lang="de-CH" sz="2400" dirty="0" err="1" smtClean="0"/>
              <a:t>of</a:t>
            </a:r>
            <a:r>
              <a:rPr lang="de-CH" sz="2400" dirty="0"/>
              <a:t> LHS = 250 </a:t>
            </a:r>
            <a:r>
              <a:rPr lang="de-CH" sz="2400" dirty="0" err="1" smtClean="0"/>
              <a:t>instead</a:t>
            </a:r>
            <a:r>
              <a:rPr lang="de-CH" sz="2400" dirty="0" smtClean="0"/>
              <a:t> </a:t>
            </a:r>
            <a:r>
              <a:rPr lang="de-CH" sz="2400" dirty="0" err="1" smtClean="0"/>
              <a:t>of</a:t>
            </a:r>
            <a:r>
              <a:rPr lang="de-CH" sz="2400" dirty="0" smtClean="0"/>
              <a:t> 100</a:t>
            </a:r>
          </a:p>
          <a:p>
            <a:pPr marL="285750" indent="-285750">
              <a:buFont typeface="Arial" panose="020B0604020202020204" pitchFamily="34" charset="0"/>
              <a:buChar char="•"/>
            </a:pPr>
            <a:r>
              <a:rPr lang="de-CH" sz="2400" dirty="0" err="1" smtClean="0"/>
              <a:t>Include</a:t>
            </a:r>
            <a:r>
              <a:rPr lang="de-CH" sz="2400" dirty="0" smtClean="0"/>
              <a:t> IRS </a:t>
            </a:r>
            <a:r>
              <a:rPr lang="de-CH" sz="2400" dirty="0" err="1" smtClean="0"/>
              <a:t>and</a:t>
            </a:r>
            <a:r>
              <a:rPr lang="de-CH" sz="2400" dirty="0" smtClean="0"/>
              <a:t> CM</a:t>
            </a:r>
          </a:p>
          <a:p>
            <a:pPr marL="285750" indent="-285750">
              <a:buFont typeface="Arial" panose="020B0604020202020204" pitchFamily="34" charset="0"/>
              <a:buChar char="•"/>
            </a:pPr>
            <a:r>
              <a:rPr lang="de-CH" sz="2400" dirty="0" smtClean="0"/>
              <a:t>Train a GP </a:t>
            </a:r>
            <a:r>
              <a:rPr lang="de-CH" sz="2400" dirty="0" err="1" smtClean="0"/>
              <a:t>model</a:t>
            </a:r>
            <a:r>
              <a:rPr lang="de-CH" sz="2400" dirty="0" smtClean="0"/>
              <a:t> </a:t>
            </a:r>
            <a:r>
              <a:rPr lang="de-CH" sz="2400" dirty="0" err="1" smtClean="0"/>
              <a:t>for</a:t>
            </a:r>
            <a:r>
              <a:rPr lang="de-CH" sz="2400" dirty="0" smtClean="0"/>
              <a:t> </a:t>
            </a:r>
            <a:r>
              <a:rPr lang="de-CH" sz="2400" dirty="0" err="1" smtClean="0"/>
              <a:t>each</a:t>
            </a:r>
            <a:r>
              <a:rPr lang="de-CH" sz="2400" dirty="0" smtClean="0"/>
              <a:t> </a:t>
            </a:r>
            <a:r>
              <a:rPr lang="de-CH" sz="2400" dirty="0" err="1" smtClean="0"/>
              <a:t>setting</a:t>
            </a:r>
            <a:r>
              <a:rPr lang="de-CH" sz="2400" dirty="0" smtClean="0"/>
              <a:t> </a:t>
            </a:r>
            <a:r>
              <a:rPr lang="de-CH" sz="2400" dirty="0" err="1" smtClean="0"/>
              <a:t>for</a:t>
            </a:r>
            <a:r>
              <a:rPr lang="de-CH" sz="2400" dirty="0" smtClean="0"/>
              <a:t> </a:t>
            </a:r>
            <a:r>
              <a:rPr lang="de-CH" sz="2400" dirty="0"/>
              <a:t>0</a:t>
            </a:r>
            <a:r>
              <a:rPr lang="de-CH" sz="2400" dirty="0" smtClean="0"/>
              <a:t>-5 </a:t>
            </a:r>
            <a:r>
              <a:rPr lang="de-CH" sz="2400" dirty="0" err="1" smtClean="0"/>
              <a:t>age_group</a:t>
            </a:r>
            <a:r>
              <a:rPr lang="de-CH" sz="2400" dirty="0" smtClean="0"/>
              <a:t>, </a:t>
            </a:r>
            <a:r>
              <a:rPr lang="de-CH" sz="2400" dirty="0" err="1" smtClean="0"/>
              <a:t>using</a:t>
            </a:r>
            <a:r>
              <a:rPr lang="de-CH" sz="2400" dirty="0" smtClean="0"/>
              <a:t> EIR </a:t>
            </a:r>
            <a:r>
              <a:rPr lang="de-CH" sz="2400" dirty="0" err="1" smtClean="0"/>
              <a:t>full</a:t>
            </a:r>
            <a:r>
              <a:rPr lang="de-CH" sz="2400" dirty="0" smtClean="0"/>
              <a:t> </a:t>
            </a:r>
            <a:r>
              <a:rPr lang="de-CH" sz="2400" dirty="0" err="1" smtClean="0"/>
              <a:t>range</a:t>
            </a:r>
            <a:r>
              <a:rPr lang="de-CH" sz="2400" dirty="0" smtClean="0"/>
              <a:t> </a:t>
            </a:r>
            <a:r>
              <a:rPr lang="de-CH" sz="2400" dirty="0" err="1" smtClean="0"/>
              <a:t>from</a:t>
            </a:r>
            <a:r>
              <a:rPr lang="de-CH" sz="2400" dirty="0" smtClean="0"/>
              <a:t> OM </a:t>
            </a:r>
            <a:r>
              <a:rPr lang="de-CH" sz="2400" dirty="0" err="1" smtClean="0"/>
              <a:t>outputs</a:t>
            </a:r>
            <a:r>
              <a:rPr lang="de-CH" sz="2400" dirty="0" smtClean="0"/>
              <a:t> + </a:t>
            </a:r>
            <a:r>
              <a:rPr lang="de-CH" sz="2400" dirty="0" err="1" smtClean="0"/>
              <a:t>deployed</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Setting </a:t>
            </a:r>
            <a:r>
              <a:rPr lang="de-CH" sz="2400" dirty="0" err="1" smtClean="0"/>
              <a:t>specific</a:t>
            </a:r>
            <a:r>
              <a:rPr lang="de-CH" sz="2400" dirty="0" smtClean="0"/>
              <a:t> EIR will </a:t>
            </a:r>
            <a:r>
              <a:rPr lang="de-CH" sz="2400" dirty="0" err="1" smtClean="0"/>
              <a:t>use</a:t>
            </a:r>
            <a:r>
              <a:rPr lang="de-CH" sz="2400" dirty="0" smtClean="0"/>
              <a:t> </a:t>
            </a:r>
            <a:r>
              <a:rPr lang="de-CH" sz="2400" b="1" dirty="0" smtClean="0"/>
              <a:t>min </a:t>
            </a:r>
            <a:r>
              <a:rPr lang="de-CH" sz="2400" b="1" dirty="0" err="1" smtClean="0"/>
              <a:t>EIR_lci</a:t>
            </a:r>
            <a:r>
              <a:rPr lang="de-CH" sz="2400" b="1" dirty="0" smtClean="0"/>
              <a:t> </a:t>
            </a:r>
            <a:r>
              <a:rPr lang="de-CH" sz="2400" b="1" dirty="0" err="1" smtClean="0"/>
              <a:t>and</a:t>
            </a:r>
            <a:r>
              <a:rPr lang="de-CH" sz="2400" b="1" dirty="0" smtClean="0"/>
              <a:t> </a:t>
            </a:r>
            <a:r>
              <a:rPr lang="de-CH" sz="2400" b="1" dirty="0" err="1" smtClean="0"/>
              <a:t>EIR_uci</a:t>
            </a:r>
            <a:r>
              <a:rPr lang="de-CH" sz="2400" b="1" dirty="0" smtClean="0"/>
              <a:t> </a:t>
            </a:r>
            <a:r>
              <a:rPr lang="de-CH" sz="2400" dirty="0" err="1"/>
              <a:t>values</a:t>
            </a:r>
            <a:r>
              <a:rPr lang="de-CH" sz="2400" dirty="0"/>
              <a:t> </a:t>
            </a:r>
            <a:r>
              <a:rPr lang="de-CH" sz="2400" b="1" dirty="0" err="1" smtClean="0"/>
              <a:t>across</a:t>
            </a:r>
            <a:r>
              <a:rPr lang="de-CH" sz="2400" b="1" dirty="0" smtClean="0"/>
              <a:t> </a:t>
            </a:r>
            <a:r>
              <a:rPr lang="de-CH" sz="2400" b="1" dirty="0" err="1" smtClean="0"/>
              <a:t>sub</a:t>
            </a:r>
            <a:r>
              <a:rPr lang="de-CH" sz="2400" b="1" dirty="0" smtClean="0"/>
              <a:t> </a:t>
            </a:r>
            <a:r>
              <a:rPr lang="de-CH" sz="2400" dirty="0" err="1" smtClean="0"/>
              <a:t>as</a:t>
            </a:r>
            <a:r>
              <a:rPr lang="de-CH" sz="2400" dirty="0" smtClean="0"/>
              <a:t> </a:t>
            </a:r>
            <a:r>
              <a:rPr lang="de-CH" sz="2400" dirty="0" err="1" smtClean="0"/>
              <a:t>param</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Sobol </a:t>
            </a:r>
            <a:r>
              <a:rPr lang="de-CH" sz="2400" dirty="0" err="1" smtClean="0"/>
              <a:t>Sensitivity</a:t>
            </a:r>
            <a:r>
              <a:rPr lang="de-CH" sz="2400" dirty="0" smtClean="0"/>
              <a:t> </a:t>
            </a:r>
            <a:r>
              <a:rPr lang="de-CH" sz="2400" dirty="0" err="1" smtClean="0"/>
              <a:t>analysis</a:t>
            </a:r>
            <a:r>
              <a:rPr lang="de-CH" sz="2400" dirty="0" smtClean="0"/>
              <a:t> </a:t>
            </a:r>
            <a:r>
              <a:rPr lang="de-CH" sz="2400" dirty="0" err="1" smtClean="0"/>
              <a:t>uses</a:t>
            </a:r>
            <a:r>
              <a:rPr lang="de-CH" sz="2400" dirty="0" smtClean="0"/>
              <a:t> </a:t>
            </a:r>
            <a:r>
              <a:rPr lang="de-CH" sz="2400" dirty="0" err="1" smtClean="0"/>
              <a:t>setting-specific</a:t>
            </a:r>
            <a:r>
              <a:rPr lang="de-CH" sz="2400" dirty="0" smtClean="0"/>
              <a:t> EIR + </a:t>
            </a:r>
            <a:r>
              <a:rPr lang="de-CH" sz="2400" dirty="0" err="1" smtClean="0"/>
              <a:t>realistic</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r>
              <a:rPr lang="de-CH" sz="2400" dirty="0" smtClean="0"/>
              <a:t> </a:t>
            </a:r>
            <a:r>
              <a:rPr lang="de-CH" sz="2400" dirty="0" err="1" smtClean="0"/>
              <a:t>of</a:t>
            </a:r>
            <a:r>
              <a:rPr lang="de-CH" sz="2400" dirty="0" smtClean="0"/>
              <a:t> </a:t>
            </a:r>
            <a:r>
              <a:rPr lang="de-CH" sz="2400" dirty="0" err="1" smtClean="0"/>
              <a:t>interventions</a:t>
            </a:r>
            <a:r>
              <a:rPr lang="de-CH" sz="2400" dirty="0" smtClean="0"/>
              <a:t> </a:t>
            </a:r>
            <a:r>
              <a:rPr lang="de-CH" sz="2400" dirty="0" err="1" smtClean="0"/>
              <a:t>to</a:t>
            </a:r>
            <a:r>
              <a:rPr lang="de-CH" sz="2400" dirty="0" smtClean="0"/>
              <a:t> </a:t>
            </a:r>
            <a:r>
              <a:rPr lang="de-CH" sz="2400" dirty="0" err="1" smtClean="0"/>
              <a:t>be</a:t>
            </a:r>
            <a:r>
              <a:rPr lang="de-CH" sz="2400" dirty="0" smtClean="0"/>
              <a:t> </a:t>
            </a:r>
            <a:r>
              <a:rPr lang="de-CH" sz="2400" dirty="0" err="1" smtClean="0"/>
              <a:t>deployed</a:t>
            </a:r>
            <a:endParaRPr lang="de-CH" sz="2400" dirty="0" smtClean="0"/>
          </a:p>
          <a:p>
            <a:pPr marL="285750" indent="-285750">
              <a:buFont typeface="Arial" panose="020B0604020202020204" pitchFamily="34" charset="0"/>
              <a:buChar char="•"/>
            </a:pPr>
            <a:r>
              <a:rPr lang="de-CH" sz="2400" dirty="0" smtClean="0"/>
              <a:t>Non-</a:t>
            </a:r>
            <a:r>
              <a:rPr lang="de-CH" sz="2400" dirty="0" err="1" smtClean="0"/>
              <a:t>deployed</a:t>
            </a:r>
            <a:r>
              <a:rPr lang="de-CH" sz="2400" dirty="0" smtClean="0"/>
              <a:t> </a:t>
            </a:r>
            <a:r>
              <a:rPr lang="de-CH" sz="2400" dirty="0" err="1" smtClean="0"/>
              <a:t>interventions</a:t>
            </a:r>
            <a:r>
              <a:rPr lang="de-CH" sz="2400" dirty="0" smtClean="0"/>
              <a:t> </a:t>
            </a:r>
            <a:r>
              <a:rPr lang="de-CH" sz="2400" dirty="0" err="1" smtClean="0"/>
              <a:t>are</a:t>
            </a:r>
            <a:r>
              <a:rPr lang="de-CH" sz="2400" dirty="0" smtClean="0"/>
              <a:t> </a:t>
            </a:r>
            <a:r>
              <a:rPr lang="de-CH" sz="2400" dirty="0" err="1" smtClean="0"/>
              <a:t>indicated</a:t>
            </a:r>
            <a:r>
              <a:rPr lang="de-CH" sz="2400" dirty="0" smtClean="0"/>
              <a:t> </a:t>
            </a:r>
            <a:r>
              <a:rPr lang="de-CH" sz="2400" dirty="0" err="1" smtClean="0"/>
              <a:t>as</a:t>
            </a:r>
            <a:r>
              <a:rPr lang="de-CH" sz="2400" dirty="0" smtClean="0"/>
              <a:t> NA on </a:t>
            </a:r>
            <a:r>
              <a:rPr lang="de-CH" sz="2400" dirty="0" err="1" smtClean="0"/>
              <a:t>the</a:t>
            </a:r>
            <a:r>
              <a:rPr lang="de-CH" sz="2400" dirty="0" smtClean="0"/>
              <a:t> </a:t>
            </a:r>
            <a:r>
              <a:rPr lang="de-CH" sz="2400" dirty="0" err="1" smtClean="0"/>
              <a:t>plot</a:t>
            </a:r>
            <a:endParaRPr lang="de-CH" sz="2400" dirty="0" smtClean="0"/>
          </a:p>
          <a:p>
            <a:endParaRPr lang="de-CH" sz="2400" dirty="0" smtClean="0"/>
          </a:p>
          <a:p>
            <a:pPr marL="285750" indent="-285750">
              <a:buFont typeface="Arial" panose="020B0604020202020204" pitchFamily="34" charset="0"/>
              <a:buChar char="•"/>
            </a:pPr>
            <a:r>
              <a:rPr lang="de-CH" sz="2400" dirty="0" smtClean="0"/>
              <a:t>Parameter </a:t>
            </a:r>
            <a:r>
              <a:rPr lang="de-CH" sz="2400" dirty="0" err="1" smtClean="0"/>
              <a:t>ranges</a:t>
            </a:r>
            <a:r>
              <a:rPr lang="de-CH" sz="2400" dirty="0" smtClean="0"/>
              <a:t>:</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futcovSMC0to5JulOct_min = 0.4, futcovSMC0to5JulOct_max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futRTSS3covStart2023_min = 0.5, futRTSS3covStart2023_max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 futNetcovstart2021_min = 0.2, futNetcovstart2021_max = 0.8</a:t>
            </a:r>
          </a:p>
          <a:p>
            <a:endParaRPr lang="de-CH" sz="2400" dirty="0" smtClean="0"/>
          </a:p>
        </p:txBody>
      </p:sp>
    </p:spTree>
    <p:extLst>
      <p:ext uri="{BB962C8B-B14F-4D97-AF65-F5344CB8AC3E}">
        <p14:creationId xmlns:p14="http://schemas.microsoft.com/office/powerpoint/2010/main" val="1054750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smtClean="0">
                <a:latin typeface="+mn-lt"/>
              </a:rPr>
              <a:t>workflow</a:t>
            </a:r>
            <a:endParaRPr lang="de-CH" sz="2800" dirty="0">
              <a:latin typeface="+mn-lt"/>
            </a:endParaRPr>
          </a:p>
        </p:txBody>
      </p:sp>
      <p:pic>
        <p:nvPicPr>
          <p:cNvPr id="2" name="Picture 1"/>
          <p:cNvPicPr>
            <a:picLocks noChangeAspect="1"/>
          </p:cNvPicPr>
          <p:nvPr/>
        </p:nvPicPr>
        <p:blipFill>
          <a:blip r:embed="rId3"/>
          <a:stretch>
            <a:fillRect/>
          </a:stretch>
        </p:blipFill>
        <p:spPr>
          <a:xfrm>
            <a:off x="459125" y="845308"/>
            <a:ext cx="11176762" cy="5841960"/>
          </a:xfrm>
          <a:prstGeom prst="rect">
            <a:avLst/>
          </a:prstGeom>
        </p:spPr>
      </p:pic>
    </p:spTree>
    <p:extLst>
      <p:ext uri="{BB962C8B-B14F-4D97-AF65-F5344CB8AC3E}">
        <p14:creationId xmlns:p14="http://schemas.microsoft.com/office/powerpoint/2010/main" val="823121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1492</Words>
  <Application>Microsoft Office PowerPoint</Application>
  <PresentationFormat>Widescreen</PresentationFormat>
  <Paragraphs>155</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Calibri Light</vt:lpstr>
      <vt:lpstr>Cambria Math</vt:lpstr>
      <vt:lpstr>Palatino Linotype</vt:lpstr>
      <vt:lpstr>Slack-Lato</vt:lpstr>
      <vt:lpstr>Symbol</vt:lpstr>
      <vt:lpstr>Times New Roman</vt:lpstr>
      <vt:lpstr>Office Theme</vt:lpstr>
      <vt:lpstr>PowerPoint Presentation</vt:lpstr>
      <vt:lpstr>Aim</vt:lpstr>
      <vt:lpstr>PowerPoint Presentation</vt:lpstr>
      <vt:lpstr>Research Objectives</vt:lpstr>
      <vt:lpstr>Variance-based sensitivity analysis (Sobol)</vt:lpstr>
      <vt:lpstr>Objective 1 – Modifying the existing workflow</vt:lpstr>
      <vt:lpstr>1 – LHS vs MED SAMPLING (100 POINTS) </vt:lpstr>
      <vt:lpstr>1 – LHS or ME sampling during simulation setup cuts runtime drastically </vt:lpstr>
      <vt:lpstr>2 – GP performance evaluation - learning of prevalence reduction gives good statistical   correspondence     Actual vs predict for 3 settings: full EIR sweep for UE and LHS for Oti and BE </vt:lpstr>
      <vt:lpstr>2 – GP performance evaluation - learning of prevalence reduction gives good statistical   correspondence  Actual vs predict using different LHS sample sizes for UE4</vt:lpstr>
      <vt:lpstr>2 – GP performance evaluation - learning of prevalence reduction gives good statistical   correspondence  Actual vs predict using different LHS sample sizes for UE4</vt:lpstr>
      <vt:lpstr>3 - Sobol methods comparison</vt:lpstr>
      <vt:lpstr>3 - Sobol methods comparison</vt:lpstr>
      <vt:lpstr>3 - Sobol sensitivity analysis with setting-specific EIR and realistic intervention coverage ranges – APPROACH 1a</vt:lpstr>
      <vt:lpstr>Sobol indices for 35 settings  after integrating the above findings in the existing workflow </vt:lpstr>
      <vt:lpstr>3 - Sobol sensitivity analysis with setting-specific EIR and realistic intervention coverage ranges – APPROACH 2a</vt:lpstr>
      <vt:lpstr>Sobol indices for 35 settings  after integrating the above findings in the existing workflow – approach 2</vt:lpstr>
      <vt:lpstr>3 - Sobol sensitivity analysis with setting-specific EIR and realistic intervention coverage ranges – APPROACH 1b</vt:lpstr>
      <vt:lpstr>calibrationEIR_2010 and 2015</vt:lpstr>
      <vt:lpstr>PowerPoint Presentation</vt:lpstr>
      <vt:lpstr>Sobol indices for 35 settings  after integrating the above findings in the existing workflow – approach 2</vt:lpstr>
      <vt:lpstr>2 – GP performance evaluation - learning of prevalence reduction gives good statistical   correspondence  LHS sample sizes for UE4 vs R-squared</vt:lpstr>
      <vt:lpstr>Current setup for OM simulations and sensitivity analysis</vt:lpstr>
      <vt:lpstr>Sobol indices for 35 settings  after integrating the above findings in the existing workflow</vt:lpstr>
    </vt:vector>
  </TitlesOfParts>
  <Company>Swiss TPH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Zenabu Suboi</dc:creator>
  <cp:lastModifiedBy>Zenabu Suboi</cp:lastModifiedBy>
  <cp:revision>35</cp:revision>
  <dcterms:created xsi:type="dcterms:W3CDTF">2025-02-11T12:13:33Z</dcterms:created>
  <dcterms:modified xsi:type="dcterms:W3CDTF">2025-03-07T10:03:21Z</dcterms:modified>
</cp:coreProperties>
</file>