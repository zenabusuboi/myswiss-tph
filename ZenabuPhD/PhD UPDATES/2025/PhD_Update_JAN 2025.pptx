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7" r:id="rId2"/>
    <p:sldId id="258" r:id="rId3"/>
    <p:sldId id="259" r:id="rId4"/>
    <p:sldId id="260" r:id="rId5"/>
    <p:sldId id="275" r:id="rId6"/>
    <p:sldId id="263" r:id="rId7"/>
    <p:sldId id="264" r:id="rId8"/>
    <p:sldId id="268" r:id="rId9"/>
    <p:sldId id="269" r:id="rId10"/>
    <p:sldId id="283" r:id="rId11"/>
    <p:sldId id="284" r:id="rId12"/>
    <p:sldId id="276" r:id="rId13"/>
    <p:sldId id="270" r:id="rId14"/>
    <p:sldId id="272" r:id="rId15"/>
    <p:sldId id="280" r:id="rId16"/>
    <p:sldId id="271" r:id="rId17"/>
    <p:sldId id="285" r:id="rId18"/>
    <p:sldId id="286" r:id="rId19"/>
    <p:sldId id="281" r:id="rId20"/>
    <p:sldId id="282" r:id="rId21"/>
    <p:sldId id="277" r:id="rId22"/>
    <p:sldId id="279" r:id="rId23"/>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66" autoAdjust="0"/>
    <p:restoredTop sz="94660"/>
  </p:normalViewPr>
  <p:slideViewPr>
    <p:cSldViewPr snapToGrid="0">
      <p:cViewPr varScale="1">
        <p:scale>
          <a:sx n="69" d="100"/>
          <a:sy n="69" d="100"/>
        </p:scale>
        <p:origin x="52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E7982B6-261F-4E0D-85CF-AFB8898FA926}" type="doc">
      <dgm:prSet loTypeId="urn:microsoft.com/office/officeart/2005/8/layout/vList6" loCatId="list" qsTypeId="urn:microsoft.com/office/officeart/2005/8/quickstyle/simple3" qsCatId="simple" csTypeId="urn:microsoft.com/office/officeart/2005/8/colors/accent1_2" csCatId="accent1" phldr="1"/>
      <dgm:spPr/>
      <dgm:t>
        <a:bodyPr/>
        <a:lstStyle/>
        <a:p>
          <a:endParaRPr lang="en-US"/>
        </a:p>
      </dgm:t>
    </dgm:pt>
    <dgm:pt modelId="{6BD30B86-6E63-484E-9CF9-D5C6180BE587}">
      <dgm:prSet phldrT="[Text]" custT="1"/>
      <dgm:spPr/>
      <dgm:t>
        <a:bodyPr/>
        <a:lstStyle/>
        <a:p>
          <a:r>
            <a:rPr lang="en-US" sz="2800" dirty="0" smtClean="0"/>
            <a:t>Forward Propagation of Uncertainty</a:t>
          </a:r>
          <a:endParaRPr lang="en-US" sz="2800" dirty="0"/>
        </a:p>
      </dgm:t>
    </dgm:pt>
    <dgm:pt modelId="{E550FB3D-3EE7-453C-9528-C2A578C98294}" type="parTrans" cxnId="{4C1FD9F4-5CD8-42FF-ACF4-CE191FA36AEB}">
      <dgm:prSet/>
      <dgm:spPr/>
      <dgm:t>
        <a:bodyPr/>
        <a:lstStyle/>
        <a:p>
          <a:endParaRPr lang="en-US"/>
        </a:p>
      </dgm:t>
    </dgm:pt>
    <dgm:pt modelId="{C3B58F22-DF41-4CBC-A43D-5B82C008BEF1}" type="sibTrans" cxnId="{4C1FD9F4-5CD8-42FF-ACF4-CE191FA36AEB}">
      <dgm:prSet/>
      <dgm:spPr/>
      <dgm:t>
        <a:bodyPr/>
        <a:lstStyle/>
        <a:p>
          <a:endParaRPr lang="en-US"/>
        </a:p>
      </dgm:t>
    </dgm:pt>
    <dgm:pt modelId="{6B2FAED9-D35B-40EF-8571-857622692A77}">
      <dgm:prSet phldrT="[Text]" custT="1"/>
      <dgm:spPr/>
      <dgm:t>
        <a:bodyPr/>
        <a:lstStyle/>
        <a:p>
          <a:r>
            <a:rPr lang="en-US" sz="2800" dirty="0" smtClean="0"/>
            <a:t>Investigates the impacts of random input values of model parameters on model outputs</a:t>
          </a:r>
          <a:endParaRPr lang="en-US" sz="2800" dirty="0"/>
        </a:p>
      </dgm:t>
    </dgm:pt>
    <dgm:pt modelId="{36446724-EDA3-4799-BE41-305A8FE567CC}" type="parTrans" cxnId="{412359B2-18DB-4350-846A-9E645FB4A7EF}">
      <dgm:prSet/>
      <dgm:spPr/>
      <dgm:t>
        <a:bodyPr/>
        <a:lstStyle/>
        <a:p>
          <a:endParaRPr lang="en-US"/>
        </a:p>
      </dgm:t>
    </dgm:pt>
    <dgm:pt modelId="{9C197227-3985-4A0F-8C70-6DA014A00B96}" type="sibTrans" cxnId="{412359B2-18DB-4350-846A-9E645FB4A7EF}">
      <dgm:prSet/>
      <dgm:spPr/>
      <dgm:t>
        <a:bodyPr/>
        <a:lstStyle/>
        <a:p>
          <a:endParaRPr lang="en-US"/>
        </a:p>
      </dgm:t>
    </dgm:pt>
    <dgm:pt modelId="{8813CC15-E3AF-4EE9-8CC3-08E0DF124B2B}">
      <dgm:prSet phldrT="[Text]" custT="1"/>
      <dgm:spPr/>
      <dgm:t>
        <a:bodyPr/>
        <a:lstStyle/>
        <a:p>
          <a:r>
            <a:rPr lang="en-US" sz="2800" dirty="0" smtClean="0"/>
            <a:t>Inverse Uncertainty Quantification</a:t>
          </a:r>
          <a:endParaRPr lang="en-US" sz="2800" dirty="0"/>
        </a:p>
      </dgm:t>
    </dgm:pt>
    <dgm:pt modelId="{CE7CB66D-843B-4D82-ACAE-307F659C6710}" type="parTrans" cxnId="{EA2C217A-5BBF-4435-9F5B-0883B361B148}">
      <dgm:prSet/>
      <dgm:spPr/>
      <dgm:t>
        <a:bodyPr/>
        <a:lstStyle/>
        <a:p>
          <a:endParaRPr lang="en-US"/>
        </a:p>
      </dgm:t>
    </dgm:pt>
    <dgm:pt modelId="{1ED23F48-7363-4CE9-8B2C-FED4F4DB44AD}" type="sibTrans" cxnId="{EA2C217A-5BBF-4435-9F5B-0883B361B148}">
      <dgm:prSet/>
      <dgm:spPr/>
      <dgm:t>
        <a:bodyPr/>
        <a:lstStyle/>
        <a:p>
          <a:endParaRPr lang="en-US"/>
        </a:p>
      </dgm:t>
    </dgm:pt>
    <dgm:pt modelId="{53A706F1-7BE7-4B65-8C79-64D92BB217B0}">
      <dgm:prSet phldrT="[Text]" custT="1"/>
      <dgm:spPr/>
      <dgm:t>
        <a:bodyPr/>
        <a:lstStyle/>
        <a:p>
          <a:r>
            <a:rPr lang="en-US" sz="2800" dirty="0" smtClean="0"/>
            <a:t>using experimental data to learn about the sources of modeling uncertainty</a:t>
          </a:r>
          <a:endParaRPr lang="en-US" sz="2800" dirty="0"/>
        </a:p>
      </dgm:t>
    </dgm:pt>
    <dgm:pt modelId="{84C15831-477D-44C5-8EF7-3058C1722A7A}" type="parTrans" cxnId="{3517BC94-0B70-4749-8E13-46F75F6A0C6C}">
      <dgm:prSet/>
      <dgm:spPr/>
      <dgm:t>
        <a:bodyPr/>
        <a:lstStyle/>
        <a:p>
          <a:endParaRPr lang="en-US"/>
        </a:p>
      </dgm:t>
    </dgm:pt>
    <dgm:pt modelId="{F24A94F5-7CF3-43C4-BDCF-42C4BCCE841B}" type="sibTrans" cxnId="{3517BC94-0B70-4749-8E13-46F75F6A0C6C}">
      <dgm:prSet/>
      <dgm:spPr/>
      <dgm:t>
        <a:bodyPr/>
        <a:lstStyle/>
        <a:p>
          <a:endParaRPr lang="en-US"/>
        </a:p>
      </dgm:t>
    </dgm:pt>
    <dgm:pt modelId="{F6BC2A56-8E24-4633-9F0F-74F252669F27}" type="pres">
      <dgm:prSet presAssocID="{1E7982B6-261F-4E0D-85CF-AFB8898FA926}" presName="Name0" presStyleCnt="0">
        <dgm:presLayoutVars>
          <dgm:dir/>
          <dgm:animLvl val="lvl"/>
          <dgm:resizeHandles/>
        </dgm:presLayoutVars>
      </dgm:prSet>
      <dgm:spPr/>
      <dgm:t>
        <a:bodyPr/>
        <a:lstStyle/>
        <a:p>
          <a:endParaRPr lang="en-US"/>
        </a:p>
      </dgm:t>
    </dgm:pt>
    <dgm:pt modelId="{5C9A9BF0-147B-4478-A0E6-6DFE025FBCAC}" type="pres">
      <dgm:prSet presAssocID="{6BD30B86-6E63-484E-9CF9-D5C6180BE587}" presName="linNode" presStyleCnt="0"/>
      <dgm:spPr/>
    </dgm:pt>
    <dgm:pt modelId="{40BCD131-2073-4EDE-9795-02928553C85F}" type="pres">
      <dgm:prSet presAssocID="{6BD30B86-6E63-484E-9CF9-D5C6180BE587}" presName="parentShp" presStyleLbl="node1" presStyleIdx="0" presStyleCnt="2" custLinFactNeighborY="-26">
        <dgm:presLayoutVars>
          <dgm:bulletEnabled val="1"/>
        </dgm:presLayoutVars>
      </dgm:prSet>
      <dgm:spPr/>
      <dgm:t>
        <a:bodyPr/>
        <a:lstStyle/>
        <a:p>
          <a:endParaRPr lang="en-US"/>
        </a:p>
      </dgm:t>
    </dgm:pt>
    <dgm:pt modelId="{234E15B5-1992-433F-AE7A-2BD232D5F9C1}" type="pres">
      <dgm:prSet presAssocID="{6BD30B86-6E63-484E-9CF9-D5C6180BE587}" presName="childShp" presStyleLbl="bgAccFollowNode1" presStyleIdx="0" presStyleCnt="2" custLinFactNeighborX="-358" custLinFactNeighborY="-26">
        <dgm:presLayoutVars>
          <dgm:bulletEnabled val="1"/>
        </dgm:presLayoutVars>
      </dgm:prSet>
      <dgm:spPr/>
      <dgm:t>
        <a:bodyPr/>
        <a:lstStyle/>
        <a:p>
          <a:endParaRPr lang="en-US"/>
        </a:p>
      </dgm:t>
    </dgm:pt>
    <dgm:pt modelId="{147B896B-C0B3-4FD6-BB5D-C71145D3502F}" type="pres">
      <dgm:prSet presAssocID="{C3B58F22-DF41-4CBC-A43D-5B82C008BEF1}" presName="spacing" presStyleCnt="0"/>
      <dgm:spPr/>
    </dgm:pt>
    <dgm:pt modelId="{C8195DB9-FD51-4F69-B60F-250E8247B09B}" type="pres">
      <dgm:prSet presAssocID="{8813CC15-E3AF-4EE9-8CC3-08E0DF124B2B}" presName="linNode" presStyleCnt="0"/>
      <dgm:spPr/>
    </dgm:pt>
    <dgm:pt modelId="{116AF5B1-E45C-4738-8EBC-F071EB4E45FD}" type="pres">
      <dgm:prSet presAssocID="{8813CC15-E3AF-4EE9-8CC3-08E0DF124B2B}" presName="parentShp" presStyleLbl="node1" presStyleIdx="1" presStyleCnt="2">
        <dgm:presLayoutVars>
          <dgm:bulletEnabled val="1"/>
        </dgm:presLayoutVars>
      </dgm:prSet>
      <dgm:spPr/>
      <dgm:t>
        <a:bodyPr/>
        <a:lstStyle/>
        <a:p>
          <a:endParaRPr lang="en-US"/>
        </a:p>
      </dgm:t>
    </dgm:pt>
    <dgm:pt modelId="{AF97286F-DE4D-4D21-923A-0C8E3289DDB2}" type="pres">
      <dgm:prSet presAssocID="{8813CC15-E3AF-4EE9-8CC3-08E0DF124B2B}" presName="childShp" presStyleLbl="bgAccFollowNode1" presStyleIdx="1" presStyleCnt="2">
        <dgm:presLayoutVars>
          <dgm:bulletEnabled val="1"/>
        </dgm:presLayoutVars>
      </dgm:prSet>
      <dgm:spPr/>
      <dgm:t>
        <a:bodyPr/>
        <a:lstStyle/>
        <a:p>
          <a:endParaRPr lang="en-US"/>
        </a:p>
      </dgm:t>
    </dgm:pt>
  </dgm:ptLst>
  <dgm:cxnLst>
    <dgm:cxn modelId="{3517BC94-0B70-4749-8E13-46F75F6A0C6C}" srcId="{8813CC15-E3AF-4EE9-8CC3-08E0DF124B2B}" destId="{53A706F1-7BE7-4B65-8C79-64D92BB217B0}" srcOrd="0" destOrd="0" parTransId="{84C15831-477D-44C5-8EF7-3058C1722A7A}" sibTransId="{F24A94F5-7CF3-43C4-BDCF-42C4BCCE841B}"/>
    <dgm:cxn modelId="{4C1FD9F4-5CD8-42FF-ACF4-CE191FA36AEB}" srcId="{1E7982B6-261F-4E0D-85CF-AFB8898FA926}" destId="{6BD30B86-6E63-484E-9CF9-D5C6180BE587}" srcOrd="0" destOrd="0" parTransId="{E550FB3D-3EE7-453C-9528-C2A578C98294}" sibTransId="{C3B58F22-DF41-4CBC-A43D-5B82C008BEF1}"/>
    <dgm:cxn modelId="{DA6BDA08-0FC6-4E53-AB47-241F6623AEF4}" type="presOf" srcId="{1E7982B6-261F-4E0D-85CF-AFB8898FA926}" destId="{F6BC2A56-8E24-4633-9F0F-74F252669F27}" srcOrd="0" destOrd="0" presId="urn:microsoft.com/office/officeart/2005/8/layout/vList6"/>
    <dgm:cxn modelId="{A0405EAE-990B-4F20-B289-67131FB4278D}" type="presOf" srcId="{8813CC15-E3AF-4EE9-8CC3-08E0DF124B2B}" destId="{116AF5B1-E45C-4738-8EBC-F071EB4E45FD}" srcOrd="0" destOrd="0" presId="urn:microsoft.com/office/officeart/2005/8/layout/vList6"/>
    <dgm:cxn modelId="{51D2EB02-6BD6-422D-9314-1F385B053707}" type="presOf" srcId="{6BD30B86-6E63-484E-9CF9-D5C6180BE587}" destId="{40BCD131-2073-4EDE-9795-02928553C85F}" srcOrd="0" destOrd="0" presId="urn:microsoft.com/office/officeart/2005/8/layout/vList6"/>
    <dgm:cxn modelId="{A1F09CA7-7683-4B05-9E24-EA96970D0CE2}" type="presOf" srcId="{53A706F1-7BE7-4B65-8C79-64D92BB217B0}" destId="{AF97286F-DE4D-4D21-923A-0C8E3289DDB2}" srcOrd="0" destOrd="0" presId="urn:microsoft.com/office/officeart/2005/8/layout/vList6"/>
    <dgm:cxn modelId="{412359B2-18DB-4350-846A-9E645FB4A7EF}" srcId="{6BD30B86-6E63-484E-9CF9-D5C6180BE587}" destId="{6B2FAED9-D35B-40EF-8571-857622692A77}" srcOrd="0" destOrd="0" parTransId="{36446724-EDA3-4799-BE41-305A8FE567CC}" sibTransId="{9C197227-3985-4A0F-8C70-6DA014A00B96}"/>
    <dgm:cxn modelId="{A4404D18-9CBF-4384-8998-477683FAA36D}" type="presOf" srcId="{6B2FAED9-D35B-40EF-8571-857622692A77}" destId="{234E15B5-1992-433F-AE7A-2BD232D5F9C1}" srcOrd="0" destOrd="0" presId="urn:microsoft.com/office/officeart/2005/8/layout/vList6"/>
    <dgm:cxn modelId="{EA2C217A-5BBF-4435-9F5B-0883B361B148}" srcId="{1E7982B6-261F-4E0D-85CF-AFB8898FA926}" destId="{8813CC15-E3AF-4EE9-8CC3-08E0DF124B2B}" srcOrd="1" destOrd="0" parTransId="{CE7CB66D-843B-4D82-ACAE-307F659C6710}" sibTransId="{1ED23F48-7363-4CE9-8B2C-FED4F4DB44AD}"/>
    <dgm:cxn modelId="{36754631-76C3-48D8-9A08-076AD0002927}" type="presParOf" srcId="{F6BC2A56-8E24-4633-9F0F-74F252669F27}" destId="{5C9A9BF0-147B-4478-A0E6-6DFE025FBCAC}" srcOrd="0" destOrd="0" presId="urn:microsoft.com/office/officeart/2005/8/layout/vList6"/>
    <dgm:cxn modelId="{B62D4D64-F963-4188-9EBB-A1FCD2D788A1}" type="presParOf" srcId="{5C9A9BF0-147B-4478-A0E6-6DFE025FBCAC}" destId="{40BCD131-2073-4EDE-9795-02928553C85F}" srcOrd="0" destOrd="0" presId="urn:microsoft.com/office/officeart/2005/8/layout/vList6"/>
    <dgm:cxn modelId="{D79D9F45-60D5-4931-8000-F4313BB970EC}" type="presParOf" srcId="{5C9A9BF0-147B-4478-A0E6-6DFE025FBCAC}" destId="{234E15B5-1992-433F-AE7A-2BD232D5F9C1}" srcOrd="1" destOrd="0" presId="urn:microsoft.com/office/officeart/2005/8/layout/vList6"/>
    <dgm:cxn modelId="{C96FDB45-8DA8-4286-99A5-492ABF5FC4B2}" type="presParOf" srcId="{F6BC2A56-8E24-4633-9F0F-74F252669F27}" destId="{147B896B-C0B3-4FD6-BB5D-C71145D3502F}" srcOrd="1" destOrd="0" presId="urn:microsoft.com/office/officeart/2005/8/layout/vList6"/>
    <dgm:cxn modelId="{F7BFAE50-D638-4DE9-A0B3-E3CE5E5F8963}" type="presParOf" srcId="{F6BC2A56-8E24-4633-9F0F-74F252669F27}" destId="{C8195DB9-FD51-4F69-B60F-250E8247B09B}" srcOrd="2" destOrd="0" presId="urn:microsoft.com/office/officeart/2005/8/layout/vList6"/>
    <dgm:cxn modelId="{854C853F-1733-4F57-9FAA-5E4AC053F8A2}" type="presParOf" srcId="{C8195DB9-FD51-4F69-B60F-250E8247B09B}" destId="{116AF5B1-E45C-4738-8EBC-F071EB4E45FD}" srcOrd="0" destOrd="0" presId="urn:microsoft.com/office/officeart/2005/8/layout/vList6"/>
    <dgm:cxn modelId="{BC2874F3-D691-486F-BE9C-33A6E7CBEBAE}" type="presParOf" srcId="{C8195DB9-FD51-4F69-B60F-250E8247B09B}" destId="{AF97286F-DE4D-4D21-923A-0C8E3289DDB2}" srcOrd="1" destOrd="0" presId="urn:microsoft.com/office/officeart/2005/8/layout/v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4DA2E1C-0015-4D0A-9271-50F46B3BC8A9}" type="doc">
      <dgm:prSet loTypeId="urn:microsoft.com/office/officeart/2005/8/layout/chevron1" loCatId="process" qsTypeId="urn:microsoft.com/office/officeart/2005/8/quickstyle/simple1" qsCatId="simple" csTypeId="urn:microsoft.com/office/officeart/2005/8/colors/accent2_4" csCatId="accent2" phldr="1"/>
      <dgm:spPr/>
    </dgm:pt>
    <dgm:pt modelId="{B7A7EA82-523F-4CF9-A5EE-B7644BD728C8}">
      <dgm:prSet phldrT="[Text]" custT="1"/>
      <dgm:spPr/>
      <dgm:t>
        <a:bodyPr/>
        <a:lstStyle/>
        <a:p>
          <a:r>
            <a:rPr lang="en-US" sz="1600" dirty="0" smtClean="0"/>
            <a:t>Objective 1: Understand the key drivers of impact of malaria interventions in Ghana</a:t>
          </a:r>
          <a:endParaRPr lang="en-US" sz="1600" dirty="0"/>
        </a:p>
      </dgm:t>
    </dgm:pt>
    <dgm:pt modelId="{74C039AF-64ED-4098-99B1-96742542C3A1}" type="parTrans" cxnId="{F22C7F00-EA54-4BAA-BAA8-3902A209A289}">
      <dgm:prSet/>
      <dgm:spPr/>
      <dgm:t>
        <a:bodyPr/>
        <a:lstStyle/>
        <a:p>
          <a:endParaRPr lang="en-US"/>
        </a:p>
      </dgm:t>
    </dgm:pt>
    <dgm:pt modelId="{1EEF7536-549D-4C4C-8608-47F7B5BFA429}" type="sibTrans" cxnId="{F22C7F00-EA54-4BAA-BAA8-3902A209A289}">
      <dgm:prSet/>
      <dgm:spPr/>
      <dgm:t>
        <a:bodyPr/>
        <a:lstStyle/>
        <a:p>
          <a:endParaRPr lang="en-US"/>
        </a:p>
      </dgm:t>
    </dgm:pt>
    <dgm:pt modelId="{92D4D07F-124D-4D0D-B352-090442024928}">
      <dgm:prSet phldrT="[Text]" custT="1"/>
      <dgm:spPr>
        <a:solidFill>
          <a:schemeClr val="bg2">
            <a:lumMod val="40000"/>
            <a:lumOff val="60000"/>
          </a:schemeClr>
        </a:solidFill>
      </dgm:spPr>
      <dgm:t>
        <a:bodyPr/>
        <a:lstStyle/>
        <a:p>
          <a:r>
            <a:rPr lang="en-US" sz="1600" dirty="0" smtClean="0"/>
            <a:t>Objective 3: Simulate the impact of malaria interventions in Ghana in order to support decisions for strategic planning </a:t>
          </a:r>
          <a:endParaRPr lang="en-US" sz="1600" dirty="0"/>
        </a:p>
      </dgm:t>
    </dgm:pt>
    <dgm:pt modelId="{D6A6D522-00F2-4BFA-A8DA-61CE9CAE95DB}" type="parTrans" cxnId="{186D20B6-C3C1-47F1-BFB2-4C19BB50322B}">
      <dgm:prSet/>
      <dgm:spPr/>
      <dgm:t>
        <a:bodyPr/>
        <a:lstStyle/>
        <a:p>
          <a:endParaRPr lang="en-US"/>
        </a:p>
      </dgm:t>
    </dgm:pt>
    <dgm:pt modelId="{D4C18A54-B46C-49E1-B3F7-901CB4BA2332}" type="sibTrans" cxnId="{186D20B6-C3C1-47F1-BFB2-4C19BB50322B}">
      <dgm:prSet/>
      <dgm:spPr/>
      <dgm:t>
        <a:bodyPr/>
        <a:lstStyle/>
        <a:p>
          <a:endParaRPr lang="en-US"/>
        </a:p>
      </dgm:t>
    </dgm:pt>
    <dgm:pt modelId="{39C5026A-70DB-44B0-99E9-240E7EE12322}">
      <dgm:prSet phldrT="[Text]" custT="1"/>
      <dgm:spPr>
        <a:solidFill>
          <a:schemeClr val="bg2">
            <a:lumMod val="40000"/>
            <a:lumOff val="60000"/>
          </a:schemeClr>
        </a:solidFill>
      </dgm:spPr>
      <dgm:t>
        <a:bodyPr/>
        <a:lstStyle/>
        <a:p>
          <a:r>
            <a:rPr lang="en-US" sz="1600" dirty="0" smtClean="0"/>
            <a:t>Objective 2: Develop a novel inference framework for calibrating the OpenMalaria model at a higher spatial resolution</a:t>
          </a:r>
          <a:endParaRPr lang="en-US" sz="1600" dirty="0"/>
        </a:p>
      </dgm:t>
    </dgm:pt>
    <dgm:pt modelId="{2E5475A2-F899-4FAB-AB3A-0505D18E2C8F}" type="sibTrans" cxnId="{2B570D05-5E16-42D3-A705-6150C885FD22}">
      <dgm:prSet/>
      <dgm:spPr/>
      <dgm:t>
        <a:bodyPr/>
        <a:lstStyle/>
        <a:p>
          <a:endParaRPr lang="en-US"/>
        </a:p>
      </dgm:t>
    </dgm:pt>
    <dgm:pt modelId="{3B4B5825-9D1B-4EF7-BEB4-501FFF1212B7}" type="parTrans" cxnId="{2B570D05-5E16-42D3-A705-6150C885FD22}">
      <dgm:prSet/>
      <dgm:spPr/>
      <dgm:t>
        <a:bodyPr/>
        <a:lstStyle/>
        <a:p>
          <a:endParaRPr lang="en-US"/>
        </a:p>
      </dgm:t>
    </dgm:pt>
    <dgm:pt modelId="{6B655AFE-4055-452C-91A1-35373C7D485F}" type="pres">
      <dgm:prSet presAssocID="{34DA2E1C-0015-4D0A-9271-50F46B3BC8A9}" presName="Name0" presStyleCnt="0">
        <dgm:presLayoutVars>
          <dgm:dir/>
          <dgm:animLvl val="lvl"/>
          <dgm:resizeHandles val="exact"/>
        </dgm:presLayoutVars>
      </dgm:prSet>
      <dgm:spPr/>
    </dgm:pt>
    <dgm:pt modelId="{5E73E2A8-82C3-489B-9C27-4D9F4835CBBB}" type="pres">
      <dgm:prSet presAssocID="{B7A7EA82-523F-4CF9-A5EE-B7644BD728C8}" presName="parTxOnly" presStyleLbl="node1" presStyleIdx="0" presStyleCnt="3">
        <dgm:presLayoutVars>
          <dgm:chMax val="0"/>
          <dgm:chPref val="0"/>
          <dgm:bulletEnabled val="1"/>
        </dgm:presLayoutVars>
      </dgm:prSet>
      <dgm:spPr/>
      <dgm:t>
        <a:bodyPr/>
        <a:lstStyle/>
        <a:p>
          <a:endParaRPr lang="en-US"/>
        </a:p>
      </dgm:t>
    </dgm:pt>
    <dgm:pt modelId="{CA7E8DC5-999A-4073-B045-406B3B9DE05B}" type="pres">
      <dgm:prSet presAssocID="{1EEF7536-549D-4C4C-8608-47F7B5BFA429}" presName="parTxOnlySpace" presStyleCnt="0"/>
      <dgm:spPr/>
    </dgm:pt>
    <dgm:pt modelId="{5796A450-ACCF-47F3-AB14-58D05BC160FC}" type="pres">
      <dgm:prSet presAssocID="{39C5026A-70DB-44B0-99E9-240E7EE12322}" presName="parTxOnly" presStyleLbl="node1" presStyleIdx="1" presStyleCnt="3">
        <dgm:presLayoutVars>
          <dgm:chMax val="0"/>
          <dgm:chPref val="0"/>
          <dgm:bulletEnabled val="1"/>
        </dgm:presLayoutVars>
      </dgm:prSet>
      <dgm:spPr/>
      <dgm:t>
        <a:bodyPr/>
        <a:lstStyle/>
        <a:p>
          <a:endParaRPr lang="en-US"/>
        </a:p>
      </dgm:t>
    </dgm:pt>
    <dgm:pt modelId="{2C4266BF-A7A6-472E-AA57-4A8FF254C584}" type="pres">
      <dgm:prSet presAssocID="{2E5475A2-F899-4FAB-AB3A-0505D18E2C8F}" presName="parTxOnlySpace" presStyleCnt="0"/>
      <dgm:spPr/>
    </dgm:pt>
    <dgm:pt modelId="{DA19C7B6-2CC0-4AB1-8ECC-BCAA75C85DFF}" type="pres">
      <dgm:prSet presAssocID="{92D4D07F-124D-4D0D-B352-090442024928}" presName="parTxOnly" presStyleLbl="node1" presStyleIdx="2" presStyleCnt="3">
        <dgm:presLayoutVars>
          <dgm:chMax val="0"/>
          <dgm:chPref val="0"/>
          <dgm:bulletEnabled val="1"/>
        </dgm:presLayoutVars>
      </dgm:prSet>
      <dgm:spPr/>
      <dgm:t>
        <a:bodyPr/>
        <a:lstStyle/>
        <a:p>
          <a:endParaRPr lang="en-US"/>
        </a:p>
      </dgm:t>
    </dgm:pt>
  </dgm:ptLst>
  <dgm:cxnLst>
    <dgm:cxn modelId="{2CCFB7E1-532E-4E32-9FC4-1D51D8325541}" type="presOf" srcId="{39C5026A-70DB-44B0-99E9-240E7EE12322}" destId="{5796A450-ACCF-47F3-AB14-58D05BC160FC}" srcOrd="0" destOrd="0" presId="urn:microsoft.com/office/officeart/2005/8/layout/chevron1"/>
    <dgm:cxn modelId="{186D20B6-C3C1-47F1-BFB2-4C19BB50322B}" srcId="{34DA2E1C-0015-4D0A-9271-50F46B3BC8A9}" destId="{92D4D07F-124D-4D0D-B352-090442024928}" srcOrd="2" destOrd="0" parTransId="{D6A6D522-00F2-4BFA-A8DA-61CE9CAE95DB}" sibTransId="{D4C18A54-B46C-49E1-B3F7-901CB4BA2332}"/>
    <dgm:cxn modelId="{AF9BBD6B-0C50-431F-B4DF-CBEB99E89DF6}" type="presOf" srcId="{92D4D07F-124D-4D0D-B352-090442024928}" destId="{DA19C7B6-2CC0-4AB1-8ECC-BCAA75C85DFF}" srcOrd="0" destOrd="0" presId="urn:microsoft.com/office/officeart/2005/8/layout/chevron1"/>
    <dgm:cxn modelId="{2B570D05-5E16-42D3-A705-6150C885FD22}" srcId="{34DA2E1C-0015-4D0A-9271-50F46B3BC8A9}" destId="{39C5026A-70DB-44B0-99E9-240E7EE12322}" srcOrd="1" destOrd="0" parTransId="{3B4B5825-9D1B-4EF7-BEB4-501FFF1212B7}" sibTransId="{2E5475A2-F899-4FAB-AB3A-0505D18E2C8F}"/>
    <dgm:cxn modelId="{A5DCE7AF-5239-4BE8-8E4E-F610BF93D11F}" type="presOf" srcId="{34DA2E1C-0015-4D0A-9271-50F46B3BC8A9}" destId="{6B655AFE-4055-452C-91A1-35373C7D485F}" srcOrd="0" destOrd="0" presId="urn:microsoft.com/office/officeart/2005/8/layout/chevron1"/>
    <dgm:cxn modelId="{0D3DD417-99A7-4A01-9843-B35F2D94E5D7}" type="presOf" srcId="{B7A7EA82-523F-4CF9-A5EE-B7644BD728C8}" destId="{5E73E2A8-82C3-489B-9C27-4D9F4835CBBB}" srcOrd="0" destOrd="0" presId="urn:microsoft.com/office/officeart/2005/8/layout/chevron1"/>
    <dgm:cxn modelId="{F22C7F00-EA54-4BAA-BAA8-3902A209A289}" srcId="{34DA2E1C-0015-4D0A-9271-50F46B3BC8A9}" destId="{B7A7EA82-523F-4CF9-A5EE-B7644BD728C8}" srcOrd="0" destOrd="0" parTransId="{74C039AF-64ED-4098-99B1-96742542C3A1}" sibTransId="{1EEF7536-549D-4C4C-8608-47F7B5BFA429}"/>
    <dgm:cxn modelId="{52FDE9E0-8777-4A5D-8BA5-D6A80A64C975}" type="presParOf" srcId="{6B655AFE-4055-452C-91A1-35373C7D485F}" destId="{5E73E2A8-82C3-489B-9C27-4D9F4835CBBB}" srcOrd="0" destOrd="0" presId="urn:microsoft.com/office/officeart/2005/8/layout/chevron1"/>
    <dgm:cxn modelId="{8A6A6802-0C41-44EC-AB63-F86F8565A855}" type="presParOf" srcId="{6B655AFE-4055-452C-91A1-35373C7D485F}" destId="{CA7E8DC5-999A-4073-B045-406B3B9DE05B}" srcOrd="1" destOrd="0" presId="urn:microsoft.com/office/officeart/2005/8/layout/chevron1"/>
    <dgm:cxn modelId="{12FB8558-DE68-4797-8777-51F278BD65E9}" type="presParOf" srcId="{6B655AFE-4055-452C-91A1-35373C7D485F}" destId="{5796A450-ACCF-47F3-AB14-58D05BC160FC}" srcOrd="2" destOrd="0" presId="urn:microsoft.com/office/officeart/2005/8/layout/chevron1"/>
    <dgm:cxn modelId="{CF2093D4-32BA-48DD-BB8C-1702D0C7776B}" type="presParOf" srcId="{6B655AFE-4055-452C-91A1-35373C7D485F}" destId="{2C4266BF-A7A6-472E-AA57-4A8FF254C584}" srcOrd="3" destOrd="0" presId="urn:microsoft.com/office/officeart/2005/8/layout/chevron1"/>
    <dgm:cxn modelId="{C82AB3B4-8C67-47E5-B062-A21704EAF2F9}" type="presParOf" srcId="{6B655AFE-4055-452C-91A1-35373C7D485F}" destId="{DA19C7B6-2CC0-4AB1-8ECC-BCAA75C85DFF}"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4E15B5-1992-433F-AE7A-2BD232D5F9C1}">
      <dsp:nvSpPr>
        <dsp:cNvPr id="0" name=""/>
        <dsp:cNvSpPr/>
      </dsp:nvSpPr>
      <dsp:spPr>
        <a:xfrm>
          <a:off x="3239560" y="0"/>
          <a:ext cx="4876800" cy="2348032"/>
        </a:xfrm>
        <a:prstGeom prst="rightArrow">
          <a:avLst>
            <a:gd name="adj1" fmla="val 75000"/>
            <a:gd name="adj2" fmla="val 5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7780" tIns="17780" rIns="17780" bIns="17780" numCol="1" spcCol="1270" anchor="t" anchorCtr="0">
          <a:noAutofit/>
        </a:bodyPr>
        <a:lstStyle/>
        <a:p>
          <a:pPr marL="285750" lvl="1" indent="-285750" algn="l" defTabSz="1244600">
            <a:lnSpc>
              <a:spcPct val="90000"/>
            </a:lnSpc>
            <a:spcBef>
              <a:spcPct val="0"/>
            </a:spcBef>
            <a:spcAft>
              <a:spcPct val="15000"/>
            </a:spcAft>
            <a:buChar char="••"/>
          </a:pPr>
          <a:r>
            <a:rPr lang="en-US" sz="2800" kern="1200" dirty="0" smtClean="0"/>
            <a:t>Investigates the impacts of random input values of model parameters on model outputs</a:t>
          </a:r>
          <a:endParaRPr lang="en-US" sz="2800" kern="1200" dirty="0"/>
        </a:p>
      </dsp:txBody>
      <dsp:txXfrm>
        <a:off x="3239560" y="293504"/>
        <a:ext cx="3996288" cy="1761024"/>
      </dsp:txXfrm>
    </dsp:sp>
    <dsp:sp modelId="{40BCD131-2073-4EDE-9795-02928553C85F}">
      <dsp:nvSpPr>
        <dsp:cNvPr id="0" name=""/>
        <dsp:cNvSpPr/>
      </dsp:nvSpPr>
      <dsp:spPr>
        <a:xfrm>
          <a:off x="0" y="0"/>
          <a:ext cx="3251200" cy="2348032"/>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kern="1200" dirty="0" smtClean="0"/>
            <a:t>Forward Propagation of Uncertainty</a:t>
          </a:r>
          <a:endParaRPr lang="en-US" sz="2800" kern="1200" dirty="0"/>
        </a:p>
      </dsp:txBody>
      <dsp:txXfrm>
        <a:off x="114621" y="114621"/>
        <a:ext cx="3021958" cy="2118790"/>
      </dsp:txXfrm>
    </dsp:sp>
    <dsp:sp modelId="{AF97286F-DE4D-4D21-923A-0C8E3289DDB2}">
      <dsp:nvSpPr>
        <dsp:cNvPr id="0" name=""/>
        <dsp:cNvSpPr/>
      </dsp:nvSpPr>
      <dsp:spPr>
        <a:xfrm>
          <a:off x="3251199" y="2583438"/>
          <a:ext cx="4876800" cy="2348032"/>
        </a:xfrm>
        <a:prstGeom prst="rightArrow">
          <a:avLst>
            <a:gd name="adj1" fmla="val 75000"/>
            <a:gd name="adj2" fmla="val 5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7780" tIns="17780" rIns="17780" bIns="17780" numCol="1" spcCol="1270" anchor="t" anchorCtr="0">
          <a:noAutofit/>
        </a:bodyPr>
        <a:lstStyle/>
        <a:p>
          <a:pPr marL="285750" lvl="1" indent="-285750" algn="l" defTabSz="1244600">
            <a:lnSpc>
              <a:spcPct val="90000"/>
            </a:lnSpc>
            <a:spcBef>
              <a:spcPct val="0"/>
            </a:spcBef>
            <a:spcAft>
              <a:spcPct val="15000"/>
            </a:spcAft>
            <a:buChar char="••"/>
          </a:pPr>
          <a:r>
            <a:rPr lang="en-US" sz="2800" kern="1200" dirty="0" smtClean="0"/>
            <a:t>using experimental data to learn about the sources of modeling uncertainty</a:t>
          </a:r>
          <a:endParaRPr lang="en-US" sz="2800" kern="1200" dirty="0"/>
        </a:p>
      </dsp:txBody>
      <dsp:txXfrm>
        <a:off x="3251199" y="2876942"/>
        <a:ext cx="3996288" cy="1761024"/>
      </dsp:txXfrm>
    </dsp:sp>
    <dsp:sp modelId="{116AF5B1-E45C-4738-8EBC-F071EB4E45FD}">
      <dsp:nvSpPr>
        <dsp:cNvPr id="0" name=""/>
        <dsp:cNvSpPr/>
      </dsp:nvSpPr>
      <dsp:spPr>
        <a:xfrm>
          <a:off x="0" y="2583438"/>
          <a:ext cx="3251200" cy="2348032"/>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kern="1200" dirty="0" smtClean="0"/>
            <a:t>Inverse Uncertainty Quantification</a:t>
          </a:r>
          <a:endParaRPr lang="en-US" sz="2800" kern="1200" dirty="0"/>
        </a:p>
      </dsp:txBody>
      <dsp:txXfrm>
        <a:off x="114621" y="2698059"/>
        <a:ext cx="3021958" cy="21187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73E2A8-82C3-489B-9C27-4D9F4835CBBB}">
      <dsp:nvSpPr>
        <dsp:cNvPr id="0" name=""/>
        <dsp:cNvSpPr/>
      </dsp:nvSpPr>
      <dsp:spPr>
        <a:xfrm>
          <a:off x="3571" y="0"/>
          <a:ext cx="4351734" cy="981314"/>
        </a:xfrm>
        <a:prstGeom prst="chevron">
          <a:avLst/>
        </a:prstGeom>
        <a:solidFill>
          <a:schemeClr val="accent2">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en-US" sz="1600" kern="1200" dirty="0" smtClean="0"/>
            <a:t>Objective 1: Understand the key drivers of impact of malaria interventions in Ghana</a:t>
          </a:r>
          <a:endParaRPr lang="en-US" sz="1600" kern="1200" dirty="0"/>
        </a:p>
      </dsp:txBody>
      <dsp:txXfrm>
        <a:off x="494228" y="0"/>
        <a:ext cx="3370420" cy="981314"/>
      </dsp:txXfrm>
    </dsp:sp>
    <dsp:sp modelId="{5796A450-ACCF-47F3-AB14-58D05BC160FC}">
      <dsp:nvSpPr>
        <dsp:cNvPr id="0" name=""/>
        <dsp:cNvSpPr/>
      </dsp:nvSpPr>
      <dsp:spPr>
        <a:xfrm>
          <a:off x="3920132" y="0"/>
          <a:ext cx="4351734" cy="981314"/>
        </a:xfrm>
        <a:prstGeom prst="chevron">
          <a:avLst/>
        </a:prstGeom>
        <a:solidFill>
          <a:schemeClr val="bg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en-US" sz="1600" kern="1200" dirty="0" smtClean="0"/>
            <a:t>Objective 2: Develop a novel inference framework for calibrating the OpenMalaria model at a higher spatial resolution</a:t>
          </a:r>
          <a:endParaRPr lang="en-US" sz="1600" kern="1200" dirty="0"/>
        </a:p>
      </dsp:txBody>
      <dsp:txXfrm>
        <a:off x="4410789" y="0"/>
        <a:ext cx="3370420" cy="981314"/>
      </dsp:txXfrm>
    </dsp:sp>
    <dsp:sp modelId="{DA19C7B6-2CC0-4AB1-8ECC-BCAA75C85DFF}">
      <dsp:nvSpPr>
        <dsp:cNvPr id="0" name=""/>
        <dsp:cNvSpPr/>
      </dsp:nvSpPr>
      <dsp:spPr>
        <a:xfrm>
          <a:off x="7836693" y="0"/>
          <a:ext cx="4351734" cy="981314"/>
        </a:xfrm>
        <a:prstGeom prst="chevron">
          <a:avLst/>
        </a:prstGeom>
        <a:solidFill>
          <a:schemeClr val="bg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en-US" sz="1600" kern="1200" dirty="0" smtClean="0"/>
            <a:t>Objective 3: Simulate the impact of malaria interventions in Ghana in order to support decisions for strategic planning </a:t>
          </a:r>
          <a:endParaRPr lang="en-US" sz="1600" kern="1200" dirty="0"/>
        </a:p>
      </dsp:txBody>
      <dsp:txXfrm>
        <a:off x="8327350" y="0"/>
        <a:ext cx="3370420" cy="981314"/>
      </dsp:txXfrm>
    </dsp:sp>
  </dsp:spTree>
</dsp:drawing>
</file>

<file path=ppt/diagrams/layout1.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594387-A63C-4AF6-B282-58360B7D960D}" type="datetimeFigureOut">
              <a:rPr lang="de-CH" smtClean="0"/>
              <a:t>03.03.2025</a:t>
            </a:fld>
            <a:endParaRPr lang="de-C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082DE0-694C-4180-8F97-7E11536D7F17}" type="slidenum">
              <a:rPr lang="de-CH" smtClean="0"/>
              <a:t>‹#›</a:t>
            </a:fld>
            <a:endParaRPr lang="de-CH"/>
          </a:p>
        </p:txBody>
      </p:sp>
    </p:spTree>
    <p:extLst>
      <p:ext uri="{BB962C8B-B14F-4D97-AF65-F5344CB8AC3E}">
        <p14:creationId xmlns:p14="http://schemas.microsoft.com/office/powerpoint/2010/main" val="2449261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2e9c2c056fb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0" name="Google Shape;500;g2e9c2c056fb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135811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Font typeface="Arial" panose="020B0604020202020204" pitchFamily="34" charset="0"/>
              <a:buNone/>
            </a:pP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41139337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None/>
            </a:pP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9585375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2e9c2c056fb_0_144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None/>
            </a:pPr>
            <a:endParaRPr/>
          </a:p>
        </p:txBody>
      </p:sp>
      <p:sp>
        <p:nvSpPr>
          <p:cNvPr id="525" name="Google Shape;525;g2e9c2c056fb_0_14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545133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2e9c2c056fb_0_144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None/>
            </a:pPr>
            <a:endParaRPr/>
          </a:p>
        </p:txBody>
      </p:sp>
      <p:sp>
        <p:nvSpPr>
          <p:cNvPr id="525" name="Google Shape;525;g2e9c2c056fb_0_14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40929938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en-US" dirty="0" smtClean="0"/>
              <a:t>To address uncertainties, we identify and quantify the various sources of uncertainty</a:t>
            </a:r>
            <a:r>
              <a:rPr lang="en-US" baseline="0" dirty="0" smtClean="0"/>
              <a:t> in intervention modeling</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9444011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Font typeface="Arial" panose="020B0604020202020204" pitchFamily="34" charset="0"/>
              <a:buNone/>
            </a:pP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48233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8896248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5598656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8994427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4292867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32501585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4162003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36600470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3910107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35934239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3839278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604191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8939906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6988831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4625136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869291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de-CH"/>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de-CH"/>
          </a:p>
        </p:txBody>
      </p:sp>
      <p:sp>
        <p:nvSpPr>
          <p:cNvPr id="4" name="Date Placeholder 3"/>
          <p:cNvSpPr>
            <a:spLocks noGrp="1"/>
          </p:cNvSpPr>
          <p:nvPr>
            <p:ph type="dt" sz="half" idx="10"/>
          </p:nvPr>
        </p:nvSpPr>
        <p:spPr/>
        <p:txBody>
          <a:bodyPr/>
          <a:lstStyle/>
          <a:p>
            <a:fld id="{35B36CFD-34C1-42E8-A8C0-16398C594E52}" type="datetimeFigureOut">
              <a:rPr lang="de-CH" smtClean="0"/>
              <a:t>03.03.2025</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597D522E-16C6-43F2-96D9-C81085CE9E9B}" type="slidenum">
              <a:rPr lang="de-CH" smtClean="0"/>
              <a:t>‹#›</a:t>
            </a:fld>
            <a:endParaRPr lang="de-CH"/>
          </a:p>
        </p:txBody>
      </p:sp>
    </p:spTree>
    <p:extLst>
      <p:ext uri="{BB962C8B-B14F-4D97-AF65-F5344CB8AC3E}">
        <p14:creationId xmlns:p14="http://schemas.microsoft.com/office/powerpoint/2010/main" val="32869878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CH"/>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Date Placeholder 3"/>
          <p:cNvSpPr>
            <a:spLocks noGrp="1"/>
          </p:cNvSpPr>
          <p:nvPr>
            <p:ph type="dt" sz="half" idx="10"/>
          </p:nvPr>
        </p:nvSpPr>
        <p:spPr/>
        <p:txBody>
          <a:bodyPr/>
          <a:lstStyle/>
          <a:p>
            <a:fld id="{35B36CFD-34C1-42E8-A8C0-16398C594E52}" type="datetimeFigureOut">
              <a:rPr lang="de-CH" smtClean="0"/>
              <a:t>03.03.2025</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597D522E-16C6-43F2-96D9-C81085CE9E9B}" type="slidenum">
              <a:rPr lang="de-CH" smtClean="0"/>
              <a:t>‹#›</a:t>
            </a:fld>
            <a:endParaRPr lang="de-CH"/>
          </a:p>
        </p:txBody>
      </p:sp>
    </p:spTree>
    <p:extLst>
      <p:ext uri="{BB962C8B-B14F-4D97-AF65-F5344CB8AC3E}">
        <p14:creationId xmlns:p14="http://schemas.microsoft.com/office/powerpoint/2010/main" val="292594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de-CH"/>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5B36CFD-34C1-42E8-A8C0-16398C594E52}" type="datetimeFigureOut">
              <a:rPr lang="de-CH" smtClean="0"/>
              <a:t>03.03.2025</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597D522E-16C6-43F2-96D9-C81085CE9E9B}" type="slidenum">
              <a:rPr lang="de-CH" smtClean="0"/>
              <a:t>‹#›</a:t>
            </a:fld>
            <a:endParaRPr lang="de-CH"/>
          </a:p>
        </p:txBody>
      </p:sp>
    </p:spTree>
    <p:extLst>
      <p:ext uri="{BB962C8B-B14F-4D97-AF65-F5344CB8AC3E}">
        <p14:creationId xmlns:p14="http://schemas.microsoft.com/office/powerpoint/2010/main" val="17031959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CH"/>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5" name="Date Placeholder 4"/>
          <p:cNvSpPr>
            <a:spLocks noGrp="1"/>
          </p:cNvSpPr>
          <p:nvPr>
            <p:ph type="dt" sz="half" idx="10"/>
          </p:nvPr>
        </p:nvSpPr>
        <p:spPr/>
        <p:txBody>
          <a:bodyPr/>
          <a:lstStyle/>
          <a:p>
            <a:fld id="{35B36CFD-34C1-42E8-A8C0-16398C594E52}" type="datetimeFigureOut">
              <a:rPr lang="de-CH" smtClean="0"/>
              <a:t>03.03.2025</a:t>
            </a:fld>
            <a:endParaRPr lang="de-CH"/>
          </a:p>
        </p:txBody>
      </p:sp>
      <p:sp>
        <p:nvSpPr>
          <p:cNvPr id="6" name="Footer Placeholder 5"/>
          <p:cNvSpPr>
            <a:spLocks noGrp="1"/>
          </p:cNvSpPr>
          <p:nvPr>
            <p:ph type="ftr" sz="quarter" idx="11"/>
          </p:nvPr>
        </p:nvSpPr>
        <p:spPr/>
        <p:txBody>
          <a:bodyPr/>
          <a:lstStyle/>
          <a:p>
            <a:endParaRPr lang="de-CH"/>
          </a:p>
        </p:txBody>
      </p:sp>
      <p:sp>
        <p:nvSpPr>
          <p:cNvPr id="7" name="Slide Number Placeholder 6"/>
          <p:cNvSpPr>
            <a:spLocks noGrp="1"/>
          </p:cNvSpPr>
          <p:nvPr>
            <p:ph type="sldNum" sz="quarter" idx="12"/>
          </p:nvPr>
        </p:nvSpPr>
        <p:spPr/>
        <p:txBody>
          <a:bodyPr/>
          <a:lstStyle/>
          <a:p>
            <a:fld id="{597D522E-16C6-43F2-96D9-C81085CE9E9B}" type="slidenum">
              <a:rPr lang="de-CH" smtClean="0"/>
              <a:t>‹#›</a:t>
            </a:fld>
            <a:endParaRPr lang="de-CH"/>
          </a:p>
        </p:txBody>
      </p:sp>
    </p:spTree>
    <p:extLst>
      <p:ext uri="{BB962C8B-B14F-4D97-AF65-F5344CB8AC3E}">
        <p14:creationId xmlns:p14="http://schemas.microsoft.com/office/powerpoint/2010/main" val="36621150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de-CH"/>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7" name="Date Placeholder 6"/>
          <p:cNvSpPr>
            <a:spLocks noGrp="1"/>
          </p:cNvSpPr>
          <p:nvPr>
            <p:ph type="dt" sz="half" idx="10"/>
          </p:nvPr>
        </p:nvSpPr>
        <p:spPr/>
        <p:txBody>
          <a:bodyPr/>
          <a:lstStyle/>
          <a:p>
            <a:fld id="{35B36CFD-34C1-42E8-A8C0-16398C594E52}" type="datetimeFigureOut">
              <a:rPr lang="de-CH" smtClean="0"/>
              <a:t>03.03.2025</a:t>
            </a:fld>
            <a:endParaRPr lang="de-CH"/>
          </a:p>
        </p:txBody>
      </p:sp>
      <p:sp>
        <p:nvSpPr>
          <p:cNvPr id="8" name="Footer Placeholder 7"/>
          <p:cNvSpPr>
            <a:spLocks noGrp="1"/>
          </p:cNvSpPr>
          <p:nvPr>
            <p:ph type="ftr" sz="quarter" idx="11"/>
          </p:nvPr>
        </p:nvSpPr>
        <p:spPr/>
        <p:txBody>
          <a:bodyPr/>
          <a:lstStyle/>
          <a:p>
            <a:endParaRPr lang="de-CH"/>
          </a:p>
        </p:txBody>
      </p:sp>
      <p:sp>
        <p:nvSpPr>
          <p:cNvPr id="9" name="Slide Number Placeholder 8"/>
          <p:cNvSpPr>
            <a:spLocks noGrp="1"/>
          </p:cNvSpPr>
          <p:nvPr>
            <p:ph type="sldNum" sz="quarter" idx="12"/>
          </p:nvPr>
        </p:nvSpPr>
        <p:spPr/>
        <p:txBody>
          <a:bodyPr/>
          <a:lstStyle/>
          <a:p>
            <a:fld id="{597D522E-16C6-43F2-96D9-C81085CE9E9B}" type="slidenum">
              <a:rPr lang="de-CH" smtClean="0"/>
              <a:t>‹#›</a:t>
            </a:fld>
            <a:endParaRPr lang="de-CH"/>
          </a:p>
        </p:txBody>
      </p:sp>
    </p:spTree>
    <p:extLst>
      <p:ext uri="{BB962C8B-B14F-4D97-AF65-F5344CB8AC3E}">
        <p14:creationId xmlns:p14="http://schemas.microsoft.com/office/powerpoint/2010/main" val="1438690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CH"/>
          </a:p>
        </p:txBody>
      </p:sp>
      <p:sp>
        <p:nvSpPr>
          <p:cNvPr id="3" name="Date Placeholder 2"/>
          <p:cNvSpPr>
            <a:spLocks noGrp="1"/>
          </p:cNvSpPr>
          <p:nvPr>
            <p:ph type="dt" sz="half" idx="10"/>
          </p:nvPr>
        </p:nvSpPr>
        <p:spPr/>
        <p:txBody>
          <a:bodyPr/>
          <a:lstStyle/>
          <a:p>
            <a:fld id="{35B36CFD-34C1-42E8-A8C0-16398C594E52}" type="datetimeFigureOut">
              <a:rPr lang="de-CH" smtClean="0"/>
              <a:t>03.03.2025</a:t>
            </a:fld>
            <a:endParaRPr lang="de-CH"/>
          </a:p>
        </p:txBody>
      </p:sp>
      <p:sp>
        <p:nvSpPr>
          <p:cNvPr id="4" name="Footer Placeholder 3"/>
          <p:cNvSpPr>
            <a:spLocks noGrp="1"/>
          </p:cNvSpPr>
          <p:nvPr>
            <p:ph type="ftr" sz="quarter" idx="11"/>
          </p:nvPr>
        </p:nvSpPr>
        <p:spPr/>
        <p:txBody>
          <a:bodyPr/>
          <a:lstStyle/>
          <a:p>
            <a:endParaRPr lang="de-CH"/>
          </a:p>
        </p:txBody>
      </p:sp>
      <p:sp>
        <p:nvSpPr>
          <p:cNvPr id="5" name="Slide Number Placeholder 4"/>
          <p:cNvSpPr>
            <a:spLocks noGrp="1"/>
          </p:cNvSpPr>
          <p:nvPr>
            <p:ph type="sldNum" sz="quarter" idx="12"/>
          </p:nvPr>
        </p:nvSpPr>
        <p:spPr/>
        <p:txBody>
          <a:bodyPr/>
          <a:lstStyle/>
          <a:p>
            <a:fld id="{597D522E-16C6-43F2-96D9-C81085CE9E9B}" type="slidenum">
              <a:rPr lang="de-CH" smtClean="0"/>
              <a:t>‹#›</a:t>
            </a:fld>
            <a:endParaRPr lang="de-CH"/>
          </a:p>
        </p:txBody>
      </p:sp>
    </p:spTree>
    <p:extLst>
      <p:ext uri="{BB962C8B-B14F-4D97-AF65-F5344CB8AC3E}">
        <p14:creationId xmlns:p14="http://schemas.microsoft.com/office/powerpoint/2010/main" val="3380372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5B36CFD-34C1-42E8-A8C0-16398C594E52}" type="datetimeFigureOut">
              <a:rPr lang="de-CH" smtClean="0"/>
              <a:t>03.03.2025</a:t>
            </a:fld>
            <a:endParaRPr lang="de-CH"/>
          </a:p>
        </p:txBody>
      </p:sp>
      <p:sp>
        <p:nvSpPr>
          <p:cNvPr id="3" name="Footer Placeholder 2"/>
          <p:cNvSpPr>
            <a:spLocks noGrp="1"/>
          </p:cNvSpPr>
          <p:nvPr>
            <p:ph type="ftr" sz="quarter" idx="11"/>
          </p:nvPr>
        </p:nvSpPr>
        <p:spPr/>
        <p:txBody>
          <a:bodyPr/>
          <a:lstStyle/>
          <a:p>
            <a:endParaRPr lang="de-CH"/>
          </a:p>
        </p:txBody>
      </p:sp>
      <p:sp>
        <p:nvSpPr>
          <p:cNvPr id="4" name="Slide Number Placeholder 3"/>
          <p:cNvSpPr>
            <a:spLocks noGrp="1"/>
          </p:cNvSpPr>
          <p:nvPr>
            <p:ph type="sldNum" sz="quarter" idx="12"/>
          </p:nvPr>
        </p:nvSpPr>
        <p:spPr/>
        <p:txBody>
          <a:bodyPr/>
          <a:lstStyle/>
          <a:p>
            <a:fld id="{597D522E-16C6-43F2-96D9-C81085CE9E9B}" type="slidenum">
              <a:rPr lang="de-CH" smtClean="0"/>
              <a:t>‹#›</a:t>
            </a:fld>
            <a:endParaRPr lang="de-CH"/>
          </a:p>
        </p:txBody>
      </p:sp>
    </p:spTree>
    <p:extLst>
      <p:ext uri="{BB962C8B-B14F-4D97-AF65-F5344CB8AC3E}">
        <p14:creationId xmlns:p14="http://schemas.microsoft.com/office/powerpoint/2010/main" val="147008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de-CH"/>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5B36CFD-34C1-42E8-A8C0-16398C594E52}" type="datetimeFigureOut">
              <a:rPr lang="de-CH" smtClean="0"/>
              <a:t>03.03.2025</a:t>
            </a:fld>
            <a:endParaRPr lang="de-CH"/>
          </a:p>
        </p:txBody>
      </p:sp>
      <p:sp>
        <p:nvSpPr>
          <p:cNvPr id="6" name="Footer Placeholder 5"/>
          <p:cNvSpPr>
            <a:spLocks noGrp="1"/>
          </p:cNvSpPr>
          <p:nvPr>
            <p:ph type="ftr" sz="quarter" idx="11"/>
          </p:nvPr>
        </p:nvSpPr>
        <p:spPr/>
        <p:txBody>
          <a:bodyPr/>
          <a:lstStyle/>
          <a:p>
            <a:endParaRPr lang="de-CH"/>
          </a:p>
        </p:txBody>
      </p:sp>
      <p:sp>
        <p:nvSpPr>
          <p:cNvPr id="7" name="Slide Number Placeholder 6"/>
          <p:cNvSpPr>
            <a:spLocks noGrp="1"/>
          </p:cNvSpPr>
          <p:nvPr>
            <p:ph type="sldNum" sz="quarter" idx="12"/>
          </p:nvPr>
        </p:nvSpPr>
        <p:spPr/>
        <p:txBody>
          <a:bodyPr/>
          <a:lstStyle/>
          <a:p>
            <a:fld id="{597D522E-16C6-43F2-96D9-C81085CE9E9B}" type="slidenum">
              <a:rPr lang="de-CH" smtClean="0"/>
              <a:t>‹#›</a:t>
            </a:fld>
            <a:endParaRPr lang="de-CH"/>
          </a:p>
        </p:txBody>
      </p:sp>
    </p:spTree>
    <p:extLst>
      <p:ext uri="{BB962C8B-B14F-4D97-AF65-F5344CB8AC3E}">
        <p14:creationId xmlns:p14="http://schemas.microsoft.com/office/powerpoint/2010/main" val="2968693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de-CH"/>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C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5B36CFD-34C1-42E8-A8C0-16398C594E52}" type="datetimeFigureOut">
              <a:rPr lang="de-CH" smtClean="0"/>
              <a:t>03.03.2025</a:t>
            </a:fld>
            <a:endParaRPr lang="de-CH"/>
          </a:p>
        </p:txBody>
      </p:sp>
      <p:sp>
        <p:nvSpPr>
          <p:cNvPr id="6" name="Footer Placeholder 5"/>
          <p:cNvSpPr>
            <a:spLocks noGrp="1"/>
          </p:cNvSpPr>
          <p:nvPr>
            <p:ph type="ftr" sz="quarter" idx="11"/>
          </p:nvPr>
        </p:nvSpPr>
        <p:spPr/>
        <p:txBody>
          <a:bodyPr/>
          <a:lstStyle/>
          <a:p>
            <a:endParaRPr lang="de-CH"/>
          </a:p>
        </p:txBody>
      </p:sp>
      <p:sp>
        <p:nvSpPr>
          <p:cNvPr id="7" name="Slide Number Placeholder 6"/>
          <p:cNvSpPr>
            <a:spLocks noGrp="1"/>
          </p:cNvSpPr>
          <p:nvPr>
            <p:ph type="sldNum" sz="quarter" idx="12"/>
          </p:nvPr>
        </p:nvSpPr>
        <p:spPr/>
        <p:txBody>
          <a:bodyPr/>
          <a:lstStyle/>
          <a:p>
            <a:fld id="{597D522E-16C6-43F2-96D9-C81085CE9E9B}" type="slidenum">
              <a:rPr lang="de-CH" smtClean="0"/>
              <a:t>‹#›</a:t>
            </a:fld>
            <a:endParaRPr lang="de-CH"/>
          </a:p>
        </p:txBody>
      </p:sp>
    </p:spTree>
    <p:extLst>
      <p:ext uri="{BB962C8B-B14F-4D97-AF65-F5344CB8AC3E}">
        <p14:creationId xmlns:p14="http://schemas.microsoft.com/office/powerpoint/2010/main" val="492082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CH"/>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Date Placeholder 3"/>
          <p:cNvSpPr>
            <a:spLocks noGrp="1"/>
          </p:cNvSpPr>
          <p:nvPr>
            <p:ph type="dt" sz="half" idx="10"/>
          </p:nvPr>
        </p:nvSpPr>
        <p:spPr/>
        <p:txBody>
          <a:bodyPr/>
          <a:lstStyle/>
          <a:p>
            <a:fld id="{35B36CFD-34C1-42E8-A8C0-16398C594E52}" type="datetimeFigureOut">
              <a:rPr lang="de-CH" smtClean="0"/>
              <a:t>03.03.2025</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597D522E-16C6-43F2-96D9-C81085CE9E9B}" type="slidenum">
              <a:rPr lang="de-CH" smtClean="0"/>
              <a:t>‹#›</a:t>
            </a:fld>
            <a:endParaRPr lang="de-CH"/>
          </a:p>
        </p:txBody>
      </p:sp>
    </p:spTree>
    <p:extLst>
      <p:ext uri="{BB962C8B-B14F-4D97-AF65-F5344CB8AC3E}">
        <p14:creationId xmlns:p14="http://schemas.microsoft.com/office/powerpoint/2010/main" val="1123296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de-CH"/>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Date Placeholder 3"/>
          <p:cNvSpPr>
            <a:spLocks noGrp="1"/>
          </p:cNvSpPr>
          <p:nvPr>
            <p:ph type="dt" sz="half" idx="10"/>
          </p:nvPr>
        </p:nvSpPr>
        <p:spPr/>
        <p:txBody>
          <a:bodyPr/>
          <a:lstStyle/>
          <a:p>
            <a:fld id="{35B36CFD-34C1-42E8-A8C0-16398C594E52}" type="datetimeFigureOut">
              <a:rPr lang="de-CH" smtClean="0"/>
              <a:t>03.03.2025</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597D522E-16C6-43F2-96D9-C81085CE9E9B}" type="slidenum">
              <a:rPr lang="de-CH" smtClean="0"/>
              <a:t>‹#›</a:t>
            </a:fld>
            <a:endParaRPr lang="de-CH"/>
          </a:p>
        </p:txBody>
      </p:sp>
    </p:spTree>
    <p:extLst>
      <p:ext uri="{BB962C8B-B14F-4D97-AF65-F5344CB8AC3E}">
        <p14:creationId xmlns:p14="http://schemas.microsoft.com/office/powerpoint/2010/main" val="37408210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Cover">
  <p:cSld name="Cover">
    <p:spTree>
      <p:nvGrpSpPr>
        <p:cNvPr id="1" name="Shape 50"/>
        <p:cNvGrpSpPr/>
        <p:nvPr/>
      </p:nvGrpSpPr>
      <p:grpSpPr>
        <a:xfrm>
          <a:off x="0" y="0"/>
          <a:ext cx="0" cy="0"/>
          <a:chOff x="0" y="0"/>
          <a:chExt cx="0" cy="0"/>
        </a:xfrm>
      </p:grpSpPr>
      <p:sp>
        <p:nvSpPr>
          <p:cNvPr id="51" name="Google Shape;51;p13"/>
          <p:cNvSpPr txBox="1">
            <a:spLocks noGrp="1"/>
          </p:cNvSpPr>
          <p:nvPr>
            <p:ph type="body" idx="1"/>
          </p:nvPr>
        </p:nvSpPr>
        <p:spPr>
          <a:xfrm>
            <a:off x="5186289" y="3621023"/>
            <a:ext cx="5935600" cy="1166800"/>
          </a:xfrm>
          <a:prstGeom prst="rect">
            <a:avLst/>
          </a:prstGeom>
          <a:noFill/>
          <a:ln>
            <a:noFill/>
          </a:ln>
        </p:spPr>
        <p:txBody>
          <a:bodyPr spcFirstLastPara="1" wrap="square" lIns="0" tIns="34275" rIns="68575" bIns="34275" anchor="b" anchorCtr="0">
            <a:noAutofit/>
          </a:bodyPr>
          <a:lstStyle>
            <a:lvl1pPr marL="609585" lvl="0" indent="-304792" algn="l" rtl="0">
              <a:lnSpc>
                <a:spcPct val="100000"/>
              </a:lnSpc>
              <a:spcBef>
                <a:spcPts val="400"/>
              </a:spcBef>
              <a:spcAft>
                <a:spcPts val="0"/>
              </a:spcAft>
              <a:buSzPts val="3500"/>
              <a:buNone/>
              <a:defRPr sz="3733">
                <a:solidFill>
                  <a:schemeClr val="accent3"/>
                </a:solidFill>
              </a:defRPr>
            </a:lvl1pPr>
            <a:lvl2pPr marL="1219170" lvl="1" indent="-448722" algn="l" rtl="0">
              <a:lnSpc>
                <a:spcPct val="100000"/>
              </a:lnSpc>
              <a:spcBef>
                <a:spcPts val="1600"/>
              </a:spcBef>
              <a:spcAft>
                <a:spcPts val="0"/>
              </a:spcAft>
              <a:buSzPts val="1700"/>
              <a:buChar char="○"/>
              <a:defRPr/>
            </a:lvl2pPr>
            <a:lvl3pPr marL="1828754" lvl="2" indent="-448722" algn="l" rtl="0">
              <a:lnSpc>
                <a:spcPct val="100000"/>
              </a:lnSpc>
              <a:spcBef>
                <a:spcPts val="1600"/>
              </a:spcBef>
              <a:spcAft>
                <a:spcPts val="0"/>
              </a:spcAft>
              <a:buSzPts val="1700"/>
              <a:buChar char="■"/>
              <a:defRPr/>
            </a:lvl3pPr>
            <a:lvl4pPr marL="2438339" lvl="3" indent="-448722" algn="l" rtl="0">
              <a:lnSpc>
                <a:spcPct val="100000"/>
              </a:lnSpc>
              <a:spcBef>
                <a:spcPts val="1600"/>
              </a:spcBef>
              <a:spcAft>
                <a:spcPts val="0"/>
              </a:spcAft>
              <a:buSzPts val="1700"/>
              <a:buChar char="●"/>
              <a:defRPr/>
            </a:lvl4pPr>
            <a:lvl5pPr marL="3047924" lvl="4" indent="-448722" algn="l" rtl="0">
              <a:lnSpc>
                <a:spcPct val="100000"/>
              </a:lnSpc>
              <a:spcBef>
                <a:spcPts val="1600"/>
              </a:spcBef>
              <a:spcAft>
                <a:spcPts val="0"/>
              </a:spcAft>
              <a:buSzPts val="1700"/>
              <a:buChar char="○"/>
              <a:defRPr/>
            </a:lvl5pPr>
            <a:lvl6pPr marL="3657509" lvl="5" indent="-423323" algn="l" rtl="0">
              <a:lnSpc>
                <a:spcPct val="90000"/>
              </a:lnSpc>
              <a:spcBef>
                <a:spcPts val="1600"/>
              </a:spcBef>
              <a:spcAft>
                <a:spcPts val="0"/>
              </a:spcAft>
              <a:buClr>
                <a:schemeClr val="dk1"/>
              </a:buClr>
              <a:buSzPts val="1400"/>
              <a:buChar char="■"/>
              <a:defRPr/>
            </a:lvl6pPr>
            <a:lvl7pPr marL="4267093" lvl="6" indent="-423323" algn="l" rtl="0">
              <a:lnSpc>
                <a:spcPct val="90000"/>
              </a:lnSpc>
              <a:spcBef>
                <a:spcPts val="1600"/>
              </a:spcBef>
              <a:spcAft>
                <a:spcPts val="0"/>
              </a:spcAft>
              <a:buClr>
                <a:schemeClr val="dk1"/>
              </a:buClr>
              <a:buSzPts val="1400"/>
              <a:buChar char="●"/>
              <a:defRPr/>
            </a:lvl7pPr>
            <a:lvl8pPr marL="4876678" lvl="7" indent="-423323" algn="l" rtl="0">
              <a:lnSpc>
                <a:spcPct val="90000"/>
              </a:lnSpc>
              <a:spcBef>
                <a:spcPts val="1600"/>
              </a:spcBef>
              <a:spcAft>
                <a:spcPts val="0"/>
              </a:spcAft>
              <a:buClr>
                <a:schemeClr val="dk1"/>
              </a:buClr>
              <a:buSzPts val="1400"/>
              <a:buChar char="○"/>
              <a:defRPr/>
            </a:lvl8pPr>
            <a:lvl9pPr marL="5486263" lvl="8" indent="-423323" algn="l" rtl="0">
              <a:lnSpc>
                <a:spcPct val="90000"/>
              </a:lnSpc>
              <a:spcBef>
                <a:spcPts val="1600"/>
              </a:spcBef>
              <a:spcAft>
                <a:spcPts val="1600"/>
              </a:spcAft>
              <a:buClr>
                <a:schemeClr val="dk1"/>
              </a:buClr>
              <a:buSzPts val="1400"/>
              <a:buChar char="■"/>
              <a:defRPr/>
            </a:lvl9pPr>
          </a:lstStyle>
          <a:p>
            <a:endParaRPr/>
          </a:p>
        </p:txBody>
      </p:sp>
      <p:sp>
        <p:nvSpPr>
          <p:cNvPr id="52" name="Google Shape;52;p13"/>
          <p:cNvSpPr txBox="1">
            <a:spLocks noGrp="1"/>
          </p:cNvSpPr>
          <p:nvPr>
            <p:ph type="body" idx="2"/>
          </p:nvPr>
        </p:nvSpPr>
        <p:spPr>
          <a:xfrm>
            <a:off x="5186292" y="5443833"/>
            <a:ext cx="5935600" cy="383200"/>
          </a:xfrm>
          <a:prstGeom prst="rect">
            <a:avLst/>
          </a:prstGeom>
          <a:noFill/>
          <a:ln>
            <a:noFill/>
          </a:ln>
        </p:spPr>
        <p:txBody>
          <a:bodyPr spcFirstLastPara="1" wrap="square" lIns="0" tIns="34275" rIns="68575" bIns="34275" anchor="t" anchorCtr="0">
            <a:noAutofit/>
          </a:bodyPr>
          <a:lstStyle>
            <a:lvl1pPr marL="609585" lvl="0" indent="-304792" algn="l" rtl="0">
              <a:lnSpc>
                <a:spcPct val="100000"/>
              </a:lnSpc>
              <a:spcBef>
                <a:spcPts val="400"/>
              </a:spcBef>
              <a:spcAft>
                <a:spcPts val="0"/>
              </a:spcAft>
              <a:buSzPts val="2000"/>
              <a:buNone/>
              <a:defRPr sz="2133"/>
            </a:lvl1pPr>
            <a:lvl2pPr marL="1219170" lvl="1" indent="-448722" algn="l" rtl="0">
              <a:lnSpc>
                <a:spcPct val="100000"/>
              </a:lnSpc>
              <a:spcBef>
                <a:spcPts val="1600"/>
              </a:spcBef>
              <a:spcAft>
                <a:spcPts val="0"/>
              </a:spcAft>
              <a:buSzPts val="1700"/>
              <a:buChar char="○"/>
              <a:defRPr/>
            </a:lvl2pPr>
            <a:lvl3pPr marL="1828754" lvl="2" indent="-448722" algn="l" rtl="0">
              <a:lnSpc>
                <a:spcPct val="100000"/>
              </a:lnSpc>
              <a:spcBef>
                <a:spcPts val="1600"/>
              </a:spcBef>
              <a:spcAft>
                <a:spcPts val="0"/>
              </a:spcAft>
              <a:buSzPts val="1700"/>
              <a:buChar char="■"/>
              <a:defRPr/>
            </a:lvl3pPr>
            <a:lvl4pPr marL="2438339" lvl="3" indent="-448722" algn="l" rtl="0">
              <a:lnSpc>
                <a:spcPct val="100000"/>
              </a:lnSpc>
              <a:spcBef>
                <a:spcPts val="1600"/>
              </a:spcBef>
              <a:spcAft>
                <a:spcPts val="0"/>
              </a:spcAft>
              <a:buSzPts val="1700"/>
              <a:buChar char="●"/>
              <a:defRPr/>
            </a:lvl4pPr>
            <a:lvl5pPr marL="3047924" lvl="4" indent="-448722" algn="l" rtl="0">
              <a:lnSpc>
                <a:spcPct val="100000"/>
              </a:lnSpc>
              <a:spcBef>
                <a:spcPts val="1600"/>
              </a:spcBef>
              <a:spcAft>
                <a:spcPts val="0"/>
              </a:spcAft>
              <a:buSzPts val="1700"/>
              <a:buChar char="○"/>
              <a:defRPr/>
            </a:lvl5pPr>
            <a:lvl6pPr marL="3657509" lvl="5" indent="-423323" algn="l" rtl="0">
              <a:lnSpc>
                <a:spcPct val="90000"/>
              </a:lnSpc>
              <a:spcBef>
                <a:spcPts val="1600"/>
              </a:spcBef>
              <a:spcAft>
                <a:spcPts val="0"/>
              </a:spcAft>
              <a:buClr>
                <a:schemeClr val="dk1"/>
              </a:buClr>
              <a:buSzPts val="1400"/>
              <a:buChar char="■"/>
              <a:defRPr/>
            </a:lvl6pPr>
            <a:lvl7pPr marL="4267093" lvl="6" indent="-423323" algn="l" rtl="0">
              <a:lnSpc>
                <a:spcPct val="90000"/>
              </a:lnSpc>
              <a:spcBef>
                <a:spcPts val="1600"/>
              </a:spcBef>
              <a:spcAft>
                <a:spcPts val="0"/>
              </a:spcAft>
              <a:buClr>
                <a:schemeClr val="dk1"/>
              </a:buClr>
              <a:buSzPts val="1400"/>
              <a:buChar char="●"/>
              <a:defRPr/>
            </a:lvl7pPr>
            <a:lvl8pPr marL="4876678" lvl="7" indent="-423323" algn="l" rtl="0">
              <a:lnSpc>
                <a:spcPct val="90000"/>
              </a:lnSpc>
              <a:spcBef>
                <a:spcPts val="1600"/>
              </a:spcBef>
              <a:spcAft>
                <a:spcPts val="0"/>
              </a:spcAft>
              <a:buClr>
                <a:schemeClr val="dk1"/>
              </a:buClr>
              <a:buSzPts val="1400"/>
              <a:buChar char="○"/>
              <a:defRPr/>
            </a:lvl8pPr>
            <a:lvl9pPr marL="5486263" lvl="8" indent="-423323" algn="l" rtl="0">
              <a:lnSpc>
                <a:spcPct val="90000"/>
              </a:lnSpc>
              <a:spcBef>
                <a:spcPts val="1600"/>
              </a:spcBef>
              <a:spcAft>
                <a:spcPts val="1600"/>
              </a:spcAft>
              <a:buClr>
                <a:schemeClr val="dk1"/>
              </a:buClr>
              <a:buSzPts val="1400"/>
              <a:buChar char="■"/>
              <a:defRPr/>
            </a:lvl9pPr>
          </a:lstStyle>
          <a:p>
            <a:endParaRPr/>
          </a:p>
        </p:txBody>
      </p:sp>
      <p:pic>
        <p:nvPicPr>
          <p:cNvPr id="53" name="Google Shape;53;p13"/>
          <p:cNvPicPr preferRelativeResize="0"/>
          <p:nvPr/>
        </p:nvPicPr>
        <p:blipFill rotWithShape="1">
          <a:blip r:embed="rId2">
            <a:alphaModFix/>
          </a:blip>
          <a:srcRect b="52283"/>
          <a:stretch/>
        </p:blipFill>
        <p:spPr>
          <a:xfrm>
            <a:off x="5203088" y="2168490"/>
            <a:ext cx="4134489" cy="1142057"/>
          </a:xfrm>
          <a:prstGeom prst="rect">
            <a:avLst/>
          </a:prstGeom>
          <a:noFill/>
          <a:ln>
            <a:noFill/>
          </a:ln>
        </p:spPr>
      </p:pic>
      <p:pic>
        <p:nvPicPr>
          <p:cNvPr id="54" name="Google Shape;54;p13"/>
          <p:cNvPicPr preferRelativeResize="0"/>
          <p:nvPr/>
        </p:nvPicPr>
        <p:blipFill rotWithShape="1">
          <a:blip r:embed="rId3">
            <a:alphaModFix/>
          </a:blip>
          <a:srcRect l="38525" t="1212" b="236"/>
          <a:stretch/>
        </p:blipFill>
        <p:spPr>
          <a:xfrm>
            <a:off x="1" y="1"/>
            <a:ext cx="4215433" cy="6858001"/>
          </a:xfrm>
          <a:prstGeom prst="rect">
            <a:avLst/>
          </a:prstGeom>
          <a:noFill/>
          <a:ln>
            <a:noFill/>
          </a:ln>
        </p:spPr>
      </p:pic>
      <p:sp>
        <p:nvSpPr>
          <p:cNvPr id="55" name="Google Shape;55;p13"/>
          <p:cNvSpPr txBox="1">
            <a:spLocks noGrp="1"/>
          </p:cNvSpPr>
          <p:nvPr>
            <p:ph type="body" idx="3"/>
          </p:nvPr>
        </p:nvSpPr>
        <p:spPr>
          <a:xfrm>
            <a:off x="5186289" y="4921157"/>
            <a:ext cx="5935600" cy="466400"/>
          </a:xfrm>
          <a:prstGeom prst="rect">
            <a:avLst/>
          </a:prstGeom>
          <a:noFill/>
          <a:ln>
            <a:noFill/>
          </a:ln>
        </p:spPr>
        <p:txBody>
          <a:bodyPr spcFirstLastPara="1" wrap="square" lIns="0" tIns="34275" rIns="68575" bIns="34275" anchor="t" anchorCtr="0">
            <a:noAutofit/>
          </a:bodyPr>
          <a:lstStyle>
            <a:lvl1pPr marL="609585" lvl="0" indent="-304792" algn="l" rtl="0">
              <a:lnSpc>
                <a:spcPct val="93000"/>
              </a:lnSpc>
              <a:spcBef>
                <a:spcPts val="400"/>
              </a:spcBef>
              <a:spcAft>
                <a:spcPts val="0"/>
              </a:spcAft>
              <a:buSzPts val="2500"/>
              <a:buNone/>
              <a:defRPr sz="2667">
                <a:solidFill>
                  <a:schemeClr val="accent2"/>
                </a:solidFill>
                <a:latin typeface="Arial"/>
                <a:ea typeface="Arial"/>
                <a:cs typeface="Arial"/>
                <a:sym typeface="Arial"/>
              </a:defRPr>
            </a:lvl1pPr>
            <a:lvl2pPr marL="1219170" lvl="1" indent="-448722" algn="l" rtl="0">
              <a:lnSpc>
                <a:spcPct val="100000"/>
              </a:lnSpc>
              <a:spcBef>
                <a:spcPts val="1600"/>
              </a:spcBef>
              <a:spcAft>
                <a:spcPts val="0"/>
              </a:spcAft>
              <a:buSzPts val="1700"/>
              <a:buChar char="○"/>
              <a:defRPr/>
            </a:lvl2pPr>
            <a:lvl3pPr marL="1828754" lvl="2" indent="-448722" algn="l" rtl="0">
              <a:lnSpc>
                <a:spcPct val="100000"/>
              </a:lnSpc>
              <a:spcBef>
                <a:spcPts val="1600"/>
              </a:spcBef>
              <a:spcAft>
                <a:spcPts val="0"/>
              </a:spcAft>
              <a:buSzPts val="1700"/>
              <a:buChar char="■"/>
              <a:defRPr/>
            </a:lvl3pPr>
            <a:lvl4pPr marL="2438339" lvl="3" indent="-448722" algn="l" rtl="0">
              <a:lnSpc>
                <a:spcPct val="100000"/>
              </a:lnSpc>
              <a:spcBef>
                <a:spcPts val="1600"/>
              </a:spcBef>
              <a:spcAft>
                <a:spcPts val="0"/>
              </a:spcAft>
              <a:buSzPts val="1700"/>
              <a:buChar char="●"/>
              <a:defRPr/>
            </a:lvl4pPr>
            <a:lvl5pPr marL="3047924" lvl="4" indent="-448722" algn="l" rtl="0">
              <a:lnSpc>
                <a:spcPct val="100000"/>
              </a:lnSpc>
              <a:spcBef>
                <a:spcPts val="1600"/>
              </a:spcBef>
              <a:spcAft>
                <a:spcPts val="0"/>
              </a:spcAft>
              <a:buSzPts val="1700"/>
              <a:buChar char="○"/>
              <a:defRPr/>
            </a:lvl5pPr>
            <a:lvl6pPr marL="3657509" lvl="5" indent="-423323" algn="l" rtl="0">
              <a:lnSpc>
                <a:spcPct val="90000"/>
              </a:lnSpc>
              <a:spcBef>
                <a:spcPts val="1600"/>
              </a:spcBef>
              <a:spcAft>
                <a:spcPts val="0"/>
              </a:spcAft>
              <a:buClr>
                <a:schemeClr val="dk1"/>
              </a:buClr>
              <a:buSzPts val="1400"/>
              <a:buChar char="■"/>
              <a:defRPr/>
            </a:lvl6pPr>
            <a:lvl7pPr marL="4267093" lvl="6" indent="-423323" algn="l" rtl="0">
              <a:lnSpc>
                <a:spcPct val="90000"/>
              </a:lnSpc>
              <a:spcBef>
                <a:spcPts val="1600"/>
              </a:spcBef>
              <a:spcAft>
                <a:spcPts val="0"/>
              </a:spcAft>
              <a:buClr>
                <a:schemeClr val="dk1"/>
              </a:buClr>
              <a:buSzPts val="1400"/>
              <a:buChar char="●"/>
              <a:defRPr/>
            </a:lvl7pPr>
            <a:lvl8pPr marL="4876678" lvl="7" indent="-423323" algn="l" rtl="0">
              <a:lnSpc>
                <a:spcPct val="90000"/>
              </a:lnSpc>
              <a:spcBef>
                <a:spcPts val="1600"/>
              </a:spcBef>
              <a:spcAft>
                <a:spcPts val="0"/>
              </a:spcAft>
              <a:buClr>
                <a:schemeClr val="dk1"/>
              </a:buClr>
              <a:buSzPts val="1400"/>
              <a:buChar char="○"/>
              <a:defRPr/>
            </a:lvl8pPr>
            <a:lvl9pPr marL="5486263" lvl="8" indent="-423323" algn="l" rtl="0">
              <a:lnSpc>
                <a:spcPct val="90000"/>
              </a:lnSpc>
              <a:spcBef>
                <a:spcPts val="1600"/>
              </a:spcBef>
              <a:spcAft>
                <a:spcPts val="1600"/>
              </a:spcAft>
              <a:buClr>
                <a:schemeClr val="dk1"/>
              </a:buClr>
              <a:buSzPts val="1400"/>
              <a:buChar char="■"/>
              <a:defRPr/>
            </a:lvl9pPr>
          </a:lstStyle>
          <a:p>
            <a:endParaRPr/>
          </a:p>
        </p:txBody>
      </p:sp>
    </p:spTree>
    <p:extLst>
      <p:ext uri="{BB962C8B-B14F-4D97-AF65-F5344CB8AC3E}">
        <p14:creationId xmlns:p14="http://schemas.microsoft.com/office/powerpoint/2010/main" val="1387177736"/>
      </p:ext>
    </p:extLst>
  </p:cSld>
  <p:clrMapOvr>
    <a:masterClrMapping/>
  </p:clrMapOvr>
  <p:extLst>
    <p:ext uri="{DCECCB84-F9BA-43D5-87BE-67443E8EF086}">
      <p15:sldGuideLst xmlns:p15="http://schemas.microsoft.com/office/powerpoint/2012/main">
        <p15:guide id="1" orient="horz" pos="1215">
          <p15:clr>
            <a:srgbClr val="FBAE40"/>
          </p15:clr>
        </p15:guide>
        <p15:guide id="2"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290"/>
        <p:cNvGrpSpPr/>
        <p:nvPr/>
      </p:nvGrpSpPr>
      <p:grpSpPr>
        <a:xfrm>
          <a:off x="0" y="0"/>
          <a:ext cx="0" cy="0"/>
          <a:chOff x="0" y="0"/>
          <a:chExt cx="0" cy="0"/>
        </a:xfrm>
      </p:grpSpPr>
      <p:sp>
        <p:nvSpPr>
          <p:cNvPr id="291" name="Google Shape;291;p40"/>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rtl="0">
              <a:lnSpc>
                <a:spcPct val="90000"/>
              </a:lnSpc>
              <a:spcBef>
                <a:spcPts val="0"/>
              </a:spcBef>
              <a:spcAft>
                <a:spcPts val="0"/>
              </a:spcAft>
              <a:buClr>
                <a:schemeClr val="accent1"/>
              </a:buClr>
              <a:buSzPts val="2400"/>
              <a:buFont typeface="Palatino Linotype"/>
              <a:buNone/>
              <a:defRPr>
                <a:solidFill>
                  <a:schemeClr val="accent1"/>
                </a:solidFill>
                <a:latin typeface="Palatino Linotype"/>
                <a:ea typeface="Palatino Linotype"/>
                <a:cs typeface="Palatino Linotype"/>
                <a:sym typeface="Palatino Linotyp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92" name="Google Shape;292;p40"/>
          <p:cNvSpPr txBox="1">
            <a:spLocks noGrp="1"/>
          </p:cNvSpPr>
          <p:nvPr>
            <p:ph type="body" idx="1"/>
          </p:nvPr>
        </p:nvSpPr>
        <p:spPr>
          <a:xfrm>
            <a:off x="666751" y="1762064"/>
            <a:ext cx="10850000" cy="38844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0"/>
              </a:spcBef>
              <a:spcAft>
                <a:spcPts val="0"/>
              </a:spcAft>
              <a:buSzPts val="2250"/>
              <a:buNone/>
              <a:defRPr>
                <a:latin typeface="Palatino Linotype"/>
                <a:ea typeface="Palatino Linotype"/>
                <a:cs typeface="Palatino Linotype"/>
                <a:sym typeface="Palatino Linotype"/>
              </a:defRPr>
            </a:lvl1pPr>
            <a:lvl2pPr marL="1219170" lvl="1" indent="-304792" algn="l" rtl="0">
              <a:lnSpc>
                <a:spcPct val="100000"/>
              </a:lnSpc>
              <a:spcBef>
                <a:spcPts val="800"/>
              </a:spcBef>
              <a:spcAft>
                <a:spcPts val="0"/>
              </a:spcAft>
              <a:buSzPts val="2000"/>
              <a:buNone/>
              <a:defRPr/>
            </a:lvl2pPr>
            <a:lvl3pPr marL="1828754" lvl="2" indent="-304792" algn="l" rtl="0">
              <a:lnSpc>
                <a:spcPct val="100000"/>
              </a:lnSpc>
              <a:spcBef>
                <a:spcPts val="400"/>
              </a:spcBef>
              <a:spcAft>
                <a:spcPts val="0"/>
              </a:spcAft>
              <a:buSzPts val="2000"/>
              <a:buNone/>
              <a:defRPr/>
            </a:lvl3pPr>
            <a:lvl4pPr marL="2438339" lvl="3" indent="-304792" algn="l" rtl="0">
              <a:lnSpc>
                <a:spcPct val="100000"/>
              </a:lnSpc>
              <a:spcBef>
                <a:spcPts val="400"/>
              </a:spcBef>
              <a:spcAft>
                <a:spcPts val="0"/>
              </a:spcAft>
              <a:buSzPts val="2000"/>
              <a:buNone/>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293" name="Google Shape;293;p40"/>
          <p:cNvSpPr txBox="1">
            <a:spLocks noGrp="1"/>
          </p:cNvSpPr>
          <p:nvPr>
            <p:ph type="body" idx="2"/>
          </p:nvPr>
        </p:nvSpPr>
        <p:spPr>
          <a:xfrm>
            <a:off x="666749" y="1220755"/>
            <a:ext cx="10850000" cy="4320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2250"/>
              <a:buFont typeface="Arial"/>
              <a:buNone/>
              <a:defRPr sz="2400" b="1">
                <a:solidFill>
                  <a:srgbClr val="222222"/>
                </a:solidFill>
                <a:latin typeface="Palatino Linotype"/>
                <a:ea typeface="Palatino Linotype"/>
                <a:cs typeface="Palatino Linotype"/>
                <a:sym typeface="Palatino Linotype"/>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294" name="Google Shape;294;p40"/>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lvl="0" algn="l" rtl="0">
              <a:lnSpc>
                <a:spcPct val="93000"/>
              </a:lnSpc>
              <a:spcBef>
                <a:spcPts val="0"/>
              </a:spcBef>
              <a:spcAft>
                <a:spcPts val="0"/>
              </a:spcAft>
              <a:buSzPts val="1400"/>
              <a:buNone/>
              <a:defRPr/>
            </a:lvl1pPr>
            <a:lvl2pPr lvl="1" algn="l" rtl="0">
              <a:lnSpc>
                <a:spcPct val="93000"/>
              </a:lnSpc>
              <a:spcBef>
                <a:spcPts val="0"/>
              </a:spcBef>
              <a:spcAft>
                <a:spcPts val="0"/>
              </a:spcAft>
              <a:buSzPts val="1400"/>
              <a:buNone/>
              <a:defRPr/>
            </a:lvl2pPr>
            <a:lvl3pPr lvl="2" algn="l" rtl="0">
              <a:lnSpc>
                <a:spcPct val="93000"/>
              </a:lnSpc>
              <a:spcBef>
                <a:spcPts val="0"/>
              </a:spcBef>
              <a:spcAft>
                <a:spcPts val="0"/>
              </a:spcAft>
              <a:buSzPts val="1400"/>
              <a:buNone/>
              <a:defRPr/>
            </a:lvl3pPr>
            <a:lvl4pPr lvl="3" algn="l" rtl="0">
              <a:lnSpc>
                <a:spcPct val="93000"/>
              </a:lnSpc>
              <a:spcBef>
                <a:spcPts val="0"/>
              </a:spcBef>
              <a:spcAft>
                <a:spcPts val="0"/>
              </a:spcAft>
              <a:buSzPts val="1400"/>
              <a:buNone/>
              <a:defRPr/>
            </a:lvl4pPr>
            <a:lvl5pPr lvl="4" algn="l" rtl="0">
              <a:lnSpc>
                <a:spcPct val="93000"/>
              </a:lnSpc>
              <a:spcBef>
                <a:spcPts val="0"/>
              </a:spcBef>
              <a:spcAft>
                <a:spcPts val="0"/>
              </a:spcAft>
              <a:buSzPts val="1400"/>
              <a:buNone/>
              <a:defRPr/>
            </a:lvl5pPr>
            <a:lvl6pPr lvl="5" algn="l" rtl="0">
              <a:lnSpc>
                <a:spcPct val="93000"/>
              </a:lnSpc>
              <a:spcBef>
                <a:spcPts val="0"/>
              </a:spcBef>
              <a:spcAft>
                <a:spcPts val="0"/>
              </a:spcAft>
              <a:buSzPts val="1400"/>
              <a:buNone/>
              <a:defRPr/>
            </a:lvl6pPr>
            <a:lvl7pPr lvl="6" algn="l" rtl="0">
              <a:lnSpc>
                <a:spcPct val="93000"/>
              </a:lnSpc>
              <a:spcBef>
                <a:spcPts val="0"/>
              </a:spcBef>
              <a:spcAft>
                <a:spcPts val="0"/>
              </a:spcAft>
              <a:buSzPts val="1400"/>
              <a:buNone/>
              <a:defRPr/>
            </a:lvl7pPr>
            <a:lvl8pPr lvl="7" algn="l" rtl="0">
              <a:lnSpc>
                <a:spcPct val="93000"/>
              </a:lnSpc>
              <a:spcBef>
                <a:spcPts val="0"/>
              </a:spcBef>
              <a:spcAft>
                <a:spcPts val="0"/>
              </a:spcAft>
              <a:buSzPts val="1400"/>
              <a:buNone/>
              <a:defRPr/>
            </a:lvl8pPr>
            <a:lvl9pPr lvl="8" algn="l" rtl="0">
              <a:lnSpc>
                <a:spcPct val="93000"/>
              </a:lnSpc>
              <a:spcBef>
                <a:spcPts val="0"/>
              </a:spcBef>
              <a:spcAft>
                <a:spcPts val="0"/>
              </a:spcAft>
              <a:buSzPts val="1400"/>
              <a:buNone/>
              <a:defRPr/>
            </a:lvl9pPr>
          </a:lstStyle>
          <a:p>
            <a:endParaRPr/>
          </a:p>
        </p:txBody>
      </p:sp>
      <p:sp>
        <p:nvSpPr>
          <p:cNvPr id="295" name="Google Shape;295;p40"/>
          <p:cNvSpPr/>
          <p:nvPr/>
        </p:nvSpPr>
        <p:spPr>
          <a:xfrm>
            <a:off x="2844800" y="6170716"/>
            <a:ext cx="8229600" cy="509600"/>
          </a:xfrm>
          <a:prstGeom prst="rect">
            <a:avLst/>
          </a:prstGeom>
          <a:solidFill>
            <a:schemeClr val="lt1"/>
          </a:solidFill>
          <a:ln>
            <a:noFill/>
          </a:ln>
        </p:spPr>
        <p:txBody>
          <a:bodyPr spcFirstLastPara="1" wrap="square" lIns="121900" tIns="60933" rIns="121900" bIns="60933" anchor="ctr" anchorCtr="0">
            <a:noAutofit/>
          </a:bodyPr>
          <a:lstStyle/>
          <a:p>
            <a:pPr marL="0" marR="0" lvl="0" indent="0" algn="ctr" rtl="0">
              <a:lnSpc>
                <a:spcPct val="93000"/>
              </a:lnSpc>
              <a:spcBef>
                <a:spcPts val="0"/>
              </a:spcBef>
              <a:spcAft>
                <a:spcPts val="0"/>
              </a:spcAft>
              <a:buClr>
                <a:srgbClr val="000000"/>
              </a:buClr>
              <a:buSzPts val="1800"/>
              <a:buFont typeface="Arial"/>
              <a:buNone/>
            </a:pPr>
            <a:endParaRPr sz="24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373063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de-CH"/>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B36CFD-34C1-42E8-A8C0-16398C594E52}" type="datetimeFigureOut">
              <a:rPr lang="de-CH" smtClean="0"/>
              <a:t>03.03.2025</a:t>
            </a:fld>
            <a:endParaRPr lang="de-CH"/>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CH"/>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7D522E-16C6-43F2-96D9-C81085CE9E9B}" type="slidenum">
              <a:rPr lang="de-CH" smtClean="0"/>
              <a:t>‹#›</a:t>
            </a:fld>
            <a:endParaRPr lang="de-CH"/>
          </a:p>
        </p:txBody>
      </p:sp>
    </p:spTree>
    <p:extLst>
      <p:ext uri="{BB962C8B-B14F-4D97-AF65-F5344CB8AC3E}">
        <p14:creationId xmlns:p14="http://schemas.microsoft.com/office/powerpoint/2010/main" val="39452221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8" name="Google Shape;502;p65"/>
          <p:cNvSpPr txBox="1">
            <a:spLocks noGrp="1"/>
          </p:cNvSpPr>
          <p:nvPr>
            <p:ph type="body" idx="1"/>
          </p:nvPr>
        </p:nvSpPr>
        <p:spPr>
          <a:xfrm>
            <a:off x="4132053" y="3422615"/>
            <a:ext cx="8059947" cy="1572079"/>
          </a:xfrm>
          <a:prstGeom prst="rect">
            <a:avLst/>
          </a:prstGeom>
          <a:noFill/>
          <a:ln>
            <a:noFill/>
          </a:ln>
        </p:spPr>
        <p:txBody>
          <a:bodyPr spcFirstLastPara="1" vert="horz" wrap="square" lIns="0" tIns="45700" rIns="91433" bIns="45700" rtlCol="0" anchor="b" anchorCtr="0">
            <a:noAutofit/>
          </a:bodyPr>
          <a:lstStyle/>
          <a:p>
            <a:pPr marL="0" indent="0">
              <a:spcBef>
                <a:spcPts val="0"/>
              </a:spcBef>
              <a:spcAft>
                <a:spcPts val="1600"/>
              </a:spcAft>
            </a:pPr>
            <a:r>
              <a:rPr lang="en-US" sz="2800" b="1" dirty="0" smtClean="0">
                <a:solidFill>
                  <a:schemeClr val="accent1"/>
                </a:solidFill>
                <a:latin typeface="Arial" panose="020B0604020202020204" pitchFamily="34" charset="0"/>
                <a:cs typeface="Arial" panose="020B0604020202020204" pitchFamily="34" charset="0"/>
              </a:rPr>
              <a:t>UNCERTAINTY QUANTIFICATION OF AGENT-BASED MODELS WITH APPLICATION TO MALARIA INTERVENTION MODELING</a:t>
            </a:r>
            <a:endParaRPr lang="en-US" sz="2800" b="1" dirty="0">
              <a:solidFill>
                <a:schemeClr val="accent1"/>
              </a:solidFill>
              <a:latin typeface="Arial" panose="020B0604020202020204" pitchFamily="34" charset="0"/>
              <a:cs typeface="Arial" panose="020B0604020202020204" pitchFamily="34" charset="0"/>
            </a:endParaRPr>
          </a:p>
        </p:txBody>
      </p:sp>
      <p:sp>
        <p:nvSpPr>
          <p:cNvPr id="4" name="Rectangle 3"/>
          <p:cNvSpPr/>
          <p:nvPr/>
        </p:nvSpPr>
        <p:spPr>
          <a:xfrm>
            <a:off x="4132054" y="5225516"/>
            <a:ext cx="4587074" cy="1083374"/>
          </a:xfrm>
          <a:prstGeom prst="rect">
            <a:avLst/>
          </a:prstGeom>
        </p:spPr>
        <p:txBody>
          <a:bodyPr wrap="square">
            <a:spAutoFit/>
          </a:bodyPr>
          <a:lstStyle/>
          <a:p>
            <a:pPr lvl="0" algn="ctr">
              <a:lnSpc>
                <a:spcPct val="115000"/>
              </a:lnSpc>
              <a:buClr>
                <a:schemeClr val="dk1"/>
              </a:buClr>
              <a:buSzPts val="1100"/>
            </a:pPr>
            <a:r>
              <a:rPr lang="en-US" sz="2000" b="1" dirty="0" smtClean="0">
                <a:solidFill>
                  <a:schemeClr val="dk1"/>
                </a:solidFill>
                <a:latin typeface="Arial"/>
                <a:ea typeface="Arial"/>
                <a:cs typeface="Arial"/>
                <a:sym typeface="Arial"/>
              </a:rPr>
              <a:t>PhD Update</a:t>
            </a:r>
          </a:p>
          <a:p>
            <a:pPr lvl="0" algn="ctr">
              <a:lnSpc>
                <a:spcPct val="115000"/>
              </a:lnSpc>
              <a:buClr>
                <a:schemeClr val="dk1"/>
              </a:buClr>
              <a:buSzPts val="1100"/>
            </a:pPr>
            <a:endParaRPr lang="en-US" dirty="0">
              <a:solidFill>
                <a:schemeClr val="dk1"/>
              </a:solidFill>
              <a:latin typeface="Arial"/>
              <a:ea typeface="Arial"/>
              <a:cs typeface="Arial"/>
              <a:sym typeface="Arial"/>
            </a:endParaRPr>
          </a:p>
          <a:p>
            <a:pPr lvl="0" algn="ctr">
              <a:lnSpc>
                <a:spcPct val="115000"/>
              </a:lnSpc>
              <a:buClr>
                <a:schemeClr val="dk1"/>
              </a:buClr>
              <a:buSzPts val="1100"/>
            </a:pPr>
            <a:r>
              <a:rPr lang="en-US" dirty="0" smtClean="0">
                <a:solidFill>
                  <a:schemeClr val="dk1"/>
                </a:solidFill>
                <a:latin typeface="Arial"/>
                <a:ea typeface="Arial"/>
                <a:cs typeface="Arial"/>
                <a:sym typeface="Arial"/>
              </a:rPr>
              <a:t>January 2025</a:t>
            </a:r>
            <a:endParaRPr lang="en-US"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8441340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117986" y="50822"/>
            <a:ext cx="12074013" cy="745200"/>
          </a:xfrm>
        </p:spPr>
        <p:txBody>
          <a:bodyPr/>
          <a:lstStyle/>
          <a:p>
            <a:r>
              <a:rPr lang="en-US" sz="2800" b="1" dirty="0" smtClean="0">
                <a:latin typeface="+mn-lt"/>
              </a:rPr>
              <a:t>Aim</a:t>
            </a:r>
            <a:endParaRPr lang="en-US" sz="2800" b="1" dirty="0">
              <a:latin typeface="+mn-lt"/>
            </a:endParaRPr>
          </a:p>
        </p:txBody>
      </p:sp>
      <p:sp>
        <p:nvSpPr>
          <p:cNvPr id="62" name="Rounded Rectangle 61"/>
          <p:cNvSpPr/>
          <p:nvPr/>
        </p:nvSpPr>
        <p:spPr>
          <a:xfrm>
            <a:off x="1742174" y="712180"/>
            <a:ext cx="8994764" cy="5552912"/>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3200" dirty="0" smtClean="0"/>
              <a:t>To quantify and propagate the </a:t>
            </a:r>
            <a:r>
              <a:rPr lang="en-US" sz="3200" dirty="0"/>
              <a:t>uncertainty from various parameters in the OpenMalaria Ghana model, beyond just the entomological inoculation rate (EIR) and to determine the impact of these uncertainties on simulating the effect of malaria interventions at the sub-national </a:t>
            </a:r>
            <a:r>
              <a:rPr lang="en-US" sz="3200" dirty="0" smtClean="0"/>
              <a:t>level.</a:t>
            </a:r>
            <a:endParaRPr lang="de-CH" sz="3200" dirty="0"/>
          </a:p>
        </p:txBody>
      </p:sp>
    </p:spTree>
    <p:extLst>
      <p:ext uri="{BB962C8B-B14F-4D97-AF65-F5344CB8AC3E}">
        <p14:creationId xmlns:p14="http://schemas.microsoft.com/office/powerpoint/2010/main" val="12730757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8" name="Google Shape;519;p67"/>
          <p:cNvSpPr txBox="1">
            <a:spLocks/>
          </p:cNvSpPr>
          <p:nvPr/>
        </p:nvSpPr>
        <p:spPr>
          <a:xfrm>
            <a:off x="323528" y="0"/>
            <a:ext cx="11868471" cy="745200"/>
          </a:xfrm>
          <a:prstGeom prst="rect">
            <a:avLst/>
          </a:prstGeom>
          <a:noFill/>
          <a:ln>
            <a:noFill/>
          </a:ln>
        </p:spPr>
        <p:txBody>
          <a:bodyPr spcFirstLastPara="1" wrap="square" lIns="0" tIns="60933" rIns="121900" bIns="60933" anchor="ctr" anchorCtr="0">
            <a:noAutofit/>
          </a:bodyPr>
          <a:lstStyle>
            <a:defPPr marR="0" lvl="0" algn="l" rtl="0">
              <a:lnSpc>
                <a:spcPct val="100000"/>
              </a:lnSpc>
              <a:spcBef>
                <a:spcPts val="0"/>
              </a:spcBef>
              <a:spcAft>
                <a:spcPts val="0"/>
              </a:spcAft>
            </a:defPPr>
            <a:lvl1pPr marR="0" lvl="0" algn="just" rtl="0">
              <a:lnSpc>
                <a:spcPct val="90000"/>
              </a:lnSpc>
              <a:spcBef>
                <a:spcPts val="0"/>
              </a:spcBef>
              <a:spcAft>
                <a:spcPts val="0"/>
              </a:spcAft>
              <a:buClr>
                <a:schemeClr val="accent1"/>
              </a:buClr>
              <a:buSzPts val="2400"/>
              <a:buFont typeface="Palatino Linotype"/>
              <a:buNone/>
              <a:defRPr sz="2400" b="0" i="0" u="none" strike="noStrike" cap="none">
                <a:solidFill>
                  <a:schemeClr val="accent1"/>
                </a:solidFill>
                <a:latin typeface="Palatino Linotype"/>
                <a:ea typeface="Palatino Linotype"/>
                <a:cs typeface="Palatino Linotype"/>
                <a:sym typeface="Palatino Linotyp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2800" b="1" kern="0" dirty="0" smtClean="0">
                <a:latin typeface="+mn-lt"/>
              </a:rPr>
              <a:t>Uncertainty Quantification can be classified in two forms</a:t>
            </a:r>
            <a:endParaRPr lang="en-US" sz="2800" b="1" kern="0" dirty="0">
              <a:latin typeface="+mn-lt"/>
            </a:endParaRPr>
          </a:p>
        </p:txBody>
      </p:sp>
      <p:graphicFrame>
        <p:nvGraphicFramePr>
          <p:cNvPr id="2" name="Diagram 1"/>
          <p:cNvGraphicFramePr/>
          <p:nvPr>
            <p:extLst/>
          </p:nvPr>
        </p:nvGraphicFramePr>
        <p:xfrm>
          <a:off x="1203864" y="1820174"/>
          <a:ext cx="8128000" cy="49320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Oval 2"/>
          <p:cNvSpPr/>
          <p:nvPr/>
        </p:nvSpPr>
        <p:spPr>
          <a:xfrm>
            <a:off x="9514936" y="2147979"/>
            <a:ext cx="2234241" cy="1587260"/>
          </a:xfrm>
          <a:prstGeom prst="ellips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2400" dirty="0" smtClean="0"/>
              <a:t>Sensitivity Analysis</a:t>
            </a:r>
            <a:endParaRPr lang="de-CH" sz="2400" dirty="0"/>
          </a:p>
        </p:txBody>
      </p:sp>
      <p:sp>
        <p:nvSpPr>
          <p:cNvPr id="7" name="Oval 6"/>
          <p:cNvSpPr/>
          <p:nvPr/>
        </p:nvSpPr>
        <p:spPr>
          <a:xfrm>
            <a:off x="9514936" y="4819291"/>
            <a:ext cx="2337759" cy="1587260"/>
          </a:xfrm>
          <a:prstGeom prst="ellips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2400" dirty="0" smtClean="0"/>
              <a:t>Model Calibration</a:t>
            </a:r>
            <a:endParaRPr lang="de-CH" sz="2400" dirty="0"/>
          </a:p>
        </p:txBody>
      </p:sp>
      <p:sp>
        <p:nvSpPr>
          <p:cNvPr id="4" name="Rectangle 3"/>
          <p:cNvSpPr/>
          <p:nvPr/>
        </p:nvSpPr>
        <p:spPr>
          <a:xfrm>
            <a:off x="323528" y="736122"/>
            <a:ext cx="11720423" cy="830997"/>
          </a:xfrm>
          <a:prstGeom prst="rect">
            <a:avLst/>
          </a:prstGeom>
        </p:spPr>
        <p:txBody>
          <a:bodyPr wrap="square">
            <a:spAutoFit/>
          </a:bodyPr>
          <a:lstStyle/>
          <a:p>
            <a:pPr marL="285750" indent="-285750">
              <a:buFont typeface="Arial" panose="020B0604020202020204" pitchFamily="34" charset="0"/>
              <a:buChar char="•"/>
            </a:pPr>
            <a:r>
              <a:rPr lang="en-US" sz="2400" b="1" dirty="0" smtClean="0"/>
              <a:t>The </a:t>
            </a:r>
            <a:r>
              <a:rPr lang="en-US" sz="2400" b="1" dirty="0"/>
              <a:t>field of Uncertainty Quantification </a:t>
            </a:r>
            <a:r>
              <a:rPr lang="en-US" sz="2400" b="1" dirty="0" smtClean="0"/>
              <a:t>offers </a:t>
            </a:r>
            <a:r>
              <a:rPr lang="en-US" sz="2400" b="1" dirty="0"/>
              <a:t>a means of quantifying and </a:t>
            </a:r>
            <a:r>
              <a:rPr lang="en-US" sz="2400" b="1" dirty="0" smtClean="0"/>
              <a:t>characterizing </a:t>
            </a:r>
            <a:r>
              <a:rPr lang="en-US" sz="2400" b="1" dirty="0"/>
              <a:t>uncertainties in models and the real </a:t>
            </a:r>
            <a:r>
              <a:rPr lang="en-US" sz="2400" b="1" dirty="0" smtClean="0"/>
              <a:t>world.</a:t>
            </a:r>
            <a:endParaRPr lang="de-CH" sz="2400" b="1" dirty="0"/>
          </a:p>
        </p:txBody>
      </p:sp>
    </p:spTree>
    <p:extLst>
      <p:ext uri="{BB962C8B-B14F-4D97-AF65-F5344CB8AC3E}">
        <p14:creationId xmlns:p14="http://schemas.microsoft.com/office/powerpoint/2010/main" val="431172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graphicEl>
                                              <a:dgm id="{40BCD131-2073-4EDE-9795-02928553C85F}"/>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graphicEl>
                                              <a:dgm id="{234E15B5-1992-433F-AE7A-2BD232D5F9C1}"/>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graphicEl>
                                              <a:dgm id="{116AF5B1-E45C-4738-8EBC-F071EB4E45FD}"/>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graphicEl>
                                              <a:dgm id="{AF97286F-DE4D-4D21-923A-0C8E3289DDB2}"/>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Graphic spid="2" grpId="0">
        <p:bldSub>
          <a:bldDgm bld="one"/>
        </p:bldSub>
      </p:bldGraphic>
      <p:bldP spid="3"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68"/>
          <p:cNvSpPr txBox="1">
            <a:spLocks noGrp="1"/>
          </p:cNvSpPr>
          <p:nvPr>
            <p:ph type="title"/>
          </p:nvPr>
        </p:nvSpPr>
        <p:spPr>
          <a:xfrm>
            <a:off x="125976" y="110546"/>
            <a:ext cx="10850000" cy="528551"/>
          </a:xfrm>
          <a:prstGeom prst="rect">
            <a:avLst/>
          </a:prstGeom>
          <a:noFill/>
          <a:ln>
            <a:noFill/>
          </a:ln>
        </p:spPr>
        <p:txBody>
          <a:bodyPr spcFirstLastPara="1" wrap="square" lIns="0" tIns="60933" rIns="121900" bIns="60933" anchor="ctr" anchorCtr="0">
            <a:noAutofit/>
          </a:bodyPr>
          <a:lstStyle/>
          <a:p>
            <a:r>
              <a:rPr lang="en" sz="2800" b="1" dirty="0" smtClean="0">
                <a:latin typeface="+mn-lt"/>
              </a:rPr>
              <a:t>Research Objectives</a:t>
            </a:r>
            <a:endParaRPr sz="2800" b="1" dirty="0">
              <a:latin typeface="+mn-lt"/>
            </a:endParaRPr>
          </a:p>
        </p:txBody>
      </p:sp>
      <p:graphicFrame>
        <p:nvGraphicFramePr>
          <p:cNvPr id="4" name="Diagram 3"/>
          <p:cNvGraphicFramePr/>
          <p:nvPr>
            <p:extLst/>
          </p:nvPr>
        </p:nvGraphicFramePr>
        <p:xfrm>
          <a:off x="0" y="719668"/>
          <a:ext cx="12192000" cy="9813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Google Shape;539;p70"/>
          <p:cNvPicPr preferRelativeResize="0"/>
          <p:nvPr/>
        </p:nvPicPr>
        <p:blipFill>
          <a:blip r:embed="rId8">
            <a:alphaModFix/>
          </a:blip>
          <a:stretch>
            <a:fillRect/>
          </a:stretch>
        </p:blipFill>
        <p:spPr>
          <a:xfrm>
            <a:off x="-1" y="3730751"/>
            <a:ext cx="6234545" cy="2596157"/>
          </a:xfrm>
          <a:prstGeom prst="rect">
            <a:avLst/>
          </a:prstGeom>
          <a:noFill/>
          <a:ln>
            <a:noFill/>
          </a:ln>
        </p:spPr>
      </p:pic>
      <p:sp>
        <p:nvSpPr>
          <p:cNvPr id="5" name="Rounded Rectangle 4"/>
          <p:cNvSpPr/>
          <p:nvPr/>
        </p:nvSpPr>
        <p:spPr>
          <a:xfrm>
            <a:off x="235704" y="2006952"/>
            <a:ext cx="6229751" cy="1297859"/>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CH" dirty="0" smtClean="0">
                <a:solidFill>
                  <a:schemeClr val="tx1"/>
                </a:solidFill>
              </a:rPr>
              <a:t>Perform </a:t>
            </a:r>
            <a:r>
              <a:rPr lang="de-CH" dirty="0" err="1" smtClean="0">
                <a:solidFill>
                  <a:schemeClr val="tx1"/>
                </a:solidFill>
              </a:rPr>
              <a:t>sensitivity</a:t>
            </a:r>
            <a:r>
              <a:rPr lang="de-CH" dirty="0" smtClean="0">
                <a:solidFill>
                  <a:schemeClr val="tx1"/>
                </a:solidFill>
              </a:rPr>
              <a:t> </a:t>
            </a:r>
            <a:r>
              <a:rPr lang="de-CH" dirty="0" err="1" smtClean="0">
                <a:solidFill>
                  <a:schemeClr val="tx1"/>
                </a:solidFill>
              </a:rPr>
              <a:t>analysis</a:t>
            </a:r>
            <a:r>
              <a:rPr lang="de-CH" dirty="0" smtClean="0">
                <a:solidFill>
                  <a:schemeClr val="tx1"/>
                </a:solidFill>
              </a:rPr>
              <a:t> </a:t>
            </a:r>
            <a:r>
              <a:rPr lang="de-CH" dirty="0" err="1" smtClean="0">
                <a:solidFill>
                  <a:schemeClr val="tx1"/>
                </a:solidFill>
              </a:rPr>
              <a:t>of</a:t>
            </a:r>
            <a:r>
              <a:rPr lang="de-CH" dirty="0" smtClean="0">
                <a:solidFill>
                  <a:schemeClr val="tx1"/>
                </a:solidFill>
              </a:rPr>
              <a:t> </a:t>
            </a:r>
            <a:r>
              <a:rPr lang="de-CH" b="1" dirty="0" err="1" smtClean="0">
                <a:solidFill>
                  <a:schemeClr val="tx1"/>
                </a:solidFill>
              </a:rPr>
              <a:t>coverage</a:t>
            </a:r>
            <a:r>
              <a:rPr lang="de-CH" dirty="0" smtClean="0">
                <a:solidFill>
                  <a:schemeClr val="tx1"/>
                </a:solidFill>
              </a:rPr>
              <a:t>, </a:t>
            </a:r>
            <a:r>
              <a:rPr lang="de-CH" b="1" dirty="0" err="1" smtClean="0">
                <a:solidFill>
                  <a:schemeClr val="tx1"/>
                </a:solidFill>
              </a:rPr>
              <a:t>halflife</a:t>
            </a:r>
            <a:r>
              <a:rPr lang="de-CH" b="1" dirty="0" smtClean="0">
                <a:solidFill>
                  <a:schemeClr val="tx1"/>
                </a:solidFill>
              </a:rPr>
              <a:t> </a:t>
            </a:r>
            <a:r>
              <a:rPr lang="de-CH" b="1" dirty="0" err="1" smtClean="0">
                <a:solidFill>
                  <a:schemeClr val="tx1"/>
                </a:solidFill>
              </a:rPr>
              <a:t>of</a:t>
            </a:r>
            <a:r>
              <a:rPr lang="de-CH" b="1" dirty="0" smtClean="0">
                <a:solidFill>
                  <a:schemeClr val="tx1"/>
                </a:solidFill>
              </a:rPr>
              <a:t> </a:t>
            </a:r>
            <a:r>
              <a:rPr lang="de-CH" b="1" dirty="0" err="1" smtClean="0">
                <a:solidFill>
                  <a:schemeClr val="tx1"/>
                </a:solidFill>
              </a:rPr>
              <a:t>efficacy</a:t>
            </a:r>
            <a:r>
              <a:rPr lang="de-CH" b="1" dirty="0" smtClean="0">
                <a:solidFill>
                  <a:schemeClr val="tx1"/>
                </a:solidFill>
              </a:rPr>
              <a:t> </a:t>
            </a:r>
            <a:r>
              <a:rPr lang="de-CH" dirty="0" err="1" smtClean="0">
                <a:solidFill>
                  <a:schemeClr val="tx1"/>
                </a:solidFill>
              </a:rPr>
              <a:t>and</a:t>
            </a:r>
            <a:r>
              <a:rPr lang="de-CH" dirty="0" smtClean="0">
                <a:solidFill>
                  <a:schemeClr val="tx1"/>
                </a:solidFill>
              </a:rPr>
              <a:t> </a:t>
            </a:r>
            <a:r>
              <a:rPr lang="de-CH" b="1" dirty="0" err="1" smtClean="0">
                <a:solidFill>
                  <a:schemeClr val="tx1"/>
                </a:solidFill>
              </a:rPr>
              <a:t>vector</a:t>
            </a:r>
            <a:r>
              <a:rPr lang="de-CH" b="1" dirty="0" smtClean="0">
                <a:solidFill>
                  <a:schemeClr val="tx1"/>
                </a:solidFill>
              </a:rPr>
              <a:t> </a:t>
            </a:r>
            <a:r>
              <a:rPr lang="de-CH" b="1" dirty="0" err="1" smtClean="0">
                <a:solidFill>
                  <a:schemeClr val="tx1"/>
                </a:solidFill>
              </a:rPr>
              <a:t>composition</a:t>
            </a:r>
            <a:r>
              <a:rPr lang="de-CH" dirty="0" smtClean="0">
                <a:solidFill>
                  <a:schemeClr val="tx1"/>
                </a:solidFill>
              </a:rPr>
              <a:t> </a:t>
            </a:r>
            <a:r>
              <a:rPr lang="de-CH" dirty="0" err="1" smtClean="0">
                <a:solidFill>
                  <a:schemeClr val="tx1"/>
                </a:solidFill>
              </a:rPr>
              <a:t>towards</a:t>
            </a:r>
            <a:r>
              <a:rPr lang="de-CH" dirty="0" smtClean="0">
                <a:solidFill>
                  <a:schemeClr val="tx1"/>
                </a:solidFill>
              </a:rPr>
              <a:t> </a:t>
            </a:r>
            <a:r>
              <a:rPr lang="de-CH" dirty="0" err="1" smtClean="0">
                <a:solidFill>
                  <a:schemeClr val="tx1"/>
                </a:solidFill>
              </a:rPr>
              <a:t>prevalence</a:t>
            </a:r>
            <a:r>
              <a:rPr lang="de-CH" dirty="0" smtClean="0">
                <a:solidFill>
                  <a:schemeClr val="tx1"/>
                </a:solidFill>
              </a:rPr>
              <a:t> </a:t>
            </a:r>
            <a:r>
              <a:rPr lang="de-CH" dirty="0" err="1" smtClean="0">
                <a:solidFill>
                  <a:schemeClr val="tx1"/>
                </a:solidFill>
              </a:rPr>
              <a:t>reduction</a:t>
            </a:r>
            <a:r>
              <a:rPr lang="de-CH" dirty="0" smtClean="0">
                <a:solidFill>
                  <a:schemeClr val="tx1"/>
                </a:solidFill>
              </a:rPr>
              <a:t> </a:t>
            </a:r>
            <a:r>
              <a:rPr lang="de-CH" dirty="0" err="1" smtClean="0">
                <a:solidFill>
                  <a:schemeClr val="tx1"/>
                </a:solidFill>
              </a:rPr>
              <a:t>and</a:t>
            </a:r>
            <a:r>
              <a:rPr lang="de-CH" dirty="0" smtClean="0">
                <a:solidFill>
                  <a:schemeClr val="tx1"/>
                </a:solidFill>
              </a:rPr>
              <a:t> </a:t>
            </a:r>
            <a:r>
              <a:rPr lang="de-CH" dirty="0" err="1" smtClean="0">
                <a:solidFill>
                  <a:schemeClr val="tx1"/>
                </a:solidFill>
              </a:rPr>
              <a:t>clinical</a:t>
            </a:r>
            <a:r>
              <a:rPr lang="de-CH" dirty="0" smtClean="0">
                <a:solidFill>
                  <a:schemeClr val="tx1"/>
                </a:solidFill>
              </a:rPr>
              <a:t> </a:t>
            </a:r>
            <a:r>
              <a:rPr lang="de-CH" dirty="0" err="1" smtClean="0">
                <a:solidFill>
                  <a:schemeClr val="tx1"/>
                </a:solidFill>
              </a:rPr>
              <a:t>cases</a:t>
            </a:r>
            <a:r>
              <a:rPr lang="de-CH" dirty="0" smtClean="0">
                <a:solidFill>
                  <a:schemeClr val="tx1"/>
                </a:solidFill>
              </a:rPr>
              <a:t> </a:t>
            </a:r>
            <a:r>
              <a:rPr lang="de-CH" dirty="0" err="1" smtClean="0">
                <a:solidFill>
                  <a:schemeClr val="tx1"/>
                </a:solidFill>
              </a:rPr>
              <a:t>averted</a:t>
            </a:r>
            <a:r>
              <a:rPr lang="de-CH" dirty="0" smtClean="0">
                <a:solidFill>
                  <a:schemeClr val="tx1"/>
                </a:solidFill>
              </a:rPr>
              <a:t> </a:t>
            </a:r>
            <a:r>
              <a:rPr lang="de-CH" b="1" dirty="0" smtClean="0">
                <a:solidFill>
                  <a:schemeClr val="bg1"/>
                </a:solidFill>
              </a:rPr>
              <a:t>(Forward Propagation </a:t>
            </a:r>
            <a:r>
              <a:rPr lang="de-CH" b="1" dirty="0" err="1" smtClean="0">
                <a:solidFill>
                  <a:schemeClr val="bg1"/>
                </a:solidFill>
              </a:rPr>
              <a:t>of</a:t>
            </a:r>
            <a:r>
              <a:rPr lang="de-CH" b="1" dirty="0" smtClean="0">
                <a:solidFill>
                  <a:schemeClr val="bg1"/>
                </a:solidFill>
              </a:rPr>
              <a:t> uncertainty)</a:t>
            </a:r>
          </a:p>
        </p:txBody>
      </p:sp>
      <p:sp>
        <p:nvSpPr>
          <p:cNvPr id="26" name="TextBox 25"/>
          <p:cNvSpPr txBox="1"/>
          <p:nvPr/>
        </p:nvSpPr>
        <p:spPr>
          <a:xfrm>
            <a:off x="235704" y="6550223"/>
            <a:ext cx="4587241" cy="307777"/>
          </a:xfrm>
          <a:prstGeom prst="rect">
            <a:avLst/>
          </a:prstGeom>
          <a:noFill/>
        </p:spPr>
        <p:txBody>
          <a:bodyPr wrap="square" rtlCol="0">
            <a:spAutoFit/>
          </a:bodyPr>
          <a:lstStyle/>
          <a:p>
            <a:r>
              <a:rPr lang="de-CH" sz="1400" dirty="0" smtClean="0"/>
              <a:t>Source:</a:t>
            </a:r>
            <a:r>
              <a:rPr lang="en-US" sz="1400" dirty="0"/>
              <a:t> </a:t>
            </a:r>
            <a:r>
              <a:rPr lang="en-US" sz="1400" dirty="0" smtClean="0"/>
              <a:t>Sensitivity </a:t>
            </a:r>
            <a:r>
              <a:rPr lang="en-US" sz="1400" dirty="0"/>
              <a:t>Analysis: The </a:t>
            </a:r>
            <a:r>
              <a:rPr lang="en-US" sz="1400" dirty="0" smtClean="0"/>
              <a:t>Basics</a:t>
            </a:r>
            <a:endParaRPr lang="de-CH" sz="1400" dirty="0"/>
          </a:p>
        </p:txBody>
      </p:sp>
    </p:spTree>
    <p:extLst>
      <p:ext uri="{BB962C8B-B14F-4D97-AF65-F5344CB8AC3E}">
        <p14:creationId xmlns:p14="http://schemas.microsoft.com/office/powerpoint/2010/main" val="3610807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68"/>
          <p:cNvSpPr txBox="1">
            <a:spLocks noGrp="1"/>
          </p:cNvSpPr>
          <p:nvPr>
            <p:ph type="title"/>
          </p:nvPr>
        </p:nvSpPr>
        <p:spPr>
          <a:xfrm>
            <a:off x="125976" y="110546"/>
            <a:ext cx="10850000" cy="528551"/>
          </a:xfrm>
          <a:prstGeom prst="rect">
            <a:avLst/>
          </a:prstGeom>
          <a:noFill/>
          <a:ln>
            <a:noFill/>
          </a:ln>
        </p:spPr>
        <p:txBody>
          <a:bodyPr spcFirstLastPara="1" wrap="square" lIns="0" tIns="60933" rIns="121900" bIns="60933" anchor="ctr" anchorCtr="0">
            <a:noAutofit/>
          </a:bodyPr>
          <a:lstStyle/>
          <a:p>
            <a:r>
              <a:rPr lang="en" sz="2800" b="1" dirty="0" smtClean="0">
                <a:latin typeface="+mn-lt"/>
              </a:rPr>
              <a:t>Variance-based sensitivity analysis (Sobol)</a:t>
            </a:r>
            <a:endParaRPr sz="2800" b="1" dirty="0">
              <a:latin typeface="+mn-lt"/>
            </a:endParaRPr>
          </a:p>
        </p:txBody>
      </p:sp>
      <p:pic>
        <p:nvPicPr>
          <p:cNvPr id="8" name="Picture 7"/>
          <p:cNvPicPr>
            <a:picLocks noChangeAspect="1"/>
          </p:cNvPicPr>
          <p:nvPr/>
        </p:nvPicPr>
        <p:blipFill>
          <a:blip r:embed="rId3"/>
          <a:stretch>
            <a:fillRect/>
          </a:stretch>
        </p:blipFill>
        <p:spPr>
          <a:xfrm>
            <a:off x="1496212" y="1550849"/>
            <a:ext cx="7924800" cy="1133475"/>
          </a:xfrm>
          <a:prstGeom prst="rect">
            <a:avLst/>
          </a:prstGeom>
        </p:spPr>
      </p:pic>
      <p:pic>
        <p:nvPicPr>
          <p:cNvPr id="10" name="Picture 9"/>
          <p:cNvPicPr>
            <a:picLocks noChangeAspect="1"/>
          </p:cNvPicPr>
          <p:nvPr/>
        </p:nvPicPr>
        <p:blipFill>
          <a:blip r:embed="rId4"/>
          <a:stretch>
            <a:fillRect/>
          </a:stretch>
        </p:blipFill>
        <p:spPr>
          <a:xfrm>
            <a:off x="1496212" y="2690672"/>
            <a:ext cx="6838950" cy="1704975"/>
          </a:xfrm>
          <a:prstGeom prst="rect">
            <a:avLst/>
          </a:prstGeom>
        </p:spPr>
      </p:pic>
      <p:pic>
        <p:nvPicPr>
          <p:cNvPr id="11" name="Picture 10"/>
          <p:cNvPicPr>
            <a:picLocks noChangeAspect="1"/>
          </p:cNvPicPr>
          <p:nvPr/>
        </p:nvPicPr>
        <p:blipFill>
          <a:blip r:embed="rId5"/>
          <a:stretch>
            <a:fillRect/>
          </a:stretch>
        </p:blipFill>
        <p:spPr>
          <a:xfrm>
            <a:off x="1105542" y="5109358"/>
            <a:ext cx="9829800" cy="1038225"/>
          </a:xfrm>
          <a:prstGeom prst="rect">
            <a:avLst/>
          </a:prstGeom>
        </p:spPr>
      </p:pic>
    </p:spTree>
    <p:extLst>
      <p:ext uri="{BB962C8B-B14F-4D97-AF65-F5344CB8AC3E}">
        <p14:creationId xmlns:p14="http://schemas.microsoft.com/office/powerpoint/2010/main" val="9208487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117986" y="50822"/>
            <a:ext cx="7132559" cy="745200"/>
          </a:xfrm>
        </p:spPr>
        <p:txBody>
          <a:bodyPr/>
          <a:lstStyle/>
          <a:p>
            <a:r>
              <a:rPr lang="en-US" sz="2800" b="1" dirty="0" smtClean="0">
                <a:latin typeface="+mn-lt"/>
              </a:rPr>
              <a:t>Objective 1 – </a:t>
            </a:r>
            <a:r>
              <a:rPr lang="de-CH" sz="2800" b="1" dirty="0" err="1" smtClean="0">
                <a:solidFill>
                  <a:schemeClr val="tx1"/>
                </a:solidFill>
                <a:latin typeface="+mn-lt"/>
              </a:rPr>
              <a:t>Modifying</a:t>
            </a:r>
            <a:r>
              <a:rPr lang="de-CH" sz="2800" b="1" dirty="0" smtClean="0">
                <a:solidFill>
                  <a:schemeClr val="tx1"/>
                </a:solidFill>
                <a:latin typeface="+mn-lt"/>
              </a:rPr>
              <a:t> </a:t>
            </a:r>
            <a:r>
              <a:rPr lang="de-CH" sz="2800" b="1" dirty="0" err="1" smtClean="0">
                <a:solidFill>
                  <a:schemeClr val="tx1"/>
                </a:solidFill>
                <a:latin typeface="+mn-lt"/>
              </a:rPr>
              <a:t>the</a:t>
            </a:r>
            <a:r>
              <a:rPr lang="de-CH" sz="2800" b="1" dirty="0" smtClean="0">
                <a:solidFill>
                  <a:schemeClr val="tx1"/>
                </a:solidFill>
                <a:latin typeface="+mn-lt"/>
              </a:rPr>
              <a:t> </a:t>
            </a:r>
            <a:r>
              <a:rPr lang="de-CH" sz="2800" b="1" dirty="0" err="1">
                <a:solidFill>
                  <a:schemeClr val="tx1"/>
                </a:solidFill>
                <a:latin typeface="+mn-lt"/>
              </a:rPr>
              <a:t>existing</a:t>
            </a:r>
            <a:r>
              <a:rPr lang="de-CH" sz="2800" b="1" dirty="0">
                <a:solidFill>
                  <a:schemeClr val="tx1"/>
                </a:solidFill>
                <a:latin typeface="+mn-lt"/>
              </a:rPr>
              <a:t> </a:t>
            </a:r>
            <a:r>
              <a:rPr lang="de-CH" sz="2800" b="1" dirty="0" err="1" smtClean="0">
                <a:solidFill>
                  <a:schemeClr val="tx1"/>
                </a:solidFill>
                <a:latin typeface="+mn-lt"/>
              </a:rPr>
              <a:t>workflow</a:t>
            </a:r>
            <a:endParaRPr lang="en-US" sz="2800" b="1" dirty="0">
              <a:latin typeface="+mn-lt"/>
            </a:endParaRPr>
          </a:p>
        </p:txBody>
      </p:sp>
      <p:sp>
        <p:nvSpPr>
          <p:cNvPr id="2" name="Rectangle 1"/>
          <p:cNvSpPr/>
          <p:nvPr/>
        </p:nvSpPr>
        <p:spPr>
          <a:xfrm>
            <a:off x="238059" y="1199895"/>
            <a:ext cx="11150377" cy="3785652"/>
          </a:xfrm>
          <a:prstGeom prst="rect">
            <a:avLst/>
          </a:prstGeom>
        </p:spPr>
        <p:txBody>
          <a:bodyPr wrap="square">
            <a:spAutoFit/>
          </a:bodyPr>
          <a:lstStyle/>
          <a:p>
            <a:pPr marL="342900" indent="-342900">
              <a:buFont typeface="Arial" panose="020B0604020202020204" pitchFamily="34" charset="0"/>
              <a:buChar char="•"/>
            </a:pPr>
            <a:r>
              <a:rPr lang="de-CH" sz="2400" dirty="0" smtClean="0">
                <a:latin typeface="Arial" panose="020B0604020202020204" pitchFamily="34" charset="0"/>
                <a:cs typeface="Arial" panose="020B0604020202020204" pitchFamily="34" charset="0"/>
              </a:rPr>
              <a:t>Chose a </a:t>
            </a:r>
            <a:r>
              <a:rPr lang="de-CH" sz="2400" b="1" dirty="0" err="1" smtClean="0">
                <a:latin typeface="Arial" panose="020B0604020202020204" pitchFamily="34" charset="0"/>
                <a:cs typeface="Arial" panose="020B0604020202020204" pitchFamily="34" charset="0"/>
              </a:rPr>
              <a:t>sampling</a:t>
            </a:r>
            <a:r>
              <a:rPr lang="de-CH" sz="2400" b="1" dirty="0" smtClean="0">
                <a:latin typeface="Arial" panose="020B0604020202020204" pitchFamily="34" charset="0"/>
                <a:cs typeface="Arial" panose="020B0604020202020204" pitchFamily="34" charset="0"/>
              </a:rPr>
              <a:t> </a:t>
            </a:r>
            <a:r>
              <a:rPr lang="de-CH" sz="2400" b="1" dirty="0" err="1" smtClean="0">
                <a:latin typeface="Arial" panose="020B0604020202020204" pitchFamily="34" charset="0"/>
                <a:cs typeface="Arial" panose="020B0604020202020204" pitchFamily="34" charset="0"/>
              </a:rPr>
              <a:t>scheme</a:t>
            </a:r>
            <a:r>
              <a:rPr lang="de-CH" sz="2400" b="1"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to</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reduce</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number</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of</a:t>
            </a:r>
            <a:r>
              <a:rPr lang="de-CH" sz="2400" dirty="0" smtClean="0">
                <a:latin typeface="Arial" panose="020B0604020202020204" pitchFamily="34" charset="0"/>
                <a:cs typeface="Arial" panose="020B0604020202020204" pitchFamily="34" charset="0"/>
              </a:rPr>
              <a:t> OM </a:t>
            </a:r>
            <a:r>
              <a:rPr lang="de-CH" sz="2400" dirty="0" err="1" smtClean="0">
                <a:latin typeface="Arial" panose="020B0604020202020204" pitchFamily="34" charset="0"/>
                <a:cs typeface="Arial" panose="020B0604020202020204" pitchFamily="34" charset="0"/>
              </a:rPr>
              <a:t>simulations</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and</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runtime</a:t>
            </a:r>
            <a:r>
              <a:rPr lang="de-CH" sz="2400" dirty="0" smtClean="0">
                <a:latin typeface="Arial" panose="020B0604020202020204" pitchFamily="34" charset="0"/>
                <a:cs typeface="Arial" panose="020B0604020202020204" pitchFamily="34" charset="0"/>
              </a:rPr>
              <a:t> </a:t>
            </a:r>
          </a:p>
          <a:p>
            <a:pPr marL="800100" lvl="1" indent="-342900">
              <a:buFont typeface="Arial" panose="020B0604020202020204" pitchFamily="34" charset="0"/>
              <a:buChar char="•"/>
            </a:pPr>
            <a:r>
              <a:rPr lang="de-CH" sz="2400" dirty="0" err="1" smtClean="0">
                <a:latin typeface="Arial" panose="020B0604020202020204" pitchFamily="34" charset="0"/>
                <a:cs typeface="Arial" panose="020B0604020202020204" pitchFamily="34" charset="0"/>
              </a:rPr>
              <a:t>How</a:t>
            </a:r>
            <a:r>
              <a:rPr lang="de-CH" sz="2400" dirty="0" smtClean="0">
                <a:latin typeface="Arial" panose="020B0604020202020204" pitchFamily="34" charset="0"/>
                <a:cs typeface="Arial" panose="020B0604020202020204" pitchFamily="34" charset="0"/>
              </a:rPr>
              <a:t> do </a:t>
            </a:r>
            <a:r>
              <a:rPr lang="de-CH" sz="2400" dirty="0" err="1" smtClean="0">
                <a:latin typeface="Arial" panose="020B0604020202020204" pitchFamily="34" charset="0"/>
                <a:cs typeface="Arial" panose="020B0604020202020204" pitchFamily="34" charset="0"/>
              </a:rPr>
              <a:t>we</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reduce</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the</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number</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of</a:t>
            </a:r>
            <a:r>
              <a:rPr lang="de-CH" sz="2400" dirty="0" smtClean="0">
                <a:latin typeface="Arial" panose="020B0604020202020204" pitchFamily="34" charset="0"/>
                <a:cs typeface="Arial" panose="020B0604020202020204" pitchFamily="34" charset="0"/>
              </a:rPr>
              <a:t> OM </a:t>
            </a:r>
            <a:r>
              <a:rPr lang="de-CH" sz="2400" dirty="0" err="1" smtClean="0">
                <a:latin typeface="Arial" panose="020B0604020202020204" pitchFamily="34" charset="0"/>
                <a:cs typeface="Arial" panose="020B0604020202020204" pitchFamily="34" charset="0"/>
              </a:rPr>
              <a:t>simulations</a:t>
            </a:r>
            <a:r>
              <a:rPr lang="de-CH" sz="2400" dirty="0" smtClean="0">
                <a:latin typeface="Arial" panose="020B0604020202020204" pitchFamily="34" charset="0"/>
                <a:cs typeface="Arial" panose="020B0604020202020204" pitchFamily="34" charset="0"/>
              </a:rPr>
              <a:t> in </a:t>
            </a:r>
            <a:r>
              <a:rPr lang="de-CH" sz="2400" dirty="0" err="1" smtClean="0">
                <a:latin typeface="Arial" panose="020B0604020202020204" pitchFamily="34" charset="0"/>
                <a:cs typeface="Arial" panose="020B0604020202020204" pitchFamily="34" charset="0"/>
              </a:rPr>
              <a:t>order</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to</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drastically</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reduce</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runtime</a:t>
            </a:r>
            <a:r>
              <a:rPr lang="de-CH" sz="2400" dirty="0" smtClean="0">
                <a:latin typeface="Arial" panose="020B0604020202020204" pitchFamily="34" charset="0"/>
                <a:cs typeface="Arial" panose="020B0604020202020204" pitchFamily="34" charset="0"/>
              </a:rPr>
              <a:t>? </a:t>
            </a:r>
          </a:p>
          <a:p>
            <a:pPr marL="800100" lvl="1" indent="-342900">
              <a:buFont typeface="Arial" panose="020B0604020202020204" pitchFamily="34" charset="0"/>
              <a:buChar char="•"/>
            </a:pPr>
            <a:r>
              <a:rPr lang="de-CH" sz="2400" dirty="0" err="1" smtClean="0">
                <a:latin typeface="Arial" panose="020B0604020202020204" pitchFamily="34" charset="0"/>
                <a:cs typeface="Arial" panose="020B0604020202020204" pitchFamily="34" charset="0"/>
              </a:rPr>
              <a:t>Tried</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other</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sampling</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designs</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instead</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of</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sweeps</a:t>
            </a:r>
            <a:endParaRPr lang="de-CH" sz="2400" dirty="0" smtClean="0">
              <a:latin typeface="Arial" panose="020B0604020202020204" pitchFamily="34" charset="0"/>
              <a:cs typeface="Arial" panose="020B0604020202020204" pitchFamily="34" charset="0"/>
            </a:endParaRPr>
          </a:p>
          <a:p>
            <a:endParaRPr lang="de-CH"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de-CH" sz="2400" b="1" dirty="0" err="1" smtClean="0">
                <a:latin typeface="Arial" panose="020B0604020202020204" pitchFamily="34" charset="0"/>
                <a:cs typeface="Arial" panose="020B0604020202020204" pitchFamily="34" charset="0"/>
              </a:rPr>
              <a:t>Trained</a:t>
            </a:r>
            <a:r>
              <a:rPr lang="de-CH" sz="2400" b="1" dirty="0" smtClean="0">
                <a:latin typeface="Arial" panose="020B0604020202020204" pitchFamily="34" charset="0"/>
                <a:cs typeface="Arial" panose="020B0604020202020204" pitchFamily="34" charset="0"/>
              </a:rPr>
              <a:t> GP </a:t>
            </a:r>
            <a:r>
              <a:rPr lang="de-CH" sz="2400" b="1" dirty="0" err="1" smtClean="0">
                <a:latin typeface="Arial" panose="020B0604020202020204" pitchFamily="34" charset="0"/>
                <a:cs typeface="Arial" panose="020B0604020202020204" pitchFamily="34" charset="0"/>
              </a:rPr>
              <a:t>model</a:t>
            </a:r>
            <a:r>
              <a:rPr lang="de-CH" sz="2400" b="1" dirty="0" smtClean="0">
                <a:latin typeface="Arial" panose="020B0604020202020204" pitchFamily="34" charset="0"/>
                <a:cs typeface="Arial" panose="020B0604020202020204" pitchFamily="34" charset="0"/>
              </a:rPr>
              <a:t> </a:t>
            </a:r>
            <a:r>
              <a:rPr lang="de-CH" sz="2400" dirty="0" smtClean="0">
                <a:latin typeface="Arial" panose="020B0604020202020204" pitchFamily="34" charset="0"/>
                <a:cs typeface="Arial" panose="020B0604020202020204" pitchFamily="34" charset="0"/>
              </a:rPr>
              <a:t>on </a:t>
            </a:r>
            <a:r>
              <a:rPr lang="de-CH" sz="2400" b="1" dirty="0" err="1" smtClean="0">
                <a:latin typeface="Arial" panose="020B0604020202020204" pitchFamily="34" charset="0"/>
                <a:cs typeface="Arial" panose="020B0604020202020204" pitchFamily="34" charset="0"/>
              </a:rPr>
              <a:t>prevalence</a:t>
            </a:r>
            <a:r>
              <a:rPr lang="de-CH" sz="2400" b="1" dirty="0" smtClean="0">
                <a:latin typeface="Arial" panose="020B0604020202020204" pitchFamily="34" charset="0"/>
                <a:cs typeface="Arial" panose="020B0604020202020204" pitchFamily="34" charset="0"/>
              </a:rPr>
              <a:t> </a:t>
            </a:r>
            <a:r>
              <a:rPr lang="de-CH" sz="2400" b="1" dirty="0" err="1" smtClean="0">
                <a:latin typeface="Arial" panose="020B0604020202020204" pitchFamily="34" charset="0"/>
                <a:cs typeface="Arial" panose="020B0604020202020204" pitchFamily="34" charset="0"/>
              </a:rPr>
              <a:t>reduction</a:t>
            </a:r>
            <a:r>
              <a:rPr lang="de-CH" sz="2400" b="1"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and</a:t>
            </a:r>
            <a:r>
              <a:rPr lang="de-CH" sz="2400" dirty="0" smtClean="0">
                <a:latin typeface="Arial" panose="020B0604020202020204" pitchFamily="34" charset="0"/>
                <a:cs typeface="Arial" panose="020B0604020202020204" pitchFamily="34" charset="0"/>
              </a:rPr>
              <a:t> </a:t>
            </a:r>
            <a:r>
              <a:rPr lang="de-CH" sz="2400" b="1" dirty="0" err="1" smtClean="0">
                <a:latin typeface="Arial" panose="020B0604020202020204" pitchFamily="34" charset="0"/>
                <a:cs typeface="Arial" panose="020B0604020202020204" pitchFamily="34" charset="0"/>
              </a:rPr>
              <a:t>used</a:t>
            </a:r>
            <a:r>
              <a:rPr lang="de-CH" sz="2400" b="1" dirty="0" smtClean="0">
                <a:latin typeface="Arial" panose="020B0604020202020204" pitchFamily="34" charset="0"/>
                <a:cs typeface="Arial" panose="020B0604020202020204" pitchFamily="34" charset="0"/>
              </a:rPr>
              <a:t> </a:t>
            </a:r>
            <a:r>
              <a:rPr lang="de-CH" sz="2400" b="1" dirty="0" err="1" smtClean="0">
                <a:latin typeface="Arial" panose="020B0604020202020204" pitchFamily="34" charset="0"/>
                <a:cs typeface="Arial" panose="020B0604020202020204" pitchFamily="34" charset="0"/>
              </a:rPr>
              <a:t>model</a:t>
            </a:r>
            <a:r>
              <a:rPr lang="de-CH" sz="2400" b="1" dirty="0" smtClean="0">
                <a:latin typeface="Arial" panose="020B0604020202020204" pitchFamily="34" charset="0"/>
                <a:cs typeface="Arial" panose="020B0604020202020204" pitchFamily="34" charset="0"/>
              </a:rPr>
              <a:t> </a:t>
            </a:r>
            <a:r>
              <a:rPr lang="de-CH" sz="2400" b="1" dirty="0" err="1" smtClean="0">
                <a:latin typeface="Arial" panose="020B0604020202020204" pitchFamily="34" charset="0"/>
                <a:cs typeface="Arial" panose="020B0604020202020204" pitchFamily="34" charset="0"/>
              </a:rPr>
              <a:t>for</a:t>
            </a:r>
            <a:r>
              <a:rPr lang="de-CH" sz="2400" b="1" dirty="0" smtClean="0">
                <a:latin typeface="Arial" panose="020B0604020202020204" pitchFamily="34" charset="0"/>
                <a:cs typeface="Arial" panose="020B0604020202020204" pitchFamily="34" charset="0"/>
              </a:rPr>
              <a:t> </a:t>
            </a:r>
            <a:r>
              <a:rPr lang="de-CH" sz="2400" b="1" dirty="0" err="1" smtClean="0">
                <a:latin typeface="Arial" panose="020B0604020202020204" pitchFamily="34" charset="0"/>
                <a:cs typeface="Arial" panose="020B0604020202020204" pitchFamily="34" charset="0"/>
              </a:rPr>
              <a:t>prediction</a:t>
            </a:r>
            <a:r>
              <a:rPr lang="de-CH" sz="2400" b="1"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while</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performing</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sensitivity</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analysis</a:t>
            </a:r>
            <a:endParaRPr lang="de-CH" sz="2400" dirty="0" smtClean="0">
              <a:latin typeface="Arial" panose="020B0604020202020204" pitchFamily="34" charset="0"/>
              <a:cs typeface="Arial" panose="020B0604020202020204" pitchFamily="34" charset="0"/>
            </a:endParaRPr>
          </a:p>
          <a:p>
            <a:endParaRPr lang="de-CH"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de-CH" sz="2400" dirty="0" smtClean="0">
                <a:solidFill>
                  <a:schemeClr val="tx1"/>
                </a:solidFill>
                <a:latin typeface="Arial" panose="020B0604020202020204" pitchFamily="34" charset="0"/>
                <a:cs typeface="Arial" panose="020B0604020202020204" pitchFamily="34" charset="0"/>
              </a:rPr>
              <a:t>Choose a </a:t>
            </a:r>
            <a:r>
              <a:rPr lang="de-CH" sz="2400" b="1" dirty="0" err="1" smtClean="0">
                <a:solidFill>
                  <a:schemeClr val="tx1"/>
                </a:solidFill>
                <a:latin typeface="Arial" panose="020B0604020202020204" pitchFamily="34" charset="0"/>
                <a:cs typeface="Arial" panose="020B0604020202020204" pitchFamily="34" charset="0"/>
              </a:rPr>
              <a:t>sensitivity</a:t>
            </a:r>
            <a:r>
              <a:rPr lang="de-CH" sz="2400" b="1" dirty="0" smtClean="0">
                <a:solidFill>
                  <a:schemeClr val="tx1"/>
                </a:solidFill>
                <a:latin typeface="Arial" panose="020B0604020202020204" pitchFamily="34" charset="0"/>
                <a:cs typeface="Arial" panose="020B0604020202020204" pitchFamily="34" charset="0"/>
              </a:rPr>
              <a:t> </a:t>
            </a:r>
            <a:r>
              <a:rPr lang="de-CH" sz="2400" b="1" dirty="0" err="1" smtClean="0">
                <a:solidFill>
                  <a:schemeClr val="tx1"/>
                </a:solidFill>
                <a:latin typeface="Arial" panose="020B0604020202020204" pitchFamily="34" charset="0"/>
                <a:cs typeface="Arial" panose="020B0604020202020204" pitchFamily="34" charset="0"/>
              </a:rPr>
              <a:t>method</a:t>
            </a:r>
            <a:r>
              <a:rPr lang="de-CH" sz="2400" b="1" dirty="0" smtClean="0">
                <a:solidFill>
                  <a:schemeClr val="tx1"/>
                </a:solidFill>
                <a:latin typeface="Arial" panose="020B0604020202020204" pitchFamily="34" charset="0"/>
                <a:cs typeface="Arial" panose="020B0604020202020204" pitchFamily="34" charset="0"/>
              </a:rPr>
              <a:t> </a:t>
            </a:r>
            <a:r>
              <a:rPr lang="de-CH" sz="2400" dirty="0" smtClean="0">
                <a:solidFill>
                  <a:schemeClr val="tx1"/>
                </a:solidFill>
                <a:latin typeface="Arial" panose="020B0604020202020204" pitchFamily="34" charset="0"/>
                <a:cs typeface="Arial" panose="020B0604020202020204" pitchFamily="34" charset="0"/>
              </a:rPr>
              <a:t>(</a:t>
            </a:r>
            <a:r>
              <a:rPr lang="de-CH" sz="2400" dirty="0" err="1" smtClean="0">
                <a:solidFill>
                  <a:schemeClr val="tx1"/>
                </a:solidFill>
                <a:latin typeface="Arial" panose="020B0604020202020204" pitchFamily="34" charset="0"/>
                <a:cs typeface="Arial" panose="020B0604020202020204" pitchFamily="34" charset="0"/>
              </a:rPr>
              <a:t>compared</a:t>
            </a:r>
            <a:r>
              <a:rPr lang="de-CH" sz="2400" dirty="0" smtClean="0">
                <a:solidFill>
                  <a:schemeClr val="tx1"/>
                </a:solidFill>
                <a:latin typeface="Arial" panose="020B0604020202020204" pitchFamily="34" charset="0"/>
                <a:cs typeface="Arial" panose="020B0604020202020204" pitchFamily="34" charset="0"/>
              </a:rPr>
              <a:t> </a:t>
            </a:r>
            <a:r>
              <a:rPr lang="de-CH" sz="2400" dirty="0" err="1" smtClean="0">
                <a:solidFill>
                  <a:schemeClr val="tx1"/>
                </a:solidFill>
                <a:latin typeface="Arial" panose="020B0604020202020204" pitchFamily="34" charset="0"/>
                <a:cs typeface="Arial" panose="020B0604020202020204" pitchFamily="34" charset="0"/>
              </a:rPr>
              <a:t>soboljansen</a:t>
            </a:r>
            <a:r>
              <a:rPr lang="de-CH" sz="2400" dirty="0" smtClean="0">
                <a:solidFill>
                  <a:schemeClr val="tx1"/>
                </a:solidFill>
                <a:latin typeface="Arial" panose="020B0604020202020204" pitchFamily="34" charset="0"/>
                <a:cs typeface="Arial" panose="020B0604020202020204" pitchFamily="34" charset="0"/>
              </a:rPr>
              <a:t> </a:t>
            </a:r>
            <a:r>
              <a:rPr lang="de-CH" sz="2400" dirty="0" err="1" smtClean="0">
                <a:solidFill>
                  <a:schemeClr val="tx1"/>
                </a:solidFill>
                <a:latin typeface="Arial" panose="020B0604020202020204" pitchFamily="34" charset="0"/>
                <a:cs typeface="Arial" panose="020B0604020202020204" pitchFamily="34" charset="0"/>
              </a:rPr>
              <a:t>and</a:t>
            </a:r>
            <a:r>
              <a:rPr lang="de-CH" sz="2400" dirty="0" smtClean="0">
                <a:solidFill>
                  <a:schemeClr val="tx1"/>
                </a:solidFill>
                <a:latin typeface="Arial" panose="020B0604020202020204" pitchFamily="34" charset="0"/>
                <a:cs typeface="Arial" panose="020B0604020202020204" pitchFamily="34" charset="0"/>
              </a:rPr>
              <a:t> </a:t>
            </a:r>
            <a:r>
              <a:rPr lang="de-CH" sz="2400" dirty="0" err="1" smtClean="0">
                <a:solidFill>
                  <a:schemeClr val="tx1"/>
                </a:solidFill>
                <a:latin typeface="Arial" panose="020B0604020202020204" pitchFamily="34" charset="0"/>
                <a:cs typeface="Arial" panose="020B0604020202020204" pitchFamily="34" charset="0"/>
              </a:rPr>
              <a:t>sobolsalt</a:t>
            </a:r>
            <a:r>
              <a:rPr lang="de-CH" sz="2400" dirty="0" smtClean="0">
                <a:solidFill>
                  <a:schemeClr val="tx1"/>
                </a:solidFill>
                <a:latin typeface="Arial" panose="020B0604020202020204" pitchFamily="34" charset="0"/>
                <a:cs typeface="Arial" panose="020B0604020202020204" pitchFamily="34" charset="0"/>
              </a:rPr>
              <a:t>)</a:t>
            </a:r>
          </a:p>
          <a:p>
            <a:endParaRPr lang="de-CH" sz="2400" dirty="0" smtClean="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5659080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117986" y="50822"/>
            <a:ext cx="12074013" cy="651822"/>
          </a:xfrm>
        </p:spPr>
        <p:txBody>
          <a:bodyPr/>
          <a:lstStyle/>
          <a:p>
            <a:pPr algn="l"/>
            <a:r>
              <a:rPr lang="en-US" sz="2800" b="1" dirty="0" smtClean="0">
                <a:latin typeface="+mn-lt"/>
              </a:rPr>
              <a:t>1 – </a:t>
            </a:r>
            <a:r>
              <a:rPr lang="en-US" sz="2800" b="1" u="sng" dirty="0">
                <a:latin typeface="+mn-lt"/>
              </a:rPr>
              <a:t>LHS vs MED SAMPLING (100 POINTS)</a:t>
            </a:r>
            <a:r>
              <a:rPr lang="de-CH" sz="2800" dirty="0">
                <a:latin typeface="+mn-lt"/>
              </a:rPr>
              <a:t/>
            </a:r>
            <a:br>
              <a:rPr lang="de-CH" sz="2800" dirty="0">
                <a:latin typeface="+mn-lt"/>
              </a:rPr>
            </a:br>
            <a:endParaRPr lang="en-US" sz="2800" b="1" dirty="0">
              <a:latin typeface="+mn-lt"/>
            </a:endParaRPr>
          </a:p>
        </p:txBody>
      </p:sp>
      <p:pic>
        <p:nvPicPr>
          <p:cNvPr id="4" name="Picture 3"/>
          <p:cNvPicPr/>
          <p:nvPr/>
        </p:nvPicPr>
        <p:blipFill>
          <a:blip r:embed="rId3"/>
          <a:stretch>
            <a:fillRect/>
          </a:stretch>
        </p:blipFill>
        <p:spPr>
          <a:xfrm>
            <a:off x="1338228" y="1708728"/>
            <a:ext cx="9633527" cy="4664364"/>
          </a:xfrm>
          <a:prstGeom prst="rect">
            <a:avLst/>
          </a:prstGeom>
        </p:spPr>
      </p:pic>
      <p:sp>
        <p:nvSpPr>
          <p:cNvPr id="3" name="Rectangle 2"/>
          <p:cNvSpPr/>
          <p:nvPr/>
        </p:nvSpPr>
        <p:spPr>
          <a:xfrm>
            <a:off x="295562" y="842926"/>
            <a:ext cx="8026401" cy="369332"/>
          </a:xfrm>
          <a:prstGeom prst="rect">
            <a:avLst/>
          </a:prstGeom>
        </p:spPr>
        <p:txBody>
          <a:bodyPr wrap="square">
            <a:spAutoFit/>
          </a:bodyPr>
          <a:lstStyle/>
          <a:p>
            <a:r>
              <a:rPr lang="en-US" dirty="0">
                <a:solidFill>
                  <a:srgbClr val="1D1C1D"/>
                </a:solidFill>
                <a:latin typeface="Slack-Lato"/>
              </a:rPr>
              <a:t>LHS or ME sampling during simulation setup cuts runtime drastically</a:t>
            </a:r>
            <a:endParaRPr lang="de-CH" dirty="0"/>
          </a:p>
        </p:txBody>
      </p:sp>
    </p:spTree>
    <p:extLst>
      <p:ext uri="{BB962C8B-B14F-4D97-AF65-F5344CB8AC3E}">
        <p14:creationId xmlns:p14="http://schemas.microsoft.com/office/powerpoint/2010/main" val="190651953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201113" y="622102"/>
            <a:ext cx="12074013" cy="377119"/>
          </a:xfrm>
        </p:spPr>
        <p:txBody>
          <a:bodyPr/>
          <a:lstStyle/>
          <a:p>
            <a:r>
              <a:rPr lang="en-US" sz="2800" b="1" dirty="0" smtClean="0">
                <a:latin typeface="+mn-lt"/>
              </a:rPr>
              <a:t>1 – </a:t>
            </a:r>
            <a:r>
              <a:rPr lang="en-US" sz="2800" dirty="0">
                <a:solidFill>
                  <a:srgbClr val="1D1C1D"/>
                </a:solidFill>
                <a:latin typeface="Slack-Lato"/>
              </a:rPr>
              <a:t>LHS or ME sampling during simulation setup cuts runtime drastically</a:t>
            </a:r>
            <a:br>
              <a:rPr lang="en-US" sz="2800" dirty="0">
                <a:solidFill>
                  <a:srgbClr val="1D1C1D"/>
                </a:solidFill>
                <a:latin typeface="Slack-Lato"/>
              </a:rPr>
            </a:br>
            <a:endParaRPr lang="en-US" sz="2800" b="1" dirty="0">
              <a:latin typeface="+mn-lt"/>
            </a:endParaRPr>
          </a:p>
        </p:txBody>
      </p:sp>
      <p:graphicFrame>
        <p:nvGraphicFramePr>
          <p:cNvPr id="3" name="Table 2"/>
          <p:cNvGraphicFramePr>
            <a:graphicFrameLocks noGrp="1"/>
          </p:cNvGraphicFramePr>
          <p:nvPr>
            <p:extLst>
              <p:ext uri="{D42A27DB-BD31-4B8C-83A1-F6EECF244321}">
                <p14:modId xmlns:p14="http://schemas.microsoft.com/office/powerpoint/2010/main" val="1294231602"/>
              </p:ext>
            </p:extLst>
          </p:nvPr>
        </p:nvGraphicFramePr>
        <p:xfrm>
          <a:off x="201113" y="1292216"/>
          <a:ext cx="11753464" cy="2394259"/>
        </p:xfrm>
        <a:graphic>
          <a:graphicData uri="http://schemas.openxmlformats.org/drawingml/2006/table">
            <a:tbl>
              <a:tblPr firstRow="1" firstCol="1" bandRow="1">
                <a:tableStyleId>{5C22544A-7EE6-4342-B048-85BDC9FD1C3A}</a:tableStyleId>
              </a:tblPr>
              <a:tblGrid>
                <a:gridCol w="2224407">
                  <a:extLst>
                    <a:ext uri="{9D8B030D-6E8A-4147-A177-3AD203B41FA5}">
                      <a16:colId xmlns:a16="http://schemas.microsoft.com/office/drawing/2014/main" val="1334802468"/>
                    </a:ext>
                  </a:extLst>
                </a:gridCol>
                <a:gridCol w="2599945">
                  <a:extLst>
                    <a:ext uri="{9D8B030D-6E8A-4147-A177-3AD203B41FA5}">
                      <a16:colId xmlns:a16="http://schemas.microsoft.com/office/drawing/2014/main" val="3834289153"/>
                    </a:ext>
                  </a:extLst>
                </a:gridCol>
                <a:gridCol w="2188135">
                  <a:extLst>
                    <a:ext uri="{9D8B030D-6E8A-4147-A177-3AD203B41FA5}">
                      <a16:colId xmlns:a16="http://schemas.microsoft.com/office/drawing/2014/main" val="1880181008"/>
                    </a:ext>
                  </a:extLst>
                </a:gridCol>
                <a:gridCol w="1649340">
                  <a:extLst>
                    <a:ext uri="{9D8B030D-6E8A-4147-A177-3AD203B41FA5}">
                      <a16:colId xmlns:a16="http://schemas.microsoft.com/office/drawing/2014/main" val="172947424"/>
                    </a:ext>
                  </a:extLst>
                </a:gridCol>
                <a:gridCol w="1398660">
                  <a:extLst>
                    <a:ext uri="{9D8B030D-6E8A-4147-A177-3AD203B41FA5}">
                      <a16:colId xmlns:a16="http://schemas.microsoft.com/office/drawing/2014/main" val="3778038330"/>
                    </a:ext>
                  </a:extLst>
                </a:gridCol>
                <a:gridCol w="1692977">
                  <a:extLst>
                    <a:ext uri="{9D8B030D-6E8A-4147-A177-3AD203B41FA5}">
                      <a16:colId xmlns:a16="http://schemas.microsoft.com/office/drawing/2014/main" val="1861597612"/>
                    </a:ext>
                  </a:extLst>
                </a:gridCol>
              </a:tblGrid>
              <a:tr h="989345">
                <a:tc>
                  <a:txBody>
                    <a:bodyPr/>
                    <a:lstStyle/>
                    <a:p>
                      <a:pPr>
                        <a:lnSpc>
                          <a:spcPct val="107000"/>
                        </a:lnSpc>
                        <a:spcAft>
                          <a:spcPts val="0"/>
                        </a:spcAft>
                      </a:pPr>
                      <a:r>
                        <a:rPr lang="de-CH" sz="2000" dirty="0">
                          <a:effectLst/>
                        </a:rPr>
                        <a:t>SETTING</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NUMBER OF SIMULATIONS REQUIRED (SWEEPS) </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a:effectLst/>
                        </a:rPr>
                        <a:t>NUMBER OF SIMULATIONS REQUIRED (LHS)</a:t>
                      </a:r>
                      <a:endParaRPr lang="de-CH"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a:effectLst/>
                        </a:rPr>
                        <a:t>R-SQUARED</a:t>
                      </a:r>
                      <a:endParaRPr lang="de-CH"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a:effectLst/>
                        </a:rPr>
                        <a:t>NUMBER OF X_COLS</a:t>
                      </a:r>
                      <a:endParaRPr lang="de-CH"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a:effectLst/>
                        </a:rPr>
                        <a:t>GP TRAINING TIME (mins)</a:t>
                      </a:r>
                      <a:endParaRPr lang="de-CH"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71711360"/>
                  </a:ext>
                </a:extLst>
              </a:tr>
              <a:tr h="375152">
                <a:tc>
                  <a:txBody>
                    <a:bodyPr/>
                    <a:lstStyle/>
                    <a:p>
                      <a:pPr>
                        <a:lnSpc>
                          <a:spcPct val="107000"/>
                        </a:lnSpc>
                        <a:spcAft>
                          <a:spcPts val="0"/>
                        </a:spcAft>
                      </a:pPr>
                      <a:r>
                        <a:rPr lang="en-US" sz="2000" dirty="0">
                          <a:effectLst/>
                        </a:rPr>
                        <a:t>UPPER.EAST4</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smtClean="0">
                          <a:effectLst/>
                        </a:rPr>
                        <a:t>50K (submitted)</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 1500</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smtClean="0">
                          <a:effectLst/>
                        </a:rPr>
                        <a:t>0.97 (sweep)</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a:effectLst/>
                        </a:rPr>
                        <a:t>4</a:t>
                      </a:r>
                      <a:endParaRPr lang="de-CH"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11.9 </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0416352"/>
                  </a:ext>
                </a:extLst>
              </a:tr>
              <a:tr h="375152">
                <a:tc>
                  <a:txBody>
                    <a:bodyPr/>
                    <a:lstStyle/>
                    <a:p>
                      <a:pPr>
                        <a:lnSpc>
                          <a:spcPct val="107000"/>
                        </a:lnSpc>
                        <a:spcAft>
                          <a:spcPts val="0"/>
                        </a:spcAft>
                      </a:pPr>
                      <a:r>
                        <a:rPr lang="en-US" sz="2000" dirty="0">
                          <a:effectLst/>
                        </a:rPr>
                        <a:t>OTI</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300000 </a:t>
                      </a:r>
                      <a:r>
                        <a:rPr lang="en-US" sz="2000" dirty="0" smtClean="0">
                          <a:effectLst/>
                        </a:rPr>
                        <a:t>(not </a:t>
                      </a:r>
                      <a:r>
                        <a:rPr lang="en-US" sz="1800" dirty="0" smtClean="0">
                          <a:effectLst/>
                        </a:rPr>
                        <a:t>submitted)</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2500 </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smtClean="0">
                          <a:effectLst/>
                        </a:rPr>
                        <a:t>0.96 (LHS)</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4</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1.9</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17861621"/>
                  </a:ext>
                </a:extLst>
              </a:tr>
              <a:tr h="654610">
                <a:tc>
                  <a:txBody>
                    <a:bodyPr/>
                    <a:lstStyle/>
                    <a:p>
                      <a:pPr>
                        <a:lnSpc>
                          <a:spcPct val="107000"/>
                        </a:lnSpc>
                        <a:spcAft>
                          <a:spcPts val="0"/>
                        </a:spcAft>
                      </a:pPr>
                      <a:r>
                        <a:rPr lang="en-US" sz="2000" dirty="0">
                          <a:effectLst/>
                        </a:rPr>
                        <a:t>BONO.EAST (</a:t>
                      </a:r>
                      <a:r>
                        <a:rPr lang="en-US" sz="2000" dirty="0" err="1">
                          <a:effectLst/>
                        </a:rPr>
                        <a:t>no_LSM</a:t>
                      </a:r>
                      <a:r>
                        <a:rPr lang="en-US" sz="2000" dirty="0">
                          <a:effectLst/>
                        </a:rPr>
                        <a:t>)</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212500 </a:t>
                      </a:r>
                      <a:r>
                        <a:rPr lang="en-US" sz="2000" dirty="0" smtClean="0">
                          <a:effectLst/>
                        </a:rPr>
                        <a:t>(not </a:t>
                      </a:r>
                      <a:r>
                        <a:rPr lang="en-US" sz="1800" dirty="0" smtClean="0">
                          <a:effectLst/>
                        </a:rPr>
                        <a:t>submitted)</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2000</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2000" dirty="0" smtClean="0">
                          <a:effectLst/>
                        </a:rPr>
                        <a:t>0.95 </a:t>
                      </a:r>
                      <a:r>
                        <a:rPr lang="en-US" sz="1800" dirty="0" smtClean="0">
                          <a:effectLst/>
                        </a:rPr>
                        <a:t>(LHS)</a:t>
                      </a:r>
                      <a:endParaRPr lang="de-CH"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4</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1.4</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06796882"/>
                  </a:ext>
                </a:extLst>
              </a:tr>
            </a:tbl>
          </a:graphicData>
        </a:graphic>
      </p:graphicFrame>
    </p:spTree>
    <p:extLst>
      <p:ext uri="{BB962C8B-B14F-4D97-AF65-F5344CB8AC3E}">
        <p14:creationId xmlns:p14="http://schemas.microsoft.com/office/powerpoint/2010/main" val="230967913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201113" y="1212119"/>
            <a:ext cx="12074013" cy="45719"/>
          </a:xfrm>
        </p:spPr>
        <p:txBody>
          <a:bodyPr/>
          <a:lstStyle/>
          <a:p>
            <a:pPr algn="l"/>
            <a:r>
              <a:rPr lang="en-US" sz="2800" b="1" dirty="0" smtClean="0">
                <a:latin typeface="+mn-lt"/>
              </a:rPr>
              <a:t>2 – </a:t>
            </a:r>
            <a:r>
              <a:rPr lang="en-US" sz="2800" dirty="0"/>
              <a:t>GP </a:t>
            </a:r>
            <a:r>
              <a:rPr lang="en-US" sz="2800" dirty="0" smtClean="0"/>
              <a:t>performance evaluation - learning </a:t>
            </a:r>
            <a:r>
              <a:rPr lang="en-US" sz="2800" dirty="0"/>
              <a:t>of prevalence reduction gives good </a:t>
            </a:r>
            <a:r>
              <a:rPr lang="en-US" sz="2800" dirty="0" smtClean="0"/>
              <a:t>statistical   correspondence </a:t>
            </a:r>
            <a:r>
              <a:rPr lang="en-US" dirty="0"/>
              <a:t/>
            </a:r>
            <a:br>
              <a:rPr lang="en-US" dirty="0"/>
            </a:br>
            <a:r>
              <a:rPr lang="en-US" sz="1200" dirty="0" smtClean="0"/>
              <a:t/>
            </a:r>
            <a:br>
              <a:rPr lang="en-US" sz="1200" dirty="0" smtClean="0"/>
            </a:br>
            <a:r>
              <a:rPr lang="en-US" sz="1200" dirty="0" smtClean="0"/>
              <a:t/>
            </a:r>
            <a:br>
              <a:rPr lang="en-US" sz="1200" dirty="0" smtClean="0"/>
            </a:br>
            <a:r>
              <a:rPr lang="en-US" sz="1200" dirty="0"/>
              <a:t/>
            </a:r>
            <a:br>
              <a:rPr lang="en-US" sz="1200" dirty="0"/>
            </a:br>
            <a:r>
              <a:rPr lang="en-US" sz="2400" b="1" u="sng" dirty="0" smtClean="0">
                <a:solidFill>
                  <a:schemeClr val="tx1"/>
                </a:solidFill>
                <a:latin typeface="Arial" panose="020B0604020202020204" pitchFamily="34" charset="0"/>
                <a:cs typeface="Arial" panose="020B0604020202020204" pitchFamily="34" charset="0"/>
              </a:rPr>
              <a:t>Actual </a:t>
            </a:r>
            <a:r>
              <a:rPr lang="en-US" sz="2400" b="1" u="sng" dirty="0">
                <a:solidFill>
                  <a:schemeClr val="tx1"/>
                </a:solidFill>
                <a:latin typeface="Arial" panose="020B0604020202020204" pitchFamily="34" charset="0"/>
                <a:cs typeface="Arial" panose="020B0604020202020204" pitchFamily="34" charset="0"/>
              </a:rPr>
              <a:t>vs predict for 3 settings: full EIR sweep for UE and LHS for </a:t>
            </a:r>
            <a:r>
              <a:rPr lang="en-US" sz="2400" b="1" u="sng" dirty="0" err="1">
                <a:solidFill>
                  <a:schemeClr val="tx1"/>
                </a:solidFill>
                <a:latin typeface="Arial" panose="020B0604020202020204" pitchFamily="34" charset="0"/>
                <a:cs typeface="Arial" panose="020B0604020202020204" pitchFamily="34" charset="0"/>
              </a:rPr>
              <a:t>Oti</a:t>
            </a:r>
            <a:r>
              <a:rPr lang="en-US" sz="2400" b="1" u="sng" dirty="0">
                <a:solidFill>
                  <a:schemeClr val="tx1"/>
                </a:solidFill>
                <a:latin typeface="Arial" panose="020B0604020202020204" pitchFamily="34" charset="0"/>
                <a:cs typeface="Arial" panose="020B0604020202020204" pitchFamily="34" charset="0"/>
              </a:rPr>
              <a:t> and </a:t>
            </a:r>
            <a:r>
              <a:rPr lang="en-US" sz="2400" b="1" u="sng" dirty="0" smtClean="0">
                <a:solidFill>
                  <a:schemeClr val="tx1"/>
                </a:solidFill>
                <a:latin typeface="Arial" panose="020B0604020202020204" pitchFamily="34" charset="0"/>
                <a:cs typeface="Arial" panose="020B0604020202020204" pitchFamily="34" charset="0"/>
              </a:rPr>
              <a:t>BE</a:t>
            </a:r>
            <a:r>
              <a:rPr lang="en-US" sz="2800" dirty="0">
                <a:solidFill>
                  <a:srgbClr val="1D1C1D"/>
                </a:solidFill>
                <a:latin typeface="Slack-Lato"/>
              </a:rPr>
              <a:t/>
            </a:r>
            <a:br>
              <a:rPr lang="en-US" sz="2800" dirty="0">
                <a:solidFill>
                  <a:srgbClr val="1D1C1D"/>
                </a:solidFill>
                <a:latin typeface="Slack-Lato"/>
              </a:rPr>
            </a:br>
            <a:endParaRPr lang="en-US" sz="2800" b="1" dirty="0">
              <a:latin typeface="+mn-lt"/>
            </a:endParaRPr>
          </a:p>
        </p:txBody>
      </p:sp>
      <p:sp>
        <p:nvSpPr>
          <p:cNvPr id="4" name="TextBox 3"/>
          <p:cNvSpPr txBox="1"/>
          <p:nvPr/>
        </p:nvSpPr>
        <p:spPr>
          <a:xfrm>
            <a:off x="201113" y="2041236"/>
            <a:ext cx="10503832" cy="1200329"/>
          </a:xfrm>
          <a:prstGeom prst="rect">
            <a:avLst/>
          </a:prstGeom>
          <a:noFill/>
        </p:spPr>
        <p:txBody>
          <a:bodyPr wrap="square" rtlCol="0">
            <a:spAutoFit/>
          </a:bodyPr>
          <a:lstStyle/>
          <a:p>
            <a:pPr marL="285750" indent="-285750">
              <a:buFont typeface="Arial" panose="020B0604020202020204" pitchFamily="34" charset="0"/>
              <a:buChar char="•"/>
            </a:pPr>
            <a:r>
              <a:rPr lang="de-CH" sz="2400" dirty="0" smtClean="0">
                <a:latin typeface="Arial" panose="020B0604020202020204" pitchFamily="34" charset="0"/>
                <a:cs typeface="Arial" panose="020B0604020202020204" pitchFamily="34" charset="0"/>
              </a:rPr>
              <a:t>The GP was </a:t>
            </a:r>
            <a:r>
              <a:rPr lang="de-CH" sz="2400" dirty="0" err="1" smtClean="0">
                <a:latin typeface="Arial" panose="020B0604020202020204" pitchFamily="34" charset="0"/>
                <a:cs typeface="Arial" panose="020B0604020202020204" pitchFamily="34" charset="0"/>
              </a:rPr>
              <a:t>trained</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using</a:t>
            </a:r>
            <a:r>
              <a:rPr lang="de-CH" sz="2400" dirty="0" smtClean="0">
                <a:latin typeface="Arial" panose="020B0604020202020204" pitchFamily="34" charset="0"/>
                <a:cs typeface="Arial" panose="020B0604020202020204" pitchFamily="34" charset="0"/>
              </a:rPr>
              <a:t> all </a:t>
            </a:r>
            <a:r>
              <a:rPr lang="de-CH" sz="2400" dirty="0" err="1" smtClean="0">
                <a:latin typeface="Arial" panose="020B0604020202020204" pitchFamily="34" charset="0"/>
                <a:cs typeface="Arial" panose="020B0604020202020204" pitchFamily="34" charset="0"/>
              </a:rPr>
              <a:t>simulation</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data</a:t>
            </a:r>
            <a:endParaRPr lang="de-CH" sz="2400" dirty="0" smtClean="0">
              <a:latin typeface="Arial" panose="020B0604020202020204" pitchFamily="34" charset="0"/>
              <a:cs typeface="Arial" panose="020B0604020202020204" pitchFamily="34" charset="0"/>
            </a:endParaRPr>
          </a:p>
          <a:p>
            <a:endParaRPr lang="de-CH" sz="2400"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de-CH" sz="2400" dirty="0" smtClean="0">
                <a:latin typeface="Arial" panose="020B0604020202020204" pitchFamily="34" charset="0"/>
                <a:cs typeface="Arial" panose="020B0604020202020204" pitchFamily="34" charset="0"/>
              </a:rPr>
              <a:t>Model </a:t>
            </a:r>
            <a:r>
              <a:rPr lang="de-CH" sz="2400" dirty="0" err="1" smtClean="0">
                <a:latin typeface="Arial" panose="020B0604020202020204" pitchFamily="34" charset="0"/>
                <a:cs typeface="Arial" panose="020B0604020202020204" pitchFamily="34" charset="0"/>
              </a:rPr>
              <a:t>performance</a:t>
            </a:r>
            <a:r>
              <a:rPr lang="de-CH" sz="2400" dirty="0" smtClean="0">
                <a:latin typeface="Arial" panose="020B0604020202020204" pitchFamily="34" charset="0"/>
                <a:cs typeface="Arial" panose="020B0604020202020204" pitchFamily="34" charset="0"/>
              </a:rPr>
              <a:t> was </a:t>
            </a:r>
            <a:r>
              <a:rPr lang="de-CH" sz="2400" dirty="0" err="1" smtClean="0">
                <a:latin typeface="Arial" panose="020B0604020202020204" pitchFamily="34" charset="0"/>
                <a:cs typeface="Arial" panose="020B0604020202020204" pitchFamily="34" charset="0"/>
              </a:rPr>
              <a:t>evaluated</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using</a:t>
            </a:r>
            <a:r>
              <a:rPr lang="de-CH" sz="2400" dirty="0" smtClean="0">
                <a:latin typeface="Arial" panose="020B0604020202020204" pitchFamily="34" charset="0"/>
                <a:cs typeface="Arial" panose="020B0604020202020204" pitchFamily="34" charset="0"/>
              </a:rPr>
              <a:t> R-</a:t>
            </a:r>
            <a:r>
              <a:rPr lang="de-CH" sz="2400" dirty="0" err="1" smtClean="0">
                <a:latin typeface="Arial" panose="020B0604020202020204" pitchFamily="34" charset="0"/>
                <a:cs typeface="Arial" panose="020B0604020202020204" pitchFamily="34" charset="0"/>
              </a:rPr>
              <a:t>sqaured</a:t>
            </a:r>
            <a:endParaRPr lang="de-CH"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4817770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83127" y="1"/>
            <a:ext cx="12191999" cy="1257838"/>
          </a:xfrm>
        </p:spPr>
        <p:txBody>
          <a:bodyPr/>
          <a:lstStyle/>
          <a:p>
            <a:pPr algn="l"/>
            <a:r>
              <a:rPr lang="en-US" sz="2800" b="1" dirty="0" smtClean="0">
                <a:latin typeface="+mn-lt"/>
              </a:rPr>
              <a:t>2 – </a:t>
            </a:r>
            <a:r>
              <a:rPr lang="en-US" sz="2800" dirty="0"/>
              <a:t>GP </a:t>
            </a:r>
            <a:r>
              <a:rPr lang="en-US" sz="2800" dirty="0" smtClean="0"/>
              <a:t>performance evaluation - learning </a:t>
            </a:r>
            <a:r>
              <a:rPr lang="en-US" sz="2800" dirty="0"/>
              <a:t>of prevalence reduction gives good </a:t>
            </a:r>
            <a:r>
              <a:rPr lang="en-US" sz="2800" dirty="0" smtClean="0"/>
              <a:t>statistical   correspondence </a:t>
            </a:r>
            <a:r>
              <a:rPr lang="en-US" dirty="0"/>
              <a:t/>
            </a:r>
            <a:br>
              <a:rPr lang="en-US" dirty="0"/>
            </a:br>
            <a:r>
              <a:rPr lang="en-US" sz="2400" b="1" u="sng" dirty="0" smtClean="0">
                <a:solidFill>
                  <a:schemeClr val="tx1"/>
                </a:solidFill>
                <a:latin typeface="Arial" panose="020B0604020202020204" pitchFamily="34" charset="0"/>
                <a:cs typeface="Arial" panose="020B0604020202020204" pitchFamily="34" charset="0"/>
              </a:rPr>
              <a:t>Actual </a:t>
            </a:r>
            <a:r>
              <a:rPr lang="en-US" sz="2400" b="1" u="sng" dirty="0">
                <a:solidFill>
                  <a:schemeClr val="tx1"/>
                </a:solidFill>
                <a:latin typeface="Arial" panose="020B0604020202020204" pitchFamily="34" charset="0"/>
                <a:cs typeface="Arial" panose="020B0604020202020204" pitchFamily="34" charset="0"/>
              </a:rPr>
              <a:t>vs predict </a:t>
            </a:r>
            <a:r>
              <a:rPr lang="en-US" sz="2400" b="1" u="sng" dirty="0" smtClean="0">
                <a:solidFill>
                  <a:schemeClr val="tx1"/>
                </a:solidFill>
                <a:latin typeface="Arial" panose="020B0604020202020204" pitchFamily="34" charset="0"/>
                <a:cs typeface="Arial" panose="020B0604020202020204" pitchFamily="34" charset="0"/>
              </a:rPr>
              <a:t>using different LHS sample sizes for </a:t>
            </a:r>
            <a:r>
              <a:rPr lang="en-US" sz="2800" b="1" u="sng" dirty="0" smtClean="0">
                <a:solidFill>
                  <a:schemeClr val="tx1"/>
                </a:solidFill>
                <a:latin typeface="Arial" panose="020B0604020202020204" pitchFamily="34" charset="0"/>
                <a:cs typeface="Arial" panose="020B0604020202020204" pitchFamily="34" charset="0"/>
              </a:rPr>
              <a:t>UE4</a:t>
            </a:r>
            <a:endParaRPr lang="en-US" sz="2800" b="1" dirty="0">
              <a:latin typeface="+mn-lt"/>
            </a:endParaRPr>
          </a:p>
        </p:txBody>
      </p:sp>
      <p:sp>
        <p:nvSpPr>
          <p:cNvPr id="4" name="TextBox 3"/>
          <p:cNvSpPr txBox="1"/>
          <p:nvPr/>
        </p:nvSpPr>
        <p:spPr>
          <a:xfrm>
            <a:off x="83127" y="1257839"/>
            <a:ext cx="10503832" cy="830997"/>
          </a:xfrm>
          <a:prstGeom prst="rect">
            <a:avLst/>
          </a:prstGeom>
          <a:noFill/>
        </p:spPr>
        <p:txBody>
          <a:bodyPr wrap="square" rtlCol="0">
            <a:spAutoFit/>
          </a:bodyPr>
          <a:lstStyle/>
          <a:p>
            <a:pPr marL="285750" indent="-285750">
              <a:buFont typeface="Arial" panose="020B0604020202020204" pitchFamily="34" charset="0"/>
              <a:buChar char="•"/>
            </a:pPr>
            <a:r>
              <a:rPr lang="de-CH" sz="2400" dirty="0" smtClean="0">
                <a:latin typeface="Arial" panose="020B0604020202020204" pitchFamily="34" charset="0"/>
                <a:cs typeface="Arial" panose="020B0604020202020204" pitchFamily="34" charset="0"/>
              </a:rPr>
              <a:t>The GP was </a:t>
            </a:r>
            <a:r>
              <a:rPr lang="de-CH" sz="2400" dirty="0" err="1" smtClean="0">
                <a:latin typeface="Arial" panose="020B0604020202020204" pitchFamily="34" charset="0"/>
                <a:cs typeface="Arial" panose="020B0604020202020204" pitchFamily="34" charset="0"/>
              </a:rPr>
              <a:t>trained</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using</a:t>
            </a:r>
            <a:r>
              <a:rPr lang="de-CH" sz="2400" dirty="0" smtClean="0">
                <a:latin typeface="Arial" panose="020B0604020202020204" pitchFamily="34" charset="0"/>
                <a:cs typeface="Arial" panose="020B0604020202020204" pitchFamily="34" charset="0"/>
              </a:rPr>
              <a:t> all </a:t>
            </a:r>
            <a:r>
              <a:rPr lang="de-CH" sz="2400" dirty="0" err="1" smtClean="0">
                <a:latin typeface="Arial" panose="020B0604020202020204" pitchFamily="34" charset="0"/>
                <a:cs typeface="Arial" panose="020B0604020202020204" pitchFamily="34" charset="0"/>
              </a:rPr>
              <a:t>simulation</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data</a:t>
            </a:r>
            <a:endParaRPr lang="de-CH" sz="2400"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de-CH" sz="2400" dirty="0" smtClean="0">
                <a:latin typeface="Arial" panose="020B0604020202020204" pitchFamily="34" charset="0"/>
                <a:cs typeface="Arial" panose="020B0604020202020204" pitchFamily="34" charset="0"/>
              </a:rPr>
              <a:t>Model </a:t>
            </a:r>
            <a:r>
              <a:rPr lang="de-CH" sz="2400" dirty="0" err="1" smtClean="0">
                <a:latin typeface="Arial" panose="020B0604020202020204" pitchFamily="34" charset="0"/>
                <a:cs typeface="Arial" panose="020B0604020202020204" pitchFamily="34" charset="0"/>
              </a:rPr>
              <a:t>performance</a:t>
            </a:r>
            <a:r>
              <a:rPr lang="de-CH" sz="2400" dirty="0" smtClean="0">
                <a:latin typeface="Arial" panose="020B0604020202020204" pitchFamily="34" charset="0"/>
                <a:cs typeface="Arial" panose="020B0604020202020204" pitchFamily="34" charset="0"/>
              </a:rPr>
              <a:t> was </a:t>
            </a:r>
            <a:r>
              <a:rPr lang="de-CH" sz="2400" dirty="0" err="1" smtClean="0">
                <a:latin typeface="Arial" panose="020B0604020202020204" pitchFamily="34" charset="0"/>
                <a:cs typeface="Arial" panose="020B0604020202020204" pitchFamily="34" charset="0"/>
              </a:rPr>
              <a:t>evaluated</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using</a:t>
            </a:r>
            <a:r>
              <a:rPr lang="de-CH" sz="2400" dirty="0" smtClean="0">
                <a:latin typeface="Arial" panose="020B0604020202020204" pitchFamily="34" charset="0"/>
                <a:cs typeface="Arial" panose="020B0604020202020204" pitchFamily="34" charset="0"/>
              </a:rPr>
              <a:t> R-</a:t>
            </a:r>
            <a:r>
              <a:rPr lang="de-CH" sz="2400" dirty="0" err="1" smtClean="0">
                <a:latin typeface="Arial" panose="020B0604020202020204" pitchFamily="34" charset="0"/>
                <a:cs typeface="Arial" panose="020B0604020202020204" pitchFamily="34" charset="0"/>
              </a:rPr>
              <a:t>sqaured</a:t>
            </a:r>
            <a:endParaRPr lang="de-CH" sz="2400" dirty="0">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697" y="1257839"/>
            <a:ext cx="11111345" cy="5372842"/>
          </a:xfrm>
          <a:prstGeom prst="rect">
            <a:avLst/>
          </a:prstGeom>
        </p:spPr>
      </p:pic>
    </p:spTree>
    <p:extLst>
      <p:ext uri="{BB962C8B-B14F-4D97-AF65-F5344CB8AC3E}">
        <p14:creationId xmlns:p14="http://schemas.microsoft.com/office/powerpoint/2010/main" val="13860584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83127" y="1"/>
            <a:ext cx="12191999" cy="1257838"/>
          </a:xfrm>
        </p:spPr>
        <p:txBody>
          <a:bodyPr/>
          <a:lstStyle/>
          <a:p>
            <a:pPr algn="l"/>
            <a:r>
              <a:rPr lang="en-US" sz="2800" b="1" dirty="0" smtClean="0">
                <a:latin typeface="+mn-lt"/>
              </a:rPr>
              <a:t>2 – </a:t>
            </a:r>
            <a:r>
              <a:rPr lang="en-US" sz="2800" dirty="0"/>
              <a:t>GP </a:t>
            </a:r>
            <a:r>
              <a:rPr lang="en-US" sz="2800" dirty="0" smtClean="0"/>
              <a:t>performance evaluation - learning </a:t>
            </a:r>
            <a:r>
              <a:rPr lang="en-US" sz="2800" dirty="0"/>
              <a:t>of prevalence reduction gives good </a:t>
            </a:r>
            <a:r>
              <a:rPr lang="en-US" sz="2800" dirty="0" smtClean="0"/>
              <a:t>statistical   correspondence </a:t>
            </a:r>
            <a:r>
              <a:rPr lang="en-US" dirty="0"/>
              <a:t/>
            </a:r>
            <a:br>
              <a:rPr lang="en-US" dirty="0"/>
            </a:br>
            <a:r>
              <a:rPr lang="en-US" sz="2400" b="1" u="sng" dirty="0" smtClean="0">
                <a:solidFill>
                  <a:schemeClr val="tx1"/>
                </a:solidFill>
                <a:latin typeface="Arial" panose="020B0604020202020204" pitchFamily="34" charset="0"/>
                <a:cs typeface="Arial" panose="020B0604020202020204" pitchFamily="34" charset="0"/>
              </a:rPr>
              <a:t>Actual </a:t>
            </a:r>
            <a:r>
              <a:rPr lang="en-US" sz="2400" b="1" u="sng" dirty="0">
                <a:solidFill>
                  <a:schemeClr val="tx1"/>
                </a:solidFill>
                <a:latin typeface="Arial" panose="020B0604020202020204" pitchFamily="34" charset="0"/>
                <a:cs typeface="Arial" panose="020B0604020202020204" pitchFamily="34" charset="0"/>
              </a:rPr>
              <a:t>vs predict </a:t>
            </a:r>
            <a:r>
              <a:rPr lang="en-US" sz="2400" b="1" u="sng" dirty="0" smtClean="0">
                <a:solidFill>
                  <a:schemeClr val="tx1"/>
                </a:solidFill>
                <a:latin typeface="Arial" panose="020B0604020202020204" pitchFamily="34" charset="0"/>
                <a:cs typeface="Arial" panose="020B0604020202020204" pitchFamily="34" charset="0"/>
              </a:rPr>
              <a:t>using different LHS sample sizes for </a:t>
            </a:r>
            <a:r>
              <a:rPr lang="en-US" sz="2800" b="1" u="sng" dirty="0" smtClean="0">
                <a:solidFill>
                  <a:schemeClr val="tx1"/>
                </a:solidFill>
                <a:latin typeface="Arial" panose="020B0604020202020204" pitchFamily="34" charset="0"/>
                <a:cs typeface="Arial" panose="020B0604020202020204" pitchFamily="34" charset="0"/>
              </a:rPr>
              <a:t>UE4</a:t>
            </a:r>
            <a:endParaRPr lang="en-US" sz="2800" b="1" dirty="0">
              <a:latin typeface="+mn-lt"/>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0786" y="1277642"/>
            <a:ext cx="5424372" cy="5580358"/>
          </a:xfrm>
          <a:prstGeom prst="rect">
            <a:avLst/>
          </a:prstGeom>
        </p:spPr>
      </p:pic>
      <p:pic>
        <p:nvPicPr>
          <p:cNvPr id="5" name="Picture 4"/>
          <p:cNvPicPr>
            <a:picLocks noChangeAspect="1"/>
          </p:cNvPicPr>
          <p:nvPr/>
        </p:nvPicPr>
        <p:blipFill>
          <a:blip r:embed="rId4"/>
          <a:stretch>
            <a:fillRect/>
          </a:stretch>
        </p:blipFill>
        <p:spPr>
          <a:xfrm>
            <a:off x="5974807" y="1588057"/>
            <a:ext cx="5986187" cy="4959528"/>
          </a:xfrm>
          <a:prstGeom prst="rect">
            <a:avLst/>
          </a:prstGeom>
        </p:spPr>
      </p:pic>
    </p:spTree>
    <p:extLst>
      <p:ext uri="{BB962C8B-B14F-4D97-AF65-F5344CB8AC3E}">
        <p14:creationId xmlns:p14="http://schemas.microsoft.com/office/powerpoint/2010/main" val="164500167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201113" y="840509"/>
            <a:ext cx="12074013" cy="158712"/>
          </a:xfrm>
        </p:spPr>
        <p:txBody>
          <a:bodyPr/>
          <a:lstStyle/>
          <a:p>
            <a:pPr algn="l"/>
            <a:r>
              <a:rPr lang="en-US" sz="2800" b="1" dirty="0" smtClean="0">
                <a:latin typeface="+mn-lt"/>
              </a:rPr>
              <a:t>2 – </a:t>
            </a:r>
            <a:r>
              <a:rPr lang="en-US" sz="2800" dirty="0"/>
              <a:t>GP </a:t>
            </a:r>
            <a:r>
              <a:rPr lang="en-US" sz="2800" dirty="0" smtClean="0"/>
              <a:t>performance evaluation - learning </a:t>
            </a:r>
            <a:r>
              <a:rPr lang="en-US" sz="2800" dirty="0"/>
              <a:t>of prevalence reduction gives good </a:t>
            </a:r>
            <a:r>
              <a:rPr lang="en-US" sz="2800" dirty="0" smtClean="0"/>
              <a:t>statistical   correspondence </a:t>
            </a:r>
            <a:r>
              <a:rPr lang="en-US" dirty="0"/>
              <a:t/>
            </a:r>
            <a:br>
              <a:rPr lang="en-US" dirty="0"/>
            </a:br>
            <a:r>
              <a:rPr lang="en-US" sz="1200" dirty="0" smtClean="0"/>
              <a:t/>
            </a:r>
            <a:br>
              <a:rPr lang="en-US" sz="1200" dirty="0" smtClean="0"/>
            </a:br>
            <a:r>
              <a:rPr lang="en-US" sz="2000" b="1" u="sng" dirty="0" smtClean="0">
                <a:solidFill>
                  <a:schemeClr val="tx1"/>
                </a:solidFill>
              </a:rPr>
              <a:t>Actual </a:t>
            </a:r>
            <a:r>
              <a:rPr lang="en-US" sz="2000" b="1" u="sng" dirty="0">
                <a:solidFill>
                  <a:schemeClr val="tx1"/>
                </a:solidFill>
              </a:rPr>
              <a:t>vs predict for 3 settings: full EIR sweep for UE and LHS for </a:t>
            </a:r>
            <a:r>
              <a:rPr lang="en-US" sz="2000" b="1" u="sng" dirty="0" err="1">
                <a:solidFill>
                  <a:schemeClr val="tx1"/>
                </a:solidFill>
              </a:rPr>
              <a:t>Oti</a:t>
            </a:r>
            <a:r>
              <a:rPr lang="en-US" sz="2000" b="1" u="sng" dirty="0">
                <a:solidFill>
                  <a:schemeClr val="tx1"/>
                </a:solidFill>
              </a:rPr>
              <a:t> and BE – Training the </a:t>
            </a:r>
            <a:r>
              <a:rPr lang="en-US" sz="2000" b="1" u="sng" dirty="0" err="1">
                <a:solidFill>
                  <a:schemeClr val="tx1"/>
                </a:solidFill>
              </a:rPr>
              <a:t>Gp</a:t>
            </a:r>
            <a:r>
              <a:rPr lang="en-US" sz="2000" b="1" u="sng" dirty="0">
                <a:solidFill>
                  <a:schemeClr val="tx1"/>
                </a:solidFill>
              </a:rPr>
              <a:t> with all simulation data</a:t>
            </a:r>
            <a:r>
              <a:rPr lang="en-US" sz="2800" dirty="0">
                <a:solidFill>
                  <a:srgbClr val="1D1C1D"/>
                </a:solidFill>
                <a:latin typeface="Slack-Lato"/>
              </a:rPr>
              <a:t/>
            </a:r>
            <a:br>
              <a:rPr lang="en-US" sz="2800" dirty="0">
                <a:solidFill>
                  <a:srgbClr val="1D1C1D"/>
                </a:solidFill>
                <a:latin typeface="Slack-Lato"/>
              </a:rPr>
            </a:br>
            <a:endParaRPr lang="en-US" sz="2800" b="1" dirty="0">
              <a:latin typeface="+mn-lt"/>
            </a:endParaRPr>
          </a:p>
        </p:txBody>
      </p:sp>
      <p:pic>
        <p:nvPicPr>
          <p:cNvPr id="5" name="Picture 4"/>
          <p:cNvPicPr/>
          <p:nvPr/>
        </p:nvPicPr>
        <p:blipFill>
          <a:blip r:embed="rId3"/>
          <a:stretch>
            <a:fillRect/>
          </a:stretch>
        </p:blipFill>
        <p:spPr>
          <a:xfrm>
            <a:off x="1126156" y="1674796"/>
            <a:ext cx="10410061" cy="5104695"/>
          </a:xfrm>
          <a:prstGeom prst="rect">
            <a:avLst/>
          </a:prstGeom>
        </p:spPr>
      </p:pic>
    </p:spTree>
    <p:extLst>
      <p:ext uri="{BB962C8B-B14F-4D97-AF65-F5344CB8AC3E}">
        <p14:creationId xmlns:p14="http://schemas.microsoft.com/office/powerpoint/2010/main" val="241865208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82168" y="1717283"/>
            <a:ext cx="12109832" cy="4191865"/>
          </a:xfrm>
          <a:prstGeom prst="rect">
            <a:avLst/>
          </a:prstGeom>
        </p:spPr>
      </p:pic>
      <p:sp>
        <p:nvSpPr>
          <p:cNvPr id="3" name="Title 2"/>
          <p:cNvSpPr>
            <a:spLocks noGrp="1"/>
          </p:cNvSpPr>
          <p:nvPr>
            <p:ph type="title"/>
          </p:nvPr>
        </p:nvSpPr>
        <p:spPr>
          <a:xfrm>
            <a:off x="177224" y="190694"/>
            <a:ext cx="10850000" cy="400433"/>
          </a:xfrm>
        </p:spPr>
        <p:txBody>
          <a:bodyPr/>
          <a:lstStyle/>
          <a:p>
            <a:r>
              <a:rPr lang="de-CH" sz="2800" b="1" dirty="0" smtClean="0">
                <a:latin typeface="+mn-lt"/>
              </a:rPr>
              <a:t>3 </a:t>
            </a:r>
            <a:r>
              <a:rPr lang="de-CH" sz="2800" dirty="0" smtClean="0">
                <a:latin typeface="+mn-lt"/>
              </a:rPr>
              <a:t>- Sobol </a:t>
            </a:r>
            <a:r>
              <a:rPr lang="de-CH" sz="2800" dirty="0" err="1" smtClean="0">
                <a:latin typeface="+mn-lt"/>
              </a:rPr>
              <a:t>methods</a:t>
            </a:r>
            <a:r>
              <a:rPr lang="de-CH" sz="2800" dirty="0" smtClean="0">
                <a:latin typeface="+mn-lt"/>
              </a:rPr>
              <a:t> </a:t>
            </a:r>
            <a:r>
              <a:rPr lang="de-CH" sz="2800" dirty="0" err="1" smtClean="0">
                <a:latin typeface="+mn-lt"/>
              </a:rPr>
              <a:t>comparison</a:t>
            </a:r>
            <a:endParaRPr lang="de-CH" sz="2800" dirty="0">
              <a:latin typeface="+mn-lt"/>
            </a:endParaRPr>
          </a:p>
        </p:txBody>
      </p:sp>
      <p:sp>
        <p:nvSpPr>
          <p:cNvPr id="7" name="Rectangle 6"/>
          <p:cNvSpPr/>
          <p:nvPr/>
        </p:nvSpPr>
        <p:spPr>
          <a:xfrm>
            <a:off x="177224" y="687379"/>
            <a:ext cx="11848699" cy="685059"/>
          </a:xfrm>
          <a:prstGeom prst="rect">
            <a:avLst/>
          </a:prstGeom>
        </p:spPr>
        <p:txBody>
          <a:bodyPr wrap="square">
            <a:spAutoFit/>
          </a:bodyPr>
          <a:lstStyle/>
          <a:p>
            <a:pPr>
              <a:lnSpc>
                <a:spcPct val="107000"/>
              </a:lnSpc>
              <a:spcAft>
                <a:spcPts val="800"/>
              </a:spcAft>
            </a:pPr>
            <a:r>
              <a:rPr lang="en-US" b="1" dirty="0" err="1" smtClean="0">
                <a:latin typeface="Arial" panose="020B0604020202020204" pitchFamily="34" charset="0"/>
                <a:ea typeface="Calibri" panose="020F0502020204030204" pitchFamily="34" charset="0"/>
                <a:cs typeface="Times New Roman" panose="02020603050405020304" pitchFamily="18" charset="0"/>
              </a:rPr>
              <a:t>Sobol</a:t>
            </a:r>
            <a:r>
              <a:rPr lang="en-US" b="1" dirty="0" smtClean="0">
                <a:latin typeface="Arial" panose="020B0604020202020204" pitchFamily="34" charset="0"/>
                <a:ea typeface="Calibri" panose="020F0502020204030204" pitchFamily="34" charset="0"/>
                <a:cs typeface="Times New Roman" panose="02020603050405020304" pitchFamily="18" charset="0"/>
              </a:rPr>
              <a:t> sensitivity analysis of future coverages of malaria interventions for 3 settings in </a:t>
            </a:r>
            <a:r>
              <a:rPr lang="en-US" b="1" dirty="0" err="1" smtClean="0">
                <a:latin typeface="Arial" panose="020B0604020202020204" pitchFamily="34" charset="0"/>
                <a:ea typeface="Calibri" panose="020F0502020204030204" pitchFamily="34" charset="0"/>
                <a:cs typeface="Times New Roman" panose="02020603050405020304" pitchFamily="18" charset="0"/>
              </a:rPr>
              <a:t>ghana</a:t>
            </a:r>
            <a:r>
              <a:rPr lang="en-US" b="1" dirty="0" smtClean="0">
                <a:latin typeface="Arial" panose="020B0604020202020204" pitchFamily="34" charset="0"/>
                <a:ea typeface="Calibri" panose="020F0502020204030204" pitchFamily="34" charset="0"/>
                <a:cs typeface="Times New Roman" panose="02020603050405020304" pitchFamily="18" charset="0"/>
              </a:rPr>
              <a:t>: upper.EAST4, OTI and </a:t>
            </a:r>
            <a:r>
              <a:rPr lang="en-US" b="1" dirty="0" err="1" smtClean="0">
                <a:latin typeface="Arial" panose="020B0604020202020204" pitchFamily="34" charset="0"/>
                <a:ea typeface="Calibri" panose="020F0502020204030204" pitchFamily="34" charset="0"/>
                <a:cs typeface="Times New Roman" panose="02020603050405020304" pitchFamily="18" charset="0"/>
              </a:rPr>
              <a:t>BONO.East</a:t>
            </a:r>
            <a:r>
              <a:rPr lang="en-US" b="1" dirty="0" smtClean="0">
                <a:latin typeface="Arial" panose="020B0604020202020204" pitchFamily="34" charset="0"/>
                <a:ea typeface="Calibri" panose="020F0502020204030204" pitchFamily="34" charset="0"/>
                <a:cs typeface="Times New Roman" panose="02020603050405020304" pitchFamily="18" charset="0"/>
              </a:rPr>
              <a:t>.</a:t>
            </a:r>
            <a:endParaRPr lang="de-CH"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9008314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3" name="Title 2"/>
          <p:cNvSpPr>
            <a:spLocks noGrp="1"/>
          </p:cNvSpPr>
          <p:nvPr>
            <p:ph type="title"/>
          </p:nvPr>
        </p:nvSpPr>
        <p:spPr>
          <a:xfrm>
            <a:off x="177224" y="190694"/>
            <a:ext cx="10850000" cy="400433"/>
          </a:xfrm>
        </p:spPr>
        <p:txBody>
          <a:bodyPr/>
          <a:lstStyle/>
          <a:p>
            <a:r>
              <a:rPr lang="de-CH" sz="2800" b="1" dirty="0" smtClean="0">
                <a:latin typeface="+mn-lt"/>
              </a:rPr>
              <a:t>3 </a:t>
            </a:r>
            <a:r>
              <a:rPr lang="de-CH" sz="2800" dirty="0" smtClean="0">
                <a:latin typeface="+mn-lt"/>
              </a:rPr>
              <a:t>- Sobol </a:t>
            </a:r>
            <a:r>
              <a:rPr lang="de-CH" sz="2800" dirty="0" err="1" smtClean="0">
                <a:latin typeface="+mn-lt"/>
              </a:rPr>
              <a:t>methods</a:t>
            </a:r>
            <a:r>
              <a:rPr lang="de-CH" sz="2800" dirty="0" smtClean="0">
                <a:latin typeface="+mn-lt"/>
              </a:rPr>
              <a:t> </a:t>
            </a:r>
            <a:r>
              <a:rPr lang="de-CH" sz="2800" dirty="0" err="1" smtClean="0">
                <a:latin typeface="+mn-lt"/>
              </a:rPr>
              <a:t>comparison</a:t>
            </a:r>
            <a:endParaRPr lang="de-CH" sz="2800" dirty="0">
              <a:latin typeface="+mn-lt"/>
            </a:endParaRPr>
          </a:p>
        </p:txBody>
      </p:sp>
      <mc:AlternateContent xmlns:mc="http://schemas.openxmlformats.org/markup-compatibility/2006" xmlns:a14="http://schemas.microsoft.com/office/drawing/2010/main">
        <mc:Choice Requires="a14">
          <p:sp>
            <p:nvSpPr>
              <p:cNvPr id="4" name="Rectangle 3"/>
              <p:cNvSpPr/>
              <p:nvPr/>
            </p:nvSpPr>
            <p:spPr>
              <a:xfrm>
                <a:off x="177224" y="996243"/>
                <a:ext cx="11913176" cy="4557017"/>
              </a:xfrm>
              <a:prstGeom prst="rect">
                <a:avLst/>
              </a:prstGeom>
            </p:spPr>
            <p:txBody>
              <a:bodyPr wrap="square">
                <a:spAutoFit/>
              </a:bodyPr>
              <a:lstStyle/>
              <a:p>
                <a:pPr marL="342900" lvl="0" indent="-342900">
                  <a:lnSpc>
                    <a:spcPct val="107000"/>
                  </a:lnSpc>
                  <a:spcAft>
                    <a:spcPts val="0"/>
                  </a:spcAft>
                  <a:buFont typeface="Symbol" panose="05050102010706020507" pitchFamily="18" charset="2"/>
                  <a:buChar char=""/>
                </a:pPr>
                <a:r>
                  <a:rPr lang="en-US" sz="2400" dirty="0">
                    <a:latin typeface="Arial" panose="020B0604020202020204" pitchFamily="34" charset="0"/>
                    <a:ea typeface="Calibri" panose="020F0502020204030204" pitchFamily="34" charset="0"/>
                    <a:cs typeface="Times New Roman" panose="02020603050405020304" pitchFamily="18" charset="0"/>
                  </a:rPr>
                  <a:t>Both methods obtained similar sensitivity </a:t>
                </a:r>
                <a:r>
                  <a:rPr lang="en-US" sz="2400" dirty="0" smtClean="0">
                    <a:latin typeface="Arial" panose="020B0604020202020204" pitchFamily="34" charset="0"/>
                    <a:ea typeface="Calibri" panose="020F0502020204030204" pitchFamily="34" charset="0"/>
                    <a:cs typeface="Times New Roman" panose="02020603050405020304" pitchFamily="18" charset="0"/>
                  </a:rPr>
                  <a:t>results</a:t>
                </a:r>
              </a:p>
              <a:p>
                <a:pPr lvl="0">
                  <a:lnSpc>
                    <a:spcPct val="107000"/>
                  </a:lnSpc>
                  <a:spcAft>
                    <a:spcPts val="0"/>
                  </a:spcAft>
                </a:pPr>
                <a:endParaRPr lang="de-CH"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US" sz="2400" b="1" dirty="0" err="1">
                    <a:latin typeface="Arial" panose="020B0604020202020204" pitchFamily="34" charset="0"/>
                    <a:ea typeface="Calibri" panose="020F0502020204030204" pitchFamily="34" charset="0"/>
                    <a:cs typeface="Times New Roman" panose="02020603050405020304" pitchFamily="18" charset="0"/>
                  </a:rPr>
                  <a:t>Soboljansen</a:t>
                </a:r>
                <a:r>
                  <a:rPr lang="en-US" sz="2400" dirty="0">
                    <a:latin typeface="Arial" panose="020B0604020202020204" pitchFamily="34" charset="0"/>
                    <a:ea typeface="Calibri" panose="020F0502020204030204" pitchFamily="34" charset="0"/>
                    <a:cs typeface="Times New Roman" panose="02020603050405020304" pitchFamily="18" charset="0"/>
                  </a:rPr>
                  <a:t> uses the best estimators so far for </a:t>
                </a:r>
                <a:r>
                  <a:rPr lang="en-US" sz="2400" b="1" dirty="0">
                    <a:latin typeface="Arial" panose="020B0604020202020204" pitchFamily="34" charset="0"/>
                    <a:ea typeface="Calibri" panose="020F0502020204030204" pitchFamily="34" charset="0"/>
                    <a:cs typeface="Times New Roman" panose="02020603050405020304" pitchFamily="18" charset="0"/>
                  </a:rPr>
                  <a:t>first</a:t>
                </a:r>
                <a:r>
                  <a:rPr lang="en-US" sz="2400" dirty="0">
                    <a:latin typeface="Arial" panose="020B0604020202020204" pitchFamily="34" charset="0"/>
                    <a:ea typeface="Calibri" panose="020F0502020204030204" pitchFamily="34" charset="0"/>
                    <a:cs typeface="Times New Roman" panose="02020603050405020304" pitchFamily="18" charset="0"/>
                  </a:rPr>
                  <a:t> and </a:t>
                </a:r>
                <a:r>
                  <a:rPr lang="en-US" sz="2400" b="1" dirty="0">
                    <a:latin typeface="Arial" panose="020B0604020202020204" pitchFamily="34" charset="0"/>
                    <a:ea typeface="Calibri" panose="020F0502020204030204" pitchFamily="34" charset="0"/>
                    <a:cs typeface="Times New Roman" panose="02020603050405020304" pitchFamily="18" charset="0"/>
                  </a:rPr>
                  <a:t>total order indices </a:t>
                </a:r>
                <a:r>
                  <a:rPr lang="en-US" sz="2400" dirty="0">
                    <a:latin typeface="Arial" panose="020B0604020202020204" pitchFamily="34" charset="0"/>
                    <a:ea typeface="Calibri" panose="020F0502020204030204" pitchFamily="34" charset="0"/>
                    <a:cs typeface="Times New Roman" panose="02020603050405020304" pitchFamily="18" charset="0"/>
                  </a:rPr>
                  <a:t>and takes into account a </a:t>
                </a:r>
                <a:r>
                  <a:rPr lang="en-US" sz="2400" b="1" dirty="0">
                    <a:latin typeface="Arial" panose="020B0604020202020204" pitchFamily="34" charset="0"/>
                    <a:ea typeface="Calibri" panose="020F0502020204030204" pitchFamily="34" charset="0"/>
                    <a:cs typeface="Times New Roman" panose="02020603050405020304" pitchFamily="18" charset="0"/>
                  </a:rPr>
                  <a:t>better configuration of the matrices </a:t>
                </a:r>
                <a:r>
                  <a:rPr lang="en-US" sz="2400" dirty="0">
                    <a:latin typeface="Arial" panose="020B0604020202020204" pitchFamily="34" charset="0"/>
                    <a:ea typeface="Calibri" panose="020F0502020204030204" pitchFamily="34" charset="0"/>
                    <a:cs typeface="Times New Roman" panose="02020603050405020304" pitchFamily="18" charset="0"/>
                  </a:rPr>
                  <a:t>A, </a:t>
                </a:r>
                <a14:m>
                  <m:oMath xmlns:m="http://schemas.openxmlformats.org/officeDocument/2006/math">
                    <m:sSub>
                      <m:sSubPr>
                        <m:ctrlPr>
                          <a:rPr lang="de-CH" sz="2400" i="1">
                            <a:latin typeface="Cambria Math" panose="02040503050406030204" pitchFamily="18" charset="0"/>
                            <a:ea typeface="Calibri" panose="020F0502020204030204" pitchFamily="34" charset="0"/>
                            <a:cs typeface="Arial" panose="020B0604020202020204" pitchFamily="34" charset="0"/>
                          </a:rPr>
                        </m:ctrlPr>
                      </m:sSubPr>
                      <m:e>
                        <m:r>
                          <a:rPr lang="en-US" sz="2400" i="1">
                            <a:latin typeface="Cambria Math" panose="02040503050406030204" pitchFamily="18" charset="0"/>
                            <a:ea typeface="Calibri" panose="020F0502020204030204" pitchFamily="34" charset="0"/>
                            <a:cs typeface="Arial" panose="020B0604020202020204" pitchFamily="34" charset="0"/>
                          </a:rPr>
                          <m:t>𝐴</m:t>
                        </m:r>
                      </m:e>
                      <m:sub>
                        <m:r>
                          <a:rPr lang="en-US" sz="2400" i="1">
                            <a:latin typeface="Cambria Math" panose="02040503050406030204" pitchFamily="18" charset="0"/>
                            <a:ea typeface="Calibri" panose="020F0502020204030204" pitchFamily="34" charset="0"/>
                            <a:cs typeface="Arial" panose="020B0604020202020204" pitchFamily="34" charset="0"/>
                          </a:rPr>
                          <m:t>𝐵</m:t>
                        </m:r>
                      </m:sub>
                    </m:sSub>
                  </m:oMath>
                </a14:m>
                <a:r>
                  <a:rPr lang="en-US" sz="2400" dirty="0">
                    <a:latin typeface="Arial" panose="020B0604020202020204" pitchFamily="34" charset="0"/>
                    <a:ea typeface="Calibri" panose="020F0502020204030204" pitchFamily="34" charset="0"/>
                    <a:cs typeface="Times New Roman" panose="02020603050405020304" pitchFamily="18" charset="0"/>
                  </a:rPr>
                  <a:t> and B. </a:t>
                </a:r>
                <a:endParaRPr lang="en-US" sz="2400" dirty="0" smtClean="0">
                  <a:latin typeface="Arial" panose="020B0604020202020204" pitchFamily="34" charset="0"/>
                  <a:ea typeface="Calibri" panose="020F0502020204030204" pitchFamily="34" charset="0"/>
                  <a:cs typeface="Times New Roman" panose="02020603050405020304" pitchFamily="18" charset="0"/>
                </a:endParaRPr>
              </a:p>
              <a:p>
                <a:pPr marL="800100" lvl="1" indent="-342900">
                  <a:lnSpc>
                    <a:spcPct val="107000"/>
                  </a:lnSpc>
                  <a:spcAft>
                    <a:spcPts val="800"/>
                  </a:spcAft>
                  <a:buFont typeface="Arial" panose="020B0604020202020204" pitchFamily="34" charset="0"/>
                  <a:buChar char="•"/>
                </a:pPr>
                <a:r>
                  <a:rPr lang="en-US" sz="2400" dirty="0" smtClean="0">
                    <a:latin typeface="Arial" panose="020B0604020202020204" pitchFamily="34" charset="0"/>
                    <a:ea typeface="Calibri" panose="020F0502020204030204" pitchFamily="34" charset="0"/>
                    <a:cs typeface="Times New Roman" panose="02020603050405020304" pitchFamily="18" charset="0"/>
                  </a:rPr>
                  <a:t>First generates a quasi-random matrix </a:t>
                </a:r>
                <a:r>
                  <a:rPr lang="en-US" sz="2400" i="1" dirty="0" smtClean="0">
                    <a:latin typeface="Arial" panose="020B0604020202020204" pitchFamily="34" charset="0"/>
                    <a:ea typeface="Calibri" panose="020F0502020204030204" pitchFamily="34" charset="0"/>
                    <a:cs typeface="Times New Roman" panose="02020603050405020304" pitchFamily="18" charset="0"/>
                  </a:rPr>
                  <a:t>(N, 2k)</a:t>
                </a:r>
              </a:p>
              <a:p>
                <a:pPr lvl="1">
                  <a:lnSpc>
                    <a:spcPct val="107000"/>
                  </a:lnSpc>
                  <a:spcAft>
                    <a:spcPts val="800"/>
                  </a:spcAft>
                </a:pPr>
                <a:endParaRPr lang="en-US" sz="2400" i="1" dirty="0" smtClean="0">
                  <a:latin typeface="Arial" panose="020B060402020202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US" sz="2400" dirty="0" smtClean="0">
                    <a:latin typeface="Arial" panose="020B0604020202020204" pitchFamily="34" charset="0"/>
                    <a:ea typeface="Calibri" panose="020F0502020204030204" pitchFamily="34" charset="0"/>
                    <a:cs typeface="Times New Roman" panose="02020603050405020304" pitchFamily="18" charset="0"/>
                  </a:rPr>
                  <a:t>the </a:t>
                </a:r>
                <a:r>
                  <a:rPr lang="en-US" sz="2400" b="1" dirty="0">
                    <a:latin typeface="Arial" panose="020B0604020202020204" pitchFamily="34" charset="0"/>
                    <a:ea typeface="Calibri" panose="020F0502020204030204" pitchFamily="34" charset="0"/>
                    <a:cs typeface="Times New Roman" panose="02020603050405020304" pitchFamily="18" charset="0"/>
                  </a:rPr>
                  <a:t>uniformity</a:t>
                </a:r>
                <a:r>
                  <a:rPr lang="en-US" sz="2400" dirty="0">
                    <a:latin typeface="Arial" panose="020B0604020202020204" pitchFamily="34" charset="0"/>
                    <a:ea typeface="Calibri" panose="020F0502020204030204" pitchFamily="34" charset="0"/>
                    <a:cs typeface="Times New Roman" panose="02020603050405020304" pitchFamily="18" charset="0"/>
                  </a:rPr>
                  <a:t> of the quasi-random matrix </a:t>
                </a:r>
                <a:r>
                  <a:rPr lang="en-US" sz="2400" b="1" dirty="0">
                    <a:latin typeface="Arial" panose="020B0604020202020204" pitchFamily="34" charset="0"/>
                    <a:ea typeface="Calibri" panose="020F0502020204030204" pitchFamily="34" charset="0"/>
                    <a:cs typeface="Times New Roman" panose="02020603050405020304" pitchFamily="18" charset="0"/>
                  </a:rPr>
                  <a:t>deteriorates</a:t>
                </a:r>
                <a:r>
                  <a:rPr lang="en-US" sz="2400" dirty="0">
                    <a:latin typeface="Arial" panose="020B0604020202020204" pitchFamily="34" charset="0"/>
                    <a:ea typeface="Calibri" panose="020F0502020204030204" pitchFamily="34" charset="0"/>
                    <a:cs typeface="Times New Roman" panose="02020603050405020304" pitchFamily="18" charset="0"/>
                  </a:rPr>
                  <a:t> as the column index increases, with the first column being the best </a:t>
                </a:r>
                <a:r>
                  <a:rPr lang="en-US" sz="2400" dirty="0" err="1">
                    <a:latin typeface="Arial" panose="020B0604020202020204" pitchFamily="34" charset="0"/>
                    <a:ea typeface="Calibri" panose="020F0502020204030204" pitchFamily="34" charset="0"/>
                    <a:cs typeface="Times New Roman" panose="02020603050405020304" pitchFamily="18" charset="0"/>
                  </a:rPr>
                  <a:t>equidistributed</a:t>
                </a:r>
                <a:r>
                  <a:rPr lang="en-US" sz="2400" dirty="0">
                    <a:latin typeface="Arial" panose="020B0604020202020204" pitchFamily="34" charset="0"/>
                    <a:ea typeface="Calibri" panose="020F0502020204030204" pitchFamily="34" charset="0"/>
                    <a:cs typeface="Times New Roman" panose="02020603050405020304" pitchFamily="18" charset="0"/>
                  </a:rPr>
                  <a:t> in the interval [0, 1</a:t>
                </a:r>
                <a:r>
                  <a:rPr lang="en-US" sz="2400" dirty="0" smtClean="0">
                    <a:latin typeface="Arial" panose="020B0604020202020204" pitchFamily="34" charset="0"/>
                    <a:ea typeface="Calibri" panose="020F0502020204030204" pitchFamily="34" charset="0"/>
                    <a:cs typeface="Times New Roman" panose="02020603050405020304" pitchFamily="18" charset="0"/>
                  </a:rPr>
                  <a:t>].</a:t>
                </a:r>
              </a:p>
              <a:p>
                <a:pPr lvl="0">
                  <a:lnSpc>
                    <a:spcPct val="107000"/>
                  </a:lnSpc>
                  <a:spcAft>
                    <a:spcPts val="800"/>
                  </a:spcAft>
                </a:pPr>
                <a:r>
                  <a:rPr lang="en-US" sz="2400" dirty="0" smtClean="0">
                    <a:latin typeface="Arial" panose="020B0604020202020204" pitchFamily="34" charset="0"/>
                    <a:ea typeface="Calibri" panose="020F0502020204030204" pitchFamily="34" charset="0"/>
                    <a:cs typeface="Times New Roman" panose="02020603050405020304" pitchFamily="18" charset="0"/>
                  </a:rPr>
                  <a:t> </a:t>
                </a:r>
              </a:p>
              <a:p>
                <a:pPr marL="342900" lvl="0" indent="-342900">
                  <a:lnSpc>
                    <a:spcPct val="107000"/>
                  </a:lnSpc>
                  <a:spcAft>
                    <a:spcPts val="800"/>
                  </a:spcAft>
                  <a:buFont typeface="Symbol" panose="05050102010706020507" pitchFamily="18" charset="2"/>
                  <a:buChar char=""/>
                </a:pPr>
                <a:r>
                  <a:rPr lang="en-US" sz="2400" dirty="0" smtClean="0">
                    <a:latin typeface="Arial" panose="020B0604020202020204" pitchFamily="34" charset="0"/>
                    <a:ea typeface="Calibri" panose="020F0502020204030204" pitchFamily="34" charset="0"/>
                    <a:cs typeface="Times New Roman" panose="02020603050405020304" pitchFamily="18" charset="0"/>
                  </a:rPr>
                  <a:t>It </a:t>
                </a:r>
                <a:r>
                  <a:rPr lang="en-US" sz="2400" dirty="0">
                    <a:latin typeface="Arial" panose="020B0604020202020204" pitchFamily="34" charset="0"/>
                    <a:ea typeface="Calibri" panose="020F0502020204030204" pitchFamily="34" charset="0"/>
                    <a:cs typeface="Times New Roman" panose="02020603050405020304" pitchFamily="18" charset="0"/>
                  </a:rPr>
                  <a:t>is advisable to choose the </a:t>
                </a:r>
                <a:r>
                  <a:rPr lang="en-US" sz="2400" b="1" dirty="0">
                    <a:latin typeface="Arial" panose="020B0604020202020204" pitchFamily="34" charset="0"/>
                    <a:ea typeface="Calibri" panose="020F0502020204030204" pitchFamily="34" charset="0"/>
                    <a:cs typeface="Times New Roman" panose="02020603050405020304" pitchFamily="18" charset="0"/>
                  </a:rPr>
                  <a:t>root</a:t>
                </a:r>
                <a:r>
                  <a:rPr lang="en-US" sz="2400" dirty="0">
                    <a:latin typeface="Arial" panose="020B0604020202020204" pitchFamily="34" charset="0"/>
                    <a:ea typeface="Calibri" panose="020F0502020204030204" pitchFamily="34" charset="0"/>
                    <a:cs typeface="Times New Roman" panose="02020603050405020304" pitchFamily="18" charset="0"/>
                  </a:rPr>
                  <a:t> of the </a:t>
                </a:r>
                <a:r>
                  <a:rPr lang="en-US" sz="2400" b="1" dirty="0">
                    <a:latin typeface="Arial" panose="020B0604020202020204" pitchFamily="34" charset="0"/>
                    <a:ea typeface="Calibri" panose="020F0502020204030204" pitchFamily="34" charset="0"/>
                    <a:cs typeface="Times New Roman" panose="02020603050405020304" pitchFamily="18" charset="0"/>
                  </a:rPr>
                  <a:t>third matrix </a:t>
                </a:r>
                <a:r>
                  <a:rPr lang="en-US" sz="2400" dirty="0">
                    <a:latin typeface="Arial" panose="020B0604020202020204" pitchFamily="34" charset="0"/>
                    <a:ea typeface="Calibri" panose="020F0502020204030204" pitchFamily="34" charset="0"/>
                    <a:cs typeface="Times New Roman" panose="02020603050405020304" pitchFamily="18" charset="0"/>
                  </a:rPr>
                  <a:t>from </a:t>
                </a:r>
                <a:r>
                  <a:rPr lang="en-US" sz="2400" b="1" dirty="0">
                    <a:latin typeface="Arial" panose="020B0604020202020204" pitchFamily="34" charset="0"/>
                    <a:ea typeface="Calibri" panose="020F0502020204030204" pitchFamily="34" charset="0"/>
                    <a:cs typeface="Times New Roman" panose="02020603050405020304" pitchFamily="18" charset="0"/>
                  </a:rPr>
                  <a:t>A</a:t>
                </a:r>
                <a:r>
                  <a:rPr lang="en-US" sz="2400" dirty="0">
                    <a:latin typeface="Arial" panose="020B0604020202020204" pitchFamily="34" charset="0"/>
                    <a:ea typeface="Calibri" panose="020F0502020204030204" pitchFamily="34" charset="0"/>
                    <a:cs typeface="Times New Roman" panose="02020603050405020304" pitchFamily="18" charset="0"/>
                  </a:rPr>
                  <a:t> and not B</a:t>
                </a:r>
                <a:endParaRPr lang="de-CH" sz="2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177224" y="996243"/>
                <a:ext cx="11913176" cy="4557017"/>
              </a:xfrm>
              <a:prstGeom prst="rect">
                <a:avLst/>
              </a:prstGeom>
              <a:blipFill>
                <a:blip r:embed="rId3"/>
                <a:stretch>
                  <a:fillRect l="-819" t="-1337" b="-1471"/>
                </a:stretch>
              </a:blipFill>
            </p:spPr>
            <p:txBody>
              <a:bodyPr/>
              <a:lstStyle/>
              <a:p>
                <a:r>
                  <a:rPr lang="de-CH">
                    <a:noFill/>
                  </a:rPr>
                  <a:t> </a:t>
                </a:r>
              </a:p>
            </p:txBody>
          </p:sp>
        </mc:Fallback>
      </mc:AlternateContent>
      <p:sp>
        <p:nvSpPr>
          <p:cNvPr id="6" name="Rectangle 5"/>
          <p:cNvSpPr/>
          <p:nvPr/>
        </p:nvSpPr>
        <p:spPr>
          <a:xfrm>
            <a:off x="3217648" y="3244334"/>
            <a:ext cx="5756704" cy="369332"/>
          </a:xfrm>
          <a:prstGeom prst="rect">
            <a:avLst/>
          </a:prstGeom>
        </p:spPr>
        <p:txBody>
          <a:bodyPr wrap="none">
            <a:spAutoFit/>
          </a:bodyPr>
          <a:lstStyle/>
          <a:p>
            <a:pPr marL="285750" indent="-285750">
              <a:buFont typeface="Arial" panose="020B0604020202020204" pitchFamily="34" charset="0"/>
              <a:buChar char="•"/>
            </a:pPr>
            <a:r>
              <a:rPr lang="de-CH" dirty="0">
                <a:latin typeface="Arial" panose="020B0604020202020204" pitchFamily="34" charset="0"/>
                <a:cs typeface="Arial" panose="020B0604020202020204" pitchFamily="34" charset="0"/>
              </a:rPr>
              <a:t>Model </a:t>
            </a:r>
            <a:r>
              <a:rPr lang="de-CH" dirty="0" err="1">
                <a:latin typeface="Arial" panose="020B0604020202020204" pitchFamily="34" charset="0"/>
                <a:cs typeface="Arial" panose="020B0604020202020204" pitchFamily="34" charset="0"/>
              </a:rPr>
              <a:t>performance</a:t>
            </a:r>
            <a:r>
              <a:rPr lang="de-CH" dirty="0">
                <a:latin typeface="Arial" panose="020B0604020202020204" pitchFamily="34" charset="0"/>
                <a:cs typeface="Arial" panose="020B0604020202020204" pitchFamily="34" charset="0"/>
              </a:rPr>
              <a:t> was </a:t>
            </a:r>
            <a:r>
              <a:rPr lang="de-CH" dirty="0" err="1">
                <a:latin typeface="Arial" panose="020B0604020202020204" pitchFamily="34" charset="0"/>
                <a:cs typeface="Arial" panose="020B0604020202020204" pitchFamily="34" charset="0"/>
              </a:rPr>
              <a:t>evaluated</a:t>
            </a:r>
            <a:r>
              <a:rPr lang="de-CH" dirty="0">
                <a:latin typeface="Arial" panose="020B0604020202020204" pitchFamily="34" charset="0"/>
                <a:cs typeface="Arial" panose="020B0604020202020204" pitchFamily="34" charset="0"/>
              </a:rPr>
              <a:t> </a:t>
            </a:r>
            <a:r>
              <a:rPr lang="de-CH" dirty="0" err="1">
                <a:latin typeface="Arial" panose="020B0604020202020204" pitchFamily="34" charset="0"/>
                <a:cs typeface="Arial" panose="020B0604020202020204" pitchFamily="34" charset="0"/>
              </a:rPr>
              <a:t>using</a:t>
            </a:r>
            <a:r>
              <a:rPr lang="de-CH" dirty="0">
                <a:latin typeface="Arial" panose="020B0604020202020204" pitchFamily="34" charset="0"/>
                <a:cs typeface="Arial" panose="020B0604020202020204" pitchFamily="34" charset="0"/>
              </a:rPr>
              <a:t> R-</a:t>
            </a:r>
            <a:r>
              <a:rPr lang="de-CH" dirty="0" err="1">
                <a:latin typeface="Arial" panose="020B0604020202020204" pitchFamily="34" charset="0"/>
                <a:cs typeface="Arial" panose="020B0604020202020204" pitchFamily="34" charset="0"/>
              </a:rPr>
              <a:t>sqaured</a:t>
            </a:r>
            <a:endParaRPr lang="de-CH"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187418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3" name="Title 2"/>
          <p:cNvSpPr>
            <a:spLocks noGrp="1"/>
          </p:cNvSpPr>
          <p:nvPr>
            <p:ph type="title"/>
          </p:nvPr>
        </p:nvSpPr>
        <p:spPr>
          <a:xfrm>
            <a:off x="177224" y="190694"/>
            <a:ext cx="10850000" cy="400433"/>
          </a:xfrm>
        </p:spPr>
        <p:txBody>
          <a:bodyPr/>
          <a:lstStyle/>
          <a:p>
            <a:r>
              <a:rPr lang="de-CH" sz="2800" b="1" dirty="0" smtClean="0">
                <a:latin typeface="+mn-lt"/>
              </a:rPr>
              <a:t>3 </a:t>
            </a:r>
            <a:r>
              <a:rPr lang="de-CH" sz="2800" dirty="0" smtClean="0">
                <a:latin typeface="+mn-lt"/>
              </a:rPr>
              <a:t>- </a:t>
            </a:r>
            <a:r>
              <a:rPr lang="de-CH" sz="2800" dirty="0" smtClean="0">
                <a:latin typeface="Arial" panose="020B0604020202020204" pitchFamily="34" charset="0"/>
                <a:cs typeface="Arial" panose="020B0604020202020204" pitchFamily="34" charset="0"/>
              </a:rPr>
              <a:t>Sobol </a:t>
            </a:r>
            <a:r>
              <a:rPr lang="de-CH" sz="2800" dirty="0" err="1" smtClean="0">
                <a:latin typeface="Arial" panose="020B0604020202020204" pitchFamily="34" charset="0"/>
                <a:cs typeface="Arial" panose="020B0604020202020204" pitchFamily="34" charset="0"/>
              </a:rPr>
              <a:t>sensitivity</a:t>
            </a:r>
            <a:r>
              <a:rPr lang="de-CH" sz="2800" dirty="0" smtClean="0">
                <a:latin typeface="Arial" panose="020B0604020202020204" pitchFamily="34" charset="0"/>
                <a:cs typeface="Arial" panose="020B0604020202020204" pitchFamily="34" charset="0"/>
              </a:rPr>
              <a:t> </a:t>
            </a:r>
            <a:r>
              <a:rPr lang="de-CH" sz="2800" dirty="0" err="1" smtClean="0">
                <a:latin typeface="Arial" panose="020B0604020202020204" pitchFamily="34" charset="0"/>
                <a:cs typeface="Arial" panose="020B0604020202020204" pitchFamily="34" charset="0"/>
              </a:rPr>
              <a:t>analysis</a:t>
            </a:r>
            <a:r>
              <a:rPr lang="de-CH" sz="2800" dirty="0" smtClean="0">
                <a:latin typeface="Arial" panose="020B0604020202020204" pitchFamily="34" charset="0"/>
                <a:cs typeface="Arial" panose="020B0604020202020204" pitchFamily="34" charset="0"/>
              </a:rPr>
              <a:t> </a:t>
            </a:r>
            <a:r>
              <a:rPr lang="de-CH" sz="2800" dirty="0" err="1" smtClean="0">
                <a:latin typeface="Arial" panose="020B0604020202020204" pitchFamily="34" charset="0"/>
                <a:cs typeface="Arial" panose="020B0604020202020204" pitchFamily="34" charset="0"/>
              </a:rPr>
              <a:t>with</a:t>
            </a:r>
            <a:r>
              <a:rPr lang="de-CH" sz="2800" dirty="0" smtClean="0">
                <a:latin typeface="Arial" panose="020B0604020202020204" pitchFamily="34" charset="0"/>
                <a:cs typeface="Arial" panose="020B0604020202020204" pitchFamily="34" charset="0"/>
              </a:rPr>
              <a:t> </a:t>
            </a:r>
            <a:r>
              <a:rPr lang="de-CH" sz="2800" dirty="0" err="1" smtClean="0">
                <a:latin typeface="Arial" panose="020B0604020202020204" pitchFamily="34" charset="0"/>
                <a:cs typeface="Arial" panose="020B0604020202020204" pitchFamily="34" charset="0"/>
              </a:rPr>
              <a:t>setting-specific</a:t>
            </a:r>
            <a:r>
              <a:rPr lang="de-CH" sz="2800" dirty="0" smtClean="0">
                <a:latin typeface="Arial" panose="020B0604020202020204" pitchFamily="34" charset="0"/>
                <a:cs typeface="Arial" panose="020B0604020202020204" pitchFamily="34" charset="0"/>
              </a:rPr>
              <a:t> EIR </a:t>
            </a:r>
            <a:r>
              <a:rPr lang="de-CH" sz="2800" dirty="0" err="1" smtClean="0">
                <a:latin typeface="Arial" panose="020B0604020202020204" pitchFamily="34" charset="0"/>
                <a:cs typeface="Arial" panose="020B0604020202020204" pitchFamily="34" charset="0"/>
              </a:rPr>
              <a:t>and</a:t>
            </a:r>
            <a:r>
              <a:rPr lang="de-CH" sz="2800" dirty="0" smtClean="0">
                <a:latin typeface="Arial" panose="020B0604020202020204" pitchFamily="34" charset="0"/>
                <a:cs typeface="Arial" panose="020B0604020202020204" pitchFamily="34" charset="0"/>
              </a:rPr>
              <a:t> </a:t>
            </a:r>
            <a:r>
              <a:rPr lang="de-CH" sz="2800" dirty="0" err="1" smtClean="0">
                <a:latin typeface="Arial" panose="020B0604020202020204" pitchFamily="34" charset="0"/>
                <a:cs typeface="Arial" panose="020B0604020202020204" pitchFamily="34" charset="0"/>
              </a:rPr>
              <a:t>realistic</a:t>
            </a:r>
            <a:r>
              <a:rPr lang="de-CH" sz="2800" dirty="0" smtClean="0">
                <a:latin typeface="Arial" panose="020B0604020202020204" pitchFamily="34" charset="0"/>
                <a:cs typeface="Arial" panose="020B0604020202020204" pitchFamily="34" charset="0"/>
              </a:rPr>
              <a:t> </a:t>
            </a:r>
            <a:r>
              <a:rPr lang="de-CH" sz="2800" dirty="0" err="1" smtClean="0">
                <a:latin typeface="Arial" panose="020B0604020202020204" pitchFamily="34" charset="0"/>
                <a:cs typeface="Arial" panose="020B0604020202020204" pitchFamily="34" charset="0"/>
              </a:rPr>
              <a:t>intervention</a:t>
            </a:r>
            <a:r>
              <a:rPr lang="de-CH" sz="2800" dirty="0" smtClean="0">
                <a:latin typeface="Arial" panose="020B0604020202020204" pitchFamily="34" charset="0"/>
                <a:cs typeface="Arial" panose="020B0604020202020204" pitchFamily="34" charset="0"/>
              </a:rPr>
              <a:t> </a:t>
            </a:r>
            <a:r>
              <a:rPr lang="de-CH" sz="2800" dirty="0" err="1" smtClean="0">
                <a:latin typeface="Arial" panose="020B0604020202020204" pitchFamily="34" charset="0"/>
                <a:cs typeface="Arial" panose="020B0604020202020204" pitchFamily="34" charset="0"/>
              </a:rPr>
              <a:t>coverage</a:t>
            </a:r>
            <a:r>
              <a:rPr lang="de-CH" sz="2800" dirty="0" smtClean="0">
                <a:latin typeface="Arial" panose="020B0604020202020204" pitchFamily="34" charset="0"/>
                <a:cs typeface="Arial" panose="020B0604020202020204" pitchFamily="34" charset="0"/>
              </a:rPr>
              <a:t> </a:t>
            </a:r>
            <a:r>
              <a:rPr lang="de-CH" sz="2800" dirty="0" err="1" smtClean="0">
                <a:latin typeface="Arial" panose="020B0604020202020204" pitchFamily="34" charset="0"/>
                <a:cs typeface="Arial" panose="020B0604020202020204" pitchFamily="34" charset="0"/>
              </a:rPr>
              <a:t>ranges</a:t>
            </a:r>
            <a:endParaRPr lang="de-CH" sz="2800" dirty="0">
              <a:latin typeface="Arial" panose="020B0604020202020204" pitchFamily="34" charset="0"/>
              <a:cs typeface="Arial" panose="020B0604020202020204" pitchFamily="34" charset="0"/>
            </a:endParaRPr>
          </a:p>
        </p:txBody>
      </p:sp>
      <p:sp>
        <p:nvSpPr>
          <p:cNvPr id="4" name="Rectangle 3"/>
          <p:cNvSpPr/>
          <p:nvPr/>
        </p:nvSpPr>
        <p:spPr>
          <a:xfrm>
            <a:off x="177224" y="996243"/>
            <a:ext cx="11913176" cy="4985980"/>
          </a:xfrm>
          <a:prstGeom prst="rect">
            <a:avLst/>
          </a:prstGeom>
        </p:spPr>
        <p:txBody>
          <a:bodyPr wrap="square">
            <a:spAutoFit/>
          </a:bodyPr>
          <a:lstStyle/>
          <a:p>
            <a:pPr marL="285750" indent="-285750">
              <a:buFont typeface="Arial" panose="020B0604020202020204" pitchFamily="34" charset="0"/>
              <a:buChar char="•"/>
            </a:pPr>
            <a:r>
              <a:rPr lang="de-CH" sz="2400" dirty="0" smtClean="0"/>
              <a:t> A GP </a:t>
            </a:r>
            <a:r>
              <a:rPr lang="de-CH" sz="2400" dirty="0" err="1" smtClean="0"/>
              <a:t>model</a:t>
            </a:r>
            <a:r>
              <a:rPr lang="de-CH" sz="2400" dirty="0" smtClean="0"/>
              <a:t> </a:t>
            </a:r>
            <a:r>
              <a:rPr lang="de-CH" sz="2400" dirty="0" err="1" smtClean="0"/>
              <a:t>is</a:t>
            </a:r>
            <a:r>
              <a:rPr lang="de-CH" sz="2400" dirty="0" smtClean="0"/>
              <a:t> </a:t>
            </a:r>
            <a:r>
              <a:rPr lang="de-CH" sz="2400" dirty="0" err="1" smtClean="0"/>
              <a:t>trained</a:t>
            </a:r>
            <a:r>
              <a:rPr lang="de-CH" sz="2400" dirty="0" smtClean="0"/>
              <a:t> </a:t>
            </a:r>
            <a:r>
              <a:rPr lang="de-CH" sz="2400" dirty="0" err="1" smtClean="0"/>
              <a:t>for</a:t>
            </a:r>
            <a:r>
              <a:rPr lang="de-CH" sz="2400" dirty="0" smtClean="0"/>
              <a:t> </a:t>
            </a:r>
            <a:r>
              <a:rPr lang="de-CH" sz="2400" dirty="0" err="1" smtClean="0"/>
              <a:t>each</a:t>
            </a:r>
            <a:r>
              <a:rPr lang="de-CH" sz="2400" dirty="0" smtClean="0"/>
              <a:t> </a:t>
            </a:r>
            <a:r>
              <a:rPr lang="de-CH" sz="2400" dirty="0" err="1" smtClean="0"/>
              <a:t>setting</a:t>
            </a:r>
            <a:r>
              <a:rPr lang="de-CH" sz="2400" dirty="0" smtClean="0"/>
              <a:t> </a:t>
            </a:r>
            <a:r>
              <a:rPr lang="de-CH" sz="2400" dirty="0" err="1" smtClean="0"/>
              <a:t>using</a:t>
            </a:r>
            <a:r>
              <a:rPr lang="de-CH" sz="2400" dirty="0" smtClean="0"/>
              <a:t> 2-10 </a:t>
            </a:r>
            <a:r>
              <a:rPr lang="de-CH" sz="2400" dirty="0" err="1" smtClean="0"/>
              <a:t>age_group</a:t>
            </a:r>
            <a:r>
              <a:rPr lang="de-CH" sz="2400" dirty="0" smtClean="0"/>
              <a:t>, EIR </a:t>
            </a:r>
            <a:r>
              <a:rPr lang="de-CH" sz="2400" dirty="0" err="1" smtClean="0"/>
              <a:t>range</a:t>
            </a:r>
            <a:r>
              <a:rPr lang="de-CH" sz="2400" dirty="0" smtClean="0"/>
              <a:t> (2-250) + </a:t>
            </a:r>
            <a:r>
              <a:rPr lang="de-CH" sz="2400" dirty="0" err="1" smtClean="0"/>
              <a:t>deployed</a:t>
            </a:r>
            <a:r>
              <a:rPr lang="de-CH" sz="2400" dirty="0" smtClean="0"/>
              <a:t> </a:t>
            </a:r>
            <a:r>
              <a:rPr lang="de-CH" sz="2400" dirty="0" err="1" smtClean="0"/>
              <a:t>intervention</a:t>
            </a:r>
            <a:r>
              <a:rPr lang="de-CH" sz="2400" dirty="0" smtClean="0"/>
              <a:t> </a:t>
            </a:r>
            <a:r>
              <a:rPr lang="de-CH" sz="2400" dirty="0" err="1" smtClean="0"/>
              <a:t>coverage</a:t>
            </a:r>
            <a:r>
              <a:rPr lang="de-CH" sz="2400" dirty="0" smtClean="0"/>
              <a:t> </a:t>
            </a:r>
            <a:r>
              <a:rPr lang="de-CH" sz="2400" dirty="0" err="1" smtClean="0"/>
              <a:t>ranges</a:t>
            </a:r>
            <a:endParaRPr lang="de-CH" sz="2400" dirty="0" smtClean="0"/>
          </a:p>
          <a:p>
            <a:pPr marL="285750" indent="-285750">
              <a:buFont typeface="Arial" panose="020B0604020202020204" pitchFamily="34" charset="0"/>
              <a:buChar char="•"/>
            </a:pPr>
            <a:r>
              <a:rPr lang="de-CH" sz="2400" dirty="0" smtClean="0"/>
              <a:t>Sobol </a:t>
            </a:r>
            <a:r>
              <a:rPr lang="de-CH" sz="2400" dirty="0" err="1" smtClean="0"/>
              <a:t>uses</a:t>
            </a:r>
            <a:r>
              <a:rPr lang="de-CH" sz="2400" dirty="0" smtClean="0"/>
              <a:t> </a:t>
            </a:r>
            <a:r>
              <a:rPr lang="de-CH" sz="2400" dirty="0" err="1" smtClean="0"/>
              <a:t>setting-specific</a:t>
            </a:r>
            <a:r>
              <a:rPr lang="de-CH" sz="2400" dirty="0" smtClean="0"/>
              <a:t> </a:t>
            </a:r>
            <a:r>
              <a:rPr lang="de-CH" sz="2400" dirty="0" err="1" smtClean="0"/>
              <a:t>eir</a:t>
            </a:r>
            <a:r>
              <a:rPr lang="de-CH" sz="2400" dirty="0" smtClean="0"/>
              <a:t> + </a:t>
            </a:r>
            <a:r>
              <a:rPr lang="de-CH" sz="2400" dirty="0" err="1" smtClean="0"/>
              <a:t>realistic</a:t>
            </a:r>
            <a:r>
              <a:rPr lang="de-CH" sz="2400" dirty="0" smtClean="0"/>
              <a:t> </a:t>
            </a:r>
            <a:r>
              <a:rPr lang="de-CH" sz="2400" dirty="0" err="1" smtClean="0"/>
              <a:t>intervention</a:t>
            </a:r>
            <a:r>
              <a:rPr lang="de-CH" sz="2400" dirty="0" smtClean="0"/>
              <a:t> </a:t>
            </a:r>
            <a:r>
              <a:rPr lang="de-CH" sz="2400" dirty="0" err="1" smtClean="0"/>
              <a:t>coverage</a:t>
            </a:r>
            <a:r>
              <a:rPr lang="de-CH" sz="2400" dirty="0" smtClean="0"/>
              <a:t> </a:t>
            </a:r>
            <a:r>
              <a:rPr lang="de-CH" sz="2400" dirty="0" err="1" smtClean="0"/>
              <a:t>ranges</a:t>
            </a:r>
            <a:r>
              <a:rPr lang="de-CH" sz="2400" dirty="0" smtClean="0"/>
              <a:t> </a:t>
            </a:r>
            <a:r>
              <a:rPr lang="de-CH" sz="2400" dirty="0" err="1" smtClean="0"/>
              <a:t>of</a:t>
            </a:r>
            <a:r>
              <a:rPr lang="de-CH" sz="2400" dirty="0" smtClean="0"/>
              <a:t> </a:t>
            </a:r>
            <a:r>
              <a:rPr lang="de-CH" sz="2400" dirty="0" err="1" smtClean="0"/>
              <a:t>interventions</a:t>
            </a:r>
            <a:r>
              <a:rPr lang="de-CH" sz="2400" dirty="0" smtClean="0"/>
              <a:t> </a:t>
            </a:r>
            <a:r>
              <a:rPr lang="de-CH" sz="2400" dirty="0" err="1" smtClean="0"/>
              <a:t>to</a:t>
            </a:r>
            <a:r>
              <a:rPr lang="de-CH" sz="2400" dirty="0" smtClean="0"/>
              <a:t> </a:t>
            </a:r>
            <a:r>
              <a:rPr lang="de-CH" sz="2400" dirty="0" err="1" smtClean="0"/>
              <a:t>be</a:t>
            </a:r>
            <a:r>
              <a:rPr lang="de-CH" sz="2400" dirty="0" smtClean="0"/>
              <a:t> </a:t>
            </a:r>
            <a:r>
              <a:rPr lang="de-CH" sz="2400" dirty="0" err="1" smtClean="0"/>
              <a:t>deployed</a:t>
            </a:r>
            <a:endParaRPr lang="de-CH" sz="2400" dirty="0" smtClean="0"/>
          </a:p>
          <a:p>
            <a:pPr marL="285750" indent="-285750">
              <a:buFont typeface="Arial" panose="020B0604020202020204" pitchFamily="34" charset="0"/>
              <a:buChar char="•"/>
            </a:pPr>
            <a:r>
              <a:rPr lang="de-CH" sz="2400" dirty="0" smtClean="0"/>
              <a:t>Non-</a:t>
            </a:r>
            <a:r>
              <a:rPr lang="de-CH" sz="2400" dirty="0" err="1" smtClean="0"/>
              <a:t>deployed</a:t>
            </a:r>
            <a:r>
              <a:rPr lang="de-CH" sz="2400" dirty="0" smtClean="0"/>
              <a:t> </a:t>
            </a:r>
            <a:r>
              <a:rPr lang="de-CH" sz="2400" dirty="0" err="1" smtClean="0"/>
              <a:t>interventions</a:t>
            </a:r>
            <a:r>
              <a:rPr lang="de-CH" sz="2400" dirty="0" smtClean="0"/>
              <a:t> </a:t>
            </a:r>
            <a:r>
              <a:rPr lang="de-CH" sz="2400" dirty="0" err="1" smtClean="0"/>
              <a:t>are</a:t>
            </a:r>
            <a:r>
              <a:rPr lang="de-CH" sz="2400" dirty="0" smtClean="0"/>
              <a:t> </a:t>
            </a:r>
            <a:r>
              <a:rPr lang="de-CH" sz="2400" dirty="0" err="1" smtClean="0"/>
              <a:t>indicated</a:t>
            </a:r>
            <a:r>
              <a:rPr lang="de-CH" sz="2400" dirty="0" smtClean="0"/>
              <a:t> </a:t>
            </a:r>
            <a:r>
              <a:rPr lang="de-CH" sz="2400" dirty="0" err="1" smtClean="0"/>
              <a:t>as</a:t>
            </a:r>
            <a:r>
              <a:rPr lang="de-CH" sz="2400" dirty="0" smtClean="0"/>
              <a:t> NA on </a:t>
            </a:r>
            <a:r>
              <a:rPr lang="de-CH" sz="2400" dirty="0" err="1" smtClean="0"/>
              <a:t>the</a:t>
            </a:r>
            <a:r>
              <a:rPr lang="de-CH" sz="2400" dirty="0" smtClean="0"/>
              <a:t> </a:t>
            </a:r>
            <a:r>
              <a:rPr lang="de-CH" sz="2400" dirty="0" err="1" smtClean="0"/>
              <a:t>plot</a:t>
            </a:r>
            <a:endParaRPr lang="de-CH" sz="2400" dirty="0" smtClean="0"/>
          </a:p>
          <a:p>
            <a:pPr marL="285750" indent="-285750">
              <a:buFont typeface="Arial" panose="020B0604020202020204" pitchFamily="34" charset="0"/>
              <a:buChar char="•"/>
            </a:pPr>
            <a:r>
              <a:rPr lang="de-CH" sz="2400" dirty="0" smtClean="0"/>
              <a:t>Parameter </a:t>
            </a:r>
            <a:r>
              <a:rPr lang="de-CH" sz="2400" dirty="0" err="1" smtClean="0"/>
              <a:t>ranges</a:t>
            </a:r>
            <a:r>
              <a:rPr lang="de-CH" sz="2400" dirty="0" smtClean="0"/>
              <a:t>:</a:t>
            </a:r>
          </a:p>
          <a:p>
            <a:pPr marL="742950" lvl="1" indent="-285750">
              <a:buFont typeface="Arial" panose="020B0604020202020204" pitchFamily="34" charset="0"/>
              <a:buChar char="•"/>
            </a:pPr>
            <a:r>
              <a:rPr lang="de-CH" dirty="0" smtClean="0">
                <a:latin typeface="Arial" panose="020B0604020202020204" pitchFamily="34" charset="0"/>
                <a:cs typeface="Arial" panose="020B0604020202020204" pitchFamily="34" charset="0"/>
              </a:rPr>
              <a:t>futcovSMC0to5JulOct_min = 0.4, futcovSMC0to5JulOct_max = 0.9,      </a:t>
            </a:r>
          </a:p>
          <a:p>
            <a:pPr marL="742950" lvl="1" indent="-285750">
              <a:buFont typeface="Arial" panose="020B0604020202020204" pitchFamily="34" charset="0"/>
              <a:buChar char="•"/>
            </a:pPr>
            <a:r>
              <a:rPr lang="de-CH" dirty="0" smtClean="0">
                <a:latin typeface="Arial" panose="020B0604020202020204" pitchFamily="34" charset="0"/>
                <a:cs typeface="Arial" panose="020B0604020202020204" pitchFamily="34" charset="0"/>
              </a:rPr>
              <a:t>futRTSS3covStart2023_min = 0.5, futRTSS3covStart2023_max = 0.9,     </a:t>
            </a:r>
          </a:p>
          <a:p>
            <a:pPr marL="742950" lvl="1" indent="-285750">
              <a:buFont typeface="Arial" panose="020B0604020202020204" pitchFamily="34" charset="0"/>
              <a:buChar char="•"/>
            </a:pPr>
            <a:r>
              <a:rPr lang="de-CH" dirty="0" smtClean="0">
                <a:latin typeface="Arial" panose="020B0604020202020204" pitchFamily="34" charset="0"/>
                <a:cs typeface="Arial" panose="020B0604020202020204" pitchFamily="34" charset="0"/>
              </a:rPr>
              <a:t> futNetcovstart2021_min = 0.2, futNetcovstart2021_max = 0.8</a:t>
            </a:r>
          </a:p>
          <a:p>
            <a:endParaRPr lang="de-CH" sz="2400" dirty="0" smtClean="0"/>
          </a:p>
          <a:p>
            <a:r>
              <a:rPr lang="de-CH" sz="2400" b="1" u="sng" dirty="0" err="1" smtClean="0">
                <a:solidFill>
                  <a:schemeClr val="tx2">
                    <a:lumMod val="20000"/>
                    <a:lumOff val="80000"/>
                  </a:schemeClr>
                </a:solidFill>
              </a:rPr>
              <a:t>Hierarchical</a:t>
            </a:r>
            <a:r>
              <a:rPr lang="de-CH" sz="2400" b="1" u="sng" dirty="0" smtClean="0">
                <a:solidFill>
                  <a:schemeClr val="tx2">
                    <a:lumMod val="20000"/>
                    <a:lumOff val="80000"/>
                  </a:schemeClr>
                </a:solidFill>
              </a:rPr>
              <a:t> </a:t>
            </a:r>
            <a:r>
              <a:rPr lang="de-CH" sz="2400" b="1" u="sng" dirty="0" err="1" smtClean="0">
                <a:solidFill>
                  <a:schemeClr val="tx2">
                    <a:lumMod val="20000"/>
                    <a:lumOff val="80000"/>
                  </a:schemeClr>
                </a:solidFill>
              </a:rPr>
              <a:t>clustering</a:t>
            </a:r>
            <a:r>
              <a:rPr lang="de-CH" sz="2400" b="1" u="sng" dirty="0" smtClean="0">
                <a:solidFill>
                  <a:schemeClr val="tx2">
                    <a:lumMod val="20000"/>
                    <a:lumOff val="80000"/>
                  </a:schemeClr>
                </a:solidFill>
              </a:rPr>
              <a:t> – </a:t>
            </a:r>
            <a:r>
              <a:rPr lang="de-CH" sz="2400" b="1" u="sng" dirty="0" err="1" smtClean="0">
                <a:solidFill>
                  <a:schemeClr val="tx2">
                    <a:lumMod val="20000"/>
                    <a:lumOff val="80000"/>
                  </a:schemeClr>
                </a:solidFill>
              </a:rPr>
              <a:t>agglomerative</a:t>
            </a:r>
            <a:r>
              <a:rPr lang="de-CH" sz="2400" b="1" u="sng" dirty="0" smtClean="0">
                <a:solidFill>
                  <a:schemeClr val="tx2">
                    <a:lumMod val="20000"/>
                    <a:lumOff val="80000"/>
                  </a:schemeClr>
                </a:solidFill>
              </a:rPr>
              <a:t> (</a:t>
            </a:r>
            <a:r>
              <a:rPr lang="de-CH" sz="2400" b="1" u="sng" dirty="0" err="1" smtClean="0">
                <a:solidFill>
                  <a:schemeClr val="tx2">
                    <a:lumMod val="20000"/>
                    <a:lumOff val="80000"/>
                  </a:schemeClr>
                </a:solidFill>
              </a:rPr>
              <a:t>bottom-up</a:t>
            </a:r>
            <a:r>
              <a:rPr lang="de-CH" sz="2400" b="1" u="sng" dirty="0" smtClean="0">
                <a:solidFill>
                  <a:schemeClr val="tx2">
                    <a:lumMod val="20000"/>
                    <a:lumOff val="80000"/>
                  </a:schemeClr>
                </a:solidFill>
              </a:rPr>
              <a:t>)</a:t>
            </a:r>
          </a:p>
          <a:p>
            <a:pPr marL="285750" indent="-285750">
              <a:buFont typeface="Arial" panose="020B0604020202020204" pitchFamily="34" charset="0"/>
              <a:buChar char="•"/>
            </a:pPr>
            <a:r>
              <a:rPr lang="de-CH" sz="2400" dirty="0" err="1" smtClean="0">
                <a:solidFill>
                  <a:schemeClr val="tx2">
                    <a:lumMod val="20000"/>
                    <a:lumOff val="80000"/>
                  </a:schemeClr>
                </a:solidFill>
              </a:rPr>
              <a:t>Each</a:t>
            </a:r>
            <a:r>
              <a:rPr lang="de-CH" sz="2400" dirty="0" smtClean="0">
                <a:solidFill>
                  <a:schemeClr val="tx2">
                    <a:lumMod val="20000"/>
                    <a:lumOff val="80000"/>
                  </a:schemeClr>
                </a:solidFill>
              </a:rPr>
              <a:t> </a:t>
            </a:r>
            <a:r>
              <a:rPr lang="de-CH" sz="2400" dirty="0" err="1" smtClean="0">
                <a:solidFill>
                  <a:schemeClr val="tx2">
                    <a:lumMod val="20000"/>
                    <a:lumOff val="80000"/>
                  </a:schemeClr>
                </a:solidFill>
              </a:rPr>
              <a:t>setting</a:t>
            </a:r>
            <a:r>
              <a:rPr lang="de-CH" sz="2400" dirty="0" smtClean="0">
                <a:solidFill>
                  <a:schemeClr val="tx2">
                    <a:lumMod val="20000"/>
                    <a:lumOff val="80000"/>
                  </a:schemeClr>
                </a:solidFill>
              </a:rPr>
              <a:t> </a:t>
            </a:r>
            <a:r>
              <a:rPr lang="de-CH" sz="2400" dirty="0" err="1" smtClean="0">
                <a:solidFill>
                  <a:schemeClr val="tx2">
                    <a:lumMod val="20000"/>
                    <a:lumOff val="80000"/>
                  </a:schemeClr>
                </a:solidFill>
              </a:rPr>
              <a:t>is</a:t>
            </a:r>
            <a:r>
              <a:rPr lang="de-CH" sz="2400" dirty="0" smtClean="0">
                <a:solidFill>
                  <a:schemeClr val="tx2">
                    <a:lumMod val="20000"/>
                    <a:lumOff val="80000"/>
                  </a:schemeClr>
                </a:solidFill>
              </a:rPr>
              <a:t> </a:t>
            </a:r>
            <a:r>
              <a:rPr lang="de-CH" sz="2400" dirty="0" err="1" smtClean="0">
                <a:solidFill>
                  <a:schemeClr val="tx2">
                    <a:lumMod val="20000"/>
                    <a:lumOff val="80000"/>
                  </a:schemeClr>
                </a:solidFill>
              </a:rPr>
              <a:t>treated</a:t>
            </a:r>
            <a:r>
              <a:rPr lang="de-CH" sz="2400" dirty="0" smtClean="0">
                <a:solidFill>
                  <a:schemeClr val="tx2">
                    <a:lumMod val="20000"/>
                    <a:lumOff val="80000"/>
                  </a:schemeClr>
                </a:solidFill>
              </a:rPr>
              <a:t> </a:t>
            </a:r>
            <a:r>
              <a:rPr lang="de-CH" sz="2400" dirty="0" err="1" smtClean="0">
                <a:solidFill>
                  <a:schemeClr val="tx2">
                    <a:lumMod val="20000"/>
                    <a:lumOff val="80000"/>
                  </a:schemeClr>
                </a:solidFill>
              </a:rPr>
              <a:t>as</a:t>
            </a:r>
            <a:r>
              <a:rPr lang="de-CH" sz="2400" dirty="0" smtClean="0">
                <a:solidFill>
                  <a:schemeClr val="tx2">
                    <a:lumMod val="20000"/>
                    <a:lumOff val="80000"/>
                  </a:schemeClr>
                </a:solidFill>
              </a:rPr>
              <a:t> </a:t>
            </a:r>
            <a:r>
              <a:rPr lang="de-CH" sz="2400" dirty="0" err="1" smtClean="0">
                <a:solidFill>
                  <a:schemeClr val="tx2">
                    <a:lumMod val="20000"/>
                    <a:lumOff val="80000"/>
                  </a:schemeClr>
                </a:solidFill>
              </a:rPr>
              <a:t>data</a:t>
            </a:r>
            <a:r>
              <a:rPr lang="de-CH" sz="2400" dirty="0" smtClean="0">
                <a:solidFill>
                  <a:schemeClr val="tx2">
                    <a:lumMod val="20000"/>
                    <a:lumOff val="80000"/>
                  </a:schemeClr>
                </a:solidFill>
              </a:rPr>
              <a:t> </a:t>
            </a:r>
            <a:r>
              <a:rPr lang="de-CH" sz="2400" dirty="0" err="1" smtClean="0">
                <a:solidFill>
                  <a:schemeClr val="tx2">
                    <a:lumMod val="20000"/>
                    <a:lumOff val="80000"/>
                  </a:schemeClr>
                </a:solidFill>
              </a:rPr>
              <a:t>point</a:t>
            </a:r>
            <a:endParaRPr lang="de-CH" sz="2400" dirty="0" smtClean="0">
              <a:solidFill>
                <a:schemeClr val="tx2">
                  <a:lumMod val="20000"/>
                  <a:lumOff val="80000"/>
                </a:schemeClr>
              </a:solidFill>
            </a:endParaRPr>
          </a:p>
          <a:p>
            <a:pPr marL="285750" indent="-285750">
              <a:buFont typeface="Arial" panose="020B0604020202020204" pitchFamily="34" charset="0"/>
              <a:buChar char="•"/>
            </a:pPr>
            <a:r>
              <a:rPr lang="de-CH" sz="2400" dirty="0" err="1" smtClean="0">
                <a:solidFill>
                  <a:schemeClr val="tx2">
                    <a:lumMod val="20000"/>
                    <a:lumOff val="80000"/>
                  </a:schemeClr>
                </a:solidFill>
              </a:rPr>
              <a:t>We</a:t>
            </a:r>
            <a:r>
              <a:rPr lang="de-CH" sz="2400" dirty="0" smtClean="0">
                <a:solidFill>
                  <a:schemeClr val="tx2">
                    <a:lumMod val="20000"/>
                    <a:lumOff val="80000"/>
                  </a:schemeClr>
                </a:solidFill>
              </a:rPr>
              <a:t> </a:t>
            </a:r>
            <a:r>
              <a:rPr lang="de-CH" sz="2400" dirty="0" err="1" smtClean="0">
                <a:solidFill>
                  <a:schemeClr val="tx2">
                    <a:lumMod val="20000"/>
                    <a:lumOff val="80000"/>
                  </a:schemeClr>
                </a:solidFill>
              </a:rPr>
              <a:t>look</a:t>
            </a:r>
            <a:r>
              <a:rPr lang="de-CH" sz="2400" dirty="0" smtClean="0">
                <a:solidFill>
                  <a:schemeClr val="tx2">
                    <a:lumMod val="20000"/>
                    <a:lumOff val="80000"/>
                  </a:schemeClr>
                </a:solidFill>
              </a:rPr>
              <a:t> </a:t>
            </a:r>
            <a:r>
              <a:rPr lang="de-CH" sz="2400" dirty="0" err="1" smtClean="0">
                <a:solidFill>
                  <a:schemeClr val="tx2">
                    <a:lumMod val="20000"/>
                    <a:lumOff val="80000"/>
                  </a:schemeClr>
                </a:solidFill>
              </a:rPr>
              <a:t>for</a:t>
            </a:r>
            <a:r>
              <a:rPr lang="de-CH" sz="2400" dirty="0" smtClean="0">
                <a:solidFill>
                  <a:schemeClr val="tx2">
                    <a:lumMod val="20000"/>
                    <a:lumOff val="80000"/>
                  </a:schemeClr>
                </a:solidFill>
              </a:rPr>
              <a:t> </a:t>
            </a:r>
            <a:r>
              <a:rPr lang="de-CH" sz="2400" dirty="0" err="1" smtClean="0">
                <a:solidFill>
                  <a:schemeClr val="tx2">
                    <a:lumMod val="20000"/>
                    <a:lumOff val="80000"/>
                  </a:schemeClr>
                </a:solidFill>
              </a:rPr>
              <a:t>how</a:t>
            </a:r>
            <a:r>
              <a:rPr lang="de-CH" sz="2400" dirty="0" smtClean="0">
                <a:solidFill>
                  <a:schemeClr val="tx2">
                    <a:lumMod val="20000"/>
                    <a:lumOff val="80000"/>
                  </a:schemeClr>
                </a:solidFill>
              </a:rPr>
              <a:t> </a:t>
            </a:r>
            <a:r>
              <a:rPr lang="de-CH" sz="2400" dirty="0" err="1" smtClean="0">
                <a:solidFill>
                  <a:schemeClr val="tx2">
                    <a:lumMod val="20000"/>
                    <a:lumOff val="80000"/>
                  </a:schemeClr>
                </a:solidFill>
              </a:rPr>
              <a:t>similar</a:t>
            </a:r>
            <a:r>
              <a:rPr lang="de-CH" sz="2400" dirty="0" smtClean="0">
                <a:solidFill>
                  <a:schemeClr val="tx2">
                    <a:lumMod val="20000"/>
                    <a:lumOff val="80000"/>
                  </a:schemeClr>
                </a:solidFill>
              </a:rPr>
              <a:t> </a:t>
            </a:r>
            <a:r>
              <a:rPr lang="de-CH" sz="2400" dirty="0" err="1" smtClean="0">
                <a:solidFill>
                  <a:schemeClr val="tx2">
                    <a:lumMod val="20000"/>
                    <a:lumOff val="80000"/>
                  </a:schemeClr>
                </a:solidFill>
              </a:rPr>
              <a:t>or</a:t>
            </a:r>
            <a:r>
              <a:rPr lang="de-CH" sz="2400" dirty="0" smtClean="0">
                <a:solidFill>
                  <a:schemeClr val="tx2">
                    <a:lumMod val="20000"/>
                    <a:lumOff val="80000"/>
                  </a:schemeClr>
                </a:solidFill>
              </a:rPr>
              <a:t> different </a:t>
            </a:r>
            <a:r>
              <a:rPr lang="de-CH" sz="2400" dirty="0" err="1" smtClean="0">
                <a:solidFill>
                  <a:schemeClr val="tx2">
                    <a:lumMod val="20000"/>
                    <a:lumOff val="80000"/>
                  </a:schemeClr>
                </a:solidFill>
              </a:rPr>
              <a:t>settings</a:t>
            </a:r>
            <a:r>
              <a:rPr lang="de-CH" sz="2400" dirty="0" smtClean="0">
                <a:solidFill>
                  <a:schemeClr val="tx2">
                    <a:lumMod val="20000"/>
                    <a:lumOff val="80000"/>
                  </a:schemeClr>
                </a:solidFill>
              </a:rPr>
              <a:t> </a:t>
            </a:r>
            <a:r>
              <a:rPr lang="de-CH" sz="2400" dirty="0" err="1" smtClean="0">
                <a:solidFill>
                  <a:schemeClr val="tx2">
                    <a:lumMod val="20000"/>
                    <a:lumOff val="80000"/>
                  </a:schemeClr>
                </a:solidFill>
              </a:rPr>
              <a:t>are</a:t>
            </a:r>
            <a:r>
              <a:rPr lang="de-CH" sz="2400" dirty="0" smtClean="0">
                <a:solidFill>
                  <a:schemeClr val="tx2">
                    <a:lumMod val="20000"/>
                    <a:lumOff val="80000"/>
                  </a:schemeClr>
                </a:solidFill>
              </a:rPr>
              <a:t> </a:t>
            </a:r>
            <a:r>
              <a:rPr lang="de-CH" sz="2400" dirty="0" err="1" smtClean="0">
                <a:solidFill>
                  <a:schemeClr val="tx2">
                    <a:lumMod val="20000"/>
                    <a:lumOff val="80000"/>
                  </a:schemeClr>
                </a:solidFill>
              </a:rPr>
              <a:t>using</a:t>
            </a:r>
            <a:r>
              <a:rPr lang="de-CH" sz="2400" dirty="0" smtClean="0">
                <a:solidFill>
                  <a:schemeClr val="tx2">
                    <a:lumMod val="20000"/>
                    <a:lumOff val="80000"/>
                  </a:schemeClr>
                </a:solidFill>
              </a:rPr>
              <a:t> </a:t>
            </a:r>
            <a:r>
              <a:rPr lang="de-CH" sz="2400" dirty="0" err="1" smtClean="0">
                <a:solidFill>
                  <a:schemeClr val="tx2">
                    <a:lumMod val="20000"/>
                    <a:lumOff val="80000"/>
                  </a:schemeClr>
                </a:solidFill>
              </a:rPr>
              <a:t>the</a:t>
            </a:r>
            <a:r>
              <a:rPr lang="de-CH" sz="2400" dirty="0" smtClean="0">
                <a:solidFill>
                  <a:schemeClr val="tx2">
                    <a:lumMod val="20000"/>
                    <a:lumOff val="80000"/>
                  </a:schemeClr>
                </a:solidFill>
              </a:rPr>
              <a:t> least </a:t>
            </a:r>
            <a:r>
              <a:rPr lang="de-CH" sz="2400" dirty="0" err="1" smtClean="0">
                <a:solidFill>
                  <a:schemeClr val="tx2">
                    <a:lumMod val="20000"/>
                    <a:lumOff val="80000"/>
                  </a:schemeClr>
                </a:solidFill>
              </a:rPr>
              <a:t>distance</a:t>
            </a:r>
            <a:r>
              <a:rPr lang="de-CH" sz="2400" dirty="0" smtClean="0">
                <a:solidFill>
                  <a:schemeClr val="tx2">
                    <a:lumMod val="20000"/>
                    <a:lumOff val="80000"/>
                  </a:schemeClr>
                </a:solidFill>
              </a:rPr>
              <a:t> </a:t>
            </a:r>
            <a:r>
              <a:rPr lang="de-CH" sz="2400" dirty="0" err="1" smtClean="0">
                <a:solidFill>
                  <a:schemeClr val="tx2">
                    <a:lumMod val="20000"/>
                    <a:lumOff val="80000"/>
                  </a:schemeClr>
                </a:solidFill>
              </a:rPr>
              <a:t>between</a:t>
            </a:r>
            <a:r>
              <a:rPr lang="de-CH" sz="2400" dirty="0" smtClean="0">
                <a:solidFill>
                  <a:schemeClr val="tx2">
                    <a:lumMod val="20000"/>
                    <a:lumOff val="80000"/>
                  </a:schemeClr>
                </a:solidFill>
              </a:rPr>
              <a:t> </a:t>
            </a:r>
            <a:r>
              <a:rPr lang="de-CH" sz="2400" dirty="0" err="1" smtClean="0">
                <a:solidFill>
                  <a:schemeClr val="tx2">
                    <a:lumMod val="20000"/>
                    <a:lumOff val="80000"/>
                  </a:schemeClr>
                </a:solidFill>
              </a:rPr>
              <a:t>them</a:t>
            </a:r>
            <a:endParaRPr lang="de-CH" sz="2400" dirty="0" smtClean="0">
              <a:solidFill>
                <a:schemeClr val="tx2">
                  <a:lumMod val="20000"/>
                  <a:lumOff val="80000"/>
                </a:schemeClr>
              </a:solidFill>
            </a:endParaRPr>
          </a:p>
          <a:p>
            <a:pPr marL="285750" indent="-285750">
              <a:buFont typeface="Arial" panose="020B0604020202020204" pitchFamily="34" charset="0"/>
              <a:buChar char="•"/>
            </a:pPr>
            <a:r>
              <a:rPr lang="de-CH" sz="2400" dirty="0" smtClean="0">
                <a:solidFill>
                  <a:schemeClr val="tx2">
                    <a:lumMod val="20000"/>
                    <a:lumOff val="80000"/>
                  </a:schemeClr>
                </a:solidFill>
              </a:rPr>
              <a:t>The </a:t>
            </a:r>
            <a:r>
              <a:rPr lang="de-CH" sz="2400" b="1" dirty="0" err="1" smtClean="0">
                <a:solidFill>
                  <a:schemeClr val="tx2">
                    <a:lumMod val="20000"/>
                    <a:lumOff val="80000"/>
                  </a:schemeClr>
                </a:solidFill>
              </a:rPr>
              <a:t>Distance</a:t>
            </a:r>
            <a:r>
              <a:rPr lang="de-CH" sz="2400" b="1" dirty="0" smtClean="0">
                <a:solidFill>
                  <a:schemeClr val="tx2">
                    <a:lumMod val="20000"/>
                    <a:lumOff val="80000"/>
                  </a:schemeClr>
                </a:solidFill>
              </a:rPr>
              <a:t> </a:t>
            </a:r>
            <a:r>
              <a:rPr lang="de-CH" sz="2400" b="1" dirty="0" err="1" smtClean="0">
                <a:solidFill>
                  <a:schemeClr val="tx2">
                    <a:lumMod val="20000"/>
                    <a:lumOff val="80000"/>
                  </a:schemeClr>
                </a:solidFill>
              </a:rPr>
              <a:t>measure</a:t>
            </a:r>
            <a:r>
              <a:rPr lang="de-CH" sz="2400" b="1" dirty="0" smtClean="0">
                <a:solidFill>
                  <a:schemeClr val="tx2">
                    <a:lumMod val="20000"/>
                    <a:lumOff val="80000"/>
                  </a:schemeClr>
                </a:solidFill>
              </a:rPr>
              <a:t> </a:t>
            </a:r>
            <a:r>
              <a:rPr lang="de-CH" sz="2400" dirty="0" err="1" smtClean="0">
                <a:solidFill>
                  <a:schemeClr val="tx2">
                    <a:lumMod val="20000"/>
                    <a:lumOff val="80000"/>
                  </a:schemeClr>
                </a:solidFill>
              </a:rPr>
              <a:t>can</a:t>
            </a:r>
            <a:r>
              <a:rPr lang="de-CH" sz="2400" dirty="0" smtClean="0">
                <a:solidFill>
                  <a:schemeClr val="tx2">
                    <a:lumMod val="20000"/>
                    <a:lumOff val="80000"/>
                  </a:schemeClr>
                </a:solidFill>
              </a:rPr>
              <a:t> </a:t>
            </a:r>
            <a:r>
              <a:rPr lang="de-CH" sz="2400" dirty="0" err="1" smtClean="0">
                <a:solidFill>
                  <a:schemeClr val="tx2">
                    <a:lumMod val="20000"/>
                    <a:lumOff val="80000"/>
                  </a:schemeClr>
                </a:solidFill>
              </a:rPr>
              <a:t>either</a:t>
            </a:r>
            <a:r>
              <a:rPr lang="de-CH" sz="2400" dirty="0" smtClean="0">
                <a:solidFill>
                  <a:schemeClr val="tx2">
                    <a:lumMod val="20000"/>
                    <a:lumOff val="80000"/>
                  </a:schemeClr>
                </a:solidFill>
              </a:rPr>
              <a:t> </a:t>
            </a:r>
            <a:r>
              <a:rPr lang="de-CH" sz="2400" dirty="0" err="1" smtClean="0">
                <a:solidFill>
                  <a:schemeClr val="tx2">
                    <a:lumMod val="20000"/>
                    <a:lumOff val="80000"/>
                  </a:schemeClr>
                </a:solidFill>
              </a:rPr>
              <a:t>be</a:t>
            </a:r>
            <a:r>
              <a:rPr lang="de-CH" sz="2400" dirty="0" smtClean="0">
                <a:solidFill>
                  <a:schemeClr val="tx2">
                    <a:lumMod val="20000"/>
                    <a:lumOff val="80000"/>
                  </a:schemeClr>
                </a:solidFill>
              </a:rPr>
              <a:t> </a:t>
            </a:r>
            <a:r>
              <a:rPr lang="de-CH" sz="2400" b="1" dirty="0" err="1" smtClean="0">
                <a:solidFill>
                  <a:schemeClr val="tx2">
                    <a:lumMod val="20000"/>
                    <a:lumOff val="80000"/>
                  </a:schemeClr>
                </a:solidFill>
              </a:rPr>
              <a:t>euclidean</a:t>
            </a:r>
            <a:r>
              <a:rPr lang="de-CH" sz="2400" b="1" dirty="0" smtClean="0">
                <a:solidFill>
                  <a:schemeClr val="tx2">
                    <a:lumMod val="20000"/>
                    <a:lumOff val="80000"/>
                  </a:schemeClr>
                </a:solidFill>
              </a:rPr>
              <a:t>, </a:t>
            </a:r>
            <a:r>
              <a:rPr lang="de-CH" sz="2400" b="1" dirty="0" err="1" smtClean="0">
                <a:solidFill>
                  <a:schemeClr val="tx2">
                    <a:lumMod val="20000"/>
                    <a:lumOff val="80000"/>
                  </a:schemeClr>
                </a:solidFill>
              </a:rPr>
              <a:t>squared</a:t>
            </a:r>
            <a:r>
              <a:rPr lang="de-CH" sz="2400" b="1" dirty="0" smtClean="0">
                <a:solidFill>
                  <a:schemeClr val="tx2">
                    <a:lumMod val="20000"/>
                    <a:lumOff val="80000"/>
                  </a:schemeClr>
                </a:solidFill>
              </a:rPr>
              <a:t> </a:t>
            </a:r>
            <a:r>
              <a:rPr lang="de-CH" sz="2400" b="1" dirty="0" err="1" smtClean="0">
                <a:solidFill>
                  <a:schemeClr val="tx2">
                    <a:lumMod val="20000"/>
                    <a:lumOff val="80000"/>
                  </a:schemeClr>
                </a:solidFill>
              </a:rPr>
              <a:t>euclidean</a:t>
            </a:r>
            <a:r>
              <a:rPr lang="de-CH" sz="2400" b="1" dirty="0" smtClean="0">
                <a:solidFill>
                  <a:schemeClr val="tx2">
                    <a:lumMod val="20000"/>
                    <a:lumOff val="80000"/>
                  </a:schemeClr>
                </a:solidFill>
              </a:rPr>
              <a:t>, </a:t>
            </a:r>
            <a:r>
              <a:rPr lang="de-CH" sz="2400" b="1" dirty="0" err="1" smtClean="0">
                <a:solidFill>
                  <a:schemeClr val="tx2">
                    <a:lumMod val="20000"/>
                    <a:lumOff val="80000"/>
                  </a:schemeClr>
                </a:solidFill>
              </a:rPr>
              <a:t>manhattan</a:t>
            </a:r>
            <a:r>
              <a:rPr lang="de-CH" sz="2400" b="1" dirty="0" smtClean="0">
                <a:solidFill>
                  <a:schemeClr val="tx2">
                    <a:lumMod val="20000"/>
                    <a:lumOff val="80000"/>
                  </a:schemeClr>
                </a:solidFill>
              </a:rPr>
              <a:t> </a:t>
            </a:r>
            <a:r>
              <a:rPr lang="de-CH" sz="2400" b="1" dirty="0" err="1" smtClean="0">
                <a:solidFill>
                  <a:schemeClr val="tx2">
                    <a:lumMod val="20000"/>
                    <a:lumOff val="80000"/>
                  </a:schemeClr>
                </a:solidFill>
              </a:rPr>
              <a:t>or</a:t>
            </a:r>
            <a:r>
              <a:rPr lang="de-CH" sz="2400" b="1" dirty="0" smtClean="0">
                <a:solidFill>
                  <a:schemeClr val="tx2">
                    <a:lumMod val="20000"/>
                    <a:lumOff val="80000"/>
                  </a:schemeClr>
                </a:solidFill>
              </a:rPr>
              <a:t> </a:t>
            </a:r>
            <a:r>
              <a:rPr lang="de-CH" sz="2400" b="1" dirty="0" err="1" smtClean="0">
                <a:solidFill>
                  <a:schemeClr val="tx2">
                    <a:lumMod val="20000"/>
                    <a:lumOff val="80000"/>
                  </a:schemeClr>
                </a:solidFill>
              </a:rPr>
              <a:t>cosine</a:t>
            </a:r>
            <a:endParaRPr lang="de-CH" sz="2400" b="1" dirty="0">
              <a:solidFill>
                <a:schemeClr val="tx2">
                  <a:lumMod val="20000"/>
                  <a:lumOff val="80000"/>
                </a:schemeClr>
              </a:solidFill>
            </a:endParaRPr>
          </a:p>
        </p:txBody>
      </p:sp>
    </p:spTree>
    <p:extLst>
      <p:ext uri="{BB962C8B-B14F-4D97-AF65-F5344CB8AC3E}">
        <p14:creationId xmlns:p14="http://schemas.microsoft.com/office/powerpoint/2010/main" val="340407253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3" name="Title 2"/>
          <p:cNvSpPr>
            <a:spLocks noGrp="1"/>
          </p:cNvSpPr>
          <p:nvPr>
            <p:ph type="title"/>
          </p:nvPr>
        </p:nvSpPr>
        <p:spPr>
          <a:xfrm>
            <a:off x="237744" y="217467"/>
            <a:ext cx="11954256" cy="400433"/>
          </a:xfrm>
        </p:spPr>
        <p:txBody>
          <a:bodyPr/>
          <a:lstStyle/>
          <a:p>
            <a:r>
              <a:rPr lang="de-CH" sz="2800" dirty="0" smtClean="0">
                <a:latin typeface="+mn-lt"/>
              </a:rPr>
              <a:t>Sobol </a:t>
            </a:r>
            <a:r>
              <a:rPr lang="de-CH" sz="2800" dirty="0" err="1" smtClean="0">
                <a:latin typeface="+mn-lt"/>
              </a:rPr>
              <a:t>indices</a:t>
            </a:r>
            <a:r>
              <a:rPr lang="de-CH" sz="2800" dirty="0" smtClean="0">
                <a:latin typeface="+mn-lt"/>
              </a:rPr>
              <a:t> </a:t>
            </a:r>
            <a:r>
              <a:rPr lang="de-CH" sz="2800" dirty="0" err="1" smtClean="0">
                <a:latin typeface="+mn-lt"/>
              </a:rPr>
              <a:t>for</a:t>
            </a:r>
            <a:r>
              <a:rPr lang="de-CH" sz="2800" dirty="0" smtClean="0">
                <a:latin typeface="+mn-lt"/>
              </a:rPr>
              <a:t> 35 </a:t>
            </a:r>
            <a:r>
              <a:rPr lang="de-CH" sz="2800" dirty="0" err="1" smtClean="0">
                <a:latin typeface="+mn-lt"/>
              </a:rPr>
              <a:t>settings</a:t>
            </a:r>
            <a:r>
              <a:rPr lang="de-CH" sz="2800" dirty="0" smtClean="0">
                <a:latin typeface="+mn-lt"/>
              </a:rPr>
              <a:t>  after </a:t>
            </a:r>
            <a:r>
              <a:rPr lang="de-CH" sz="2800" dirty="0" err="1" smtClean="0">
                <a:latin typeface="+mn-lt"/>
              </a:rPr>
              <a:t>integrating</a:t>
            </a:r>
            <a:r>
              <a:rPr lang="de-CH" sz="2800" dirty="0" smtClean="0">
                <a:latin typeface="+mn-lt"/>
              </a:rPr>
              <a:t> </a:t>
            </a:r>
            <a:r>
              <a:rPr lang="de-CH" sz="2800" dirty="0" err="1" smtClean="0">
                <a:latin typeface="+mn-lt"/>
              </a:rPr>
              <a:t>the</a:t>
            </a:r>
            <a:r>
              <a:rPr lang="de-CH" sz="2800" dirty="0" smtClean="0">
                <a:latin typeface="+mn-lt"/>
              </a:rPr>
              <a:t> </a:t>
            </a:r>
            <a:r>
              <a:rPr lang="de-CH" sz="2800" dirty="0" err="1" smtClean="0">
                <a:latin typeface="+mn-lt"/>
              </a:rPr>
              <a:t>above</a:t>
            </a:r>
            <a:r>
              <a:rPr lang="de-CH" sz="2800" dirty="0" smtClean="0">
                <a:latin typeface="+mn-lt"/>
              </a:rPr>
              <a:t> </a:t>
            </a:r>
            <a:r>
              <a:rPr lang="de-CH" sz="2800" dirty="0" err="1" smtClean="0">
                <a:latin typeface="+mn-lt"/>
              </a:rPr>
              <a:t>findings</a:t>
            </a:r>
            <a:r>
              <a:rPr lang="de-CH" sz="2800" dirty="0" smtClean="0">
                <a:latin typeface="+mn-lt"/>
              </a:rPr>
              <a:t> in </a:t>
            </a:r>
            <a:r>
              <a:rPr lang="de-CH" sz="2800" dirty="0" err="1" smtClean="0">
                <a:latin typeface="+mn-lt"/>
              </a:rPr>
              <a:t>the</a:t>
            </a:r>
            <a:r>
              <a:rPr lang="de-CH" sz="2800" dirty="0" smtClean="0">
                <a:latin typeface="+mn-lt"/>
              </a:rPr>
              <a:t> </a:t>
            </a:r>
            <a:r>
              <a:rPr lang="de-CH" sz="2800" dirty="0" err="1">
                <a:latin typeface="+mn-lt"/>
              </a:rPr>
              <a:t>existing</a:t>
            </a:r>
            <a:r>
              <a:rPr lang="de-CH" sz="2800" dirty="0">
                <a:latin typeface="+mn-lt"/>
              </a:rPr>
              <a:t> </a:t>
            </a:r>
            <a:r>
              <a:rPr lang="de-CH" sz="2800" dirty="0" err="1">
                <a:latin typeface="+mn-lt"/>
              </a:rPr>
              <a:t>workflow</a:t>
            </a:r>
            <a:r>
              <a:rPr lang="de-CH" sz="2800" dirty="0" smtClean="0">
                <a:latin typeface="+mn-lt"/>
              </a:rPr>
              <a:t> </a:t>
            </a:r>
            <a:endParaRPr lang="de-CH" sz="2800" dirty="0">
              <a:latin typeface="+mn-lt"/>
            </a:endParaRPr>
          </a:p>
        </p:txBody>
      </p:sp>
      <p:sp>
        <p:nvSpPr>
          <p:cNvPr id="7" name="TextBox 6"/>
          <p:cNvSpPr txBox="1"/>
          <p:nvPr/>
        </p:nvSpPr>
        <p:spPr>
          <a:xfrm>
            <a:off x="237744" y="782489"/>
            <a:ext cx="5328412" cy="1631216"/>
          </a:xfrm>
          <a:prstGeom prst="rect">
            <a:avLst/>
          </a:prstGeom>
          <a:noFill/>
        </p:spPr>
        <p:txBody>
          <a:bodyPr wrap="square" rtlCol="0">
            <a:spAutoFit/>
          </a:bodyPr>
          <a:lstStyle/>
          <a:p>
            <a:r>
              <a:rPr lang="en-US" sz="2000" b="1" dirty="0" err="1" smtClean="0"/>
              <a:t>Sobol</a:t>
            </a:r>
            <a:r>
              <a:rPr lang="en-US" sz="2000" b="1" dirty="0" smtClean="0"/>
              <a:t> sensitivity results </a:t>
            </a:r>
            <a:r>
              <a:rPr lang="en-US" sz="2000" dirty="0" smtClean="0"/>
              <a:t>show the </a:t>
            </a:r>
            <a:r>
              <a:rPr lang="en-US" sz="2000" b="1" dirty="0"/>
              <a:t>first order </a:t>
            </a:r>
            <a:r>
              <a:rPr lang="en-US" sz="2000" b="1" dirty="0" smtClean="0"/>
              <a:t>indices </a:t>
            </a:r>
            <a:r>
              <a:rPr lang="en-US" sz="2000" dirty="0"/>
              <a:t>of intervention coverage </a:t>
            </a:r>
            <a:r>
              <a:rPr lang="en-US" sz="2000" dirty="0" smtClean="0"/>
              <a:t>which allows </a:t>
            </a:r>
            <a:r>
              <a:rPr lang="en-US" sz="2000" dirty="0"/>
              <a:t>to </a:t>
            </a:r>
            <a:r>
              <a:rPr lang="en-US" sz="2000" b="1" dirty="0" smtClean="0"/>
              <a:t>rank </a:t>
            </a:r>
            <a:r>
              <a:rPr lang="en-US" sz="2000" b="1" dirty="0"/>
              <a:t>for each setting </a:t>
            </a:r>
            <a:r>
              <a:rPr lang="en-US" sz="2000" dirty="0"/>
              <a:t>which </a:t>
            </a:r>
            <a:r>
              <a:rPr lang="en-US" sz="2000" b="1" dirty="0"/>
              <a:t>intervention</a:t>
            </a:r>
            <a:r>
              <a:rPr lang="en-US" sz="2000" dirty="0"/>
              <a:t> is </a:t>
            </a:r>
            <a:r>
              <a:rPr lang="en-US" sz="2000" b="1" dirty="0"/>
              <a:t>most sensitive</a:t>
            </a:r>
            <a:r>
              <a:rPr lang="en-US" sz="2000" dirty="0"/>
              <a:t> to perturbation regarding the </a:t>
            </a:r>
            <a:r>
              <a:rPr lang="en-US" sz="2000" dirty="0" smtClean="0"/>
              <a:t>impact on prevalence reduction (by 2026).</a:t>
            </a:r>
            <a:endParaRPr lang="de-CH" sz="2000" dirty="0"/>
          </a:p>
        </p:txBody>
      </p:sp>
      <p:pic>
        <p:nvPicPr>
          <p:cNvPr id="9" name="Picture 8"/>
          <p:cNvPicPr>
            <a:picLocks noChangeAspect="1"/>
          </p:cNvPicPr>
          <p:nvPr/>
        </p:nvPicPr>
        <p:blipFill>
          <a:blip r:embed="rId3"/>
          <a:stretch>
            <a:fillRect/>
          </a:stretch>
        </p:blipFill>
        <p:spPr>
          <a:xfrm>
            <a:off x="5751924" y="324653"/>
            <a:ext cx="6044066" cy="6533347"/>
          </a:xfrm>
          <a:prstGeom prst="rect">
            <a:avLst/>
          </a:prstGeom>
        </p:spPr>
      </p:pic>
      <p:sp>
        <p:nvSpPr>
          <p:cNvPr id="5" name="TextBox 4"/>
          <p:cNvSpPr txBox="1"/>
          <p:nvPr/>
        </p:nvSpPr>
        <p:spPr>
          <a:xfrm>
            <a:off x="160742" y="2413705"/>
            <a:ext cx="5591182" cy="2862322"/>
          </a:xfrm>
          <a:prstGeom prst="rect">
            <a:avLst/>
          </a:prstGeom>
          <a:noFill/>
        </p:spPr>
        <p:txBody>
          <a:bodyPr wrap="square" rtlCol="0">
            <a:spAutoFit/>
          </a:bodyPr>
          <a:lstStyle/>
          <a:p>
            <a:pPr marL="285750" indent="-285750">
              <a:buFont typeface="Arial" panose="020B0604020202020204" pitchFamily="34" charset="0"/>
              <a:buChar char="•"/>
            </a:pPr>
            <a:r>
              <a:rPr lang="en-US" dirty="0" smtClean="0"/>
              <a:t>In terms of prioritization, this work it gives us an idea of what interventions to keep and whether coverage should be high or not</a:t>
            </a:r>
          </a:p>
          <a:p>
            <a:endParaRPr lang="en-US" dirty="0" smtClean="0"/>
          </a:p>
          <a:p>
            <a:pPr marL="285750" indent="-285750">
              <a:buFont typeface="Arial" panose="020B0604020202020204" pitchFamily="34" charset="0"/>
              <a:buChar char="•"/>
            </a:pPr>
            <a:r>
              <a:rPr lang="en-US" dirty="0" smtClean="0"/>
              <a:t>We need to include vaccines for some settings</a:t>
            </a:r>
          </a:p>
          <a:p>
            <a:pPr marL="285750" indent="-285750">
              <a:buFont typeface="Arial" panose="020B0604020202020204" pitchFamily="34" charset="0"/>
              <a:buChar char="•"/>
            </a:pPr>
            <a:r>
              <a:rPr lang="en-US" dirty="0" smtClean="0"/>
              <a:t>Policy question: where should we put our efforts? Is </a:t>
            </a:r>
            <a:r>
              <a:rPr lang="en-US" dirty="0" err="1" smtClean="0"/>
              <a:t>prev</a:t>
            </a:r>
            <a:r>
              <a:rPr lang="en-US" dirty="0" smtClean="0"/>
              <a:t> reduction more prone to loose impact if we maintain coverages of LLIN or SMC?</a:t>
            </a:r>
          </a:p>
          <a:p>
            <a:pPr marL="285750" indent="-285750">
              <a:buFont typeface="Arial" panose="020B0604020202020204" pitchFamily="34" charset="0"/>
              <a:buChar char="•"/>
            </a:pPr>
            <a:r>
              <a:rPr lang="en-US" dirty="0" smtClean="0"/>
              <a:t>Get more realistic ranges for RTSS and others</a:t>
            </a:r>
          </a:p>
          <a:p>
            <a:pPr marL="285750" indent="-285750">
              <a:buFont typeface="Arial" panose="020B0604020202020204" pitchFamily="34" charset="0"/>
              <a:buChar char="•"/>
            </a:pPr>
            <a:r>
              <a:rPr lang="en-US" dirty="0" smtClean="0"/>
              <a:t>Net2021 was the last campaign </a:t>
            </a:r>
            <a:endParaRPr lang="de-CH" dirty="0"/>
          </a:p>
        </p:txBody>
      </p:sp>
    </p:spTree>
    <p:extLst>
      <p:ext uri="{BB962C8B-B14F-4D97-AF65-F5344CB8AC3E}">
        <p14:creationId xmlns:p14="http://schemas.microsoft.com/office/powerpoint/2010/main" val="2565914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3" name="Title 2"/>
          <p:cNvSpPr>
            <a:spLocks noGrp="1"/>
          </p:cNvSpPr>
          <p:nvPr>
            <p:ph type="title"/>
          </p:nvPr>
        </p:nvSpPr>
        <p:spPr>
          <a:xfrm>
            <a:off x="237744" y="217467"/>
            <a:ext cx="11954256" cy="400433"/>
          </a:xfrm>
        </p:spPr>
        <p:txBody>
          <a:bodyPr/>
          <a:lstStyle/>
          <a:p>
            <a:r>
              <a:rPr lang="de-CH" sz="2800" dirty="0" smtClean="0">
                <a:latin typeface="+mn-lt"/>
              </a:rPr>
              <a:t>Sobol </a:t>
            </a:r>
            <a:r>
              <a:rPr lang="de-CH" sz="2800" dirty="0" err="1" smtClean="0">
                <a:latin typeface="+mn-lt"/>
              </a:rPr>
              <a:t>indices</a:t>
            </a:r>
            <a:r>
              <a:rPr lang="de-CH" sz="2800" dirty="0" smtClean="0">
                <a:latin typeface="+mn-lt"/>
              </a:rPr>
              <a:t> </a:t>
            </a:r>
            <a:r>
              <a:rPr lang="de-CH" sz="2800" dirty="0" err="1" smtClean="0">
                <a:latin typeface="+mn-lt"/>
              </a:rPr>
              <a:t>for</a:t>
            </a:r>
            <a:r>
              <a:rPr lang="de-CH" sz="2800" dirty="0" smtClean="0">
                <a:latin typeface="+mn-lt"/>
              </a:rPr>
              <a:t> 35 </a:t>
            </a:r>
            <a:r>
              <a:rPr lang="de-CH" sz="2800" dirty="0" err="1" smtClean="0">
                <a:latin typeface="+mn-lt"/>
              </a:rPr>
              <a:t>settings</a:t>
            </a:r>
            <a:r>
              <a:rPr lang="de-CH" sz="2800" dirty="0" smtClean="0">
                <a:latin typeface="+mn-lt"/>
              </a:rPr>
              <a:t>  after </a:t>
            </a:r>
            <a:r>
              <a:rPr lang="de-CH" sz="2800" dirty="0" err="1" smtClean="0">
                <a:latin typeface="+mn-lt"/>
              </a:rPr>
              <a:t>integrating</a:t>
            </a:r>
            <a:r>
              <a:rPr lang="de-CH" sz="2800" dirty="0" smtClean="0">
                <a:latin typeface="+mn-lt"/>
              </a:rPr>
              <a:t> </a:t>
            </a:r>
            <a:r>
              <a:rPr lang="de-CH" sz="2800" dirty="0" err="1" smtClean="0">
                <a:latin typeface="+mn-lt"/>
              </a:rPr>
              <a:t>the</a:t>
            </a:r>
            <a:r>
              <a:rPr lang="de-CH" sz="2800" dirty="0" smtClean="0">
                <a:latin typeface="+mn-lt"/>
              </a:rPr>
              <a:t> </a:t>
            </a:r>
            <a:r>
              <a:rPr lang="de-CH" sz="2800" dirty="0" err="1" smtClean="0">
                <a:latin typeface="+mn-lt"/>
              </a:rPr>
              <a:t>above</a:t>
            </a:r>
            <a:r>
              <a:rPr lang="de-CH" sz="2800" dirty="0" smtClean="0">
                <a:latin typeface="+mn-lt"/>
              </a:rPr>
              <a:t> </a:t>
            </a:r>
            <a:r>
              <a:rPr lang="de-CH" sz="2800" dirty="0" err="1" smtClean="0">
                <a:latin typeface="+mn-lt"/>
              </a:rPr>
              <a:t>findings</a:t>
            </a:r>
            <a:r>
              <a:rPr lang="de-CH" sz="2800" dirty="0" smtClean="0">
                <a:latin typeface="+mn-lt"/>
              </a:rPr>
              <a:t> in </a:t>
            </a:r>
            <a:r>
              <a:rPr lang="de-CH" sz="2800" dirty="0" err="1" smtClean="0">
                <a:latin typeface="+mn-lt"/>
              </a:rPr>
              <a:t>the</a:t>
            </a:r>
            <a:r>
              <a:rPr lang="de-CH" sz="2800" dirty="0" smtClean="0">
                <a:latin typeface="+mn-lt"/>
              </a:rPr>
              <a:t> </a:t>
            </a:r>
            <a:r>
              <a:rPr lang="de-CH" sz="2800" dirty="0" err="1">
                <a:latin typeface="+mn-lt"/>
              </a:rPr>
              <a:t>existing</a:t>
            </a:r>
            <a:r>
              <a:rPr lang="de-CH" sz="2800" dirty="0">
                <a:latin typeface="+mn-lt"/>
              </a:rPr>
              <a:t> </a:t>
            </a:r>
            <a:r>
              <a:rPr lang="de-CH" sz="2800" dirty="0" err="1">
                <a:latin typeface="+mn-lt"/>
              </a:rPr>
              <a:t>workflow</a:t>
            </a:r>
            <a:r>
              <a:rPr lang="de-CH" sz="2800" dirty="0" smtClean="0">
                <a:latin typeface="+mn-lt"/>
              </a:rPr>
              <a:t> </a:t>
            </a:r>
            <a:endParaRPr lang="de-CH" sz="2800" dirty="0">
              <a:latin typeface="+mn-lt"/>
            </a:endParaRPr>
          </a:p>
        </p:txBody>
      </p:sp>
      <p:pic>
        <p:nvPicPr>
          <p:cNvPr id="9" name="Picture 8"/>
          <p:cNvPicPr>
            <a:picLocks noChangeAspect="1"/>
          </p:cNvPicPr>
          <p:nvPr/>
        </p:nvPicPr>
        <p:blipFill>
          <a:blip r:embed="rId3"/>
          <a:stretch>
            <a:fillRect/>
          </a:stretch>
        </p:blipFill>
        <p:spPr>
          <a:xfrm>
            <a:off x="170806" y="247651"/>
            <a:ext cx="6044066" cy="6533347"/>
          </a:xfrm>
          <a:prstGeom prst="rect">
            <a:avLst/>
          </a:prstGeom>
        </p:spPr>
      </p:pic>
      <p:pic>
        <p:nvPicPr>
          <p:cNvPr id="2" name="Picture 1"/>
          <p:cNvPicPr>
            <a:picLocks noChangeAspect="1"/>
          </p:cNvPicPr>
          <p:nvPr/>
        </p:nvPicPr>
        <p:blipFill>
          <a:blip r:embed="rId4"/>
          <a:stretch>
            <a:fillRect/>
          </a:stretch>
        </p:blipFill>
        <p:spPr>
          <a:xfrm>
            <a:off x="6214873" y="506893"/>
            <a:ext cx="6346096" cy="6022695"/>
          </a:xfrm>
          <a:prstGeom prst="rect">
            <a:avLst/>
          </a:prstGeom>
        </p:spPr>
      </p:pic>
    </p:spTree>
    <p:extLst>
      <p:ext uri="{BB962C8B-B14F-4D97-AF65-F5344CB8AC3E}">
        <p14:creationId xmlns:p14="http://schemas.microsoft.com/office/powerpoint/2010/main" val="236499119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3" name="Title 2"/>
          <p:cNvSpPr>
            <a:spLocks noGrp="1"/>
          </p:cNvSpPr>
          <p:nvPr>
            <p:ph type="title"/>
          </p:nvPr>
        </p:nvSpPr>
        <p:spPr>
          <a:xfrm>
            <a:off x="237744" y="217467"/>
            <a:ext cx="11954256" cy="400433"/>
          </a:xfrm>
        </p:spPr>
        <p:txBody>
          <a:bodyPr/>
          <a:lstStyle/>
          <a:p>
            <a:r>
              <a:rPr lang="de-CH" sz="2800" dirty="0" smtClean="0">
                <a:latin typeface="+mn-lt"/>
              </a:rPr>
              <a:t>Sobol </a:t>
            </a:r>
            <a:r>
              <a:rPr lang="de-CH" sz="2800" dirty="0" err="1" smtClean="0">
                <a:latin typeface="+mn-lt"/>
              </a:rPr>
              <a:t>indices</a:t>
            </a:r>
            <a:r>
              <a:rPr lang="de-CH" sz="2800" dirty="0" smtClean="0">
                <a:latin typeface="+mn-lt"/>
              </a:rPr>
              <a:t> </a:t>
            </a:r>
            <a:r>
              <a:rPr lang="de-CH" sz="2800" dirty="0" err="1" smtClean="0">
                <a:latin typeface="+mn-lt"/>
              </a:rPr>
              <a:t>for</a:t>
            </a:r>
            <a:r>
              <a:rPr lang="de-CH" sz="2800" dirty="0" smtClean="0">
                <a:latin typeface="+mn-lt"/>
              </a:rPr>
              <a:t> 35 </a:t>
            </a:r>
            <a:r>
              <a:rPr lang="de-CH" sz="2800" dirty="0" err="1" smtClean="0">
                <a:latin typeface="+mn-lt"/>
              </a:rPr>
              <a:t>settings</a:t>
            </a:r>
            <a:r>
              <a:rPr lang="de-CH" sz="2800" dirty="0" smtClean="0">
                <a:latin typeface="+mn-lt"/>
              </a:rPr>
              <a:t>  after </a:t>
            </a:r>
            <a:r>
              <a:rPr lang="de-CH" sz="2800" dirty="0" err="1" smtClean="0">
                <a:latin typeface="+mn-lt"/>
              </a:rPr>
              <a:t>integrating</a:t>
            </a:r>
            <a:r>
              <a:rPr lang="de-CH" sz="2800" dirty="0" smtClean="0">
                <a:latin typeface="+mn-lt"/>
              </a:rPr>
              <a:t> </a:t>
            </a:r>
            <a:r>
              <a:rPr lang="de-CH" sz="2800" dirty="0" err="1" smtClean="0">
                <a:latin typeface="+mn-lt"/>
              </a:rPr>
              <a:t>the</a:t>
            </a:r>
            <a:r>
              <a:rPr lang="de-CH" sz="2800" dirty="0" smtClean="0">
                <a:latin typeface="+mn-lt"/>
              </a:rPr>
              <a:t> </a:t>
            </a:r>
            <a:r>
              <a:rPr lang="de-CH" sz="2800" dirty="0" err="1" smtClean="0">
                <a:latin typeface="+mn-lt"/>
              </a:rPr>
              <a:t>above</a:t>
            </a:r>
            <a:r>
              <a:rPr lang="de-CH" sz="2800" dirty="0" smtClean="0">
                <a:latin typeface="+mn-lt"/>
              </a:rPr>
              <a:t> </a:t>
            </a:r>
            <a:r>
              <a:rPr lang="de-CH" sz="2800" dirty="0" err="1" smtClean="0">
                <a:latin typeface="+mn-lt"/>
              </a:rPr>
              <a:t>findings</a:t>
            </a:r>
            <a:r>
              <a:rPr lang="de-CH" sz="2800" dirty="0" smtClean="0">
                <a:latin typeface="+mn-lt"/>
              </a:rPr>
              <a:t> in </a:t>
            </a:r>
            <a:r>
              <a:rPr lang="de-CH" sz="2800" dirty="0" err="1" smtClean="0">
                <a:latin typeface="+mn-lt"/>
              </a:rPr>
              <a:t>the</a:t>
            </a:r>
            <a:r>
              <a:rPr lang="de-CH" sz="2800" dirty="0" smtClean="0">
                <a:latin typeface="+mn-lt"/>
              </a:rPr>
              <a:t> </a:t>
            </a:r>
            <a:r>
              <a:rPr lang="de-CH" sz="2800" dirty="0" err="1">
                <a:latin typeface="+mn-lt"/>
              </a:rPr>
              <a:t>existing</a:t>
            </a:r>
            <a:r>
              <a:rPr lang="de-CH" sz="2800" dirty="0">
                <a:latin typeface="+mn-lt"/>
              </a:rPr>
              <a:t> </a:t>
            </a:r>
            <a:r>
              <a:rPr lang="de-CH" sz="2800" dirty="0" err="1">
                <a:latin typeface="+mn-lt"/>
              </a:rPr>
              <a:t>workflow</a:t>
            </a:r>
            <a:r>
              <a:rPr lang="de-CH" sz="2800" dirty="0" smtClean="0">
                <a:latin typeface="+mn-lt"/>
              </a:rPr>
              <a:t> </a:t>
            </a:r>
            <a:endParaRPr lang="de-CH" sz="2800" dirty="0">
              <a:latin typeface="+mn-lt"/>
            </a:endParaRPr>
          </a:p>
        </p:txBody>
      </p:sp>
      <p:pic>
        <p:nvPicPr>
          <p:cNvPr id="5" name="Picture 4"/>
          <p:cNvPicPr>
            <a:picLocks noChangeAspect="1"/>
          </p:cNvPicPr>
          <p:nvPr/>
        </p:nvPicPr>
        <p:blipFill>
          <a:blip r:embed="rId3"/>
          <a:stretch>
            <a:fillRect/>
          </a:stretch>
        </p:blipFill>
        <p:spPr>
          <a:xfrm>
            <a:off x="93146" y="866274"/>
            <a:ext cx="12243451" cy="5895474"/>
          </a:xfrm>
          <a:prstGeom prst="rect">
            <a:avLst/>
          </a:prstGeom>
        </p:spPr>
      </p:pic>
    </p:spTree>
    <p:extLst>
      <p:ext uri="{BB962C8B-B14F-4D97-AF65-F5344CB8AC3E}">
        <p14:creationId xmlns:p14="http://schemas.microsoft.com/office/powerpoint/2010/main" val="232623403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3" name="Title 2"/>
          <p:cNvSpPr>
            <a:spLocks noGrp="1"/>
          </p:cNvSpPr>
          <p:nvPr>
            <p:ph type="title"/>
          </p:nvPr>
        </p:nvSpPr>
        <p:spPr>
          <a:xfrm>
            <a:off x="237744" y="217467"/>
            <a:ext cx="11954256" cy="400433"/>
          </a:xfrm>
        </p:spPr>
        <p:txBody>
          <a:bodyPr/>
          <a:lstStyle/>
          <a:p>
            <a:r>
              <a:rPr lang="de-CH" sz="2800" dirty="0" smtClean="0">
                <a:latin typeface="+mn-lt"/>
              </a:rPr>
              <a:t>Sobol </a:t>
            </a:r>
            <a:r>
              <a:rPr lang="de-CH" sz="2800" dirty="0" err="1" smtClean="0">
                <a:latin typeface="+mn-lt"/>
              </a:rPr>
              <a:t>indices</a:t>
            </a:r>
            <a:r>
              <a:rPr lang="de-CH" sz="2800" dirty="0" smtClean="0">
                <a:latin typeface="+mn-lt"/>
              </a:rPr>
              <a:t> </a:t>
            </a:r>
            <a:r>
              <a:rPr lang="de-CH" sz="2800" dirty="0" err="1" smtClean="0">
                <a:latin typeface="+mn-lt"/>
              </a:rPr>
              <a:t>for</a:t>
            </a:r>
            <a:r>
              <a:rPr lang="de-CH" sz="2800" dirty="0" smtClean="0">
                <a:latin typeface="+mn-lt"/>
              </a:rPr>
              <a:t> 35 </a:t>
            </a:r>
            <a:r>
              <a:rPr lang="de-CH" sz="2800" dirty="0" err="1" smtClean="0">
                <a:latin typeface="+mn-lt"/>
              </a:rPr>
              <a:t>settings</a:t>
            </a:r>
            <a:r>
              <a:rPr lang="de-CH" sz="2800" dirty="0" smtClean="0">
                <a:latin typeface="+mn-lt"/>
              </a:rPr>
              <a:t>  after </a:t>
            </a:r>
            <a:r>
              <a:rPr lang="de-CH" sz="2800" dirty="0" err="1" smtClean="0">
                <a:latin typeface="+mn-lt"/>
              </a:rPr>
              <a:t>integrating</a:t>
            </a:r>
            <a:r>
              <a:rPr lang="de-CH" sz="2800" dirty="0" smtClean="0">
                <a:latin typeface="+mn-lt"/>
              </a:rPr>
              <a:t> </a:t>
            </a:r>
            <a:r>
              <a:rPr lang="de-CH" sz="2800" dirty="0" err="1" smtClean="0">
                <a:latin typeface="+mn-lt"/>
              </a:rPr>
              <a:t>the</a:t>
            </a:r>
            <a:r>
              <a:rPr lang="de-CH" sz="2800" dirty="0" smtClean="0">
                <a:latin typeface="+mn-lt"/>
              </a:rPr>
              <a:t> </a:t>
            </a:r>
            <a:r>
              <a:rPr lang="de-CH" sz="2800" dirty="0" err="1" smtClean="0">
                <a:latin typeface="+mn-lt"/>
              </a:rPr>
              <a:t>above</a:t>
            </a:r>
            <a:r>
              <a:rPr lang="de-CH" sz="2800" dirty="0" smtClean="0">
                <a:latin typeface="+mn-lt"/>
              </a:rPr>
              <a:t> </a:t>
            </a:r>
            <a:r>
              <a:rPr lang="de-CH" sz="2800" dirty="0" err="1" smtClean="0">
                <a:latin typeface="+mn-lt"/>
              </a:rPr>
              <a:t>findings</a:t>
            </a:r>
            <a:r>
              <a:rPr lang="de-CH" sz="2800" dirty="0" smtClean="0">
                <a:latin typeface="+mn-lt"/>
              </a:rPr>
              <a:t> in </a:t>
            </a:r>
            <a:r>
              <a:rPr lang="de-CH" sz="2800" dirty="0" err="1" smtClean="0">
                <a:latin typeface="+mn-lt"/>
              </a:rPr>
              <a:t>the</a:t>
            </a:r>
            <a:r>
              <a:rPr lang="de-CH" sz="2800" dirty="0" smtClean="0">
                <a:latin typeface="+mn-lt"/>
              </a:rPr>
              <a:t> </a:t>
            </a:r>
            <a:r>
              <a:rPr lang="de-CH" sz="2800" dirty="0" err="1">
                <a:latin typeface="+mn-lt"/>
              </a:rPr>
              <a:t>existing</a:t>
            </a:r>
            <a:r>
              <a:rPr lang="de-CH" sz="2800" dirty="0">
                <a:latin typeface="+mn-lt"/>
              </a:rPr>
              <a:t> </a:t>
            </a:r>
            <a:r>
              <a:rPr lang="de-CH" sz="2800" dirty="0" err="1">
                <a:latin typeface="+mn-lt"/>
              </a:rPr>
              <a:t>workflow</a:t>
            </a:r>
            <a:r>
              <a:rPr lang="de-CH" sz="2800" dirty="0" smtClean="0">
                <a:latin typeface="+mn-lt"/>
              </a:rPr>
              <a:t> – </a:t>
            </a:r>
            <a:r>
              <a:rPr lang="de-CH" sz="2800" b="1" dirty="0" smtClean="0">
                <a:solidFill>
                  <a:srgbClr val="FF0000"/>
                </a:solidFill>
                <a:latin typeface="+mn-lt"/>
              </a:rPr>
              <a:t>Meeting </a:t>
            </a:r>
            <a:r>
              <a:rPr lang="de-CH" sz="2800" b="1" dirty="0" err="1" smtClean="0">
                <a:solidFill>
                  <a:srgbClr val="FF0000"/>
                </a:solidFill>
                <a:latin typeface="+mn-lt"/>
              </a:rPr>
              <a:t>Discussion</a:t>
            </a:r>
            <a:endParaRPr lang="de-CH" sz="2800" b="1" dirty="0">
              <a:solidFill>
                <a:srgbClr val="FF0000"/>
              </a:solidFill>
              <a:latin typeface="+mn-lt"/>
            </a:endParaRPr>
          </a:p>
        </p:txBody>
      </p:sp>
      <p:sp>
        <p:nvSpPr>
          <p:cNvPr id="5" name="TextBox 4"/>
          <p:cNvSpPr txBox="1"/>
          <p:nvPr/>
        </p:nvSpPr>
        <p:spPr>
          <a:xfrm>
            <a:off x="77002" y="617900"/>
            <a:ext cx="12031258" cy="6278642"/>
          </a:xfrm>
          <a:prstGeom prst="rect">
            <a:avLst/>
          </a:prstGeom>
          <a:noFill/>
        </p:spPr>
        <p:txBody>
          <a:bodyPr wrap="square" rtlCol="0">
            <a:spAutoFit/>
          </a:bodyPr>
          <a:lstStyle/>
          <a:p>
            <a:pPr marL="285750" indent="-285750">
              <a:buFont typeface="Arial" panose="020B0604020202020204" pitchFamily="34" charset="0"/>
              <a:buChar char="•"/>
            </a:pPr>
            <a:r>
              <a:rPr lang="en-US" sz="2400" dirty="0" smtClean="0"/>
              <a:t>In terms of prioritization, this work gives us an idea of what interventions to keep and whether coverage should be high or not</a:t>
            </a:r>
          </a:p>
          <a:p>
            <a:pPr marL="285750" indent="-285750">
              <a:buFont typeface="Arial" panose="020B0604020202020204" pitchFamily="34" charset="0"/>
              <a:buChar char="•"/>
            </a:pPr>
            <a:r>
              <a:rPr lang="en-US" sz="2400" dirty="0" smtClean="0"/>
              <a:t>Using setting specific EIR ranges indicates whether a setting is either a high or low transmission setting</a:t>
            </a:r>
          </a:p>
          <a:p>
            <a:pPr marL="285750" indent="-285750">
              <a:buFont typeface="Arial" panose="020B0604020202020204" pitchFamily="34" charset="0"/>
              <a:buChar char="•"/>
            </a:pPr>
            <a:r>
              <a:rPr lang="en-US" sz="2400" dirty="0" smtClean="0"/>
              <a:t>We need to include vaccines for some settings</a:t>
            </a:r>
          </a:p>
          <a:p>
            <a:pPr marL="285750" indent="-285750">
              <a:buFont typeface="Arial" panose="020B0604020202020204" pitchFamily="34" charset="0"/>
              <a:buChar char="•"/>
            </a:pPr>
            <a:r>
              <a:rPr lang="en-US" sz="2400" dirty="0" smtClean="0"/>
              <a:t>Policy question: where should we put our efforts? Is </a:t>
            </a:r>
            <a:r>
              <a:rPr lang="en-US" sz="2400" dirty="0" err="1" smtClean="0"/>
              <a:t>prev</a:t>
            </a:r>
            <a:r>
              <a:rPr lang="en-US" sz="2400" dirty="0" smtClean="0"/>
              <a:t> reduction more prone to loose impact if we maintain coverages of LLIN or SMC?</a:t>
            </a:r>
          </a:p>
          <a:p>
            <a:pPr marL="285750" indent="-285750">
              <a:buFont typeface="Arial" panose="020B0604020202020204" pitchFamily="34" charset="0"/>
              <a:buChar char="•"/>
            </a:pPr>
            <a:r>
              <a:rPr lang="en-US" sz="2400" dirty="0" smtClean="0"/>
              <a:t>Get more realistic ranges for RTSS and others</a:t>
            </a:r>
          </a:p>
          <a:p>
            <a:pPr marL="285750" indent="-285750">
              <a:buFont typeface="Arial" panose="020B0604020202020204" pitchFamily="34" charset="0"/>
              <a:buChar char="•"/>
            </a:pPr>
            <a:r>
              <a:rPr lang="en-US" sz="2400" dirty="0" smtClean="0"/>
              <a:t>Net2021 was the last campaign </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smtClean="0"/>
              <a:t>If you have some parameters that influence your output you need to consider all of them (to avoid confounding) and if your model is trained on a given range of parameters and you limit this range during the sensitivity analysis that needs to be done with caution because it can reflect what you were not expecting (like what is the importance of a certain intervention but it can also reflect variation for a certain </a:t>
            </a:r>
            <a:r>
              <a:rPr lang="en-US" sz="2400" dirty="0" err="1" smtClean="0"/>
              <a:t>param</a:t>
            </a:r>
            <a:r>
              <a:rPr lang="en-US" sz="2400" dirty="0" smtClean="0"/>
              <a:t> and other things which might be confounding the output )</a:t>
            </a:r>
          </a:p>
          <a:p>
            <a:pPr marL="285750" indent="-285750">
              <a:buFont typeface="Arial" panose="020B0604020202020204" pitchFamily="34" charset="0"/>
              <a:buChar char="•"/>
            </a:pPr>
            <a:endParaRPr lang="en-US" dirty="0" smtClean="0"/>
          </a:p>
        </p:txBody>
      </p:sp>
    </p:spTree>
    <p:extLst>
      <p:ext uri="{BB962C8B-B14F-4D97-AF65-F5344CB8AC3E}">
        <p14:creationId xmlns:p14="http://schemas.microsoft.com/office/powerpoint/2010/main" val="225078392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3" name="Title 2"/>
          <p:cNvSpPr>
            <a:spLocks noGrp="1"/>
          </p:cNvSpPr>
          <p:nvPr>
            <p:ph type="title"/>
          </p:nvPr>
        </p:nvSpPr>
        <p:spPr>
          <a:xfrm>
            <a:off x="237744" y="217467"/>
            <a:ext cx="11954256" cy="400433"/>
          </a:xfrm>
        </p:spPr>
        <p:txBody>
          <a:bodyPr/>
          <a:lstStyle/>
          <a:p>
            <a:r>
              <a:rPr lang="de-CH" sz="2800" dirty="0" smtClean="0">
                <a:latin typeface="+mn-lt"/>
              </a:rPr>
              <a:t>Sobol </a:t>
            </a:r>
            <a:r>
              <a:rPr lang="de-CH" sz="2800" dirty="0" err="1" smtClean="0">
                <a:latin typeface="+mn-lt"/>
              </a:rPr>
              <a:t>indices</a:t>
            </a:r>
            <a:r>
              <a:rPr lang="de-CH" sz="2800" dirty="0" smtClean="0">
                <a:latin typeface="+mn-lt"/>
              </a:rPr>
              <a:t> </a:t>
            </a:r>
            <a:r>
              <a:rPr lang="de-CH" sz="2800" dirty="0" err="1" smtClean="0">
                <a:latin typeface="+mn-lt"/>
              </a:rPr>
              <a:t>for</a:t>
            </a:r>
            <a:r>
              <a:rPr lang="de-CH" sz="2800" dirty="0" smtClean="0">
                <a:latin typeface="+mn-lt"/>
              </a:rPr>
              <a:t> 35 </a:t>
            </a:r>
            <a:r>
              <a:rPr lang="de-CH" sz="2800" dirty="0" err="1" smtClean="0">
                <a:latin typeface="+mn-lt"/>
              </a:rPr>
              <a:t>settings</a:t>
            </a:r>
            <a:r>
              <a:rPr lang="de-CH" sz="2800" dirty="0" smtClean="0">
                <a:latin typeface="+mn-lt"/>
              </a:rPr>
              <a:t>  after </a:t>
            </a:r>
            <a:r>
              <a:rPr lang="de-CH" sz="2800" dirty="0" err="1" smtClean="0">
                <a:latin typeface="+mn-lt"/>
              </a:rPr>
              <a:t>integrating</a:t>
            </a:r>
            <a:r>
              <a:rPr lang="de-CH" sz="2800" dirty="0" smtClean="0">
                <a:latin typeface="+mn-lt"/>
              </a:rPr>
              <a:t> </a:t>
            </a:r>
            <a:r>
              <a:rPr lang="de-CH" sz="2800" dirty="0" err="1" smtClean="0">
                <a:latin typeface="+mn-lt"/>
              </a:rPr>
              <a:t>the</a:t>
            </a:r>
            <a:r>
              <a:rPr lang="de-CH" sz="2800" dirty="0" smtClean="0">
                <a:latin typeface="+mn-lt"/>
              </a:rPr>
              <a:t> </a:t>
            </a:r>
            <a:r>
              <a:rPr lang="de-CH" sz="2800" dirty="0" err="1" smtClean="0">
                <a:latin typeface="+mn-lt"/>
              </a:rPr>
              <a:t>above</a:t>
            </a:r>
            <a:r>
              <a:rPr lang="de-CH" sz="2800" dirty="0" smtClean="0">
                <a:latin typeface="+mn-lt"/>
              </a:rPr>
              <a:t> </a:t>
            </a:r>
            <a:r>
              <a:rPr lang="de-CH" sz="2800" dirty="0" err="1" smtClean="0">
                <a:latin typeface="+mn-lt"/>
              </a:rPr>
              <a:t>findings</a:t>
            </a:r>
            <a:r>
              <a:rPr lang="de-CH" sz="2800" dirty="0" smtClean="0">
                <a:latin typeface="+mn-lt"/>
              </a:rPr>
              <a:t> in </a:t>
            </a:r>
            <a:r>
              <a:rPr lang="de-CH" sz="2800" dirty="0" err="1" smtClean="0">
                <a:latin typeface="+mn-lt"/>
              </a:rPr>
              <a:t>the</a:t>
            </a:r>
            <a:r>
              <a:rPr lang="de-CH" sz="2800" dirty="0" smtClean="0">
                <a:latin typeface="+mn-lt"/>
              </a:rPr>
              <a:t> </a:t>
            </a:r>
            <a:r>
              <a:rPr lang="de-CH" sz="2800" dirty="0" err="1">
                <a:latin typeface="+mn-lt"/>
              </a:rPr>
              <a:t>existing</a:t>
            </a:r>
            <a:r>
              <a:rPr lang="de-CH" sz="2800" dirty="0">
                <a:latin typeface="+mn-lt"/>
              </a:rPr>
              <a:t> </a:t>
            </a:r>
            <a:r>
              <a:rPr lang="de-CH" sz="2800" dirty="0" err="1">
                <a:latin typeface="+mn-lt"/>
              </a:rPr>
              <a:t>workflow</a:t>
            </a:r>
            <a:r>
              <a:rPr lang="de-CH" sz="2800" dirty="0" smtClean="0">
                <a:latin typeface="+mn-lt"/>
              </a:rPr>
              <a:t> – </a:t>
            </a:r>
            <a:r>
              <a:rPr lang="de-CH" sz="2800" b="1" dirty="0" smtClean="0">
                <a:solidFill>
                  <a:srgbClr val="FF0000"/>
                </a:solidFill>
                <a:latin typeface="+mn-lt"/>
              </a:rPr>
              <a:t>Meeting </a:t>
            </a:r>
            <a:r>
              <a:rPr lang="de-CH" sz="2800" b="1" dirty="0" err="1" smtClean="0">
                <a:solidFill>
                  <a:srgbClr val="FF0000"/>
                </a:solidFill>
                <a:latin typeface="+mn-lt"/>
              </a:rPr>
              <a:t>Discussion</a:t>
            </a:r>
            <a:endParaRPr lang="de-CH" sz="2800" b="1" dirty="0">
              <a:solidFill>
                <a:srgbClr val="FF0000"/>
              </a:solidFill>
              <a:latin typeface="+mn-lt"/>
            </a:endParaRPr>
          </a:p>
        </p:txBody>
      </p:sp>
      <p:sp>
        <p:nvSpPr>
          <p:cNvPr id="5" name="TextBox 4"/>
          <p:cNvSpPr txBox="1"/>
          <p:nvPr/>
        </p:nvSpPr>
        <p:spPr>
          <a:xfrm>
            <a:off x="0" y="690783"/>
            <a:ext cx="12031258" cy="4431983"/>
          </a:xfrm>
          <a:prstGeom prst="rect">
            <a:avLst/>
          </a:prstGeom>
          <a:noFill/>
        </p:spPr>
        <p:txBody>
          <a:bodyPr wrap="square" rtlCol="0">
            <a:spAutoFit/>
          </a:bodyPr>
          <a:lstStyle/>
          <a:p>
            <a:pPr marL="285750" indent="-285750">
              <a:buFont typeface="Arial" panose="020B0604020202020204" pitchFamily="34" charset="0"/>
              <a:buChar char="•"/>
            </a:pPr>
            <a:endParaRPr lang="en-US" dirty="0" smtClean="0"/>
          </a:p>
          <a:p>
            <a:r>
              <a:rPr lang="en-US" sz="2400" b="1" u="sng" dirty="0" smtClean="0"/>
              <a:t>Suggestions by Monica</a:t>
            </a:r>
            <a:endParaRPr lang="en-US" sz="2400" b="1" u="sng" dirty="0"/>
          </a:p>
          <a:p>
            <a:pPr marL="285750" indent="-285750">
              <a:buFont typeface="Arial" panose="020B0604020202020204" pitchFamily="34" charset="0"/>
              <a:buChar char="•"/>
            </a:pPr>
            <a:r>
              <a:rPr lang="en-US" sz="2400" dirty="0" smtClean="0"/>
              <a:t>Fix EIR to the MLE value when doing the sensitivity analysis</a:t>
            </a:r>
          </a:p>
          <a:p>
            <a:pPr marL="285750" indent="-285750">
              <a:buFont typeface="Arial" panose="020B0604020202020204" pitchFamily="34" charset="0"/>
              <a:buChar char="•"/>
            </a:pPr>
            <a:r>
              <a:rPr lang="en-US" sz="2400" dirty="0" smtClean="0"/>
              <a:t>Or train and emulator for the specific EIR range for each admin1 and </a:t>
            </a:r>
            <a:r>
              <a:rPr lang="en-US" sz="2400" b="1" dirty="0" smtClean="0"/>
              <a:t>run full </a:t>
            </a:r>
            <a:r>
              <a:rPr lang="en-US" sz="2400" b="1" dirty="0" err="1" smtClean="0"/>
              <a:t>param</a:t>
            </a:r>
            <a:r>
              <a:rPr lang="en-US" sz="2400" b="1" dirty="0" smtClean="0"/>
              <a:t> ranges for sensitivity?</a:t>
            </a:r>
          </a:p>
          <a:p>
            <a:pPr marL="285750" indent="-285750">
              <a:buFont typeface="Arial" panose="020B0604020202020204" pitchFamily="34" charset="0"/>
              <a:buChar char="•"/>
            </a:pPr>
            <a:r>
              <a:rPr lang="en-US" sz="2400" dirty="0" smtClean="0"/>
              <a:t>Each model can have its own fixed EIR for training</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smtClean="0">
                <a:solidFill>
                  <a:srgbClr val="FF0000"/>
                </a:solidFill>
              </a:rPr>
              <a:t>Put EIR and CI next to the setting</a:t>
            </a:r>
          </a:p>
          <a:p>
            <a:pPr marL="285750" indent="-285750">
              <a:buFont typeface="Arial" panose="020B0604020202020204" pitchFamily="34" charset="0"/>
              <a:buChar char="•"/>
            </a:pPr>
            <a:r>
              <a:rPr lang="en-US" sz="2400" dirty="0" smtClean="0">
                <a:solidFill>
                  <a:srgbClr val="FF0000"/>
                </a:solidFill>
              </a:rPr>
              <a:t>Try to understand what causes the effective capturing of sensitivity (is it from </a:t>
            </a:r>
            <a:r>
              <a:rPr lang="en-US" sz="2400" dirty="0" err="1" smtClean="0">
                <a:solidFill>
                  <a:srgbClr val="FF0000"/>
                </a:solidFill>
              </a:rPr>
              <a:t>int</a:t>
            </a:r>
            <a:r>
              <a:rPr lang="en-US" sz="2400" dirty="0" smtClean="0">
                <a:solidFill>
                  <a:srgbClr val="FF0000"/>
                </a:solidFill>
              </a:rPr>
              <a:t> </a:t>
            </a:r>
            <a:r>
              <a:rPr lang="en-US" sz="2400" dirty="0" err="1" smtClean="0">
                <a:solidFill>
                  <a:srgbClr val="FF0000"/>
                </a:solidFill>
              </a:rPr>
              <a:t>cov</a:t>
            </a:r>
            <a:r>
              <a:rPr lang="en-US" sz="2400" dirty="0" smtClean="0">
                <a:solidFill>
                  <a:srgbClr val="FF0000"/>
                </a:solidFill>
              </a:rPr>
              <a:t> or variability in EIR) – Use other methods in surrogates book</a:t>
            </a:r>
          </a:p>
          <a:p>
            <a:pPr marL="285750" indent="-285750">
              <a:buFont typeface="Arial" panose="020B0604020202020204" pitchFamily="34" charset="0"/>
              <a:buChar char="•"/>
            </a:pPr>
            <a:r>
              <a:rPr lang="en-US" sz="2400" dirty="0" smtClean="0">
                <a:solidFill>
                  <a:srgbClr val="FF0000"/>
                </a:solidFill>
              </a:rPr>
              <a:t>Use few settings and train GP on EIR ranges , run </a:t>
            </a:r>
            <a:r>
              <a:rPr lang="en-US" sz="2400" dirty="0" err="1" smtClean="0">
                <a:solidFill>
                  <a:srgbClr val="FF0000"/>
                </a:solidFill>
              </a:rPr>
              <a:t>sobol</a:t>
            </a:r>
            <a:r>
              <a:rPr lang="en-US" sz="2400" dirty="0" smtClean="0">
                <a:solidFill>
                  <a:srgbClr val="FF0000"/>
                </a:solidFill>
              </a:rPr>
              <a:t> and compare (2 low index settings and 2 high index)</a:t>
            </a:r>
            <a:endParaRPr lang="de-CH" sz="2400" dirty="0">
              <a:solidFill>
                <a:srgbClr val="FF0000"/>
              </a:solidFill>
            </a:endParaRPr>
          </a:p>
        </p:txBody>
      </p:sp>
    </p:spTree>
    <p:extLst>
      <p:ext uri="{BB962C8B-B14F-4D97-AF65-F5344CB8AC3E}">
        <p14:creationId xmlns:p14="http://schemas.microsoft.com/office/powerpoint/2010/main" val="170704364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3" name="Title 2"/>
          <p:cNvSpPr>
            <a:spLocks noGrp="1"/>
          </p:cNvSpPr>
          <p:nvPr>
            <p:ph type="title"/>
          </p:nvPr>
        </p:nvSpPr>
        <p:spPr>
          <a:xfrm>
            <a:off x="237744" y="217467"/>
            <a:ext cx="11954256" cy="400433"/>
          </a:xfrm>
        </p:spPr>
        <p:txBody>
          <a:bodyPr/>
          <a:lstStyle/>
          <a:p>
            <a:r>
              <a:rPr lang="de-CH" sz="2800" dirty="0" smtClean="0">
                <a:latin typeface="+mn-lt"/>
              </a:rPr>
              <a:t>Sobol </a:t>
            </a:r>
            <a:r>
              <a:rPr lang="de-CH" sz="2800" dirty="0" err="1" smtClean="0">
                <a:latin typeface="+mn-lt"/>
              </a:rPr>
              <a:t>indices</a:t>
            </a:r>
            <a:r>
              <a:rPr lang="de-CH" sz="2800" dirty="0" smtClean="0">
                <a:latin typeface="+mn-lt"/>
              </a:rPr>
              <a:t>- </a:t>
            </a:r>
            <a:r>
              <a:rPr lang="de-CH" sz="2800" dirty="0" err="1" smtClean="0">
                <a:latin typeface="+mn-lt"/>
              </a:rPr>
              <a:t>Dendrogram</a:t>
            </a:r>
            <a:endParaRPr lang="de-CH" sz="2800" dirty="0">
              <a:latin typeface="+mn-lt"/>
            </a:endParaRPr>
          </a:p>
        </p:txBody>
      </p:sp>
      <p:pic>
        <p:nvPicPr>
          <p:cNvPr id="2" name="Picture 1"/>
          <p:cNvPicPr>
            <a:picLocks noChangeAspect="1"/>
          </p:cNvPicPr>
          <p:nvPr/>
        </p:nvPicPr>
        <p:blipFill>
          <a:blip r:embed="rId3"/>
          <a:stretch>
            <a:fillRect/>
          </a:stretch>
        </p:blipFill>
        <p:spPr>
          <a:xfrm>
            <a:off x="481584" y="1180905"/>
            <a:ext cx="11466576" cy="5217865"/>
          </a:xfrm>
          <a:prstGeom prst="rect">
            <a:avLst/>
          </a:prstGeom>
        </p:spPr>
      </p:pic>
    </p:spTree>
    <p:extLst>
      <p:ext uri="{BB962C8B-B14F-4D97-AF65-F5344CB8AC3E}">
        <p14:creationId xmlns:p14="http://schemas.microsoft.com/office/powerpoint/2010/main" val="196457635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3" name="Title 2"/>
          <p:cNvSpPr>
            <a:spLocks noGrp="1"/>
          </p:cNvSpPr>
          <p:nvPr>
            <p:ph type="title"/>
          </p:nvPr>
        </p:nvSpPr>
        <p:spPr>
          <a:xfrm>
            <a:off x="136144" y="78922"/>
            <a:ext cx="11954256" cy="400433"/>
          </a:xfrm>
        </p:spPr>
        <p:txBody>
          <a:bodyPr/>
          <a:lstStyle/>
          <a:p>
            <a:r>
              <a:rPr lang="de-CH" sz="2800" dirty="0" smtClean="0">
                <a:latin typeface="+mn-lt"/>
              </a:rPr>
              <a:t>Sobol </a:t>
            </a:r>
            <a:r>
              <a:rPr lang="de-CH" sz="2800" dirty="0" err="1" smtClean="0">
                <a:latin typeface="+mn-lt"/>
              </a:rPr>
              <a:t>indices</a:t>
            </a:r>
            <a:r>
              <a:rPr lang="de-CH" sz="2800" dirty="0" smtClean="0">
                <a:latin typeface="+mn-lt"/>
              </a:rPr>
              <a:t> – </a:t>
            </a:r>
            <a:r>
              <a:rPr lang="de-CH" sz="2800" dirty="0" err="1" smtClean="0">
                <a:latin typeface="+mn-lt"/>
              </a:rPr>
              <a:t>hierarchical</a:t>
            </a:r>
            <a:r>
              <a:rPr lang="de-CH" sz="2800" dirty="0" smtClean="0">
                <a:latin typeface="+mn-lt"/>
              </a:rPr>
              <a:t> </a:t>
            </a:r>
            <a:r>
              <a:rPr lang="de-CH" sz="2800" dirty="0" err="1" smtClean="0">
                <a:latin typeface="+mn-lt"/>
              </a:rPr>
              <a:t>clustering</a:t>
            </a:r>
            <a:r>
              <a:rPr lang="de-CH" sz="2800" dirty="0" smtClean="0">
                <a:latin typeface="+mn-lt"/>
              </a:rPr>
              <a:t> </a:t>
            </a:r>
            <a:r>
              <a:rPr lang="de-CH" sz="2800" dirty="0" err="1" smtClean="0">
                <a:latin typeface="+mn-lt"/>
              </a:rPr>
              <a:t>of</a:t>
            </a:r>
            <a:r>
              <a:rPr lang="de-CH" sz="2800" dirty="0" smtClean="0">
                <a:latin typeface="+mn-lt"/>
              </a:rPr>
              <a:t> </a:t>
            </a:r>
            <a:r>
              <a:rPr lang="de-CH" sz="2800" dirty="0" err="1" smtClean="0">
                <a:latin typeface="+mn-lt"/>
              </a:rPr>
              <a:t>settings</a:t>
            </a:r>
            <a:endParaRPr lang="de-CH" sz="2800" dirty="0">
              <a:latin typeface="+mn-lt"/>
            </a:endParaRPr>
          </a:p>
        </p:txBody>
      </p:sp>
      <p:pic>
        <p:nvPicPr>
          <p:cNvPr id="2" name="Picture 1"/>
          <p:cNvPicPr>
            <a:picLocks noChangeAspect="1"/>
          </p:cNvPicPr>
          <p:nvPr/>
        </p:nvPicPr>
        <p:blipFill>
          <a:blip r:embed="rId3"/>
          <a:stretch>
            <a:fillRect/>
          </a:stretch>
        </p:blipFill>
        <p:spPr>
          <a:xfrm>
            <a:off x="845220" y="411556"/>
            <a:ext cx="6028757" cy="6415666"/>
          </a:xfrm>
          <a:prstGeom prst="rect">
            <a:avLst/>
          </a:prstGeom>
        </p:spPr>
      </p:pic>
      <p:pic>
        <p:nvPicPr>
          <p:cNvPr id="4" name="Picture 3"/>
          <p:cNvPicPr>
            <a:picLocks noChangeAspect="1"/>
          </p:cNvPicPr>
          <p:nvPr/>
        </p:nvPicPr>
        <p:blipFill>
          <a:blip r:embed="rId4"/>
          <a:stretch>
            <a:fillRect/>
          </a:stretch>
        </p:blipFill>
        <p:spPr>
          <a:xfrm>
            <a:off x="6584314" y="924646"/>
            <a:ext cx="3773309" cy="5189826"/>
          </a:xfrm>
          <a:prstGeom prst="rect">
            <a:avLst/>
          </a:prstGeom>
        </p:spPr>
      </p:pic>
      <p:sp>
        <p:nvSpPr>
          <p:cNvPr id="5" name="TextBox 4"/>
          <p:cNvSpPr txBox="1"/>
          <p:nvPr/>
        </p:nvSpPr>
        <p:spPr>
          <a:xfrm>
            <a:off x="6763141" y="6488668"/>
            <a:ext cx="3282568" cy="338554"/>
          </a:xfrm>
          <a:prstGeom prst="rect">
            <a:avLst/>
          </a:prstGeom>
          <a:noFill/>
        </p:spPr>
        <p:txBody>
          <a:bodyPr wrap="square" rtlCol="0">
            <a:spAutoFit/>
          </a:bodyPr>
          <a:lstStyle/>
          <a:p>
            <a:r>
              <a:rPr lang="de-CH" sz="1600" dirty="0" smtClean="0"/>
              <a:t>Source: </a:t>
            </a:r>
            <a:r>
              <a:rPr lang="de-CH" sz="1600" i="1" dirty="0" err="1" smtClean="0"/>
              <a:t>Andoh</a:t>
            </a:r>
            <a:r>
              <a:rPr lang="de-CH" sz="1600" i="1" dirty="0" smtClean="0"/>
              <a:t> et al.</a:t>
            </a:r>
            <a:endParaRPr lang="de-CH" sz="1600" i="1" dirty="0"/>
          </a:p>
        </p:txBody>
      </p:sp>
      <p:sp>
        <p:nvSpPr>
          <p:cNvPr id="6" name="Rectangle 5"/>
          <p:cNvSpPr/>
          <p:nvPr/>
        </p:nvSpPr>
        <p:spPr>
          <a:xfrm>
            <a:off x="1182255" y="4184072"/>
            <a:ext cx="2974109" cy="145934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0" name="Rectangle 9"/>
          <p:cNvSpPr/>
          <p:nvPr/>
        </p:nvSpPr>
        <p:spPr>
          <a:xfrm>
            <a:off x="1182255" y="2946400"/>
            <a:ext cx="2974109" cy="123767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1" name="Rectangle 10"/>
          <p:cNvSpPr/>
          <p:nvPr/>
        </p:nvSpPr>
        <p:spPr>
          <a:xfrm>
            <a:off x="1182255" y="2392218"/>
            <a:ext cx="2974109" cy="55833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2" name="Rectangle 11"/>
          <p:cNvSpPr/>
          <p:nvPr/>
        </p:nvSpPr>
        <p:spPr>
          <a:xfrm>
            <a:off x="1182254" y="1158696"/>
            <a:ext cx="2974109" cy="94719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3" name="Rectangle 12"/>
          <p:cNvSpPr/>
          <p:nvPr/>
        </p:nvSpPr>
        <p:spPr>
          <a:xfrm>
            <a:off x="1182253" y="692727"/>
            <a:ext cx="2974109" cy="46596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Tree>
    <p:extLst>
      <p:ext uri="{BB962C8B-B14F-4D97-AF65-F5344CB8AC3E}">
        <p14:creationId xmlns:p14="http://schemas.microsoft.com/office/powerpoint/2010/main" val="3887265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1449</Words>
  <Application>Microsoft Office PowerPoint</Application>
  <PresentationFormat>Widescreen</PresentationFormat>
  <Paragraphs>138</Paragraphs>
  <Slides>22</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Arial</vt:lpstr>
      <vt:lpstr>Calibri</vt:lpstr>
      <vt:lpstr>Calibri Light</vt:lpstr>
      <vt:lpstr>Cambria Math</vt:lpstr>
      <vt:lpstr>Palatino Linotype</vt:lpstr>
      <vt:lpstr>Slack-Lato</vt:lpstr>
      <vt:lpstr>Symbol</vt:lpstr>
      <vt:lpstr>Times New Roman</vt:lpstr>
      <vt:lpstr>Office Theme</vt:lpstr>
      <vt:lpstr>PowerPoint Presentation</vt:lpstr>
      <vt:lpstr>Aim</vt:lpstr>
      <vt:lpstr>PowerPoint Presentation</vt:lpstr>
      <vt:lpstr>Research Objectives</vt:lpstr>
      <vt:lpstr>Variance-based sensitivity analysis (Sobol)</vt:lpstr>
      <vt:lpstr>Objective 1 – Modifying the existing workflow</vt:lpstr>
      <vt:lpstr>1 – LHS vs MED SAMPLING (100 POINTS) </vt:lpstr>
      <vt:lpstr>1 – LHS or ME sampling during simulation setup cuts runtime drastically </vt:lpstr>
      <vt:lpstr>2 – GP performance evaluation - learning of prevalence reduction gives good statistical   correspondence     Actual vs predict for 3 settings: full EIR sweep for UE and LHS for Oti and BE </vt:lpstr>
      <vt:lpstr>2 – GP performance evaluation - learning of prevalence reduction gives good statistical   correspondence  Actual vs predict using different LHS sample sizes for UE4</vt:lpstr>
      <vt:lpstr>2 – GP performance evaluation - learning of prevalence reduction gives good statistical   correspondence  Actual vs predict using different LHS sample sizes for UE4</vt:lpstr>
      <vt:lpstr>2 – GP performance evaluation - learning of prevalence reduction gives good statistical   correspondence   Actual vs predict for 3 settings: full EIR sweep for UE and LHS for Oti and BE – Training the Gp with all simulation data </vt:lpstr>
      <vt:lpstr>3 - Sobol methods comparison</vt:lpstr>
      <vt:lpstr>3 - Sobol methods comparison</vt:lpstr>
      <vt:lpstr>3 - Sobol sensitivity analysis with setting-specific EIR and realistic intervention coverage ranges</vt:lpstr>
      <vt:lpstr>Sobol indices for 35 settings  after integrating the above findings in the existing workflow </vt:lpstr>
      <vt:lpstr>Sobol indices for 35 settings  after integrating the above findings in the existing workflow </vt:lpstr>
      <vt:lpstr>Sobol indices for 35 settings  after integrating the above findings in the existing workflow </vt:lpstr>
      <vt:lpstr>Sobol indices for 35 settings  after integrating the above findings in the existing workflow – Meeting Discussion</vt:lpstr>
      <vt:lpstr>Sobol indices for 35 settings  after integrating the above findings in the existing workflow – Meeting Discussion</vt:lpstr>
      <vt:lpstr>Sobol indices- Dendrogram</vt:lpstr>
      <vt:lpstr>Sobol indices – hierarchical clustering of settings</vt:lpstr>
    </vt:vector>
  </TitlesOfParts>
  <Company>Swiss TPH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Zenabu Suboi</dc:creator>
  <cp:lastModifiedBy>Zenabu Suboi</cp:lastModifiedBy>
  <cp:revision>83</cp:revision>
  <dcterms:created xsi:type="dcterms:W3CDTF">2025-01-03T12:44:29Z</dcterms:created>
  <dcterms:modified xsi:type="dcterms:W3CDTF">2025-03-03T22:27:41Z</dcterms:modified>
</cp:coreProperties>
</file>