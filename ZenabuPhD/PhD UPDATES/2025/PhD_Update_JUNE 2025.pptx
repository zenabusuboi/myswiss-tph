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8" r:id="rId5"/>
    <p:sldId id="262" r:id="rId6"/>
    <p:sldId id="269" r:id="rId7"/>
    <p:sldId id="265" r:id="rId8"/>
    <p:sldId id="264" r:id="rId9"/>
    <p:sldId id="263" r:id="rId10"/>
    <p:sldId id="266" r:id="rId11"/>
    <p:sldId id="267" r:id="rId12"/>
    <p:sldId id="260" r:id="rId13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FE48E-F868-42C6-B0B3-75CE1CBAC836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F4CCC-51A5-461D-A079-AD0EE806B1A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707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53A6-E19A-7A54-19D6-9797A6FC4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BDC0D-5A04-0527-72EE-6C180486A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5B43A-F91B-62F1-EB86-F53B1BDB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021B-5765-03D5-C434-5B9818AD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D84E2-6CBE-C163-6DC6-2F679716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5122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B57A-7610-9742-1CD3-B505CC73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B5C7-4A8A-89F4-A6BA-50833C99C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C5C4C-5B1A-1E96-64D3-3E75F9E9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7D494-1218-2172-07F3-8543250E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5EF92-02F8-F412-7F7B-36424EC6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434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0C75-7197-108D-A1C9-C7ECA883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6A171-1F6B-EAAD-8B51-007DE709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0C74-5D15-EBA5-A624-174BE222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02C1F-7409-BD9A-9FB7-CDA282F1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D38F4-6276-63B7-21B3-055E5224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056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8E20-7AC7-EFE6-8711-F10B24BB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434E-CE6C-67C7-C5E6-264096213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92018-4314-C35F-FA73-6A79DC79A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09AAA-6FF2-84B6-974C-D693B5E2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DB1EE-411A-4D6E-1498-2360045D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B3FAC-411C-D2D1-C56C-9F96FA35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083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E420-36E7-6CE3-8DC7-040CA8C5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6276F-9D5A-8733-D316-76D526034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045B8-A8FF-7784-0D15-133F5D5BB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EE540-83B2-7FE7-71FD-F3156DC75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5232E-4BDA-7D33-4114-16CDF5F23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1E416-D184-9F19-DF93-04C2E62D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53C7B-DF16-52CC-F3A1-13833A94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C23D2-59C5-2D74-3A22-2B011F0F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3094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6221-4913-25F6-6754-D08D7680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BCC64-751D-A57D-7E16-34024B55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90245-19C4-0C19-B1E5-F903B5EB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7C655-08C2-56A3-601A-B2FFC8A8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2099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14BD6-0CCE-4627-86C0-F5262B28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F8434-F6DF-FB98-59AC-29FB51A6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BB37B-B21E-F9B5-63D3-D0C4FAD7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9823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A510-F346-89D3-E617-CCA17F5D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051AB-2770-E4A8-2CF1-6513A117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C95A1-EF74-6CF5-C5E8-71468D430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4EA42-6792-31CC-C0C5-00224E3E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B24F7-306C-3A1C-B520-B471D202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978A9-2DF8-BF24-AA68-833C5F4D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2699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6A21-56AA-308F-E198-F16EFA385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80B801-A522-E6A0-5BAF-11012A260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CB6CD-946E-B425-9C6A-846750940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FC6D4-5EED-4FF4-2387-45286AD2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41FCA-E191-CB20-A7CF-66ACE15C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59A2F-F1DC-EF9C-9D8E-7D6D4782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9129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D5D4-F9A6-7CEB-5654-9A6A1ABE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7AE82-64C6-B942-B4F5-56FD75FC5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DFEE8-B143-0187-D355-2B2A5D72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46E43-15E3-8144-313F-7778F7CF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B3E4D-04F0-FEDE-F105-C8AA03C4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8056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81C01C-8863-8D2D-1143-6EF24B4BE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2BF75-84E2-5776-70A9-069FA84C7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41C46-AC8F-AF84-2F8A-0540F502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56E-30A5-45F8-0562-1AEE5A79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1B35A-868F-00F0-A924-4DFC7CBD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5616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71BB1-4FFF-4380-E48D-53B90E02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100D6-A43C-FF9C-746D-1BDC01873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3AE70-8C8C-6102-7215-24E653C0D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B01F1-B92C-44F0-AC62-51209790B223}" type="datetimeFigureOut">
              <a:rPr lang="en-CH" smtClean="0"/>
              <a:t>27.06.2025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03B57-B476-600D-1C3A-003F64A7E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96721-E600-BC29-6E1F-2935077CD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6DFDF-6F3B-44F3-BE44-E0B3968ABF2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1365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BA88-7931-A592-7185-5F6A9F21E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June 2025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F09D6-AA47-F010-1D62-040D5A62D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PhD Updates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5239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FCAC-FC50-B27C-D599-1E5CE28F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37" y="365125"/>
            <a:ext cx="11810082" cy="1325563"/>
          </a:xfrm>
        </p:spPr>
        <p:txBody>
          <a:bodyPr/>
          <a:lstStyle/>
          <a:p>
            <a:r>
              <a:rPr lang="en-US" dirty="0"/>
              <a:t>Community protection – assessing the relationship between intervention coverage and impact</a:t>
            </a:r>
            <a:endParaRPr lang="en-CH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616B0-1B23-3919-D98F-BCFB3CAB94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Protection, calculated as </a:t>
                </a:r>
                <a:r>
                  <a:rPr lang="en-US" dirty="0">
                    <a:solidFill>
                      <a:srgbClr val="FF0000"/>
                    </a:solidFill>
                  </a:rPr>
                  <a:t>relative infection reduction (RIR)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100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Baseline = 2022</a:t>
                </a:r>
              </a:p>
              <a:p>
                <a:r>
                  <a:rPr lang="en-US" dirty="0"/>
                  <a:t>End point = 2026</a:t>
                </a:r>
                <a:endParaRPr lang="en-CH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616B0-1B23-3919-D98F-BCFB3CAB94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966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20B0-4821-F198-1B7C-CA4CD239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D42C9-3E92-D84D-D888-EEB434D0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</a:t>
            </a:r>
            <a:endParaRPr lang="en-CH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0E8E78-1A29-EE0C-AB90-59AC03B0B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4204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existing simulation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CH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CH" altLang="en-CH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Fix all other inputs (e.g., LLIN, IRS, Vaccine) at their mean or policy-relevant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CH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CH" altLang="en-CH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Vary SMC coverage from 0.2 to 1.0 (or even 0 to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CH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CH" altLang="en-CH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 the impact using the GP</a:t>
            </a:r>
            <a:endParaRPr kumimoji="0" lang="en-US" altLang="en-C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Focus on severe cases reduction for SMC and vaccine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SMC and vaccine are age-based administration interventions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Able to identify users and non-users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age_group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Focus on one setting – Oti</a:t>
            </a:r>
          </a:p>
        </p:txBody>
      </p:sp>
    </p:spTree>
    <p:extLst>
      <p:ext uri="{BB962C8B-B14F-4D97-AF65-F5344CB8AC3E}">
        <p14:creationId xmlns:p14="http://schemas.microsoft.com/office/powerpoint/2010/main" val="408996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2F90-10BB-D19A-7B9A-8DD968DC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8937F0-ECF1-C31C-C6C5-37D9EBF5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Oti with 3 interventions</a:t>
            </a:r>
            <a:endParaRPr lang="en-C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D42894-EA36-861F-B2AD-FA1E56F5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188" y="1288847"/>
            <a:ext cx="4979624" cy="539459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F2638C-36AF-CAA5-4177-7DC35BF0310A}"/>
              </a:ext>
            </a:extLst>
          </p:cNvPr>
          <p:cNvCxnSpPr>
            <a:cxnSpLocks/>
          </p:cNvCxnSpPr>
          <p:nvPr/>
        </p:nvCxnSpPr>
        <p:spPr>
          <a:xfrm flipH="1">
            <a:off x="7381301" y="2431043"/>
            <a:ext cx="710129" cy="1170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93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B76F8-98F5-78F2-F6D8-45ABDF8C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C85A2-D7AA-76B4-DC4C-5068A5AE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SMC coverage vs severe cases reduction for age groups 0-2 and 0-5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6028C8-DDBD-286E-BB9E-2F1474C8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45" y="2957665"/>
            <a:ext cx="5508439" cy="3346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8D62ED-A240-B276-4ABF-B3FCA0300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988" y="2957665"/>
            <a:ext cx="5577295" cy="3346376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2A39CAD3-01DF-61CC-D2D7-6F15574A3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8423"/>
          </a:xfrm>
        </p:spPr>
        <p:txBody>
          <a:bodyPr/>
          <a:lstStyle/>
          <a:p>
            <a:r>
              <a:rPr lang="en-US" dirty="0"/>
              <a:t>Observe a non-monotonic relationship in both interventions</a:t>
            </a:r>
          </a:p>
        </p:txBody>
      </p:sp>
    </p:spTree>
    <p:extLst>
      <p:ext uri="{BB962C8B-B14F-4D97-AF65-F5344CB8AC3E}">
        <p14:creationId xmlns:p14="http://schemas.microsoft.com/office/powerpoint/2010/main" val="277314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62B6-53F3-1BA5-4AAE-67172BA8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FC7023-EE08-1A20-A65F-C5336A26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Accra with only LLIN</a:t>
            </a: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AB4CC1-C2B1-1976-2AEB-D98D2D8AB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918701" cy="464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4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E7E6F-5DF6-9EF2-920E-0416B28D3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7B96B-C3CC-7712-2081-0C53F4FD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SMC coverage vs severe cases reduction for age groups 0-2 and 2-10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92ED6-702F-DCF1-23D3-430F31E33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45" y="2957665"/>
            <a:ext cx="5508439" cy="334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D9C957-F140-D442-0E90-EF202CA1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60" y="2957665"/>
            <a:ext cx="5554150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7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9D4BF-A6DE-199D-C8DD-16CF58F6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499A10-E9C4-3951-CBC2-3FAD5E336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841E0-AEF3-5F2A-DFD1-17C540FF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049" y="560881"/>
            <a:ext cx="11735370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Vaccine coverage vs severe cases reduction for age groups 0-2 and 0-5</a:t>
            </a:r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ADCED2F-8D67-0205-CCC4-05A0F55B8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9" y="2957665"/>
            <a:ext cx="5600630" cy="3346376"/>
          </a:xfrm>
          <a:prstGeom prst="rect">
            <a:avLst/>
          </a:prstGeom>
        </p:spPr>
      </p:pic>
      <p:pic>
        <p:nvPicPr>
          <p:cNvPr id="9" name="Picture 8" descr="A graph of a red line&#10;&#10;AI-generated content may be incorrect.">
            <a:extLst>
              <a:ext uri="{FF2B5EF4-FFF2-40B4-BE49-F238E27FC236}">
                <a16:creationId xmlns:a16="http://schemas.microsoft.com/office/drawing/2014/main" id="{32649944-A408-6BAF-3B82-D88822D97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688" y="2957665"/>
            <a:ext cx="5647894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8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6677D-9FC0-C92F-89AD-0FFBC2EB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7A4673-A36A-A8FE-D512-9938D5E9B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C1C7D-7F82-10C6-91AD-1814E5A4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7" y="560881"/>
            <a:ext cx="11810082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Vaccine coverage vs prevalence /severe cases reduction for age groups 2-10 and 0-2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11629-2D3B-BAEE-6EE4-E12A59176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142" y="2871013"/>
            <a:ext cx="5723939" cy="3423987"/>
          </a:xfrm>
          <a:prstGeom prst="rect">
            <a:avLst/>
          </a:prstGeom>
        </p:spPr>
      </p:pic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C95762F9-6E50-34C7-38F7-C4C40C0B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9" y="2957665"/>
            <a:ext cx="5600630" cy="3346376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416BF42-9861-0727-8B7F-28F21AB1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8423"/>
          </a:xfrm>
        </p:spPr>
        <p:txBody>
          <a:bodyPr/>
          <a:lstStyle/>
          <a:p>
            <a:r>
              <a:rPr lang="en-US" dirty="0"/>
              <a:t>Vaccine primary target age group (0-2) vs non-users (2-10)</a:t>
            </a:r>
          </a:p>
        </p:txBody>
      </p:sp>
    </p:spTree>
    <p:extLst>
      <p:ext uri="{BB962C8B-B14F-4D97-AF65-F5344CB8AC3E}">
        <p14:creationId xmlns:p14="http://schemas.microsoft.com/office/powerpoint/2010/main" val="392002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4D3F-6D5F-C0E1-AE57-1F47D706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C861-393A-572A-D469-A117D022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Next?</a:t>
            </a:r>
            <a:endParaRPr lang="en-CH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654CAB-2C1C-855C-AC61-C66C91C87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Adjust age groups for u5 and ov5 in next simulation</a:t>
            </a:r>
          </a:p>
          <a:p>
            <a:r>
              <a:rPr lang="en-US" dirty="0"/>
              <a:t>Use calibrated EIR for each setting (not varied)</a:t>
            </a:r>
          </a:p>
          <a:p>
            <a:r>
              <a:rPr lang="en-US" dirty="0"/>
              <a:t>Use a sequence of points within coverage range (no LHS)</a:t>
            </a:r>
          </a:p>
          <a:p>
            <a:r>
              <a:rPr lang="en-US" dirty="0"/>
              <a:t>Fix all other interventions and focus on one for the simulation? </a:t>
            </a:r>
            <a:r>
              <a:rPr lang="en-US" dirty="0" err="1"/>
              <a:t>Eg</a:t>
            </a:r>
            <a:r>
              <a:rPr lang="en-US" dirty="0"/>
              <a:t>: LLIN is already known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IRS and LLIN? Users and non-users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0282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1A2F97-C147-8649-B591-41C6B598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FBD8-41A8-1C5B-EDA1-CA39A403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Next?</a:t>
            </a:r>
            <a:endParaRPr lang="en-CH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63431C-CBBF-1094-9A3A-ECE55AFF5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Break down plot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EIR level (low vs high)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LLIN coverage level (&lt;50% vs 50-80 vs &gt;80%)</a:t>
            </a:r>
          </a:p>
        </p:txBody>
      </p:sp>
    </p:spTree>
    <p:extLst>
      <p:ext uri="{BB962C8B-B14F-4D97-AF65-F5344CB8AC3E}">
        <p14:creationId xmlns:p14="http://schemas.microsoft.com/office/powerpoint/2010/main" val="3393285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6C2A8B-6D4E-A622-6947-BA0971540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2EDD-E8D3-AC75-0E58-3981679B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95AF3C-699A-412D-62D2-5ECA63D36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099" y="1825625"/>
            <a:ext cx="7177801" cy="4351338"/>
          </a:xfrm>
        </p:spPr>
      </p:pic>
    </p:spTree>
    <p:extLst>
      <p:ext uri="{BB962C8B-B14F-4D97-AF65-F5344CB8AC3E}">
        <p14:creationId xmlns:p14="http://schemas.microsoft.com/office/powerpoint/2010/main" val="1968599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37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June 2025</vt:lpstr>
      <vt:lpstr>Community protection – assessing the relationship between intervention coverage and impact</vt:lpstr>
      <vt:lpstr>Steps </vt:lpstr>
      <vt:lpstr>Oti with 3 interventions</vt:lpstr>
      <vt:lpstr>SMC coverage vs severe cases reduction for age groups 0-2 and 0-5</vt:lpstr>
      <vt:lpstr>Accra with only LLIN</vt:lpstr>
      <vt:lpstr>SMC coverage vs severe cases reduction for age groups 0-2 and 2-10</vt:lpstr>
      <vt:lpstr>Vaccine coverage vs severe cases reduction for age groups 0-2 and 0-5</vt:lpstr>
      <vt:lpstr>Vaccine coverage vs prevalence /severe cases reduction for age groups 2-10 and 0-2</vt:lpstr>
      <vt:lpstr>Next?</vt:lpstr>
      <vt:lpstr>Next?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15</cp:revision>
  <dcterms:created xsi:type="dcterms:W3CDTF">2025-06-26T16:32:41Z</dcterms:created>
  <dcterms:modified xsi:type="dcterms:W3CDTF">2025-06-30T09:47:57Z</dcterms:modified>
</cp:coreProperties>
</file>