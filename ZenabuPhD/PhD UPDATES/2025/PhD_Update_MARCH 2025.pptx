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9" r:id="rId15"/>
    <p:sldId id="280"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68"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982B6-261F-4E0D-85CF-AFB8898FA926}" type="doc">
      <dgm:prSet loTypeId="urn:microsoft.com/office/officeart/2005/8/layout/vList6" loCatId="list" qsTypeId="urn:microsoft.com/office/officeart/2005/8/quickstyle/simple3" qsCatId="simple" csTypeId="urn:microsoft.com/office/officeart/2005/8/colors/accent1_2" csCatId="accent1" phldr="1"/>
      <dgm:spPr/>
      <dgm:t>
        <a:bodyPr/>
        <a:lstStyle/>
        <a:p>
          <a:endParaRPr lang="en-US"/>
        </a:p>
      </dgm:t>
    </dgm:pt>
    <dgm:pt modelId="{6BD30B86-6E63-484E-9CF9-D5C6180BE587}">
      <dgm:prSet phldrT="[Text]" custT="1"/>
      <dgm:spPr/>
      <dgm:t>
        <a:bodyPr/>
        <a:lstStyle/>
        <a:p>
          <a:r>
            <a:rPr lang="en-US" sz="2800" dirty="0" smtClean="0"/>
            <a:t>Forward Propagation of Uncertainty</a:t>
          </a:r>
          <a:endParaRPr lang="en-US" sz="2800" dirty="0"/>
        </a:p>
      </dgm:t>
    </dgm:pt>
    <dgm:pt modelId="{E550FB3D-3EE7-453C-9528-C2A578C98294}" type="parTrans" cxnId="{4C1FD9F4-5CD8-42FF-ACF4-CE191FA36AEB}">
      <dgm:prSet/>
      <dgm:spPr/>
      <dgm:t>
        <a:bodyPr/>
        <a:lstStyle/>
        <a:p>
          <a:endParaRPr lang="en-US"/>
        </a:p>
      </dgm:t>
    </dgm:pt>
    <dgm:pt modelId="{C3B58F22-DF41-4CBC-A43D-5B82C008BEF1}" type="sibTrans" cxnId="{4C1FD9F4-5CD8-42FF-ACF4-CE191FA36AEB}">
      <dgm:prSet/>
      <dgm:spPr/>
      <dgm:t>
        <a:bodyPr/>
        <a:lstStyle/>
        <a:p>
          <a:endParaRPr lang="en-US"/>
        </a:p>
      </dgm:t>
    </dgm:pt>
    <dgm:pt modelId="{6B2FAED9-D35B-40EF-8571-857622692A77}">
      <dgm:prSet phldrT="[Text]" custT="1"/>
      <dgm:spPr/>
      <dgm:t>
        <a:bodyPr/>
        <a:lstStyle/>
        <a:p>
          <a:r>
            <a:rPr lang="en-US" sz="2800" dirty="0" smtClean="0"/>
            <a:t>Investigates the impacts of random input values of model parameters on model outputs</a:t>
          </a:r>
          <a:endParaRPr lang="en-US" sz="2800" dirty="0"/>
        </a:p>
      </dgm:t>
    </dgm:pt>
    <dgm:pt modelId="{36446724-EDA3-4799-BE41-305A8FE567CC}" type="parTrans" cxnId="{412359B2-18DB-4350-846A-9E645FB4A7EF}">
      <dgm:prSet/>
      <dgm:spPr/>
      <dgm:t>
        <a:bodyPr/>
        <a:lstStyle/>
        <a:p>
          <a:endParaRPr lang="en-US"/>
        </a:p>
      </dgm:t>
    </dgm:pt>
    <dgm:pt modelId="{9C197227-3985-4A0F-8C70-6DA014A00B96}" type="sibTrans" cxnId="{412359B2-18DB-4350-846A-9E645FB4A7EF}">
      <dgm:prSet/>
      <dgm:spPr/>
      <dgm:t>
        <a:bodyPr/>
        <a:lstStyle/>
        <a:p>
          <a:endParaRPr lang="en-US"/>
        </a:p>
      </dgm:t>
    </dgm:pt>
    <dgm:pt modelId="{8813CC15-E3AF-4EE9-8CC3-08E0DF124B2B}">
      <dgm:prSet phldrT="[Text]" custT="1"/>
      <dgm:spPr/>
      <dgm:t>
        <a:bodyPr/>
        <a:lstStyle/>
        <a:p>
          <a:r>
            <a:rPr lang="en-US" sz="2800" dirty="0" smtClean="0"/>
            <a:t>Inverse Uncertainty Quantification</a:t>
          </a:r>
          <a:endParaRPr lang="en-US" sz="2800" dirty="0"/>
        </a:p>
      </dgm:t>
    </dgm:pt>
    <dgm:pt modelId="{CE7CB66D-843B-4D82-ACAE-307F659C6710}" type="parTrans" cxnId="{EA2C217A-5BBF-4435-9F5B-0883B361B148}">
      <dgm:prSet/>
      <dgm:spPr/>
      <dgm:t>
        <a:bodyPr/>
        <a:lstStyle/>
        <a:p>
          <a:endParaRPr lang="en-US"/>
        </a:p>
      </dgm:t>
    </dgm:pt>
    <dgm:pt modelId="{1ED23F48-7363-4CE9-8B2C-FED4F4DB44AD}" type="sibTrans" cxnId="{EA2C217A-5BBF-4435-9F5B-0883B361B148}">
      <dgm:prSet/>
      <dgm:spPr/>
      <dgm:t>
        <a:bodyPr/>
        <a:lstStyle/>
        <a:p>
          <a:endParaRPr lang="en-US"/>
        </a:p>
      </dgm:t>
    </dgm:pt>
    <dgm:pt modelId="{53A706F1-7BE7-4B65-8C79-64D92BB217B0}">
      <dgm:prSet phldrT="[Text]" custT="1"/>
      <dgm:spPr/>
      <dgm:t>
        <a:bodyPr/>
        <a:lstStyle/>
        <a:p>
          <a:r>
            <a:rPr lang="en-US" sz="2800" dirty="0" smtClean="0"/>
            <a:t>using experimental data to learn about the sources of modeling uncertainty</a:t>
          </a:r>
          <a:endParaRPr lang="en-US" sz="2800" dirty="0"/>
        </a:p>
      </dgm:t>
    </dgm:pt>
    <dgm:pt modelId="{84C15831-477D-44C5-8EF7-3058C1722A7A}" type="parTrans" cxnId="{3517BC94-0B70-4749-8E13-46F75F6A0C6C}">
      <dgm:prSet/>
      <dgm:spPr/>
      <dgm:t>
        <a:bodyPr/>
        <a:lstStyle/>
        <a:p>
          <a:endParaRPr lang="en-US"/>
        </a:p>
      </dgm:t>
    </dgm:pt>
    <dgm:pt modelId="{F24A94F5-7CF3-43C4-BDCF-42C4BCCE841B}" type="sibTrans" cxnId="{3517BC94-0B70-4749-8E13-46F75F6A0C6C}">
      <dgm:prSet/>
      <dgm:spPr/>
      <dgm:t>
        <a:bodyPr/>
        <a:lstStyle/>
        <a:p>
          <a:endParaRPr lang="en-US"/>
        </a:p>
      </dgm:t>
    </dgm:pt>
    <dgm:pt modelId="{F6BC2A56-8E24-4633-9F0F-74F252669F27}" type="pres">
      <dgm:prSet presAssocID="{1E7982B6-261F-4E0D-85CF-AFB8898FA926}" presName="Name0" presStyleCnt="0">
        <dgm:presLayoutVars>
          <dgm:dir/>
          <dgm:animLvl val="lvl"/>
          <dgm:resizeHandles/>
        </dgm:presLayoutVars>
      </dgm:prSet>
      <dgm:spPr/>
      <dgm:t>
        <a:bodyPr/>
        <a:lstStyle/>
        <a:p>
          <a:endParaRPr lang="en-US"/>
        </a:p>
      </dgm:t>
    </dgm:pt>
    <dgm:pt modelId="{5C9A9BF0-147B-4478-A0E6-6DFE025FBCAC}" type="pres">
      <dgm:prSet presAssocID="{6BD30B86-6E63-484E-9CF9-D5C6180BE587}" presName="linNode" presStyleCnt="0"/>
      <dgm:spPr/>
    </dgm:pt>
    <dgm:pt modelId="{40BCD131-2073-4EDE-9795-02928553C85F}" type="pres">
      <dgm:prSet presAssocID="{6BD30B86-6E63-484E-9CF9-D5C6180BE587}" presName="parentShp" presStyleLbl="node1" presStyleIdx="0" presStyleCnt="2" custLinFactNeighborY="-26">
        <dgm:presLayoutVars>
          <dgm:bulletEnabled val="1"/>
        </dgm:presLayoutVars>
      </dgm:prSet>
      <dgm:spPr/>
      <dgm:t>
        <a:bodyPr/>
        <a:lstStyle/>
        <a:p>
          <a:endParaRPr lang="en-US"/>
        </a:p>
      </dgm:t>
    </dgm:pt>
    <dgm:pt modelId="{234E15B5-1992-433F-AE7A-2BD232D5F9C1}" type="pres">
      <dgm:prSet presAssocID="{6BD30B86-6E63-484E-9CF9-D5C6180BE587}" presName="childShp" presStyleLbl="bgAccFollowNode1" presStyleIdx="0" presStyleCnt="2" custLinFactNeighborX="-358" custLinFactNeighborY="-26">
        <dgm:presLayoutVars>
          <dgm:bulletEnabled val="1"/>
        </dgm:presLayoutVars>
      </dgm:prSet>
      <dgm:spPr/>
      <dgm:t>
        <a:bodyPr/>
        <a:lstStyle/>
        <a:p>
          <a:endParaRPr lang="en-US"/>
        </a:p>
      </dgm:t>
    </dgm:pt>
    <dgm:pt modelId="{147B896B-C0B3-4FD6-BB5D-C71145D3502F}" type="pres">
      <dgm:prSet presAssocID="{C3B58F22-DF41-4CBC-A43D-5B82C008BEF1}" presName="spacing" presStyleCnt="0"/>
      <dgm:spPr/>
    </dgm:pt>
    <dgm:pt modelId="{C8195DB9-FD51-4F69-B60F-250E8247B09B}" type="pres">
      <dgm:prSet presAssocID="{8813CC15-E3AF-4EE9-8CC3-08E0DF124B2B}" presName="linNode" presStyleCnt="0"/>
      <dgm:spPr/>
    </dgm:pt>
    <dgm:pt modelId="{116AF5B1-E45C-4738-8EBC-F071EB4E45FD}" type="pres">
      <dgm:prSet presAssocID="{8813CC15-E3AF-4EE9-8CC3-08E0DF124B2B}" presName="parentShp" presStyleLbl="node1" presStyleIdx="1" presStyleCnt="2">
        <dgm:presLayoutVars>
          <dgm:bulletEnabled val="1"/>
        </dgm:presLayoutVars>
      </dgm:prSet>
      <dgm:spPr/>
      <dgm:t>
        <a:bodyPr/>
        <a:lstStyle/>
        <a:p>
          <a:endParaRPr lang="en-US"/>
        </a:p>
      </dgm:t>
    </dgm:pt>
    <dgm:pt modelId="{AF97286F-DE4D-4D21-923A-0C8E3289DDB2}" type="pres">
      <dgm:prSet presAssocID="{8813CC15-E3AF-4EE9-8CC3-08E0DF124B2B}" presName="childShp" presStyleLbl="bgAccFollowNode1" presStyleIdx="1" presStyleCnt="2">
        <dgm:presLayoutVars>
          <dgm:bulletEnabled val="1"/>
        </dgm:presLayoutVars>
      </dgm:prSet>
      <dgm:spPr/>
      <dgm:t>
        <a:bodyPr/>
        <a:lstStyle/>
        <a:p>
          <a:endParaRPr lang="en-US"/>
        </a:p>
      </dgm:t>
    </dgm:pt>
  </dgm:ptLst>
  <dgm:cxnLst>
    <dgm:cxn modelId="{3517BC94-0B70-4749-8E13-46F75F6A0C6C}" srcId="{8813CC15-E3AF-4EE9-8CC3-08E0DF124B2B}" destId="{53A706F1-7BE7-4B65-8C79-64D92BB217B0}" srcOrd="0" destOrd="0" parTransId="{84C15831-477D-44C5-8EF7-3058C1722A7A}" sibTransId="{F24A94F5-7CF3-43C4-BDCF-42C4BCCE841B}"/>
    <dgm:cxn modelId="{4C1FD9F4-5CD8-42FF-ACF4-CE191FA36AEB}" srcId="{1E7982B6-261F-4E0D-85CF-AFB8898FA926}" destId="{6BD30B86-6E63-484E-9CF9-D5C6180BE587}" srcOrd="0" destOrd="0" parTransId="{E550FB3D-3EE7-453C-9528-C2A578C98294}" sibTransId="{C3B58F22-DF41-4CBC-A43D-5B82C008BEF1}"/>
    <dgm:cxn modelId="{DA6BDA08-0FC6-4E53-AB47-241F6623AEF4}" type="presOf" srcId="{1E7982B6-261F-4E0D-85CF-AFB8898FA926}" destId="{F6BC2A56-8E24-4633-9F0F-74F252669F27}" srcOrd="0" destOrd="0" presId="urn:microsoft.com/office/officeart/2005/8/layout/vList6"/>
    <dgm:cxn modelId="{A0405EAE-990B-4F20-B289-67131FB4278D}" type="presOf" srcId="{8813CC15-E3AF-4EE9-8CC3-08E0DF124B2B}" destId="{116AF5B1-E45C-4738-8EBC-F071EB4E45FD}" srcOrd="0" destOrd="0" presId="urn:microsoft.com/office/officeart/2005/8/layout/vList6"/>
    <dgm:cxn modelId="{51D2EB02-6BD6-422D-9314-1F385B053707}" type="presOf" srcId="{6BD30B86-6E63-484E-9CF9-D5C6180BE587}" destId="{40BCD131-2073-4EDE-9795-02928553C85F}" srcOrd="0" destOrd="0" presId="urn:microsoft.com/office/officeart/2005/8/layout/vList6"/>
    <dgm:cxn modelId="{412359B2-18DB-4350-846A-9E645FB4A7EF}" srcId="{6BD30B86-6E63-484E-9CF9-D5C6180BE587}" destId="{6B2FAED9-D35B-40EF-8571-857622692A77}" srcOrd="0" destOrd="0" parTransId="{36446724-EDA3-4799-BE41-305A8FE567CC}" sibTransId="{9C197227-3985-4A0F-8C70-6DA014A00B96}"/>
    <dgm:cxn modelId="{A1F09CA7-7683-4B05-9E24-EA96970D0CE2}" type="presOf" srcId="{53A706F1-7BE7-4B65-8C79-64D92BB217B0}" destId="{AF97286F-DE4D-4D21-923A-0C8E3289DDB2}" srcOrd="0" destOrd="0" presId="urn:microsoft.com/office/officeart/2005/8/layout/vList6"/>
    <dgm:cxn modelId="{A4404D18-9CBF-4384-8998-477683FAA36D}" type="presOf" srcId="{6B2FAED9-D35B-40EF-8571-857622692A77}" destId="{234E15B5-1992-433F-AE7A-2BD232D5F9C1}" srcOrd="0" destOrd="0" presId="urn:microsoft.com/office/officeart/2005/8/layout/vList6"/>
    <dgm:cxn modelId="{EA2C217A-5BBF-4435-9F5B-0883B361B148}" srcId="{1E7982B6-261F-4E0D-85CF-AFB8898FA926}" destId="{8813CC15-E3AF-4EE9-8CC3-08E0DF124B2B}" srcOrd="1" destOrd="0" parTransId="{CE7CB66D-843B-4D82-ACAE-307F659C6710}" sibTransId="{1ED23F48-7363-4CE9-8B2C-FED4F4DB44AD}"/>
    <dgm:cxn modelId="{36754631-76C3-48D8-9A08-076AD0002927}" type="presParOf" srcId="{F6BC2A56-8E24-4633-9F0F-74F252669F27}" destId="{5C9A9BF0-147B-4478-A0E6-6DFE025FBCAC}" srcOrd="0" destOrd="0" presId="urn:microsoft.com/office/officeart/2005/8/layout/vList6"/>
    <dgm:cxn modelId="{B62D4D64-F963-4188-9EBB-A1FCD2D788A1}" type="presParOf" srcId="{5C9A9BF0-147B-4478-A0E6-6DFE025FBCAC}" destId="{40BCD131-2073-4EDE-9795-02928553C85F}" srcOrd="0" destOrd="0" presId="urn:microsoft.com/office/officeart/2005/8/layout/vList6"/>
    <dgm:cxn modelId="{D79D9F45-60D5-4931-8000-F4313BB970EC}" type="presParOf" srcId="{5C9A9BF0-147B-4478-A0E6-6DFE025FBCAC}" destId="{234E15B5-1992-433F-AE7A-2BD232D5F9C1}" srcOrd="1" destOrd="0" presId="urn:microsoft.com/office/officeart/2005/8/layout/vList6"/>
    <dgm:cxn modelId="{C96FDB45-8DA8-4286-99A5-492ABF5FC4B2}" type="presParOf" srcId="{F6BC2A56-8E24-4633-9F0F-74F252669F27}" destId="{147B896B-C0B3-4FD6-BB5D-C71145D3502F}" srcOrd="1" destOrd="0" presId="urn:microsoft.com/office/officeart/2005/8/layout/vList6"/>
    <dgm:cxn modelId="{F7BFAE50-D638-4DE9-A0B3-E3CE5E5F8963}" type="presParOf" srcId="{F6BC2A56-8E24-4633-9F0F-74F252669F27}" destId="{C8195DB9-FD51-4F69-B60F-250E8247B09B}" srcOrd="2" destOrd="0" presId="urn:microsoft.com/office/officeart/2005/8/layout/vList6"/>
    <dgm:cxn modelId="{854C853F-1733-4F57-9FAA-5E4AC053F8A2}" type="presParOf" srcId="{C8195DB9-FD51-4F69-B60F-250E8247B09B}" destId="{116AF5B1-E45C-4738-8EBC-F071EB4E45FD}" srcOrd="0" destOrd="0" presId="urn:microsoft.com/office/officeart/2005/8/layout/vList6"/>
    <dgm:cxn modelId="{BC2874F3-D691-486F-BE9C-33A6E7CBEBAE}" type="presParOf" srcId="{C8195DB9-FD51-4F69-B60F-250E8247B09B}" destId="{AF97286F-DE4D-4D21-923A-0C8E3289DDB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DA2E1C-0015-4D0A-9271-50F46B3BC8A9}" type="doc">
      <dgm:prSet loTypeId="urn:microsoft.com/office/officeart/2005/8/layout/chevron1" loCatId="process" qsTypeId="urn:microsoft.com/office/officeart/2005/8/quickstyle/simple1" qsCatId="simple" csTypeId="urn:microsoft.com/office/officeart/2005/8/colors/accent2_4" csCatId="accent2" phldr="1"/>
      <dgm:spPr/>
    </dgm:pt>
    <dgm:pt modelId="{B7A7EA82-523F-4CF9-A5EE-B7644BD728C8}">
      <dgm:prSet phldrT="[Text]" custT="1"/>
      <dgm:spPr/>
      <dgm:t>
        <a:bodyPr/>
        <a:lstStyle/>
        <a:p>
          <a:r>
            <a:rPr lang="en-US" sz="1600" dirty="0" smtClean="0"/>
            <a:t>Objective 1: Understand the key drivers of impact of malaria interventions in Ghana</a:t>
          </a:r>
          <a:endParaRPr lang="en-US" sz="1600" dirty="0"/>
        </a:p>
      </dgm:t>
    </dgm:pt>
    <dgm:pt modelId="{74C039AF-64ED-4098-99B1-96742542C3A1}" type="parTrans" cxnId="{F22C7F00-EA54-4BAA-BAA8-3902A209A289}">
      <dgm:prSet/>
      <dgm:spPr/>
      <dgm:t>
        <a:bodyPr/>
        <a:lstStyle/>
        <a:p>
          <a:endParaRPr lang="en-US"/>
        </a:p>
      </dgm:t>
    </dgm:pt>
    <dgm:pt modelId="{1EEF7536-549D-4C4C-8608-47F7B5BFA429}" type="sibTrans" cxnId="{F22C7F00-EA54-4BAA-BAA8-3902A209A289}">
      <dgm:prSet/>
      <dgm:spPr/>
      <dgm:t>
        <a:bodyPr/>
        <a:lstStyle/>
        <a:p>
          <a:endParaRPr lang="en-US"/>
        </a:p>
      </dgm:t>
    </dgm:pt>
    <dgm:pt modelId="{92D4D07F-124D-4D0D-B352-090442024928}">
      <dgm:prSet phldrT="[Text]" custT="1"/>
      <dgm:spPr>
        <a:solidFill>
          <a:schemeClr val="bg2">
            <a:lumMod val="40000"/>
            <a:lumOff val="60000"/>
          </a:schemeClr>
        </a:solidFill>
      </dgm:spPr>
      <dgm:t>
        <a:bodyPr/>
        <a:lstStyle/>
        <a:p>
          <a:r>
            <a:rPr lang="en-US" sz="1600" dirty="0" smtClean="0"/>
            <a:t>Objective 3: Simulate the impact of malaria interventions in Ghana in order to support decisions for strategic planning </a:t>
          </a:r>
          <a:endParaRPr lang="en-US" sz="1600" dirty="0"/>
        </a:p>
      </dgm:t>
    </dgm:pt>
    <dgm:pt modelId="{D6A6D522-00F2-4BFA-A8DA-61CE9CAE95DB}" type="parTrans" cxnId="{186D20B6-C3C1-47F1-BFB2-4C19BB50322B}">
      <dgm:prSet/>
      <dgm:spPr/>
      <dgm:t>
        <a:bodyPr/>
        <a:lstStyle/>
        <a:p>
          <a:endParaRPr lang="en-US"/>
        </a:p>
      </dgm:t>
    </dgm:pt>
    <dgm:pt modelId="{D4C18A54-B46C-49E1-B3F7-901CB4BA2332}" type="sibTrans" cxnId="{186D20B6-C3C1-47F1-BFB2-4C19BB50322B}">
      <dgm:prSet/>
      <dgm:spPr/>
      <dgm:t>
        <a:bodyPr/>
        <a:lstStyle/>
        <a:p>
          <a:endParaRPr lang="en-US"/>
        </a:p>
      </dgm:t>
    </dgm:pt>
    <dgm:pt modelId="{39C5026A-70DB-44B0-99E9-240E7EE12322}">
      <dgm:prSet phldrT="[Text]" custT="1"/>
      <dgm:spPr>
        <a:solidFill>
          <a:schemeClr val="bg2">
            <a:lumMod val="40000"/>
            <a:lumOff val="60000"/>
          </a:schemeClr>
        </a:solidFill>
      </dgm:spPr>
      <dgm:t>
        <a:bodyPr/>
        <a:lstStyle/>
        <a:p>
          <a:r>
            <a:rPr lang="en-US" sz="1600" dirty="0" smtClean="0"/>
            <a:t>Objective 2: Develop a novel inference framework for calibrating the OpenMalaria model at a higher spatial resolution</a:t>
          </a:r>
          <a:endParaRPr lang="en-US" sz="1600" dirty="0"/>
        </a:p>
      </dgm:t>
    </dgm:pt>
    <dgm:pt modelId="{2E5475A2-F899-4FAB-AB3A-0505D18E2C8F}" type="sibTrans" cxnId="{2B570D05-5E16-42D3-A705-6150C885FD22}">
      <dgm:prSet/>
      <dgm:spPr/>
      <dgm:t>
        <a:bodyPr/>
        <a:lstStyle/>
        <a:p>
          <a:endParaRPr lang="en-US"/>
        </a:p>
      </dgm:t>
    </dgm:pt>
    <dgm:pt modelId="{3B4B5825-9D1B-4EF7-BEB4-501FFF1212B7}" type="parTrans" cxnId="{2B570D05-5E16-42D3-A705-6150C885FD22}">
      <dgm:prSet/>
      <dgm:spPr/>
      <dgm:t>
        <a:bodyPr/>
        <a:lstStyle/>
        <a:p>
          <a:endParaRPr lang="en-US"/>
        </a:p>
      </dgm:t>
    </dgm:pt>
    <dgm:pt modelId="{6B655AFE-4055-452C-91A1-35373C7D485F}" type="pres">
      <dgm:prSet presAssocID="{34DA2E1C-0015-4D0A-9271-50F46B3BC8A9}" presName="Name0" presStyleCnt="0">
        <dgm:presLayoutVars>
          <dgm:dir/>
          <dgm:animLvl val="lvl"/>
          <dgm:resizeHandles val="exact"/>
        </dgm:presLayoutVars>
      </dgm:prSet>
      <dgm:spPr/>
    </dgm:pt>
    <dgm:pt modelId="{5E73E2A8-82C3-489B-9C27-4D9F4835CBBB}" type="pres">
      <dgm:prSet presAssocID="{B7A7EA82-523F-4CF9-A5EE-B7644BD728C8}" presName="parTxOnly" presStyleLbl="node1" presStyleIdx="0" presStyleCnt="3">
        <dgm:presLayoutVars>
          <dgm:chMax val="0"/>
          <dgm:chPref val="0"/>
          <dgm:bulletEnabled val="1"/>
        </dgm:presLayoutVars>
      </dgm:prSet>
      <dgm:spPr/>
      <dgm:t>
        <a:bodyPr/>
        <a:lstStyle/>
        <a:p>
          <a:endParaRPr lang="en-US"/>
        </a:p>
      </dgm:t>
    </dgm:pt>
    <dgm:pt modelId="{CA7E8DC5-999A-4073-B045-406B3B9DE05B}" type="pres">
      <dgm:prSet presAssocID="{1EEF7536-549D-4C4C-8608-47F7B5BFA429}" presName="parTxOnlySpace" presStyleCnt="0"/>
      <dgm:spPr/>
    </dgm:pt>
    <dgm:pt modelId="{5796A450-ACCF-47F3-AB14-58D05BC160FC}" type="pres">
      <dgm:prSet presAssocID="{39C5026A-70DB-44B0-99E9-240E7EE12322}" presName="parTxOnly" presStyleLbl="node1" presStyleIdx="1" presStyleCnt="3">
        <dgm:presLayoutVars>
          <dgm:chMax val="0"/>
          <dgm:chPref val="0"/>
          <dgm:bulletEnabled val="1"/>
        </dgm:presLayoutVars>
      </dgm:prSet>
      <dgm:spPr/>
      <dgm:t>
        <a:bodyPr/>
        <a:lstStyle/>
        <a:p>
          <a:endParaRPr lang="en-US"/>
        </a:p>
      </dgm:t>
    </dgm:pt>
    <dgm:pt modelId="{2C4266BF-A7A6-472E-AA57-4A8FF254C584}" type="pres">
      <dgm:prSet presAssocID="{2E5475A2-F899-4FAB-AB3A-0505D18E2C8F}" presName="parTxOnlySpace" presStyleCnt="0"/>
      <dgm:spPr/>
    </dgm:pt>
    <dgm:pt modelId="{DA19C7B6-2CC0-4AB1-8ECC-BCAA75C85DFF}" type="pres">
      <dgm:prSet presAssocID="{92D4D07F-124D-4D0D-B352-090442024928}" presName="parTxOnly" presStyleLbl="node1" presStyleIdx="2" presStyleCnt="3">
        <dgm:presLayoutVars>
          <dgm:chMax val="0"/>
          <dgm:chPref val="0"/>
          <dgm:bulletEnabled val="1"/>
        </dgm:presLayoutVars>
      </dgm:prSet>
      <dgm:spPr/>
      <dgm:t>
        <a:bodyPr/>
        <a:lstStyle/>
        <a:p>
          <a:endParaRPr lang="en-US"/>
        </a:p>
      </dgm:t>
    </dgm:pt>
  </dgm:ptLst>
  <dgm:cxnLst>
    <dgm:cxn modelId="{2CCFB7E1-532E-4E32-9FC4-1D51D8325541}" type="presOf" srcId="{39C5026A-70DB-44B0-99E9-240E7EE12322}" destId="{5796A450-ACCF-47F3-AB14-58D05BC160FC}" srcOrd="0" destOrd="0" presId="urn:microsoft.com/office/officeart/2005/8/layout/chevron1"/>
    <dgm:cxn modelId="{186D20B6-C3C1-47F1-BFB2-4C19BB50322B}" srcId="{34DA2E1C-0015-4D0A-9271-50F46B3BC8A9}" destId="{92D4D07F-124D-4D0D-B352-090442024928}" srcOrd="2" destOrd="0" parTransId="{D6A6D522-00F2-4BFA-A8DA-61CE9CAE95DB}" sibTransId="{D4C18A54-B46C-49E1-B3F7-901CB4BA2332}"/>
    <dgm:cxn modelId="{AF9BBD6B-0C50-431F-B4DF-CBEB99E89DF6}" type="presOf" srcId="{92D4D07F-124D-4D0D-B352-090442024928}" destId="{DA19C7B6-2CC0-4AB1-8ECC-BCAA75C85DFF}" srcOrd="0" destOrd="0" presId="urn:microsoft.com/office/officeart/2005/8/layout/chevron1"/>
    <dgm:cxn modelId="{2B570D05-5E16-42D3-A705-6150C885FD22}" srcId="{34DA2E1C-0015-4D0A-9271-50F46B3BC8A9}" destId="{39C5026A-70DB-44B0-99E9-240E7EE12322}" srcOrd="1" destOrd="0" parTransId="{3B4B5825-9D1B-4EF7-BEB4-501FFF1212B7}" sibTransId="{2E5475A2-F899-4FAB-AB3A-0505D18E2C8F}"/>
    <dgm:cxn modelId="{A5DCE7AF-5239-4BE8-8E4E-F610BF93D11F}" type="presOf" srcId="{34DA2E1C-0015-4D0A-9271-50F46B3BC8A9}" destId="{6B655AFE-4055-452C-91A1-35373C7D485F}" srcOrd="0" destOrd="0" presId="urn:microsoft.com/office/officeart/2005/8/layout/chevron1"/>
    <dgm:cxn modelId="{0D3DD417-99A7-4A01-9843-B35F2D94E5D7}" type="presOf" srcId="{B7A7EA82-523F-4CF9-A5EE-B7644BD728C8}" destId="{5E73E2A8-82C3-489B-9C27-4D9F4835CBBB}" srcOrd="0" destOrd="0" presId="urn:microsoft.com/office/officeart/2005/8/layout/chevron1"/>
    <dgm:cxn modelId="{F22C7F00-EA54-4BAA-BAA8-3902A209A289}" srcId="{34DA2E1C-0015-4D0A-9271-50F46B3BC8A9}" destId="{B7A7EA82-523F-4CF9-A5EE-B7644BD728C8}" srcOrd="0" destOrd="0" parTransId="{74C039AF-64ED-4098-99B1-96742542C3A1}" sibTransId="{1EEF7536-549D-4C4C-8608-47F7B5BFA429}"/>
    <dgm:cxn modelId="{52FDE9E0-8777-4A5D-8BA5-D6A80A64C975}" type="presParOf" srcId="{6B655AFE-4055-452C-91A1-35373C7D485F}" destId="{5E73E2A8-82C3-489B-9C27-4D9F4835CBBB}" srcOrd="0" destOrd="0" presId="urn:microsoft.com/office/officeart/2005/8/layout/chevron1"/>
    <dgm:cxn modelId="{8A6A6802-0C41-44EC-AB63-F86F8565A855}" type="presParOf" srcId="{6B655AFE-4055-452C-91A1-35373C7D485F}" destId="{CA7E8DC5-999A-4073-B045-406B3B9DE05B}" srcOrd="1" destOrd="0" presId="urn:microsoft.com/office/officeart/2005/8/layout/chevron1"/>
    <dgm:cxn modelId="{12FB8558-DE68-4797-8777-51F278BD65E9}" type="presParOf" srcId="{6B655AFE-4055-452C-91A1-35373C7D485F}" destId="{5796A450-ACCF-47F3-AB14-58D05BC160FC}" srcOrd="2" destOrd="0" presId="urn:microsoft.com/office/officeart/2005/8/layout/chevron1"/>
    <dgm:cxn modelId="{CF2093D4-32BA-48DD-BB8C-1702D0C7776B}" type="presParOf" srcId="{6B655AFE-4055-452C-91A1-35373C7D485F}" destId="{2C4266BF-A7A6-472E-AA57-4A8FF254C584}" srcOrd="3" destOrd="0" presId="urn:microsoft.com/office/officeart/2005/8/layout/chevron1"/>
    <dgm:cxn modelId="{C82AB3B4-8C67-47E5-B062-A21704EAF2F9}" type="presParOf" srcId="{6B655AFE-4055-452C-91A1-35373C7D485F}" destId="{DA19C7B6-2CC0-4AB1-8ECC-BCAA75C85DFF}"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E15B5-1992-433F-AE7A-2BD232D5F9C1}">
      <dsp:nvSpPr>
        <dsp:cNvPr id="0" name=""/>
        <dsp:cNvSpPr/>
      </dsp:nvSpPr>
      <dsp:spPr>
        <a:xfrm>
          <a:off x="3239560" y="0"/>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Investigates the impacts of random input values of model parameters on model outputs</a:t>
          </a:r>
          <a:endParaRPr lang="en-US" sz="2800" kern="1200" dirty="0"/>
        </a:p>
      </dsp:txBody>
      <dsp:txXfrm>
        <a:off x="3239560" y="293504"/>
        <a:ext cx="3996288" cy="1761024"/>
      </dsp:txXfrm>
    </dsp:sp>
    <dsp:sp modelId="{40BCD131-2073-4EDE-9795-02928553C85F}">
      <dsp:nvSpPr>
        <dsp:cNvPr id="0" name=""/>
        <dsp:cNvSpPr/>
      </dsp:nvSpPr>
      <dsp:spPr>
        <a:xfrm>
          <a:off x="0" y="0"/>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Forward Propagation of Uncertainty</a:t>
          </a:r>
          <a:endParaRPr lang="en-US" sz="2800" kern="1200" dirty="0"/>
        </a:p>
      </dsp:txBody>
      <dsp:txXfrm>
        <a:off x="114621" y="114621"/>
        <a:ext cx="3021958" cy="2118790"/>
      </dsp:txXfrm>
    </dsp:sp>
    <dsp:sp modelId="{AF97286F-DE4D-4D21-923A-0C8E3289DDB2}">
      <dsp:nvSpPr>
        <dsp:cNvPr id="0" name=""/>
        <dsp:cNvSpPr/>
      </dsp:nvSpPr>
      <dsp:spPr>
        <a:xfrm>
          <a:off x="3251199" y="2583438"/>
          <a:ext cx="4876800" cy="2348032"/>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dirty="0" smtClean="0"/>
            <a:t>using experimental data to learn about the sources of modeling uncertainty</a:t>
          </a:r>
          <a:endParaRPr lang="en-US" sz="2800" kern="1200" dirty="0"/>
        </a:p>
      </dsp:txBody>
      <dsp:txXfrm>
        <a:off x="3251199" y="2876942"/>
        <a:ext cx="3996288" cy="1761024"/>
      </dsp:txXfrm>
    </dsp:sp>
    <dsp:sp modelId="{116AF5B1-E45C-4738-8EBC-F071EB4E45FD}">
      <dsp:nvSpPr>
        <dsp:cNvPr id="0" name=""/>
        <dsp:cNvSpPr/>
      </dsp:nvSpPr>
      <dsp:spPr>
        <a:xfrm>
          <a:off x="0" y="2583438"/>
          <a:ext cx="3251200" cy="2348032"/>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US" sz="2800" kern="1200" dirty="0" smtClean="0"/>
            <a:t>Inverse Uncertainty Quantification</a:t>
          </a:r>
          <a:endParaRPr lang="en-US" sz="2800" kern="1200" dirty="0"/>
        </a:p>
      </dsp:txBody>
      <dsp:txXfrm>
        <a:off x="114621" y="2698059"/>
        <a:ext cx="3021958" cy="2118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3E2A8-82C3-489B-9C27-4D9F4835CBBB}">
      <dsp:nvSpPr>
        <dsp:cNvPr id="0" name=""/>
        <dsp:cNvSpPr/>
      </dsp:nvSpPr>
      <dsp:spPr>
        <a:xfrm>
          <a:off x="3571" y="0"/>
          <a:ext cx="4351734" cy="981314"/>
        </a:xfrm>
        <a:prstGeom prst="chevron">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1: Understand the key drivers of impact of malaria interventions in Ghana</a:t>
          </a:r>
          <a:endParaRPr lang="en-US" sz="1600" kern="1200" dirty="0"/>
        </a:p>
      </dsp:txBody>
      <dsp:txXfrm>
        <a:off x="494228" y="0"/>
        <a:ext cx="3370420" cy="981314"/>
      </dsp:txXfrm>
    </dsp:sp>
    <dsp:sp modelId="{5796A450-ACCF-47F3-AB14-58D05BC160FC}">
      <dsp:nvSpPr>
        <dsp:cNvPr id="0" name=""/>
        <dsp:cNvSpPr/>
      </dsp:nvSpPr>
      <dsp:spPr>
        <a:xfrm>
          <a:off x="3920132"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2: Develop a novel inference framework for calibrating the OpenMalaria model at a higher spatial resolution</a:t>
          </a:r>
          <a:endParaRPr lang="en-US" sz="1600" kern="1200" dirty="0"/>
        </a:p>
      </dsp:txBody>
      <dsp:txXfrm>
        <a:off x="4410789" y="0"/>
        <a:ext cx="3370420" cy="981314"/>
      </dsp:txXfrm>
    </dsp:sp>
    <dsp:sp modelId="{DA19C7B6-2CC0-4AB1-8ECC-BCAA75C85DFF}">
      <dsp:nvSpPr>
        <dsp:cNvPr id="0" name=""/>
        <dsp:cNvSpPr/>
      </dsp:nvSpPr>
      <dsp:spPr>
        <a:xfrm>
          <a:off x="7836693" y="0"/>
          <a:ext cx="4351734" cy="981314"/>
        </a:xfrm>
        <a:prstGeom prst="chevron">
          <a:avLst/>
        </a:prstGeom>
        <a:solidFill>
          <a:schemeClr val="bg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US" sz="1600" kern="1200" dirty="0" smtClean="0"/>
            <a:t>Objective 3: Simulate the impact of malaria interventions in Ghana in order to support decisions for strategic planning </a:t>
          </a:r>
          <a:endParaRPr lang="en-US" sz="1600" kern="1200" dirty="0"/>
        </a:p>
      </dsp:txBody>
      <dsp:txXfrm>
        <a:off x="8327350" y="0"/>
        <a:ext cx="3370420" cy="98131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D6550-9374-48A5-8455-5DECF1C15DBC}" type="datetimeFigureOut">
              <a:rPr lang="de-CH" smtClean="0"/>
              <a:t>07.03.2025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99AD97-5F24-48E9-8814-FAC94B127C9B}" type="slidenum">
              <a:rPr lang="de-CH" smtClean="0"/>
              <a:t>‹#›</a:t>
            </a:fld>
            <a:endParaRPr lang="de-CH"/>
          </a:p>
        </p:txBody>
      </p:sp>
    </p:spTree>
    <p:extLst>
      <p:ext uri="{BB962C8B-B14F-4D97-AF65-F5344CB8AC3E}">
        <p14:creationId xmlns:p14="http://schemas.microsoft.com/office/powerpoint/2010/main" val="282121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e9c2c056fb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e9c2c056f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060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933316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565487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493494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e9c2c056fb_0_144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None/>
            </a:pPr>
            <a:endParaRPr/>
          </a:p>
        </p:txBody>
      </p:sp>
      <p:sp>
        <p:nvSpPr>
          <p:cNvPr id="525" name="Google Shape;525;g2e9c2c056fb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654623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en-US" dirty="0" smtClean="0"/>
              <a:t>To address uncertainties, we identify and quantify the various sources of uncertainty</a:t>
            </a:r>
            <a:r>
              <a:rPr lang="en-US" baseline="0" dirty="0" smtClean="0"/>
              <a:t> in intervention modeling</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534995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panose="020B0604020202020204" pitchFamily="34" charset="0"/>
              <a:buNone/>
            </a:pP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86282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95772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401837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071267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28111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964236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248433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202284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e9de4d3219_0_2: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171450" lvl="0" indent="-171450" algn="l" rtl="0">
              <a:lnSpc>
                <a:spcPct val="117999"/>
              </a:lnSpc>
              <a:spcBef>
                <a:spcPts val="0"/>
              </a:spcBef>
              <a:spcAft>
                <a:spcPts val="0"/>
              </a:spcAft>
              <a:buSzPts val="1300"/>
              <a:buFont typeface="Arial" panose="020B0604020202020204" pitchFamily="34" charset="0"/>
              <a:buChar char="•"/>
            </a:pPr>
            <a:r>
              <a:rPr lang="de-CH" dirty="0" smtClean="0"/>
              <a:t>LLINs</a:t>
            </a:r>
            <a:r>
              <a:rPr lang="de-CH" baseline="0" dirty="0" smtClean="0"/>
              <a:t> </a:t>
            </a:r>
            <a:r>
              <a:rPr lang="de-CH" baseline="0" dirty="0" err="1" smtClean="0"/>
              <a:t>is</a:t>
            </a:r>
            <a:r>
              <a:rPr lang="de-CH" baseline="0" dirty="0" smtClean="0"/>
              <a:t> </a:t>
            </a:r>
            <a:r>
              <a:rPr lang="de-CH" baseline="0" dirty="0" err="1" smtClean="0"/>
              <a:t>the</a:t>
            </a:r>
            <a:r>
              <a:rPr lang="de-CH" baseline="0" dirty="0" smtClean="0"/>
              <a:t> </a:t>
            </a:r>
            <a:r>
              <a:rPr lang="de-CH" baseline="0" dirty="0" err="1" smtClean="0"/>
              <a:t>most</a:t>
            </a:r>
            <a:r>
              <a:rPr lang="de-CH" baseline="0" dirty="0" smtClean="0"/>
              <a:t> </a:t>
            </a:r>
            <a:r>
              <a:rPr lang="de-CH" baseline="0" dirty="0" err="1" smtClean="0"/>
              <a:t>influential</a:t>
            </a:r>
            <a:r>
              <a:rPr lang="de-CH" baseline="0" dirty="0" smtClean="0"/>
              <a:t> in </a:t>
            </a:r>
            <a:r>
              <a:rPr lang="de-CH" baseline="0" dirty="0" err="1" smtClean="0"/>
              <a:t>determining</a:t>
            </a:r>
            <a:r>
              <a:rPr lang="de-CH" baseline="0" dirty="0" smtClean="0"/>
              <a:t> </a:t>
            </a:r>
            <a:r>
              <a:rPr lang="de-CH" baseline="0" dirty="0" err="1" smtClean="0"/>
              <a:t>the</a:t>
            </a:r>
            <a:r>
              <a:rPr lang="de-CH" baseline="0" dirty="0" smtClean="0"/>
              <a:t> </a:t>
            </a:r>
            <a:r>
              <a:rPr lang="de-CH" baseline="0" dirty="0" err="1" smtClean="0"/>
              <a:t>output</a:t>
            </a:r>
            <a:r>
              <a:rPr lang="de-CH" baseline="0" dirty="0" smtClean="0"/>
              <a:t> </a:t>
            </a:r>
            <a:r>
              <a:rPr lang="de-CH" baseline="0" dirty="0" err="1" smtClean="0"/>
              <a:t>variance</a:t>
            </a:r>
            <a:endParaRPr dirty="0"/>
          </a:p>
        </p:txBody>
      </p:sp>
      <p:sp>
        <p:nvSpPr>
          <p:cNvPr id="517" name="Google Shape;517;g2e9de4d321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288471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23216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275450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C941C7-8700-4A13-BE50-7FAF038F3E9E}"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84383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Date Placeholder 4"/>
          <p:cNvSpPr>
            <a:spLocks noGrp="1"/>
          </p:cNvSpPr>
          <p:nvPr>
            <p:ph type="dt" sz="half" idx="10"/>
          </p:nvPr>
        </p:nvSpPr>
        <p:spPr/>
        <p:txBody>
          <a:bodyPr/>
          <a:lstStyle/>
          <a:p>
            <a:fld id="{7BC941C7-8700-4A13-BE50-7FAF038F3E9E}" type="datetimeFigureOut">
              <a:rPr lang="de-CH" smtClean="0"/>
              <a:t>07.03.2025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25037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7" name="Date Placeholder 6"/>
          <p:cNvSpPr>
            <a:spLocks noGrp="1"/>
          </p:cNvSpPr>
          <p:nvPr>
            <p:ph type="dt" sz="half" idx="10"/>
          </p:nvPr>
        </p:nvSpPr>
        <p:spPr/>
        <p:txBody>
          <a:bodyPr/>
          <a:lstStyle/>
          <a:p>
            <a:fld id="{7BC941C7-8700-4A13-BE50-7FAF038F3E9E}" type="datetimeFigureOut">
              <a:rPr lang="de-CH" smtClean="0"/>
              <a:t>07.03.2025</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10097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Date Placeholder 2"/>
          <p:cNvSpPr>
            <a:spLocks noGrp="1"/>
          </p:cNvSpPr>
          <p:nvPr>
            <p:ph type="dt" sz="half" idx="10"/>
          </p:nvPr>
        </p:nvSpPr>
        <p:spPr/>
        <p:txBody>
          <a:bodyPr/>
          <a:lstStyle/>
          <a:p>
            <a:fld id="{7BC941C7-8700-4A13-BE50-7FAF038F3E9E}" type="datetimeFigureOut">
              <a:rPr lang="de-CH" smtClean="0"/>
              <a:t>07.03.2025</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2439699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C941C7-8700-4A13-BE50-7FAF038F3E9E}" type="datetimeFigureOut">
              <a:rPr lang="de-CH" smtClean="0"/>
              <a:t>07.03.2025</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795895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C941C7-8700-4A13-BE50-7FAF038F3E9E}" type="datetimeFigureOut">
              <a:rPr lang="de-CH" smtClean="0"/>
              <a:t>07.03.2025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924266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C941C7-8700-4A13-BE50-7FAF038F3E9E}" type="datetimeFigureOut">
              <a:rPr lang="de-CH" smtClean="0"/>
              <a:t>07.03.2025</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192337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1350357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10"/>
          </p:nvPr>
        </p:nvSpPr>
        <p:spPr/>
        <p:txBody>
          <a:bodyPr/>
          <a:lstStyle/>
          <a:p>
            <a:fld id="{7BC941C7-8700-4A13-BE50-7FAF038F3E9E}" type="datetimeFigureOut">
              <a:rPr lang="de-CH" smtClean="0"/>
              <a:t>07.03.2025</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5FF2C3B4-4417-46CF-8341-65DFD4834FF6}" type="slidenum">
              <a:rPr lang="de-CH" smtClean="0"/>
              <a:t>‹#›</a:t>
            </a:fld>
            <a:endParaRPr lang="de-CH"/>
          </a:p>
        </p:txBody>
      </p:sp>
    </p:spTree>
    <p:extLst>
      <p:ext uri="{BB962C8B-B14F-4D97-AF65-F5344CB8AC3E}">
        <p14:creationId xmlns:p14="http://schemas.microsoft.com/office/powerpoint/2010/main" val="3677886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cSld name="Cover">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5186289" y="3621023"/>
            <a:ext cx="5935600" cy="1166800"/>
          </a:xfrm>
          <a:prstGeom prst="rect">
            <a:avLst/>
          </a:prstGeom>
          <a:noFill/>
          <a:ln>
            <a:noFill/>
          </a:ln>
        </p:spPr>
        <p:txBody>
          <a:bodyPr spcFirstLastPara="1" wrap="square" lIns="0" tIns="34275" rIns="68575" bIns="34275" anchor="b" anchorCtr="0">
            <a:noAutofit/>
          </a:bodyPr>
          <a:lstStyle>
            <a:lvl1pPr marL="609585" lvl="0" indent="-304792" algn="l" rtl="0">
              <a:lnSpc>
                <a:spcPct val="100000"/>
              </a:lnSpc>
              <a:spcBef>
                <a:spcPts val="400"/>
              </a:spcBef>
              <a:spcAft>
                <a:spcPts val="0"/>
              </a:spcAft>
              <a:buSzPts val="3500"/>
              <a:buNone/>
              <a:defRPr sz="3733">
                <a:solidFill>
                  <a:schemeClr val="accent3"/>
                </a:solidFil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2" name="Google Shape;52;p13"/>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rtl="0">
              <a:lnSpc>
                <a:spcPct val="100000"/>
              </a:lnSpc>
              <a:spcBef>
                <a:spcPts val="400"/>
              </a:spcBef>
              <a:spcAft>
                <a:spcPts val="0"/>
              </a:spcAft>
              <a:buSzPts val="2000"/>
              <a:buNone/>
              <a:defRPr sz="2133"/>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pic>
        <p:nvPicPr>
          <p:cNvPr id="53" name="Google Shape;53;p13"/>
          <p:cNvPicPr preferRelativeResize="0"/>
          <p:nvPr/>
        </p:nvPicPr>
        <p:blipFill rotWithShape="1">
          <a:blip r:embed="rId2">
            <a:alphaModFix/>
          </a:blip>
          <a:srcRect b="52283"/>
          <a:stretch/>
        </p:blipFill>
        <p:spPr>
          <a:xfrm>
            <a:off x="5203088" y="2168490"/>
            <a:ext cx="4134489" cy="1142057"/>
          </a:xfrm>
          <a:prstGeom prst="rect">
            <a:avLst/>
          </a:prstGeom>
          <a:noFill/>
          <a:ln>
            <a:noFill/>
          </a:ln>
        </p:spPr>
      </p:pic>
      <p:pic>
        <p:nvPicPr>
          <p:cNvPr id="54" name="Google Shape;54;p13"/>
          <p:cNvPicPr preferRelativeResize="0"/>
          <p:nvPr/>
        </p:nvPicPr>
        <p:blipFill rotWithShape="1">
          <a:blip r:embed="rId3">
            <a:alphaModFix/>
          </a:blip>
          <a:srcRect l="38525" t="1212" b="236"/>
          <a:stretch/>
        </p:blipFill>
        <p:spPr>
          <a:xfrm>
            <a:off x="1" y="1"/>
            <a:ext cx="4215433" cy="6858001"/>
          </a:xfrm>
          <a:prstGeom prst="rect">
            <a:avLst/>
          </a:prstGeom>
          <a:noFill/>
          <a:ln>
            <a:noFill/>
          </a:ln>
        </p:spPr>
      </p:pic>
      <p:sp>
        <p:nvSpPr>
          <p:cNvPr id="55" name="Google Shape;55;p13"/>
          <p:cNvSpPr txBox="1">
            <a:spLocks noGrp="1"/>
          </p:cNvSpPr>
          <p:nvPr>
            <p:ph type="body" idx="3"/>
          </p:nvPr>
        </p:nvSpPr>
        <p:spPr>
          <a:xfrm>
            <a:off x="5186289" y="4921157"/>
            <a:ext cx="5935600" cy="466400"/>
          </a:xfrm>
          <a:prstGeom prst="rect">
            <a:avLst/>
          </a:prstGeom>
          <a:noFill/>
          <a:ln>
            <a:noFill/>
          </a:ln>
        </p:spPr>
        <p:txBody>
          <a:bodyPr spcFirstLastPara="1" wrap="square" lIns="0" tIns="34275" rIns="68575" bIns="34275" anchor="t" anchorCtr="0">
            <a:noAutofit/>
          </a:bodyPr>
          <a:lstStyle>
            <a:lvl1pPr marL="609585" lvl="0" indent="-304792" algn="l" rtl="0">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rtl="0">
              <a:lnSpc>
                <a:spcPct val="100000"/>
              </a:lnSpc>
              <a:spcBef>
                <a:spcPts val="1600"/>
              </a:spcBef>
              <a:spcAft>
                <a:spcPts val="0"/>
              </a:spcAft>
              <a:buSzPts val="1700"/>
              <a:buChar char="○"/>
              <a:defRPr/>
            </a:lvl2pPr>
            <a:lvl3pPr marL="1828754" lvl="2" indent="-448722" algn="l" rtl="0">
              <a:lnSpc>
                <a:spcPct val="100000"/>
              </a:lnSpc>
              <a:spcBef>
                <a:spcPts val="1600"/>
              </a:spcBef>
              <a:spcAft>
                <a:spcPts val="0"/>
              </a:spcAft>
              <a:buSzPts val="1700"/>
              <a:buChar char="■"/>
              <a:defRPr/>
            </a:lvl3pPr>
            <a:lvl4pPr marL="2438339" lvl="3" indent="-448722" algn="l" rtl="0">
              <a:lnSpc>
                <a:spcPct val="100000"/>
              </a:lnSpc>
              <a:spcBef>
                <a:spcPts val="1600"/>
              </a:spcBef>
              <a:spcAft>
                <a:spcPts val="0"/>
              </a:spcAft>
              <a:buSzPts val="1700"/>
              <a:buChar char="●"/>
              <a:defRPr/>
            </a:lvl4pPr>
            <a:lvl5pPr marL="3047924" lvl="4" indent="-448722" algn="l" rtl="0">
              <a:lnSpc>
                <a:spcPct val="100000"/>
              </a:lnSpc>
              <a:spcBef>
                <a:spcPts val="1600"/>
              </a:spcBef>
              <a:spcAft>
                <a:spcPts val="0"/>
              </a:spcAft>
              <a:buSzPts val="17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4019092172"/>
      </p:ext>
    </p:extLst>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90"/>
        <p:cNvGrpSpPr/>
        <p:nvPr/>
      </p:nvGrpSpPr>
      <p:grpSpPr>
        <a:xfrm>
          <a:off x="0" y="0"/>
          <a:ext cx="0" cy="0"/>
          <a:chOff x="0" y="0"/>
          <a:chExt cx="0" cy="0"/>
        </a:xfrm>
      </p:grpSpPr>
      <p:sp>
        <p:nvSpPr>
          <p:cNvPr id="291" name="Google Shape;291;p4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rtl="0">
              <a:lnSpc>
                <a:spcPct val="90000"/>
              </a:lnSpc>
              <a:spcBef>
                <a:spcPts val="0"/>
              </a:spcBef>
              <a:spcAft>
                <a:spcPts val="0"/>
              </a:spcAft>
              <a:buClr>
                <a:schemeClr val="accent1"/>
              </a:buClr>
              <a:buSzPts val="2400"/>
              <a:buFont typeface="Palatino Linotype"/>
              <a:buNone/>
              <a:defRPr>
                <a:solidFill>
                  <a:schemeClr val="accent1"/>
                </a:solidFill>
                <a:latin typeface="Palatino Linotype"/>
                <a:ea typeface="Palatino Linotype"/>
                <a:cs typeface="Palatino Linotype"/>
                <a:sym typeface="Palatino Linotyp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92" name="Google Shape;292;p4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0"/>
              </a:spcBef>
              <a:spcAft>
                <a:spcPts val="0"/>
              </a:spcAft>
              <a:buSzPts val="2250"/>
              <a:buNone/>
              <a:defRPr>
                <a:latin typeface="Palatino Linotype"/>
                <a:ea typeface="Palatino Linotype"/>
                <a:cs typeface="Palatino Linotype"/>
                <a:sym typeface="Palatino Linotype"/>
              </a:defRPr>
            </a:lvl1pPr>
            <a:lvl2pPr marL="1219170" lvl="1" indent="-304792" algn="l" rtl="0">
              <a:lnSpc>
                <a:spcPct val="100000"/>
              </a:lnSpc>
              <a:spcBef>
                <a:spcPts val="800"/>
              </a:spcBef>
              <a:spcAft>
                <a:spcPts val="0"/>
              </a:spcAft>
              <a:buSzPts val="2000"/>
              <a:buNone/>
              <a:defRPr/>
            </a:lvl2pPr>
            <a:lvl3pPr marL="1828754" lvl="2" indent="-304792" algn="l" rtl="0">
              <a:lnSpc>
                <a:spcPct val="100000"/>
              </a:lnSpc>
              <a:spcBef>
                <a:spcPts val="400"/>
              </a:spcBef>
              <a:spcAft>
                <a:spcPts val="0"/>
              </a:spcAft>
              <a:buSzPts val="2000"/>
              <a:buNone/>
              <a:defRPr/>
            </a:lvl3pPr>
            <a:lvl4pPr marL="2438339" lvl="3" indent="-304792" algn="l" rtl="0">
              <a:lnSpc>
                <a:spcPct val="100000"/>
              </a:lnSpc>
              <a:spcBef>
                <a:spcPts val="400"/>
              </a:spcBef>
              <a:spcAft>
                <a:spcPts val="0"/>
              </a:spcAft>
              <a:buSzPts val="2000"/>
              <a:buNone/>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3" name="Google Shape;293;p4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rtl="0">
              <a:lnSpc>
                <a:spcPct val="100000"/>
              </a:lnSpc>
              <a:spcBef>
                <a:spcPts val="400"/>
              </a:spcBef>
              <a:spcAft>
                <a:spcPts val="0"/>
              </a:spcAft>
              <a:buSzPts val="2250"/>
              <a:buFont typeface="Arial"/>
              <a:buNone/>
              <a:defRPr sz="2400" b="1">
                <a:solidFill>
                  <a:srgbClr val="222222"/>
                </a:solidFill>
                <a:latin typeface="Palatino Linotype"/>
                <a:ea typeface="Palatino Linotype"/>
                <a:cs typeface="Palatino Linotype"/>
                <a:sym typeface="Palatino Linotype"/>
              </a:defRPr>
            </a:lvl1pPr>
            <a:lvl2pPr marL="1219170" lvl="1" indent="-495288" algn="l" rtl="0">
              <a:lnSpc>
                <a:spcPct val="100000"/>
              </a:lnSpc>
              <a:spcBef>
                <a:spcPts val="400"/>
              </a:spcBef>
              <a:spcAft>
                <a:spcPts val="0"/>
              </a:spcAft>
              <a:buSzPts val="2250"/>
              <a:buChar char="-"/>
              <a:defRPr/>
            </a:lvl2pPr>
            <a:lvl3pPr marL="1828754" lvl="2" indent="-495288" algn="l" rtl="0">
              <a:lnSpc>
                <a:spcPct val="100000"/>
              </a:lnSpc>
              <a:spcBef>
                <a:spcPts val="400"/>
              </a:spcBef>
              <a:spcAft>
                <a:spcPts val="0"/>
              </a:spcAft>
              <a:buSzPts val="2250"/>
              <a:buChar char="▪"/>
              <a:defRPr/>
            </a:lvl3pPr>
            <a:lvl4pPr marL="2438339" lvl="3" indent="-495288" algn="l" rtl="0">
              <a:lnSpc>
                <a:spcPct val="100000"/>
              </a:lnSpc>
              <a:spcBef>
                <a:spcPts val="400"/>
              </a:spcBef>
              <a:spcAft>
                <a:spcPts val="0"/>
              </a:spcAft>
              <a:buSzPts val="2250"/>
              <a:buChar char="-"/>
              <a:defRPr/>
            </a:lvl4pPr>
            <a:lvl5pPr marL="3047924" lvl="4" indent="-495288" algn="l" rtl="0">
              <a:lnSpc>
                <a:spcPct val="100000"/>
              </a:lnSpc>
              <a:spcBef>
                <a:spcPts val="400"/>
              </a:spcBef>
              <a:spcAft>
                <a:spcPts val="0"/>
              </a:spcAft>
              <a:buSzPts val="225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
        <p:nvSpPr>
          <p:cNvPr id="294" name="Google Shape;294;p4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rtl="0">
              <a:lnSpc>
                <a:spcPct val="93000"/>
              </a:lnSpc>
              <a:spcBef>
                <a:spcPts val="0"/>
              </a:spcBef>
              <a:spcAft>
                <a:spcPts val="0"/>
              </a:spcAft>
              <a:buSzPts val="1400"/>
              <a:buNone/>
              <a:defRPr/>
            </a:lvl1pPr>
            <a:lvl2pPr lvl="1" algn="l" rtl="0">
              <a:lnSpc>
                <a:spcPct val="93000"/>
              </a:lnSpc>
              <a:spcBef>
                <a:spcPts val="0"/>
              </a:spcBef>
              <a:spcAft>
                <a:spcPts val="0"/>
              </a:spcAft>
              <a:buSzPts val="1400"/>
              <a:buNone/>
              <a:defRPr/>
            </a:lvl2pPr>
            <a:lvl3pPr lvl="2" algn="l" rtl="0">
              <a:lnSpc>
                <a:spcPct val="93000"/>
              </a:lnSpc>
              <a:spcBef>
                <a:spcPts val="0"/>
              </a:spcBef>
              <a:spcAft>
                <a:spcPts val="0"/>
              </a:spcAft>
              <a:buSzPts val="1400"/>
              <a:buNone/>
              <a:defRPr/>
            </a:lvl3pPr>
            <a:lvl4pPr lvl="3" algn="l" rtl="0">
              <a:lnSpc>
                <a:spcPct val="93000"/>
              </a:lnSpc>
              <a:spcBef>
                <a:spcPts val="0"/>
              </a:spcBef>
              <a:spcAft>
                <a:spcPts val="0"/>
              </a:spcAft>
              <a:buSzPts val="1400"/>
              <a:buNone/>
              <a:defRPr/>
            </a:lvl4pPr>
            <a:lvl5pPr lvl="4" algn="l" rtl="0">
              <a:lnSpc>
                <a:spcPct val="93000"/>
              </a:lnSpc>
              <a:spcBef>
                <a:spcPts val="0"/>
              </a:spcBef>
              <a:spcAft>
                <a:spcPts val="0"/>
              </a:spcAft>
              <a:buSzPts val="1400"/>
              <a:buNone/>
              <a:defRPr/>
            </a:lvl5pPr>
            <a:lvl6pPr lvl="5" algn="l" rtl="0">
              <a:lnSpc>
                <a:spcPct val="93000"/>
              </a:lnSpc>
              <a:spcBef>
                <a:spcPts val="0"/>
              </a:spcBef>
              <a:spcAft>
                <a:spcPts val="0"/>
              </a:spcAft>
              <a:buSzPts val="1400"/>
              <a:buNone/>
              <a:defRPr/>
            </a:lvl6pPr>
            <a:lvl7pPr lvl="6" algn="l" rtl="0">
              <a:lnSpc>
                <a:spcPct val="93000"/>
              </a:lnSpc>
              <a:spcBef>
                <a:spcPts val="0"/>
              </a:spcBef>
              <a:spcAft>
                <a:spcPts val="0"/>
              </a:spcAft>
              <a:buSzPts val="1400"/>
              <a:buNone/>
              <a:defRPr/>
            </a:lvl7pPr>
            <a:lvl8pPr lvl="7" algn="l" rtl="0">
              <a:lnSpc>
                <a:spcPct val="93000"/>
              </a:lnSpc>
              <a:spcBef>
                <a:spcPts val="0"/>
              </a:spcBef>
              <a:spcAft>
                <a:spcPts val="0"/>
              </a:spcAft>
              <a:buSzPts val="1400"/>
              <a:buNone/>
              <a:defRPr/>
            </a:lvl8pPr>
            <a:lvl9pPr lvl="8" algn="l" rtl="0">
              <a:lnSpc>
                <a:spcPct val="93000"/>
              </a:lnSpc>
              <a:spcBef>
                <a:spcPts val="0"/>
              </a:spcBef>
              <a:spcAft>
                <a:spcPts val="0"/>
              </a:spcAft>
              <a:buSzPts val="1400"/>
              <a:buNone/>
              <a:defRPr/>
            </a:lvl9pPr>
          </a:lstStyle>
          <a:p>
            <a:endParaRPr/>
          </a:p>
        </p:txBody>
      </p:sp>
      <p:sp>
        <p:nvSpPr>
          <p:cNvPr id="295" name="Google Shape;295;p40"/>
          <p:cNvSpPr/>
          <p:nvPr/>
        </p:nvSpPr>
        <p:spPr>
          <a:xfrm>
            <a:off x="2844800" y="6170716"/>
            <a:ext cx="8229600" cy="5096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9673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C941C7-8700-4A13-BE50-7FAF038F3E9E}" type="datetimeFigureOut">
              <a:rPr lang="de-CH" smtClean="0"/>
              <a:t>07.03.2025</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F2C3B4-4417-46CF-8341-65DFD4834FF6}" type="slidenum">
              <a:rPr lang="de-CH" smtClean="0"/>
              <a:t>‹#›</a:t>
            </a:fld>
            <a:endParaRPr lang="de-CH"/>
          </a:p>
        </p:txBody>
      </p:sp>
    </p:spTree>
    <p:extLst>
      <p:ext uri="{BB962C8B-B14F-4D97-AF65-F5344CB8AC3E}">
        <p14:creationId xmlns:p14="http://schemas.microsoft.com/office/powerpoint/2010/main" val="175448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8" name="Google Shape;502;p65"/>
          <p:cNvSpPr txBox="1">
            <a:spLocks noGrp="1"/>
          </p:cNvSpPr>
          <p:nvPr>
            <p:ph type="body" idx="1"/>
          </p:nvPr>
        </p:nvSpPr>
        <p:spPr>
          <a:xfrm>
            <a:off x="4132053" y="3422615"/>
            <a:ext cx="8059947" cy="1572079"/>
          </a:xfrm>
          <a:prstGeom prst="rect">
            <a:avLst/>
          </a:prstGeom>
          <a:noFill/>
          <a:ln>
            <a:noFill/>
          </a:ln>
        </p:spPr>
        <p:txBody>
          <a:bodyPr spcFirstLastPara="1" vert="horz" wrap="square" lIns="0" tIns="45700" rIns="91433" bIns="45700" rtlCol="0" anchor="b" anchorCtr="0">
            <a:noAutofit/>
          </a:bodyPr>
          <a:lstStyle/>
          <a:p>
            <a:pPr marL="0" indent="0">
              <a:spcBef>
                <a:spcPts val="0"/>
              </a:spcBef>
              <a:spcAft>
                <a:spcPts val="1600"/>
              </a:spcAft>
            </a:pPr>
            <a:r>
              <a:rPr lang="en-US" sz="2800" b="1" dirty="0" smtClean="0">
                <a:solidFill>
                  <a:schemeClr val="accent1"/>
                </a:solidFill>
                <a:latin typeface="Arial" panose="020B0604020202020204" pitchFamily="34" charset="0"/>
                <a:cs typeface="Arial" panose="020B0604020202020204" pitchFamily="34" charset="0"/>
              </a:rPr>
              <a:t>UNCERTAINTY QUANTIFICATION OF AGENT-BASED MODELS WITH APPLICATION TO MALARIA INTERVENTION MODELING</a:t>
            </a:r>
            <a:endParaRPr lang="en-US" sz="2800" b="1" dirty="0">
              <a:solidFill>
                <a:schemeClr val="accent1"/>
              </a:solidFill>
              <a:latin typeface="Arial" panose="020B0604020202020204" pitchFamily="34" charset="0"/>
              <a:cs typeface="Arial" panose="020B0604020202020204" pitchFamily="34" charset="0"/>
            </a:endParaRPr>
          </a:p>
        </p:txBody>
      </p:sp>
      <p:sp>
        <p:nvSpPr>
          <p:cNvPr id="4" name="Rectangle 3"/>
          <p:cNvSpPr/>
          <p:nvPr/>
        </p:nvSpPr>
        <p:spPr>
          <a:xfrm>
            <a:off x="4132054" y="5225516"/>
            <a:ext cx="4587074" cy="1083374"/>
          </a:xfrm>
          <a:prstGeom prst="rect">
            <a:avLst/>
          </a:prstGeom>
        </p:spPr>
        <p:txBody>
          <a:bodyPr wrap="square">
            <a:spAutoFit/>
          </a:bodyPr>
          <a:lstStyle/>
          <a:p>
            <a:pPr lvl="0" algn="ctr">
              <a:lnSpc>
                <a:spcPct val="115000"/>
              </a:lnSpc>
              <a:buClr>
                <a:schemeClr val="dk1"/>
              </a:buClr>
              <a:buSzPts val="1100"/>
            </a:pPr>
            <a:r>
              <a:rPr lang="en-US" sz="2000" b="1" dirty="0" smtClean="0">
                <a:solidFill>
                  <a:schemeClr val="dk1"/>
                </a:solidFill>
                <a:latin typeface="Arial"/>
                <a:ea typeface="Arial"/>
                <a:cs typeface="Arial"/>
                <a:sym typeface="Arial"/>
              </a:rPr>
              <a:t>PhD Update</a:t>
            </a:r>
          </a:p>
          <a:p>
            <a:pPr lvl="0" algn="ctr">
              <a:lnSpc>
                <a:spcPct val="115000"/>
              </a:lnSpc>
              <a:buClr>
                <a:schemeClr val="dk1"/>
              </a:buClr>
              <a:buSzPts val="1100"/>
            </a:pPr>
            <a:endParaRPr lang="en-US" dirty="0">
              <a:solidFill>
                <a:schemeClr val="dk1"/>
              </a:solidFill>
              <a:latin typeface="Arial"/>
              <a:ea typeface="Arial"/>
              <a:cs typeface="Arial"/>
              <a:sym typeface="Arial"/>
            </a:endParaRPr>
          </a:p>
          <a:p>
            <a:pPr lvl="0" algn="ctr">
              <a:lnSpc>
                <a:spcPct val="115000"/>
              </a:lnSpc>
              <a:buClr>
                <a:schemeClr val="dk1"/>
              </a:buClr>
              <a:buSzPts val="1100"/>
            </a:pPr>
            <a:r>
              <a:rPr lang="en-US" dirty="0" smtClean="0">
                <a:solidFill>
                  <a:schemeClr val="dk1"/>
                </a:solidFill>
                <a:latin typeface="Arial"/>
                <a:ea typeface="Arial"/>
                <a:cs typeface="Arial"/>
                <a:sym typeface="Arial"/>
              </a:rPr>
              <a:t>February 2025</a:t>
            </a: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01391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745200"/>
          </a:xfrm>
        </p:spPr>
        <p:txBody>
          <a:bodyPr/>
          <a:lstStyle/>
          <a:p>
            <a:r>
              <a:rPr lang="en-US" sz="2800" b="1" dirty="0" smtClean="0">
                <a:latin typeface="+mn-lt"/>
              </a:rPr>
              <a:t>Aim</a:t>
            </a:r>
            <a:endParaRPr lang="en-US" sz="2800" b="1" dirty="0">
              <a:latin typeface="+mn-lt"/>
            </a:endParaRPr>
          </a:p>
        </p:txBody>
      </p:sp>
      <p:sp>
        <p:nvSpPr>
          <p:cNvPr id="62" name="Rounded Rectangle 61"/>
          <p:cNvSpPr/>
          <p:nvPr/>
        </p:nvSpPr>
        <p:spPr>
          <a:xfrm>
            <a:off x="1742174" y="712180"/>
            <a:ext cx="8994764" cy="5552912"/>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3200" dirty="0" smtClean="0"/>
              <a:t>To quantify and propagate the </a:t>
            </a:r>
            <a:r>
              <a:rPr lang="en-US" sz="3200" dirty="0"/>
              <a:t>uncertainty from various parameters in the OpenMalaria Ghana model, beyond just the entomological inoculation rate (EIR) and to determine the impact of these uncertainties on simulating the effect of malaria interventions at the sub-national </a:t>
            </a:r>
            <a:r>
              <a:rPr lang="en-US" sz="3200" dirty="0" smtClean="0"/>
              <a:t>level.</a:t>
            </a:r>
            <a:endParaRPr lang="de-CH" sz="3200" dirty="0"/>
          </a:p>
        </p:txBody>
      </p:sp>
    </p:spTree>
    <p:extLst>
      <p:ext uri="{BB962C8B-B14F-4D97-AF65-F5344CB8AC3E}">
        <p14:creationId xmlns:p14="http://schemas.microsoft.com/office/powerpoint/2010/main" val="31897244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8" name="Google Shape;519;p67"/>
          <p:cNvSpPr txBox="1">
            <a:spLocks/>
          </p:cNvSpPr>
          <p:nvPr/>
        </p:nvSpPr>
        <p:spPr>
          <a:xfrm>
            <a:off x="323528" y="0"/>
            <a:ext cx="11868471" cy="745200"/>
          </a:xfrm>
          <a:prstGeom prst="rect">
            <a:avLst/>
          </a:prstGeom>
          <a:noFill/>
          <a:ln>
            <a:noFill/>
          </a:ln>
        </p:spPr>
        <p:txBody>
          <a:bodyPr spcFirstLastPara="1" wrap="square" lIns="0" tIns="60933" rIns="121900" bIns="60933" anchor="ctr" anchorCtr="0">
            <a:noAutofit/>
          </a:bodyPr>
          <a:lstStyle>
            <a:defPPr marR="0" lvl="0" algn="l" rtl="0">
              <a:lnSpc>
                <a:spcPct val="100000"/>
              </a:lnSpc>
              <a:spcBef>
                <a:spcPts val="0"/>
              </a:spcBef>
              <a:spcAft>
                <a:spcPts val="0"/>
              </a:spcAft>
            </a:defPPr>
            <a:lvl1pPr marR="0" lvl="0" algn="just" rtl="0">
              <a:lnSpc>
                <a:spcPct val="90000"/>
              </a:lnSpc>
              <a:spcBef>
                <a:spcPts val="0"/>
              </a:spcBef>
              <a:spcAft>
                <a:spcPts val="0"/>
              </a:spcAft>
              <a:buClr>
                <a:schemeClr val="accent1"/>
              </a:buClr>
              <a:buSzPts val="2400"/>
              <a:buFont typeface="Palatino Linotype"/>
              <a:buNone/>
              <a:defRPr sz="2400" b="0" i="0" u="none" strike="noStrike" cap="none">
                <a:solidFill>
                  <a:schemeClr val="accent1"/>
                </a:solidFill>
                <a:latin typeface="Palatino Linotype"/>
                <a:ea typeface="Palatino Linotype"/>
                <a:cs typeface="Palatino Linotype"/>
                <a:sym typeface="Palatino Linoty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b="1" kern="0" dirty="0" smtClean="0">
                <a:latin typeface="+mn-lt"/>
              </a:rPr>
              <a:t>Uncertainty Quantification can be classified in two forms</a:t>
            </a:r>
            <a:endParaRPr lang="en-US" sz="2800" b="1" kern="0" dirty="0">
              <a:latin typeface="+mn-lt"/>
            </a:endParaRPr>
          </a:p>
        </p:txBody>
      </p:sp>
      <p:graphicFrame>
        <p:nvGraphicFramePr>
          <p:cNvPr id="2" name="Diagram 1"/>
          <p:cNvGraphicFramePr/>
          <p:nvPr>
            <p:extLst/>
          </p:nvPr>
        </p:nvGraphicFramePr>
        <p:xfrm>
          <a:off x="1203864" y="1820174"/>
          <a:ext cx="8128000" cy="4932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9514936" y="2147979"/>
            <a:ext cx="2234241"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Sensitivity Analysis</a:t>
            </a:r>
            <a:endParaRPr lang="de-CH" sz="2400" dirty="0"/>
          </a:p>
        </p:txBody>
      </p:sp>
      <p:sp>
        <p:nvSpPr>
          <p:cNvPr id="7" name="Oval 6"/>
          <p:cNvSpPr/>
          <p:nvPr/>
        </p:nvSpPr>
        <p:spPr>
          <a:xfrm>
            <a:off x="9514936" y="4819291"/>
            <a:ext cx="2337759" cy="15872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2400" dirty="0" smtClean="0"/>
              <a:t>Model Calibration</a:t>
            </a:r>
            <a:endParaRPr lang="de-CH" sz="2400" dirty="0"/>
          </a:p>
        </p:txBody>
      </p:sp>
      <p:sp>
        <p:nvSpPr>
          <p:cNvPr id="4" name="Rectangle 3"/>
          <p:cNvSpPr/>
          <p:nvPr/>
        </p:nvSpPr>
        <p:spPr>
          <a:xfrm>
            <a:off x="323528" y="736122"/>
            <a:ext cx="11720423" cy="830997"/>
          </a:xfrm>
          <a:prstGeom prst="rect">
            <a:avLst/>
          </a:prstGeom>
        </p:spPr>
        <p:txBody>
          <a:bodyPr wrap="square">
            <a:spAutoFit/>
          </a:bodyPr>
          <a:lstStyle/>
          <a:p>
            <a:pPr marL="285750" indent="-285750">
              <a:buFont typeface="Arial" panose="020B0604020202020204" pitchFamily="34" charset="0"/>
              <a:buChar char="•"/>
            </a:pPr>
            <a:r>
              <a:rPr lang="en-US" sz="2400" b="1" dirty="0" smtClean="0"/>
              <a:t>The </a:t>
            </a:r>
            <a:r>
              <a:rPr lang="en-US" sz="2400" b="1" dirty="0"/>
              <a:t>field of Uncertainty Quantification </a:t>
            </a:r>
            <a:r>
              <a:rPr lang="en-US" sz="2400" b="1" dirty="0" smtClean="0"/>
              <a:t>offers </a:t>
            </a:r>
            <a:r>
              <a:rPr lang="en-US" sz="2400" b="1" dirty="0"/>
              <a:t>a means of quantifying and </a:t>
            </a:r>
            <a:r>
              <a:rPr lang="en-US" sz="2400" b="1" dirty="0" smtClean="0"/>
              <a:t>characterizing </a:t>
            </a:r>
            <a:r>
              <a:rPr lang="en-US" sz="2400" b="1" dirty="0"/>
              <a:t>uncertainties in models and the real </a:t>
            </a:r>
            <a:r>
              <a:rPr lang="en-US" sz="2400" b="1" dirty="0" smtClean="0"/>
              <a:t>world.</a:t>
            </a:r>
            <a:endParaRPr lang="de-CH" sz="2400" b="1" dirty="0"/>
          </a:p>
        </p:txBody>
      </p:sp>
    </p:spTree>
    <p:extLst>
      <p:ext uri="{BB962C8B-B14F-4D97-AF65-F5344CB8AC3E}">
        <p14:creationId xmlns:p14="http://schemas.microsoft.com/office/powerpoint/2010/main" val="68697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40BCD131-2073-4EDE-9795-02928553C85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234E15B5-1992-433F-AE7A-2BD232D5F9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116AF5B1-E45C-4738-8EBC-F071EB4E45F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AF97286F-DE4D-4D21-923A-0C8E3289DDB2}"/>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2" grpId="0">
        <p:bldSub>
          <a:bldDgm bld="one"/>
        </p:bldSub>
      </p:bldGraphic>
      <p:bldP spid="3"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Research Objectives</a:t>
            </a:r>
            <a:endParaRPr sz="2800" b="1" dirty="0">
              <a:latin typeface="+mn-lt"/>
            </a:endParaRPr>
          </a:p>
        </p:txBody>
      </p:sp>
      <p:graphicFrame>
        <p:nvGraphicFramePr>
          <p:cNvPr id="4" name="Diagram 3"/>
          <p:cNvGraphicFramePr/>
          <p:nvPr>
            <p:extLst/>
          </p:nvPr>
        </p:nvGraphicFramePr>
        <p:xfrm>
          <a:off x="0" y="719668"/>
          <a:ext cx="12192000" cy="9813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539;p70"/>
          <p:cNvPicPr preferRelativeResize="0"/>
          <p:nvPr/>
        </p:nvPicPr>
        <p:blipFill>
          <a:blip r:embed="rId8">
            <a:alphaModFix/>
          </a:blip>
          <a:stretch>
            <a:fillRect/>
          </a:stretch>
        </p:blipFill>
        <p:spPr>
          <a:xfrm>
            <a:off x="-1" y="3730751"/>
            <a:ext cx="6234545" cy="2596157"/>
          </a:xfrm>
          <a:prstGeom prst="rect">
            <a:avLst/>
          </a:prstGeom>
          <a:noFill/>
          <a:ln>
            <a:noFill/>
          </a:ln>
        </p:spPr>
      </p:pic>
      <p:sp>
        <p:nvSpPr>
          <p:cNvPr id="5" name="Rounded Rectangle 4"/>
          <p:cNvSpPr/>
          <p:nvPr/>
        </p:nvSpPr>
        <p:spPr>
          <a:xfrm>
            <a:off x="235704" y="2006952"/>
            <a:ext cx="6229751" cy="1297859"/>
          </a:xfrm>
          <a:prstGeom prst="round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CH" dirty="0" smtClean="0">
                <a:solidFill>
                  <a:schemeClr val="tx1"/>
                </a:solidFill>
              </a:rPr>
              <a:t>Perform </a:t>
            </a:r>
            <a:r>
              <a:rPr lang="de-CH" dirty="0" err="1" smtClean="0">
                <a:solidFill>
                  <a:schemeClr val="tx1"/>
                </a:solidFill>
              </a:rPr>
              <a:t>sensitivity</a:t>
            </a:r>
            <a:r>
              <a:rPr lang="de-CH" dirty="0" smtClean="0">
                <a:solidFill>
                  <a:schemeClr val="tx1"/>
                </a:solidFill>
              </a:rPr>
              <a:t> </a:t>
            </a:r>
            <a:r>
              <a:rPr lang="de-CH" dirty="0" err="1" smtClean="0">
                <a:solidFill>
                  <a:schemeClr val="tx1"/>
                </a:solidFill>
              </a:rPr>
              <a:t>analysis</a:t>
            </a:r>
            <a:r>
              <a:rPr lang="de-CH" dirty="0" smtClean="0">
                <a:solidFill>
                  <a:schemeClr val="tx1"/>
                </a:solidFill>
              </a:rPr>
              <a:t> </a:t>
            </a:r>
            <a:r>
              <a:rPr lang="de-CH" dirty="0" err="1" smtClean="0">
                <a:solidFill>
                  <a:schemeClr val="tx1"/>
                </a:solidFill>
              </a:rPr>
              <a:t>of</a:t>
            </a:r>
            <a:r>
              <a:rPr lang="de-CH" dirty="0" smtClean="0">
                <a:solidFill>
                  <a:schemeClr val="tx1"/>
                </a:solidFill>
              </a:rPr>
              <a:t> </a:t>
            </a:r>
            <a:r>
              <a:rPr lang="de-CH" b="1" dirty="0" err="1" smtClean="0">
                <a:solidFill>
                  <a:schemeClr val="tx1"/>
                </a:solidFill>
              </a:rPr>
              <a:t>coverage</a:t>
            </a:r>
            <a:r>
              <a:rPr lang="de-CH" dirty="0" smtClean="0">
                <a:solidFill>
                  <a:schemeClr val="tx1"/>
                </a:solidFill>
              </a:rPr>
              <a:t>, </a:t>
            </a:r>
            <a:r>
              <a:rPr lang="de-CH" b="1" dirty="0" err="1" smtClean="0">
                <a:solidFill>
                  <a:schemeClr val="tx1"/>
                </a:solidFill>
              </a:rPr>
              <a:t>halflife</a:t>
            </a:r>
            <a:r>
              <a:rPr lang="de-CH" b="1" dirty="0" smtClean="0">
                <a:solidFill>
                  <a:schemeClr val="tx1"/>
                </a:solidFill>
              </a:rPr>
              <a:t> </a:t>
            </a:r>
            <a:r>
              <a:rPr lang="de-CH" b="1" dirty="0" err="1" smtClean="0">
                <a:solidFill>
                  <a:schemeClr val="tx1"/>
                </a:solidFill>
              </a:rPr>
              <a:t>of</a:t>
            </a:r>
            <a:r>
              <a:rPr lang="de-CH" b="1" dirty="0" smtClean="0">
                <a:solidFill>
                  <a:schemeClr val="tx1"/>
                </a:solidFill>
              </a:rPr>
              <a:t> </a:t>
            </a:r>
            <a:r>
              <a:rPr lang="de-CH" b="1" dirty="0" err="1" smtClean="0">
                <a:solidFill>
                  <a:schemeClr val="tx1"/>
                </a:solidFill>
              </a:rPr>
              <a:t>efficacy</a:t>
            </a:r>
            <a:r>
              <a:rPr lang="de-CH" b="1" dirty="0" smtClean="0">
                <a:solidFill>
                  <a:schemeClr val="tx1"/>
                </a:solidFill>
              </a:rPr>
              <a:t> </a:t>
            </a:r>
            <a:r>
              <a:rPr lang="de-CH" dirty="0" err="1" smtClean="0">
                <a:solidFill>
                  <a:schemeClr val="tx1"/>
                </a:solidFill>
              </a:rPr>
              <a:t>and</a:t>
            </a:r>
            <a:r>
              <a:rPr lang="de-CH" dirty="0" smtClean="0">
                <a:solidFill>
                  <a:schemeClr val="tx1"/>
                </a:solidFill>
              </a:rPr>
              <a:t> </a:t>
            </a:r>
            <a:r>
              <a:rPr lang="de-CH" b="1" dirty="0" err="1" smtClean="0">
                <a:solidFill>
                  <a:schemeClr val="tx1"/>
                </a:solidFill>
              </a:rPr>
              <a:t>vector</a:t>
            </a:r>
            <a:r>
              <a:rPr lang="de-CH" b="1" dirty="0" smtClean="0">
                <a:solidFill>
                  <a:schemeClr val="tx1"/>
                </a:solidFill>
              </a:rPr>
              <a:t> </a:t>
            </a:r>
            <a:r>
              <a:rPr lang="de-CH" b="1" dirty="0" err="1" smtClean="0">
                <a:solidFill>
                  <a:schemeClr val="tx1"/>
                </a:solidFill>
              </a:rPr>
              <a:t>composition</a:t>
            </a:r>
            <a:r>
              <a:rPr lang="de-CH" dirty="0" smtClean="0">
                <a:solidFill>
                  <a:schemeClr val="tx1"/>
                </a:solidFill>
              </a:rPr>
              <a:t> </a:t>
            </a:r>
            <a:r>
              <a:rPr lang="de-CH" dirty="0" err="1" smtClean="0">
                <a:solidFill>
                  <a:schemeClr val="tx1"/>
                </a:solidFill>
              </a:rPr>
              <a:t>towards</a:t>
            </a:r>
            <a:r>
              <a:rPr lang="de-CH" dirty="0" smtClean="0">
                <a:solidFill>
                  <a:schemeClr val="tx1"/>
                </a:solidFill>
              </a:rPr>
              <a:t> </a:t>
            </a:r>
            <a:r>
              <a:rPr lang="de-CH" dirty="0" err="1" smtClean="0">
                <a:solidFill>
                  <a:schemeClr val="tx1"/>
                </a:solidFill>
              </a:rPr>
              <a:t>prevalence</a:t>
            </a:r>
            <a:r>
              <a:rPr lang="de-CH" dirty="0" smtClean="0">
                <a:solidFill>
                  <a:schemeClr val="tx1"/>
                </a:solidFill>
              </a:rPr>
              <a:t> </a:t>
            </a:r>
            <a:r>
              <a:rPr lang="de-CH" dirty="0" err="1" smtClean="0">
                <a:solidFill>
                  <a:schemeClr val="tx1"/>
                </a:solidFill>
              </a:rPr>
              <a:t>reduction</a:t>
            </a:r>
            <a:r>
              <a:rPr lang="de-CH" dirty="0" smtClean="0">
                <a:solidFill>
                  <a:schemeClr val="tx1"/>
                </a:solidFill>
              </a:rPr>
              <a:t> </a:t>
            </a:r>
            <a:r>
              <a:rPr lang="de-CH" dirty="0" err="1" smtClean="0">
                <a:solidFill>
                  <a:schemeClr val="tx1"/>
                </a:solidFill>
              </a:rPr>
              <a:t>and</a:t>
            </a:r>
            <a:r>
              <a:rPr lang="de-CH" dirty="0" smtClean="0">
                <a:solidFill>
                  <a:schemeClr val="tx1"/>
                </a:solidFill>
              </a:rPr>
              <a:t> </a:t>
            </a:r>
            <a:r>
              <a:rPr lang="de-CH" dirty="0" err="1" smtClean="0">
                <a:solidFill>
                  <a:schemeClr val="tx1"/>
                </a:solidFill>
              </a:rPr>
              <a:t>clinical</a:t>
            </a:r>
            <a:r>
              <a:rPr lang="de-CH" dirty="0" smtClean="0">
                <a:solidFill>
                  <a:schemeClr val="tx1"/>
                </a:solidFill>
              </a:rPr>
              <a:t> </a:t>
            </a:r>
            <a:r>
              <a:rPr lang="de-CH" dirty="0" err="1" smtClean="0">
                <a:solidFill>
                  <a:schemeClr val="tx1"/>
                </a:solidFill>
              </a:rPr>
              <a:t>cases</a:t>
            </a:r>
            <a:r>
              <a:rPr lang="de-CH" dirty="0" smtClean="0">
                <a:solidFill>
                  <a:schemeClr val="tx1"/>
                </a:solidFill>
              </a:rPr>
              <a:t> </a:t>
            </a:r>
            <a:r>
              <a:rPr lang="de-CH" dirty="0" err="1" smtClean="0">
                <a:solidFill>
                  <a:schemeClr val="tx1"/>
                </a:solidFill>
              </a:rPr>
              <a:t>averted</a:t>
            </a:r>
            <a:r>
              <a:rPr lang="de-CH" dirty="0" smtClean="0">
                <a:solidFill>
                  <a:schemeClr val="tx1"/>
                </a:solidFill>
              </a:rPr>
              <a:t> </a:t>
            </a:r>
            <a:r>
              <a:rPr lang="de-CH" b="1" dirty="0" smtClean="0">
                <a:solidFill>
                  <a:schemeClr val="bg1"/>
                </a:solidFill>
              </a:rPr>
              <a:t>(Forward Propagation </a:t>
            </a:r>
            <a:r>
              <a:rPr lang="de-CH" b="1" dirty="0" err="1" smtClean="0">
                <a:solidFill>
                  <a:schemeClr val="bg1"/>
                </a:solidFill>
              </a:rPr>
              <a:t>of</a:t>
            </a:r>
            <a:r>
              <a:rPr lang="de-CH" b="1" dirty="0" smtClean="0">
                <a:solidFill>
                  <a:schemeClr val="bg1"/>
                </a:solidFill>
              </a:rPr>
              <a:t> uncertainty)</a:t>
            </a:r>
          </a:p>
        </p:txBody>
      </p:sp>
      <p:sp>
        <p:nvSpPr>
          <p:cNvPr id="26" name="TextBox 25"/>
          <p:cNvSpPr txBox="1"/>
          <p:nvPr/>
        </p:nvSpPr>
        <p:spPr>
          <a:xfrm>
            <a:off x="235704" y="6550223"/>
            <a:ext cx="4587241" cy="307777"/>
          </a:xfrm>
          <a:prstGeom prst="rect">
            <a:avLst/>
          </a:prstGeom>
          <a:noFill/>
        </p:spPr>
        <p:txBody>
          <a:bodyPr wrap="square" rtlCol="0">
            <a:spAutoFit/>
          </a:bodyPr>
          <a:lstStyle/>
          <a:p>
            <a:r>
              <a:rPr lang="de-CH" sz="1400" dirty="0" smtClean="0"/>
              <a:t>Source:</a:t>
            </a:r>
            <a:r>
              <a:rPr lang="en-US" sz="1400" dirty="0"/>
              <a:t> </a:t>
            </a:r>
            <a:r>
              <a:rPr lang="en-US" sz="1400" dirty="0" smtClean="0"/>
              <a:t>Sensitivity </a:t>
            </a:r>
            <a:r>
              <a:rPr lang="en-US" sz="1400" dirty="0"/>
              <a:t>Analysis: The </a:t>
            </a:r>
            <a:r>
              <a:rPr lang="en-US" sz="1400" dirty="0" smtClean="0"/>
              <a:t>Basics</a:t>
            </a:r>
            <a:endParaRPr lang="de-CH" sz="1400" dirty="0"/>
          </a:p>
        </p:txBody>
      </p:sp>
    </p:spTree>
    <p:extLst>
      <p:ext uri="{BB962C8B-B14F-4D97-AF65-F5344CB8AC3E}">
        <p14:creationId xmlns:p14="http://schemas.microsoft.com/office/powerpoint/2010/main" val="399844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8"/>
          <p:cNvSpPr txBox="1">
            <a:spLocks noGrp="1"/>
          </p:cNvSpPr>
          <p:nvPr>
            <p:ph type="title"/>
          </p:nvPr>
        </p:nvSpPr>
        <p:spPr>
          <a:xfrm>
            <a:off x="125976" y="110546"/>
            <a:ext cx="10850000" cy="528551"/>
          </a:xfrm>
          <a:prstGeom prst="rect">
            <a:avLst/>
          </a:prstGeom>
          <a:noFill/>
          <a:ln>
            <a:noFill/>
          </a:ln>
        </p:spPr>
        <p:txBody>
          <a:bodyPr spcFirstLastPara="1" wrap="square" lIns="0" tIns="60933" rIns="121900" bIns="60933" anchor="ctr" anchorCtr="0">
            <a:noAutofit/>
          </a:bodyPr>
          <a:lstStyle/>
          <a:p>
            <a:r>
              <a:rPr lang="en" sz="2800" b="1" dirty="0" smtClean="0">
                <a:latin typeface="+mn-lt"/>
              </a:rPr>
              <a:t>Variance-based sensitivity analysis (Sobol)</a:t>
            </a:r>
            <a:endParaRPr sz="2800" b="1" dirty="0">
              <a:latin typeface="+mn-lt"/>
            </a:endParaRPr>
          </a:p>
        </p:txBody>
      </p:sp>
      <p:pic>
        <p:nvPicPr>
          <p:cNvPr id="8" name="Picture 7"/>
          <p:cNvPicPr>
            <a:picLocks noChangeAspect="1"/>
          </p:cNvPicPr>
          <p:nvPr/>
        </p:nvPicPr>
        <p:blipFill>
          <a:blip r:embed="rId3"/>
          <a:stretch>
            <a:fillRect/>
          </a:stretch>
        </p:blipFill>
        <p:spPr>
          <a:xfrm>
            <a:off x="1496212" y="1550849"/>
            <a:ext cx="7924800" cy="1133475"/>
          </a:xfrm>
          <a:prstGeom prst="rect">
            <a:avLst/>
          </a:prstGeom>
        </p:spPr>
      </p:pic>
      <p:pic>
        <p:nvPicPr>
          <p:cNvPr id="10" name="Picture 9"/>
          <p:cNvPicPr>
            <a:picLocks noChangeAspect="1"/>
          </p:cNvPicPr>
          <p:nvPr/>
        </p:nvPicPr>
        <p:blipFill>
          <a:blip r:embed="rId4"/>
          <a:stretch>
            <a:fillRect/>
          </a:stretch>
        </p:blipFill>
        <p:spPr>
          <a:xfrm>
            <a:off x="1496212" y="2690672"/>
            <a:ext cx="6838950" cy="1704975"/>
          </a:xfrm>
          <a:prstGeom prst="rect">
            <a:avLst/>
          </a:prstGeom>
        </p:spPr>
      </p:pic>
      <p:pic>
        <p:nvPicPr>
          <p:cNvPr id="11" name="Picture 10"/>
          <p:cNvPicPr>
            <a:picLocks noChangeAspect="1"/>
          </p:cNvPicPr>
          <p:nvPr/>
        </p:nvPicPr>
        <p:blipFill>
          <a:blip r:embed="rId5"/>
          <a:stretch>
            <a:fillRect/>
          </a:stretch>
        </p:blipFill>
        <p:spPr>
          <a:xfrm>
            <a:off x="1105542" y="5109358"/>
            <a:ext cx="9829800" cy="1038225"/>
          </a:xfrm>
          <a:prstGeom prst="rect">
            <a:avLst/>
          </a:prstGeom>
        </p:spPr>
      </p:pic>
    </p:spTree>
    <p:extLst>
      <p:ext uri="{BB962C8B-B14F-4D97-AF65-F5344CB8AC3E}">
        <p14:creationId xmlns:p14="http://schemas.microsoft.com/office/powerpoint/2010/main" val="36311697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7132559" cy="745200"/>
          </a:xfrm>
        </p:spPr>
        <p:txBody>
          <a:bodyPr/>
          <a:lstStyle/>
          <a:p>
            <a:r>
              <a:rPr lang="en-US" sz="2800" b="1" dirty="0" smtClean="0">
                <a:latin typeface="+mn-lt"/>
              </a:rPr>
              <a:t>Objective 1 – </a:t>
            </a:r>
            <a:r>
              <a:rPr lang="de-CH" sz="2800" b="1" dirty="0" err="1" smtClean="0">
                <a:solidFill>
                  <a:schemeClr val="tx1"/>
                </a:solidFill>
                <a:latin typeface="+mn-lt"/>
              </a:rPr>
              <a:t>Modifying</a:t>
            </a:r>
            <a:r>
              <a:rPr lang="de-CH" sz="2800" b="1" dirty="0" smtClean="0">
                <a:solidFill>
                  <a:schemeClr val="tx1"/>
                </a:solidFill>
                <a:latin typeface="+mn-lt"/>
              </a:rPr>
              <a:t> </a:t>
            </a:r>
            <a:r>
              <a:rPr lang="de-CH" sz="2800" b="1" dirty="0" err="1" smtClean="0">
                <a:solidFill>
                  <a:schemeClr val="tx1"/>
                </a:solidFill>
                <a:latin typeface="+mn-lt"/>
              </a:rPr>
              <a:t>the</a:t>
            </a:r>
            <a:r>
              <a:rPr lang="de-CH" sz="2800" b="1" dirty="0" smtClean="0">
                <a:solidFill>
                  <a:schemeClr val="tx1"/>
                </a:solidFill>
                <a:latin typeface="+mn-lt"/>
              </a:rPr>
              <a:t> </a:t>
            </a:r>
            <a:r>
              <a:rPr lang="de-CH" sz="2800" b="1" dirty="0" err="1">
                <a:solidFill>
                  <a:schemeClr val="tx1"/>
                </a:solidFill>
                <a:latin typeface="+mn-lt"/>
              </a:rPr>
              <a:t>existing</a:t>
            </a:r>
            <a:r>
              <a:rPr lang="de-CH" sz="2800" b="1" dirty="0">
                <a:solidFill>
                  <a:schemeClr val="tx1"/>
                </a:solidFill>
                <a:latin typeface="+mn-lt"/>
              </a:rPr>
              <a:t> </a:t>
            </a:r>
            <a:r>
              <a:rPr lang="de-CH" sz="2800" b="1" dirty="0" err="1" smtClean="0">
                <a:solidFill>
                  <a:schemeClr val="tx1"/>
                </a:solidFill>
                <a:latin typeface="+mn-lt"/>
              </a:rPr>
              <a:t>workflow</a:t>
            </a:r>
            <a:endParaRPr lang="en-US" sz="2800" b="1" dirty="0">
              <a:latin typeface="+mn-lt"/>
            </a:endParaRPr>
          </a:p>
        </p:txBody>
      </p:sp>
      <p:sp>
        <p:nvSpPr>
          <p:cNvPr id="2" name="Rectangle 1"/>
          <p:cNvSpPr/>
          <p:nvPr/>
        </p:nvSpPr>
        <p:spPr>
          <a:xfrm>
            <a:off x="238059" y="1199895"/>
            <a:ext cx="11150377" cy="3785652"/>
          </a:xfrm>
          <a:prstGeom prst="rect">
            <a:avLst/>
          </a:prstGeom>
        </p:spPr>
        <p:txBody>
          <a:bodyPr wrap="square">
            <a:spAutoFit/>
          </a:bodyPr>
          <a:lstStyle/>
          <a:p>
            <a:pPr marL="342900" indent="-342900">
              <a:buFont typeface="Arial" panose="020B0604020202020204" pitchFamily="34" charset="0"/>
              <a:buChar char="•"/>
            </a:pPr>
            <a:r>
              <a:rPr lang="de-CH" sz="2400" dirty="0" smtClean="0">
                <a:latin typeface="Arial" panose="020B0604020202020204" pitchFamily="34" charset="0"/>
                <a:cs typeface="Arial" panose="020B0604020202020204" pitchFamily="34" charset="0"/>
              </a:rPr>
              <a:t>Chose a </a:t>
            </a:r>
            <a:r>
              <a:rPr lang="de-CH" sz="2400" b="1" dirty="0" err="1" smtClean="0">
                <a:latin typeface="Arial" panose="020B0604020202020204" pitchFamily="34" charset="0"/>
                <a:cs typeface="Arial" panose="020B0604020202020204" pitchFamily="34" charset="0"/>
              </a:rPr>
              <a:t>sampling</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scheme</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How</a:t>
            </a:r>
            <a:r>
              <a:rPr lang="de-CH" sz="2400" dirty="0" smtClean="0">
                <a:latin typeface="Arial" panose="020B0604020202020204" pitchFamily="34" charset="0"/>
                <a:cs typeface="Arial" panose="020B0604020202020204" pitchFamily="34" charset="0"/>
              </a:rPr>
              <a:t> do </a:t>
            </a:r>
            <a:r>
              <a:rPr lang="de-CH" sz="2400" dirty="0" err="1" smtClean="0">
                <a:latin typeface="Arial" panose="020B0604020202020204" pitchFamily="34" charset="0"/>
                <a:cs typeface="Arial" panose="020B0604020202020204" pitchFamily="34" charset="0"/>
              </a:rPr>
              <a:t>we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the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number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OM </a:t>
            </a:r>
            <a:r>
              <a:rPr lang="de-CH" sz="2400" dirty="0" err="1" smtClean="0">
                <a:latin typeface="Arial" panose="020B0604020202020204" pitchFamily="34" charset="0"/>
                <a:cs typeface="Arial" panose="020B0604020202020204" pitchFamily="34" charset="0"/>
              </a:rPr>
              <a:t>simulations</a:t>
            </a:r>
            <a:r>
              <a:rPr lang="de-CH" sz="2400" dirty="0" smtClean="0">
                <a:latin typeface="Arial" panose="020B0604020202020204" pitchFamily="34" charset="0"/>
                <a:cs typeface="Arial" panose="020B0604020202020204" pitchFamily="34" charset="0"/>
              </a:rPr>
              <a:t> in </a:t>
            </a:r>
            <a:r>
              <a:rPr lang="de-CH" sz="2400" dirty="0" err="1" smtClean="0">
                <a:latin typeface="Arial" panose="020B0604020202020204" pitchFamily="34" charset="0"/>
                <a:cs typeface="Arial" panose="020B0604020202020204" pitchFamily="34" charset="0"/>
              </a:rPr>
              <a:t>order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to</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drastically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reduce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runtime</a:t>
            </a:r>
            <a:r>
              <a:rPr lang="de-CH" sz="2400" dirty="0" smtClean="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de-CH" sz="2400" dirty="0" err="1" smtClean="0">
                <a:latin typeface="Arial" panose="020B0604020202020204" pitchFamily="34" charset="0"/>
                <a:cs typeface="Arial" panose="020B0604020202020204" pitchFamily="34" charset="0"/>
              </a:rPr>
              <a:t>Tried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other</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sampling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designs</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instead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of</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sweeps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b="1" dirty="0" err="1" smtClean="0">
                <a:latin typeface="Arial" panose="020B0604020202020204" pitchFamily="34" charset="0"/>
                <a:cs typeface="Arial" panose="020B0604020202020204" pitchFamily="34" charset="0"/>
              </a:rPr>
              <a:t>Trained</a:t>
            </a:r>
            <a:r>
              <a:rPr lang="de-CH" sz="2400" b="1" dirty="0" smtClean="0">
                <a:latin typeface="Arial" panose="020B0604020202020204" pitchFamily="34" charset="0"/>
                <a:cs typeface="Arial" panose="020B0604020202020204" pitchFamily="34" charset="0"/>
              </a:rPr>
              <a:t> GP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dirty="0" smtClean="0">
                <a:latin typeface="Arial" panose="020B0604020202020204" pitchFamily="34" charset="0"/>
                <a:cs typeface="Arial" panose="020B0604020202020204" pitchFamily="34" charset="0"/>
              </a:rPr>
              <a:t>on </a:t>
            </a:r>
            <a:r>
              <a:rPr lang="de-CH" sz="2400" b="1" dirty="0" smtClean="0">
                <a:latin typeface="Arial" panose="020B0604020202020204" pitchFamily="34" charset="0"/>
                <a:cs typeface="Arial" panose="020B0604020202020204" pitchFamily="34" charset="0"/>
              </a:rPr>
              <a:t>EIR</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intervention</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coverages</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prevalence</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reduction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and</a:t>
            </a:r>
            <a:r>
              <a:rPr lang="de-CH" sz="2400"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used</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model</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for</a:t>
            </a:r>
            <a:r>
              <a:rPr lang="de-CH" sz="2400" b="1" dirty="0" smtClean="0">
                <a:latin typeface="Arial" panose="020B0604020202020204" pitchFamily="34" charset="0"/>
                <a:cs typeface="Arial" panose="020B0604020202020204" pitchFamily="34" charset="0"/>
              </a:rPr>
              <a:t> </a:t>
            </a:r>
            <a:r>
              <a:rPr lang="de-CH" sz="2400" b="1" dirty="0" err="1" smtClean="0">
                <a:latin typeface="Arial" panose="020B0604020202020204" pitchFamily="34" charset="0"/>
                <a:cs typeface="Arial" panose="020B0604020202020204" pitchFamily="34" charset="0"/>
              </a:rPr>
              <a:t>prediction</a:t>
            </a:r>
            <a:r>
              <a:rPr lang="de-CH" sz="2400" b="1"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while</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performing</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sensitivity</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analysis</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de-CH" sz="2400" dirty="0" smtClean="0">
                <a:solidFill>
                  <a:schemeClr val="tx1"/>
                </a:solidFill>
                <a:latin typeface="Arial" panose="020B0604020202020204" pitchFamily="34" charset="0"/>
                <a:cs typeface="Arial" panose="020B0604020202020204" pitchFamily="34" charset="0"/>
              </a:rPr>
              <a:t>Choose a </a:t>
            </a:r>
            <a:r>
              <a:rPr lang="de-CH" sz="2400" b="1" dirty="0" err="1" smtClean="0">
                <a:solidFill>
                  <a:schemeClr val="tx1"/>
                </a:solidFill>
                <a:latin typeface="Arial" panose="020B0604020202020204" pitchFamily="34" charset="0"/>
                <a:cs typeface="Arial" panose="020B0604020202020204" pitchFamily="34" charset="0"/>
              </a:rPr>
              <a:t>sensitivity</a:t>
            </a:r>
            <a:r>
              <a:rPr lang="de-CH" sz="2400" b="1" dirty="0" smtClean="0">
                <a:solidFill>
                  <a:schemeClr val="tx1"/>
                </a:solidFill>
                <a:latin typeface="Arial" panose="020B0604020202020204" pitchFamily="34" charset="0"/>
                <a:cs typeface="Arial" panose="020B0604020202020204" pitchFamily="34" charset="0"/>
              </a:rPr>
              <a:t> </a:t>
            </a:r>
            <a:r>
              <a:rPr lang="de-CH" sz="2400" b="1" dirty="0" err="1" smtClean="0">
                <a:solidFill>
                  <a:schemeClr val="tx1"/>
                </a:solidFill>
                <a:latin typeface="Arial" panose="020B0604020202020204" pitchFamily="34" charset="0"/>
                <a:cs typeface="Arial" panose="020B0604020202020204" pitchFamily="34" charset="0"/>
              </a:rPr>
              <a:t>method</a:t>
            </a:r>
            <a:r>
              <a:rPr lang="de-CH" sz="2400" b="1" dirty="0" smtClean="0">
                <a:solidFill>
                  <a:schemeClr val="tx1"/>
                </a:solidFill>
                <a:latin typeface="Arial" panose="020B0604020202020204" pitchFamily="34" charset="0"/>
                <a:cs typeface="Arial" panose="020B0604020202020204" pitchFamily="34" charset="0"/>
              </a:rPr>
              <a:t> </a:t>
            </a:r>
            <a:r>
              <a:rPr lang="de-CH" sz="2400" dirty="0" smtClean="0">
                <a:solidFill>
                  <a:schemeClr val="tx1"/>
                </a:solidFill>
                <a:latin typeface="Arial" panose="020B0604020202020204" pitchFamily="34" charset="0"/>
                <a:cs typeface="Arial" panose="020B0604020202020204" pitchFamily="34" charset="0"/>
              </a:rPr>
              <a:t>(</a:t>
            </a:r>
            <a:r>
              <a:rPr lang="de-CH" sz="2400" dirty="0" err="1" smtClean="0">
                <a:solidFill>
                  <a:schemeClr val="tx1"/>
                </a:solidFill>
                <a:latin typeface="Arial" panose="020B0604020202020204" pitchFamily="34" charset="0"/>
                <a:cs typeface="Arial" panose="020B0604020202020204" pitchFamily="34" charset="0"/>
              </a:rPr>
              <a:t>compared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soboljansen</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and</a:t>
            </a:r>
            <a:r>
              <a:rPr lang="de-CH" sz="2400" dirty="0" smtClean="0">
                <a:solidFill>
                  <a:schemeClr val="tx1"/>
                </a:solidFill>
                <a:latin typeface="Arial" panose="020B0604020202020204" pitchFamily="34" charset="0"/>
                <a:cs typeface="Arial" panose="020B0604020202020204" pitchFamily="34" charset="0"/>
              </a:rPr>
              <a:t> </a:t>
            </a:r>
            <a:r>
              <a:rPr lang="de-CH" sz="2400" dirty="0" err="1" smtClean="0">
                <a:solidFill>
                  <a:schemeClr val="tx1"/>
                </a:solidFill>
                <a:latin typeface="Arial" panose="020B0604020202020204" pitchFamily="34" charset="0"/>
                <a:cs typeface="Arial" panose="020B0604020202020204" pitchFamily="34" charset="0"/>
              </a:rPr>
              <a:t>sobolsalt</a:t>
            </a:r>
            <a:r>
              <a:rPr lang="de-CH" sz="2400" dirty="0" smtClean="0">
                <a:solidFill>
                  <a:schemeClr val="tx1"/>
                </a:solidFill>
                <a:latin typeface="Arial" panose="020B0604020202020204" pitchFamily="34" charset="0"/>
                <a:cs typeface="Arial" panose="020B0604020202020204" pitchFamily="34" charset="0"/>
              </a:rPr>
              <a:t>)</a:t>
            </a:r>
          </a:p>
          <a:p>
            <a:endParaRPr lang="de-CH" sz="2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57768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117986" y="50822"/>
            <a:ext cx="12074013" cy="651822"/>
          </a:xfrm>
        </p:spPr>
        <p:txBody>
          <a:bodyPr/>
          <a:lstStyle/>
          <a:p>
            <a:pPr algn="l"/>
            <a:r>
              <a:rPr lang="en-US" sz="2800" b="1" dirty="0" smtClean="0">
                <a:latin typeface="+mn-lt"/>
              </a:rPr>
              <a:t>1 – </a:t>
            </a:r>
            <a:r>
              <a:rPr lang="en-US" sz="2800" b="1" u="sng" dirty="0">
                <a:latin typeface="+mn-lt"/>
              </a:rPr>
              <a:t>LHS vs MED SAMPLING (100 POINTS)</a:t>
            </a:r>
            <a:r>
              <a:rPr lang="de-CH" sz="2800" dirty="0">
                <a:latin typeface="+mn-lt"/>
              </a:rPr>
              <a:t/>
            </a:r>
            <a:br>
              <a:rPr lang="de-CH" sz="2800" dirty="0">
                <a:latin typeface="+mn-lt"/>
              </a:rPr>
            </a:br>
            <a:endParaRPr lang="en-US" sz="2800" b="1" dirty="0">
              <a:latin typeface="+mn-lt"/>
            </a:endParaRPr>
          </a:p>
        </p:txBody>
      </p:sp>
      <p:pic>
        <p:nvPicPr>
          <p:cNvPr id="4" name="Picture 3"/>
          <p:cNvPicPr/>
          <p:nvPr/>
        </p:nvPicPr>
        <p:blipFill>
          <a:blip r:embed="rId3"/>
          <a:stretch>
            <a:fillRect/>
          </a:stretch>
        </p:blipFill>
        <p:spPr>
          <a:xfrm>
            <a:off x="1338228" y="1708728"/>
            <a:ext cx="9633527" cy="4664364"/>
          </a:xfrm>
          <a:prstGeom prst="rect">
            <a:avLst/>
          </a:prstGeom>
        </p:spPr>
      </p:pic>
      <p:sp>
        <p:nvSpPr>
          <p:cNvPr id="3" name="Rectangle 2"/>
          <p:cNvSpPr/>
          <p:nvPr/>
        </p:nvSpPr>
        <p:spPr>
          <a:xfrm>
            <a:off x="295562" y="842926"/>
            <a:ext cx="8026401" cy="369332"/>
          </a:xfrm>
          <a:prstGeom prst="rect">
            <a:avLst/>
          </a:prstGeom>
        </p:spPr>
        <p:txBody>
          <a:bodyPr wrap="square">
            <a:spAutoFit/>
          </a:bodyPr>
          <a:lstStyle/>
          <a:p>
            <a:r>
              <a:rPr lang="en-US" dirty="0">
                <a:solidFill>
                  <a:srgbClr val="1D1C1D"/>
                </a:solidFill>
                <a:latin typeface="Slack-Lato"/>
              </a:rPr>
              <a:t>LHS or ME sampling during simulation setup cuts runtime drastically</a:t>
            </a:r>
            <a:endParaRPr lang="de-CH" dirty="0"/>
          </a:p>
        </p:txBody>
      </p:sp>
    </p:spTree>
    <p:extLst>
      <p:ext uri="{BB962C8B-B14F-4D97-AF65-F5344CB8AC3E}">
        <p14:creationId xmlns:p14="http://schemas.microsoft.com/office/powerpoint/2010/main" val="4281954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622102"/>
            <a:ext cx="12074013" cy="377119"/>
          </a:xfrm>
        </p:spPr>
        <p:txBody>
          <a:bodyPr/>
          <a:lstStyle/>
          <a:p>
            <a:r>
              <a:rPr lang="en-US" sz="2800" b="1" dirty="0" smtClean="0">
                <a:latin typeface="+mn-lt"/>
              </a:rPr>
              <a:t>1 – </a:t>
            </a:r>
            <a:r>
              <a:rPr lang="en-US" sz="2800" dirty="0">
                <a:solidFill>
                  <a:srgbClr val="1D1C1D"/>
                </a:solidFill>
                <a:latin typeface="Slack-Lato"/>
              </a:rPr>
              <a:t>LHS or ME sampling during simulation setup cuts runtime drastically</a:t>
            </a:r>
            <a:br>
              <a:rPr lang="en-US" sz="2800" dirty="0">
                <a:solidFill>
                  <a:srgbClr val="1D1C1D"/>
                </a:solidFill>
                <a:latin typeface="Slack-Lato"/>
              </a:rPr>
            </a:br>
            <a:endParaRPr lang="en-US" sz="2800" b="1" dirty="0">
              <a:latin typeface="+mn-lt"/>
            </a:endParaRPr>
          </a:p>
        </p:txBody>
      </p:sp>
      <p:graphicFrame>
        <p:nvGraphicFramePr>
          <p:cNvPr id="3" name="Table 2"/>
          <p:cNvGraphicFramePr>
            <a:graphicFrameLocks noGrp="1"/>
          </p:cNvGraphicFramePr>
          <p:nvPr>
            <p:extLst/>
          </p:nvPr>
        </p:nvGraphicFramePr>
        <p:xfrm>
          <a:off x="201113" y="1292216"/>
          <a:ext cx="11753464" cy="2394259"/>
        </p:xfrm>
        <a:graphic>
          <a:graphicData uri="http://schemas.openxmlformats.org/drawingml/2006/table">
            <a:tbl>
              <a:tblPr firstRow="1" firstCol="1" bandRow="1">
                <a:tableStyleId>{5C22544A-7EE6-4342-B048-85BDC9FD1C3A}</a:tableStyleId>
              </a:tblPr>
              <a:tblGrid>
                <a:gridCol w="2224407">
                  <a:extLst>
                    <a:ext uri="{9D8B030D-6E8A-4147-A177-3AD203B41FA5}">
                      <a16:colId xmlns:a16="http://schemas.microsoft.com/office/drawing/2014/main" val="1334802468"/>
                    </a:ext>
                  </a:extLst>
                </a:gridCol>
                <a:gridCol w="2599945">
                  <a:extLst>
                    <a:ext uri="{9D8B030D-6E8A-4147-A177-3AD203B41FA5}">
                      <a16:colId xmlns:a16="http://schemas.microsoft.com/office/drawing/2014/main" val="3834289153"/>
                    </a:ext>
                  </a:extLst>
                </a:gridCol>
                <a:gridCol w="2188135">
                  <a:extLst>
                    <a:ext uri="{9D8B030D-6E8A-4147-A177-3AD203B41FA5}">
                      <a16:colId xmlns:a16="http://schemas.microsoft.com/office/drawing/2014/main" val="1880181008"/>
                    </a:ext>
                  </a:extLst>
                </a:gridCol>
                <a:gridCol w="1649340">
                  <a:extLst>
                    <a:ext uri="{9D8B030D-6E8A-4147-A177-3AD203B41FA5}">
                      <a16:colId xmlns:a16="http://schemas.microsoft.com/office/drawing/2014/main" val="172947424"/>
                    </a:ext>
                  </a:extLst>
                </a:gridCol>
                <a:gridCol w="1398660">
                  <a:extLst>
                    <a:ext uri="{9D8B030D-6E8A-4147-A177-3AD203B41FA5}">
                      <a16:colId xmlns:a16="http://schemas.microsoft.com/office/drawing/2014/main" val="3778038330"/>
                    </a:ext>
                  </a:extLst>
                </a:gridCol>
                <a:gridCol w="1692977">
                  <a:extLst>
                    <a:ext uri="{9D8B030D-6E8A-4147-A177-3AD203B41FA5}">
                      <a16:colId xmlns:a16="http://schemas.microsoft.com/office/drawing/2014/main" val="1861597612"/>
                    </a:ext>
                  </a:extLst>
                </a:gridCol>
              </a:tblGrid>
              <a:tr h="989345">
                <a:tc>
                  <a:txBody>
                    <a:bodyPr/>
                    <a:lstStyle/>
                    <a:p>
                      <a:pPr>
                        <a:lnSpc>
                          <a:spcPct val="107000"/>
                        </a:lnSpc>
                        <a:spcAft>
                          <a:spcPts val="0"/>
                        </a:spcAft>
                      </a:pPr>
                      <a:r>
                        <a:rPr lang="de-CH" sz="2000" dirty="0">
                          <a:effectLst/>
                        </a:rPr>
                        <a:t>SETTING</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NUMBER OF SIMULATIONS REQUIRED (SWEEPS)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SIMULATIONS REQUIRED (LHS)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R-SQUARED</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NUMBER OF X_COLS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GP TRAINING TIME (mins)</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1711360"/>
                  </a:ext>
                </a:extLst>
              </a:tr>
              <a:tr h="375152">
                <a:tc>
                  <a:txBody>
                    <a:bodyPr/>
                    <a:lstStyle/>
                    <a:p>
                      <a:pPr>
                        <a:lnSpc>
                          <a:spcPct val="107000"/>
                        </a:lnSpc>
                        <a:spcAft>
                          <a:spcPts val="0"/>
                        </a:spcAft>
                      </a:pPr>
                      <a:r>
                        <a:rPr lang="en-US" sz="2000" dirty="0">
                          <a:effectLst/>
                        </a:rPr>
                        <a:t>UPPER.EAST4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50K (submitted)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 1500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0.97 (sweep)</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4</a:t>
                      </a:r>
                      <a:endParaRPr lang="de-CH"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11.9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16352"/>
                  </a:ext>
                </a:extLst>
              </a:tr>
              <a:tr h="375152">
                <a:tc>
                  <a:txBody>
                    <a:bodyPr/>
                    <a:lstStyle/>
                    <a:p>
                      <a:pPr>
                        <a:lnSpc>
                          <a:spcPct val="107000"/>
                        </a:lnSpc>
                        <a:spcAft>
                          <a:spcPts val="0"/>
                        </a:spcAft>
                      </a:pPr>
                      <a:r>
                        <a:rPr lang="en-US" sz="2000" dirty="0">
                          <a:effectLst/>
                        </a:rPr>
                        <a:t>OTI</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300000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2500 </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smtClean="0">
                          <a:effectLst/>
                        </a:rPr>
                        <a:t>0.96 (LHS)</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1.9</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7861621"/>
                  </a:ext>
                </a:extLst>
              </a:tr>
              <a:tr h="654610">
                <a:tc>
                  <a:txBody>
                    <a:bodyPr/>
                    <a:lstStyle/>
                    <a:p>
                      <a:pPr>
                        <a:lnSpc>
                          <a:spcPct val="107000"/>
                        </a:lnSpc>
                        <a:spcAft>
                          <a:spcPts val="0"/>
                        </a:spcAft>
                      </a:pPr>
                      <a:r>
                        <a:rPr lang="en-US" sz="2000" dirty="0">
                          <a:effectLst/>
                        </a:rPr>
                        <a:t>BONO.EAST (</a:t>
                      </a:r>
                      <a:r>
                        <a:rPr lang="en-US" sz="2000" dirty="0" err="1">
                          <a:effectLst/>
                        </a:rPr>
                        <a:t>no_LSM</a:t>
                      </a:r>
                      <a:r>
                        <a:rPr lang="en-US" sz="2000" dirty="0">
                          <a:effectLst/>
                        </a:rPr>
                        <a:t>)</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212500 </a:t>
                      </a:r>
                      <a:r>
                        <a:rPr lang="en-US" sz="2000" dirty="0" smtClean="0">
                          <a:effectLst/>
                        </a:rPr>
                        <a:t>(not </a:t>
                      </a:r>
                      <a:r>
                        <a:rPr lang="en-US" sz="1800" dirty="0" smtClean="0">
                          <a:effectLst/>
                        </a:rPr>
                        <a:t>submitted)</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2000</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2000" dirty="0" smtClean="0">
                          <a:effectLst/>
                        </a:rPr>
                        <a:t>0.95 </a:t>
                      </a:r>
                      <a:r>
                        <a:rPr lang="en-US" sz="1800" dirty="0" smtClean="0">
                          <a:effectLst/>
                        </a:rPr>
                        <a:t>(LHS)</a:t>
                      </a:r>
                      <a:endParaRPr lang="de-CH"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1.4</a:t>
                      </a:r>
                      <a:endParaRPr lang="de-CH"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6796882"/>
                  </a:ext>
                </a:extLst>
              </a:tr>
            </a:tbl>
          </a:graphicData>
        </a:graphic>
      </p:graphicFrame>
    </p:spTree>
    <p:extLst>
      <p:ext uri="{BB962C8B-B14F-4D97-AF65-F5344CB8AC3E}">
        <p14:creationId xmlns:p14="http://schemas.microsoft.com/office/powerpoint/2010/main" val="18842097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201113" y="1212119"/>
            <a:ext cx="12074013" cy="45719"/>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1200" dirty="0" smtClean="0"/>
              <a:t/>
            </a:r>
            <a:br>
              <a:rPr lang="en-US" sz="1200" dirty="0" smtClean="0"/>
            </a:br>
            <a:r>
              <a:rPr lang="en-US" sz="1200" dirty="0" smtClean="0"/>
              <a:t/>
            </a:r>
            <a:br>
              <a:rPr lang="en-US" sz="1200" dirty="0" smtClean="0"/>
            </a:br>
            <a:r>
              <a:rPr lang="en-US" sz="1200" dirty="0"/>
              <a:t/>
            </a:r>
            <a:br>
              <a:rPr lang="en-US" sz="1200"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for 3 settings: full EIR sweep for UE and LHS for </a:t>
            </a:r>
            <a:r>
              <a:rPr lang="en-US" sz="2400" b="1" u="sng" dirty="0" err="1">
                <a:solidFill>
                  <a:schemeClr val="tx1"/>
                </a:solidFill>
                <a:latin typeface="Arial" panose="020B0604020202020204" pitchFamily="34" charset="0"/>
                <a:cs typeface="Arial" panose="020B0604020202020204" pitchFamily="34" charset="0"/>
              </a:rPr>
              <a:t>Oti</a:t>
            </a:r>
            <a:r>
              <a:rPr lang="en-US" sz="2400" b="1" u="sng" dirty="0">
                <a:solidFill>
                  <a:schemeClr val="tx1"/>
                </a:solidFill>
                <a:latin typeface="Arial" panose="020B0604020202020204" pitchFamily="34" charset="0"/>
                <a:cs typeface="Arial" panose="020B0604020202020204" pitchFamily="34" charset="0"/>
              </a:rPr>
              <a:t> and </a:t>
            </a:r>
            <a:r>
              <a:rPr lang="en-US" sz="2400" b="1" u="sng" dirty="0" smtClean="0">
                <a:solidFill>
                  <a:schemeClr val="tx1"/>
                </a:solidFill>
                <a:latin typeface="Arial" panose="020B0604020202020204" pitchFamily="34" charset="0"/>
                <a:cs typeface="Arial" panose="020B0604020202020204" pitchFamily="34" charset="0"/>
              </a:rPr>
              <a:t>BE</a:t>
            </a:r>
            <a:r>
              <a:rPr lang="en-US" sz="2800" dirty="0">
                <a:solidFill>
                  <a:srgbClr val="1D1C1D"/>
                </a:solidFill>
                <a:latin typeface="Slack-Lato"/>
              </a:rPr>
              <a:t/>
            </a:r>
            <a:br>
              <a:rPr lang="en-US" sz="2800" dirty="0">
                <a:solidFill>
                  <a:srgbClr val="1D1C1D"/>
                </a:solidFill>
                <a:latin typeface="Slack-Lato"/>
              </a:rPr>
            </a:br>
            <a:endParaRPr lang="en-US" sz="2800" b="1" dirty="0">
              <a:latin typeface="+mn-lt"/>
            </a:endParaRPr>
          </a:p>
        </p:txBody>
      </p:sp>
      <p:sp>
        <p:nvSpPr>
          <p:cNvPr id="4" name="TextBox 3"/>
          <p:cNvSpPr txBox="1"/>
          <p:nvPr/>
        </p:nvSpPr>
        <p:spPr>
          <a:xfrm>
            <a:off x="201113" y="2041236"/>
            <a:ext cx="10503832" cy="1200329"/>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40109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sp>
        <p:nvSpPr>
          <p:cNvPr id="4" name="TextBox 3"/>
          <p:cNvSpPr txBox="1"/>
          <p:nvPr/>
        </p:nvSpPr>
        <p:spPr>
          <a:xfrm>
            <a:off x="83127" y="1257839"/>
            <a:ext cx="10503832" cy="830997"/>
          </a:xfrm>
          <a:prstGeom prst="rect">
            <a:avLst/>
          </a:prstGeom>
          <a:noFill/>
        </p:spPr>
        <p:txBody>
          <a:bodyPr wrap="square" rtlCol="0">
            <a:spAutoFit/>
          </a:bodyPr>
          <a:lstStyle/>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The GP was </a:t>
            </a:r>
            <a:r>
              <a:rPr lang="de-CH" sz="2400" dirty="0" err="1" smtClean="0">
                <a:latin typeface="Arial" panose="020B0604020202020204" pitchFamily="34" charset="0"/>
                <a:cs typeface="Arial" panose="020B0604020202020204" pitchFamily="34" charset="0"/>
              </a:rPr>
              <a:t>trained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all </a:t>
            </a:r>
            <a:r>
              <a:rPr lang="de-CH" sz="2400" dirty="0" err="1" smtClean="0">
                <a:latin typeface="Arial" panose="020B0604020202020204" pitchFamily="34" charset="0"/>
                <a:cs typeface="Arial" panose="020B0604020202020204" pitchFamily="34" charset="0"/>
              </a:rPr>
              <a:t>simulation</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data</a:t>
            </a:r>
            <a:endParaRPr lang="de-CH" sz="2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CH" sz="2400" dirty="0" smtClean="0">
                <a:latin typeface="Arial" panose="020B0604020202020204" pitchFamily="34" charset="0"/>
                <a:cs typeface="Arial" panose="020B0604020202020204" pitchFamily="34" charset="0"/>
              </a:rPr>
              <a:t>Model </a:t>
            </a:r>
            <a:r>
              <a:rPr lang="de-CH" sz="2400" dirty="0" err="1" smtClean="0">
                <a:latin typeface="Arial" panose="020B0604020202020204" pitchFamily="34" charset="0"/>
                <a:cs typeface="Arial" panose="020B0604020202020204" pitchFamily="34" charset="0"/>
              </a:rPr>
              <a:t>performance</a:t>
            </a:r>
            <a:r>
              <a:rPr lang="de-CH" sz="2400" dirty="0" smtClean="0">
                <a:latin typeface="Arial" panose="020B0604020202020204" pitchFamily="34" charset="0"/>
                <a:cs typeface="Arial" panose="020B0604020202020204" pitchFamily="34" charset="0"/>
              </a:rPr>
              <a:t> was </a:t>
            </a:r>
            <a:r>
              <a:rPr lang="de-CH" sz="2400" dirty="0" err="1" smtClean="0">
                <a:latin typeface="Arial" panose="020B0604020202020204" pitchFamily="34" charset="0"/>
                <a:cs typeface="Arial" panose="020B0604020202020204" pitchFamily="34" charset="0"/>
              </a:rPr>
              <a:t>evaluated</a:t>
            </a:r>
            <a:r>
              <a:rPr lang="de-CH" sz="2400" dirty="0" smtClean="0">
                <a:latin typeface="Arial" panose="020B0604020202020204" pitchFamily="34" charset="0"/>
                <a:cs typeface="Arial" panose="020B0604020202020204" pitchFamily="34" charset="0"/>
              </a:rPr>
              <a:t> </a:t>
            </a:r>
            <a:r>
              <a:rPr lang="de-CH" sz="2400" dirty="0" err="1" smtClean="0">
                <a:latin typeface="Arial" panose="020B0604020202020204" pitchFamily="34" charset="0"/>
                <a:cs typeface="Arial" panose="020B0604020202020204" pitchFamily="34" charset="0"/>
              </a:rPr>
              <a:t>using</a:t>
            </a:r>
            <a:r>
              <a:rPr lang="de-CH" sz="2400" dirty="0" smtClean="0">
                <a:latin typeface="Arial" panose="020B0604020202020204" pitchFamily="34" charset="0"/>
                <a:cs typeface="Arial" panose="020B0604020202020204" pitchFamily="34" charset="0"/>
              </a:rPr>
              <a:t> R-</a:t>
            </a:r>
            <a:r>
              <a:rPr lang="de-CH" sz="2400" dirty="0" err="1" smtClean="0">
                <a:latin typeface="Arial" panose="020B0604020202020204" pitchFamily="34" charset="0"/>
                <a:cs typeface="Arial" panose="020B0604020202020204" pitchFamily="34" charset="0"/>
              </a:rPr>
              <a:t>sqaured</a:t>
            </a:r>
            <a:endParaRPr lang="de-CH" sz="24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97" y="1257839"/>
            <a:ext cx="11111345" cy="5372842"/>
          </a:xfrm>
          <a:prstGeom prst="rect">
            <a:avLst/>
          </a:prstGeom>
        </p:spPr>
      </p:pic>
    </p:spTree>
    <p:extLst>
      <p:ext uri="{BB962C8B-B14F-4D97-AF65-F5344CB8AC3E}">
        <p14:creationId xmlns:p14="http://schemas.microsoft.com/office/powerpoint/2010/main" val="30016096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7"/>
          <p:cNvSpPr txBox="1">
            <a:spLocks noGrp="1"/>
          </p:cNvSpPr>
          <p:nvPr>
            <p:ph type="title"/>
          </p:nvPr>
        </p:nvSpPr>
        <p:spPr>
          <a:xfrm>
            <a:off x="83127" y="1"/>
            <a:ext cx="12191999" cy="1257838"/>
          </a:xfrm>
        </p:spPr>
        <p:txBody>
          <a:bodyPr/>
          <a:lstStyle/>
          <a:p>
            <a:pPr algn="l"/>
            <a:r>
              <a:rPr lang="en-US" sz="2800" b="1" dirty="0" smtClean="0">
                <a:latin typeface="+mn-lt"/>
              </a:rPr>
              <a:t>2 – </a:t>
            </a:r>
            <a:r>
              <a:rPr lang="en-US" sz="2800" dirty="0"/>
              <a:t>GP </a:t>
            </a:r>
            <a:r>
              <a:rPr lang="en-US" sz="2800" dirty="0" smtClean="0"/>
              <a:t>performance evaluation - learning </a:t>
            </a:r>
            <a:r>
              <a:rPr lang="en-US" sz="2800" dirty="0"/>
              <a:t>of prevalence reduction gives good </a:t>
            </a:r>
            <a:r>
              <a:rPr lang="en-US" sz="2800" dirty="0" smtClean="0"/>
              <a:t>statistical   correspondence </a:t>
            </a:r>
            <a:r>
              <a:rPr lang="en-US" dirty="0"/>
              <a:t/>
            </a:r>
            <a:br>
              <a:rPr lang="en-US" dirty="0"/>
            </a:br>
            <a:r>
              <a:rPr lang="en-US" sz="2400" b="1" u="sng" dirty="0" smtClean="0">
                <a:solidFill>
                  <a:schemeClr val="tx1"/>
                </a:solidFill>
                <a:latin typeface="Arial" panose="020B0604020202020204" pitchFamily="34" charset="0"/>
                <a:cs typeface="Arial" panose="020B0604020202020204" pitchFamily="34" charset="0"/>
              </a:rPr>
              <a:t>Actual </a:t>
            </a:r>
            <a:r>
              <a:rPr lang="en-US" sz="2400" b="1" u="sng" dirty="0">
                <a:solidFill>
                  <a:schemeClr val="tx1"/>
                </a:solidFill>
                <a:latin typeface="Arial" panose="020B0604020202020204" pitchFamily="34" charset="0"/>
                <a:cs typeface="Arial" panose="020B0604020202020204" pitchFamily="34" charset="0"/>
              </a:rPr>
              <a:t>vs predict </a:t>
            </a:r>
            <a:r>
              <a:rPr lang="en-US" sz="2400" b="1" u="sng" dirty="0" smtClean="0">
                <a:solidFill>
                  <a:schemeClr val="tx1"/>
                </a:solidFill>
                <a:latin typeface="Arial" panose="020B0604020202020204" pitchFamily="34" charset="0"/>
                <a:cs typeface="Arial" panose="020B0604020202020204" pitchFamily="34" charset="0"/>
              </a:rPr>
              <a:t>using different LHS sample sizes for </a:t>
            </a:r>
            <a:r>
              <a:rPr lang="en-US" sz="2800" b="1" u="sng" dirty="0" smtClean="0">
                <a:solidFill>
                  <a:schemeClr val="tx1"/>
                </a:solidFill>
                <a:latin typeface="Arial" panose="020B0604020202020204" pitchFamily="34" charset="0"/>
                <a:cs typeface="Arial" panose="020B0604020202020204" pitchFamily="34" charset="0"/>
              </a:rPr>
              <a:t>UE4</a:t>
            </a:r>
            <a:endParaRPr lang="en-US" sz="2800" b="1"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786" y="1277642"/>
            <a:ext cx="5424372" cy="5580358"/>
          </a:xfrm>
          <a:prstGeom prst="rect">
            <a:avLst/>
          </a:prstGeom>
        </p:spPr>
      </p:pic>
      <p:pic>
        <p:nvPicPr>
          <p:cNvPr id="2" name="Picture 1"/>
          <p:cNvPicPr>
            <a:picLocks noChangeAspect="1"/>
          </p:cNvPicPr>
          <p:nvPr/>
        </p:nvPicPr>
        <p:blipFill>
          <a:blip r:embed="rId4"/>
          <a:stretch>
            <a:fillRect/>
          </a:stretch>
        </p:blipFill>
        <p:spPr>
          <a:xfrm>
            <a:off x="5775158" y="1501540"/>
            <a:ext cx="6401486" cy="3118585"/>
          </a:xfrm>
          <a:prstGeom prst="rect">
            <a:avLst/>
          </a:prstGeom>
        </p:spPr>
      </p:pic>
    </p:spTree>
    <p:extLst>
      <p:ext uri="{BB962C8B-B14F-4D97-AF65-F5344CB8AC3E}">
        <p14:creationId xmlns:p14="http://schemas.microsoft.com/office/powerpoint/2010/main" val="29713879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2168" y="1717283"/>
            <a:ext cx="12109832" cy="4191865"/>
          </a:xfrm>
          <a:prstGeom prst="rect">
            <a:avLst/>
          </a:prstGeom>
        </p:spPr>
      </p:pic>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p:sp>
        <p:nvSpPr>
          <p:cNvPr id="7" name="Rectangle 6"/>
          <p:cNvSpPr/>
          <p:nvPr/>
        </p:nvSpPr>
        <p:spPr>
          <a:xfrm>
            <a:off x="177224" y="687379"/>
            <a:ext cx="11848699" cy="685059"/>
          </a:xfrm>
          <a:prstGeom prst="rect">
            <a:avLst/>
          </a:prstGeom>
        </p:spPr>
        <p:txBody>
          <a:bodyPr wrap="square">
            <a:spAutoFit/>
          </a:bodyPr>
          <a:lstStyle/>
          <a:p>
            <a:pPr>
              <a:lnSpc>
                <a:spcPct val="107000"/>
              </a:lnSpc>
              <a:spcAft>
                <a:spcPts val="800"/>
              </a:spcAft>
            </a:pPr>
            <a:r>
              <a:rPr lang="en-US" b="1" dirty="0" err="1" smtClean="0">
                <a:latin typeface="Arial" panose="020B0604020202020204" pitchFamily="34" charset="0"/>
                <a:ea typeface="Calibri" panose="020F0502020204030204" pitchFamily="34" charset="0"/>
                <a:cs typeface="Times New Roman" panose="02020603050405020304" pitchFamily="18" charset="0"/>
              </a:rPr>
              <a:t>Sobol</a:t>
            </a:r>
            <a:r>
              <a:rPr lang="en-US" b="1" dirty="0" smtClean="0">
                <a:latin typeface="Arial" panose="020B0604020202020204" pitchFamily="34" charset="0"/>
                <a:ea typeface="Calibri" panose="020F0502020204030204" pitchFamily="34" charset="0"/>
                <a:cs typeface="Times New Roman" panose="02020603050405020304" pitchFamily="18" charset="0"/>
              </a:rPr>
              <a:t> sensitivity analysis of future coverages of malaria interventions for 3 settings in </a:t>
            </a:r>
            <a:r>
              <a:rPr lang="en-US" b="1" dirty="0" err="1" smtClean="0">
                <a:latin typeface="Arial" panose="020B0604020202020204" pitchFamily="34" charset="0"/>
                <a:ea typeface="Calibri" panose="020F0502020204030204" pitchFamily="34" charset="0"/>
                <a:cs typeface="Times New Roman" panose="02020603050405020304" pitchFamily="18" charset="0"/>
              </a:rPr>
              <a:t>ghana</a:t>
            </a:r>
            <a:r>
              <a:rPr lang="en-US" b="1" dirty="0" smtClean="0">
                <a:latin typeface="Arial" panose="020B0604020202020204" pitchFamily="34" charset="0"/>
                <a:ea typeface="Calibri" panose="020F0502020204030204" pitchFamily="34" charset="0"/>
                <a:cs typeface="Times New Roman" panose="02020603050405020304" pitchFamily="18" charset="0"/>
              </a:rPr>
              <a:t>: upper.EAST4, OTI and </a:t>
            </a:r>
            <a:r>
              <a:rPr lang="en-US" b="1" dirty="0" err="1" smtClean="0">
                <a:latin typeface="Arial" panose="020B0604020202020204" pitchFamily="34" charset="0"/>
                <a:ea typeface="Calibri" panose="020F0502020204030204" pitchFamily="34" charset="0"/>
                <a:cs typeface="Times New Roman" panose="02020603050405020304" pitchFamily="18" charset="0"/>
              </a:rPr>
              <a:t>BONO.East</a:t>
            </a:r>
            <a:r>
              <a:rPr lang="en-US" b="1" dirty="0" smtClean="0">
                <a:latin typeface="Arial" panose="020B0604020202020204" pitchFamily="34" charset="0"/>
                <a:ea typeface="Calibri" panose="020F0502020204030204" pitchFamily="34" charset="0"/>
                <a:cs typeface="Times New Roman" panose="02020603050405020304" pitchFamily="18" charset="0"/>
              </a:rPr>
              <a:t>.</a:t>
            </a:r>
            <a:endParaRPr lang="de-CH"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87795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190694"/>
            <a:ext cx="10850000" cy="400433"/>
          </a:xfrm>
        </p:spPr>
        <p:txBody>
          <a:bodyPr/>
          <a:lstStyle/>
          <a:p>
            <a:r>
              <a:rPr lang="de-CH" sz="2800" b="1" dirty="0" smtClean="0">
                <a:latin typeface="+mn-lt"/>
              </a:rPr>
              <a:t>3 </a:t>
            </a:r>
            <a:r>
              <a:rPr lang="de-CH" sz="2800" dirty="0" smtClean="0">
                <a:latin typeface="+mn-lt"/>
              </a:rPr>
              <a:t>- Sobol </a:t>
            </a:r>
            <a:r>
              <a:rPr lang="de-CH" sz="2800" dirty="0" err="1" smtClean="0">
                <a:latin typeface="+mn-lt"/>
              </a:rPr>
              <a:t>methods</a:t>
            </a:r>
            <a:r>
              <a:rPr lang="de-CH" sz="2800" dirty="0" smtClean="0">
                <a:latin typeface="+mn-lt"/>
              </a:rPr>
              <a:t> </a:t>
            </a:r>
            <a:r>
              <a:rPr lang="de-CH" sz="2800" dirty="0" err="1" smtClean="0">
                <a:latin typeface="+mn-lt"/>
              </a:rPr>
              <a:t>comparison</a:t>
            </a:r>
            <a:endParaRPr lang="de-CH" sz="2800" dirty="0">
              <a:latin typeface="+mn-lt"/>
            </a:endParaRPr>
          </a:p>
        </p:txBody>
      </p:sp>
      <mc:AlternateContent xmlns:mc="http://schemas.openxmlformats.org/markup-compatibility/2006" xmlns:a14="http://schemas.microsoft.com/office/drawing/2010/main">
        <mc:Choice Requires="a14">
          <p:sp>
            <p:nvSpPr>
              <p:cNvPr id="4" name="Rectangle 3"/>
              <p:cNvSpPr/>
              <p:nvPr/>
            </p:nvSpPr>
            <p:spPr>
              <a:xfrm>
                <a:off x="177224" y="996243"/>
                <a:ext cx="11913176" cy="4557017"/>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en-US" sz="2400" dirty="0">
                    <a:latin typeface="Arial" panose="020B0604020202020204" pitchFamily="34" charset="0"/>
                    <a:ea typeface="Calibri" panose="020F0502020204030204" pitchFamily="34" charset="0"/>
                    <a:cs typeface="Times New Roman" panose="02020603050405020304" pitchFamily="18" charset="0"/>
                  </a:rPr>
                  <a:t>Both methods obtained similar sensitivity </a:t>
                </a:r>
                <a:r>
                  <a:rPr lang="en-US" sz="2400" dirty="0" smtClean="0">
                    <a:latin typeface="Arial" panose="020B0604020202020204" pitchFamily="34" charset="0"/>
                    <a:ea typeface="Calibri" panose="020F0502020204030204" pitchFamily="34" charset="0"/>
                    <a:cs typeface="Times New Roman" panose="02020603050405020304" pitchFamily="18" charset="0"/>
                  </a:rPr>
                  <a:t>results</a:t>
                </a:r>
              </a:p>
              <a:p>
                <a:pPr lvl="0">
                  <a:lnSpc>
                    <a:spcPct val="107000"/>
                  </a:lnSpc>
                  <a:spcAft>
                    <a:spcPts val="0"/>
                  </a:spcAft>
                </a:pP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b="1" dirty="0" err="1">
                    <a:latin typeface="Arial" panose="020B0604020202020204" pitchFamily="34" charset="0"/>
                    <a:ea typeface="Calibri" panose="020F0502020204030204" pitchFamily="34" charset="0"/>
                    <a:cs typeface="Times New Roman" panose="02020603050405020304" pitchFamily="18" charset="0"/>
                  </a:rPr>
                  <a:t>Soboljansen</a:t>
                </a:r>
                <a:r>
                  <a:rPr lang="en-US" sz="2400" dirty="0">
                    <a:latin typeface="Arial" panose="020B0604020202020204" pitchFamily="34" charset="0"/>
                    <a:ea typeface="Calibri" panose="020F0502020204030204" pitchFamily="34" charset="0"/>
                    <a:cs typeface="Times New Roman" panose="02020603050405020304" pitchFamily="18" charset="0"/>
                  </a:rPr>
                  <a:t> uses the best estimators so far for </a:t>
                </a:r>
                <a:r>
                  <a:rPr lang="en-US" sz="2400" b="1" dirty="0">
                    <a:latin typeface="Arial" panose="020B0604020202020204" pitchFamily="34" charset="0"/>
                    <a:ea typeface="Calibri" panose="020F0502020204030204" pitchFamily="34" charset="0"/>
                    <a:cs typeface="Times New Roman" panose="02020603050405020304" pitchFamily="18" charset="0"/>
                  </a:rPr>
                  <a:t>first</a:t>
                </a:r>
                <a:r>
                  <a:rPr lang="en-US" sz="2400" dirty="0">
                    <a:latin typeface="Arial" panose="020B0604020202020204" pitchFamily="34" charset="0"/>
                    <a:ea typeface="Calibri" panose="020F0502020204030204" pitchFamily="34" charset="0"/>
                    <a:cs typeface="Times New Roman" panose="02020603050405020304" pitchFamily="18" charset="0"/>
                  </a:rPr>
                  <a:t> and </a:t>
                </a:r>
                <a:r>
                  <a:rPr lang="en-US" sz="2400" b="1" dirty="0">
                    <a:latin typeface="Arial" panose="020B0604020202020204" pitchFamily="34" charset="0"/>
                    <a:ea typeface="Calibri" panose="020F0502020204030204" pitchFamily="34" charset="0"/>
                    <a:cs typeface="Times New Roman" panose="02020603050405020304" pitchFamily="18" charset="0"/>
                  </a:rPr>
                  <a:t>total order indices </a:t>
                </a:r>
                <a:r>
                  <a:rPr lang="en-US" sz="2400" dirty="0">
                    <a:latin typeface="Arial" panose="020B0604020202020204" pitchFamily="34" charset="0"/>
                    <a:ea typeface="Calibri" panose="020F0502020204030204" pitchFamily="34" charset="0"/>
                    <a:cs typeface="Times New Roman" panose="02020603050405020304" pitchFamily="18" charset="0"/>
                  </a:rPr>
                  <a:t>and takes into account a </a:t>
                </a:r>
                <a:r>
                  <a:rPr lang="en-US" sz="2400" b="1" dirty="0">
                    <a:latin typeface="Arial" panose="020B0604020202020204" pitchFamily="34" charset="0"/>
                    <a:ea typeface="Calibri" panose="020F0502020204030204" pitchFamily="34" charset="0"/>
                    <a:cs typeface="Times New Roman" panose="02020603050405020304" pitchFamily="18" charset="0"/>
                  </a:rPr>
                  <a:t>better configuration of the matrices </a:t>
                </a:r>
                <a:r>
                  <a:rPr lang="en-US" sz="2400" dirty="0">
                    <a:latin typeface="Arial" panose="020B0604020202020204" pitchFamily="34" charset="0"/>
                    <a:ea typeface="Calibri" panose="020F0502020204030204" pitchFamily="34" charset="0"/>
                    <a:cs typeface="Times New Roman" panose="02020603050405020304" pitchFamily="18" charset="0"/>
                  </a:rPr>
                  <a:t>A, </a:t>
                </a:r>
                <a14:m>
                  <m:oMath xmlns:m="http://schemas.openxmlformats.org/officeDocument/2006/math">
                    <m:sSub>
                      <m:sSubPr>
                        <m:ctrlPr>
                          <a:rPr lang="de-CH" sz="2400" i="1">
                            <a:latin typeface="Cambria Math" panose="02040503050406030204" pitchFamily="18" charset="0"/>
                            <a:ea typeface="Calibri" panose="020F0502020204030204" pitchFamily="34" charset="0"/>
                            <a:cs typeface="Arial" panose="020B0604020202020204" pitchFamily="34" charset="0"/>
                          </a:rPr>
                        </m:ctrlPr>
                      </m:sSubPr>
                      <m:e>
                        <m:r>
                          <a:rPr lang="en-US" sz="2400" i="1">
                            <a:latin typeface="Cambria Math" panose="02040503050406030204" pitchFamily="18" charset="0"/>
                            <a:ea typeface="Calibri" panose="020F0502020204030204" pitchFamily="34" charset="0"/>
                            <a:cs typeface="Arial" panose="020B0604020202020204" pitchFamily="34" charset="0"/>
                          </a:rPr>
                          <m:t>𝐴</m:t>
                        </m:r>
                      </m:e>
                      <m:sub>
                        <m:r>
                          <a:rPr lang="en-US" sz="2400" i="1">
                            <a:latin typeface="Cambria Math" panose="02040503050406030204" pitchFamily="18" charset="0"/>
                            <a:ea typeface="Calibri" panose="020F0502020204030204" pitchFamily="34" charset="0"/>
                            <a:cs typeface="Arial" panose="020B0604020202020204" pitchFamily="34" charset="0"/>
                          </a:rPr>
                          <m:t>𝐵</m:t>
                        </m:r>
                      </m:sub>
                    </m:sSub>
                  </m:oMath>
                </a14:m>
                <a:r>
                  <a:rPr lang="en-US" sz="2400" dirty="0">
                    <a:latin typeface="Arial" panose="020B0604020202020204" pitchFamily="34" charset="0"/>
                    <a:ea typeface="Calibri" panose="020F0502020204030204" pitchFamily="34" charset="0"/>
                    <a:cs typeface="Times New Roman" panose="02020603050405020304" pitchFamily="18" charset="0"/>
                  </a:rPr>
                  <a:t> and B. </a:t>
                </a:r>
                <a:endParaRPr lang="en-US" sz="2400" dirty="0" smtClean="0">
                  <a:latin typeface="Arial" panose="020B060402020202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Arial" panose="020B0604020202020204" pitchFamily="34" charset="0"/>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First generates a quasi-random matrix </a:t>
                </a:r>
                <a:r>
                  <a:rPr lang="en-US" sz="2400" i="1" dirty="0" smtClean="0">
                    <a:latin typeface="Arial" panose="020B0604020202020204" pitchFamily="34" charset="0"/>
                    <a:ea typeface="Calibri" panose="020F0502020204030204" pitchFamily="34" charset="0"/>
                    <a:cs typeface="Times New Roman" panose="02020603050405020304" pitchFamily="18" charset="0"/>
                  </a:rPr>
                  <a:t>(N, 2k)</a:t>
                </a:r>
              </a:p>
              <a:p>
                <a:pPr lvl="1">
                  <a:lnSpc>
                    <a:spcPct val="107000"/>
                  </a:lnSpc>
                  <a:spcAft>
                    <a:spcPts val="800"/>
                  </a:spcAft>
                </a:pPr>
                <a:endParaRPr lang="en-US" sz="2400" i="1" dirty="0" smtClean="0">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the </a:t>
                </a:r>
                <a:r>
                  <a:rPr lang="en-US" sz="2400" b="1" dirty="0">
                    <a:latin typeface="Arial" panose="020B0604020202020204" pitchFamily="34" charset="0"/>
                    <a:ea typeface="Calibri" panose="020F0502020204030204" pitchFamily="34" charset="0"/>
                    <a:cs typeface="Times New Roman" panose="02020603050405020304" pitchFamily="18" charset="0"/>
                  </a:rPr>
                  <a:t>uniformity</a:t>
                </a:r>
                <a:r>
                  <a:rPr lang="en-US" sz="2400" dirty="0">
                    <a:latin typeface="Arial" panose="020B0604020202020204" pitchFamily="34" charset="0"/>
                    <a:ea typeface="Calibri" panose="020F0502020204030204" pitchFamily="34" charset="0"/>
                    <a:cs typeface="Times New Roman" panose="02020603050405020304" pitchFamily="18" charset="0"/>
                  </a:rPr>
                  <a:t> of the quasi-random matrix </a:t>
                </a:r>
                <a:r>
                  <a:rPr lang="en-US" sz="2400" b="1" dirty="0">
                    <a:latin typeface="Arial" panose="020B0604020202020204" pitchFamily="34" charset="0"/>
                    <a:ea typeface="Calibri" panose="020F0502020204030204" pitchFamily="34" charset="0"/>
                    <a:cs typeface="Times New Roman" panose="02020603050405020304" pitchFamily="18" charset="0"/>
                  </a:rPr>
                  <a:t>deteriorates</a:t>
                </a:r>
                <a:r>
                  <a:rPr lang="en-US" sz="2400" dirty="0">
                    <a:latin typeface="Arial" panose="020B0604020202020204" pitchFamily="34" charset="0"/>
                    <a:ea typeface="Calibri" panose="020F0502020204030204" pitchFamily="34" charset="0"/>
                    <a:cs typeface="Times New Roman" panose="02020603050405020304" pitchFamily="18" charset="0"/>
                  </a:rPr>
                  <a:t> as the column index increases, with the first column being the best </a:t>
                </a:r>
                <a:r>
                  <a:rPr lang="en-US" sz="2400" dirty="0" err="1">
                    <a:latin typeface="Arial" panose="020B0604020202020204" pitchFamily="34" charset="0"/>
                    <a:ea typeface="Calibri" panose="020F0502020204030204" pitchFamily="34" charset="0"/>
                    <a:cs typeface="Times New Roman" panose="02020603050405020304" pitchFamily="18" charset="0"/>
                  </a:rPr>
                  <a:t>equidistributed</a:t>
                </a:r>
                <a:r>
                  <a:rPr lang="en-US" sz="2400" dirty="0">
                    <a:latin typeface="Arial" panose="020B0604020202020204" pitchFamily="34" charset="0"/>
                    <a:ea typeface="Calibri" panose="020F0502020204030204" pitchFamily="34" charset="0"/>
                    <a:cs typeface="Times New Roman" panose="02020603050405020304" pitchFamily="18" charset="0"/>
                  </a:rPr>
                  <a:t> in the interval [0, 1</a:t>
                </a:r>
                <a:r>
                  <a:rPr lang="en-US" sz="2400" dirty="0" smtClean="0">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r>
                  <a:rPr lang="en-US" sz="2400" dirty="0" smtClean="0">
                    <a:latin typeface="Arial" panose="020B0604020202020204" pitchFamily="34" charset="0"/>
                    <a:ea typeface="Calibri" panose="020F0502020204030204" pitchFamily="34" charset="0"/>
                    <a:cs typeface="Times New Roman" panose="02020603050405020304" pitchFamily="18" charset="0"/>
                  </a:rPr>
                  <a:t> </a:t>
                </a:r>
              </a:p>
              <a:p>
                <a:pPr marL="342900" lvl="0" indent="-342900">
                  <a:lnSpc>
                    <a:spcPct val="107000"/>
                  </a:lnSpc>
                  <a:spcAft>
                    <a:spcPts val="800"/>
                  </a:spcAft>
                  <a:buFont typeface="Symbol" panose="05050102010706020507" pitchFamily="18" charset="2"/>
                  <a:buChar char=""/>
                </a:pPr>
                <a:r>
                  <a:rPr lang="en-US" sz="2400" dirty="0" smtClean="0">
                    <a:latin typeface="Arial" panose="020B0604020202020204" pitchFamily="34" charset="0"/>
                    <a:ea typeface="Calibri" panose="020F0502020204030204" pitchFamily="34" charset="0"/>
                    <a:cs typeface="Times New Roman" panose="02020603050405020304" pitchFamily="18" charset="0"/>
                  </a:rPr>
                  <a:t>It </a:t>
                </a:r>
                <a:r>
                  <a:rPr lang="en-US" sz="2400" dirty="0">
                    <a:latin typeface="Arial" panose="020B0604020202020204" pitchFamily="34" charset="0"/>
                    <a:ea typeface="Calibri" panose="020F0502020204030204" pitchFamily="34" charset="0"/>
                    <a:cs typeface="Times New Roman" panose="02020603050405020304" pitchFamily="18" charset="0"/>
                  </a:rPr>
                  <a:t>is advisable to choose the </a:t>
                </a:r>
                <a:r>
                  <a:rPr lang="en-US" sz="2400" b="1" dirty="0">
                    <a:latin typeface="Arial" panose="020B0604020202020204" pitchFamily="34" charset="0"/>
                    <a:ea typeface="Calibri" panose="020F0502020204030204" pitchFamily="34" charset="0"/>
                    <a:cs typeface="Times New Roman" panose="02020603050405020304" pitchFamily="18" charset="0"/>
                  </a:rPr>
                  <a:t>root</a:t>
                </a:r>
                <a:r>
                  <a:rPr lang="en-US" sz="2400" dirty="0">
                    <a:latin typeface="Arial" panose="020B0604020202020204" pitchFamily="34" charset="0"/>
                    <a:ea typeface="Calibri" panose="020F0502020204030204" pitchFamily="34" charset="0"/>
                    <a:cs typeface="Times New Roman" panose="02020603050405020304" pitchFamily="18" charset="0"/>
                  </a:rPr>
                  <a:t> of the </a:t>
                </a:r>
                <a:r>
                  <a:rPr lang="en-US" sz="2400" b="1" dirty="0">
                    <a:latin typeface="Arial" panose="020B0604020202020204" pitchFamily="34" charset="0"/>
                    <a:ea typeface="Calibri" panose="020F0502020204030204" pitchFamily="34" charset="0"/>
                    <a:cs typeface="Times New Roman" panose="02020603050405020304" pitchFamily="18" charset="0"/>
                  </a:rPr>
                  <a:t>third matrix </a:t>
                </a:r>
                <a:r>
                  <a:rPr lang="en-US" sz="2400" dirty="0">
                    <a:latin typeface="Arial" panose="020B0604020202020204" pitchFamily="34" charset="0"/>
                    <a:ea typeface="Calibri" panose="020F0502020204030204" pitchFamily="34" charset="0"/>
                    <a:cs typeface="Times New Roman" panose="02020603050405020304" pitchFamily="18" charset="0"/>
                  </a:rPr>
                  <a:t>from </a:t>
                </a:r>
                <a:r>
                  <a:rPr lang="en-US" sz="2400" b="1" dirty="0">
                    <a:latin typeface="Arial" panose="020B0604020202020204" pitchFamily="34" charset="0"/>
                    <a:ea typeface="Calibri" panose="020F0502020204030204" pitchFamily="34" charset="0"/>
                    <a:cs typeface="Times New Roman" panose="02020603050405020304" pitchFamily="18" charset="0"/>
                  </a:rPr>
                  <a:t>A</a:t>
                </a:r>
                <a:r>
                  <a:rPr lang="en-US" sz="2400" dirty="0">
                    <a:latin typeface="Arial" panose="020B0604020202020204" pitchFamily="34" charset="0"/>
                    <a:ea typeface="Calibri" panose="020F0502020204030204" pitchFamily="34" charset="0"/>
                    <a:cs typeface="Times New Roman" panose="02020603050405020304" pitchFamily="18" charset="0"/>
                  </a:rPr>
                  <a:t> and not B</a:t>
                </a:r>
                <a:endParaRPr lang="de-CH"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77224" y="996243"/>
                <a:ext cx="11913176" cy="4557017"/>
              </a:xfrm>
              <a:prstGeom prst="rect">
                <a:avLst/>
              </a:prstGeom>
              <a:blipFill>
                <a:blip r:embed="rId3"/>
                <a:stretch>
                  <a:fillRect l="-819" t="-1337" b="-1471"/>
                </a:stretch>
              </a:blipFill>
            </p:spPr>
            <p:txBody>
              <a:bodyPr/>
              <a:lstStyle/>
              <a:p>
                <a:r>
                  <a:rPr lang="de-CH">
                    <a:noFill/>
                  </a:rPr>
                  <a:t> </a:t>
                </a:r>
              </a:p>
            </p:txBody>
          </p:sp>
        </mc:Fallback>
      </mc:AlternateContent>
      <p:sp>
        <p:nvSpPr>
          <p:cNvPr id="6" name="Rectangle 5"/>
          <p:cNvSpPr/>
          <p:nvPr/>
        </p:nvSpPr>
        <p:spPr>
          <a:xfrm>
            <a:off x="3217648" y="3244334"/>
            <a:ext cx="5756704" cy="369332"/>
          </a:xfrm>
          <a:prstGeom prst="rect">
            <a:avLst/>
          </a:prstGeom>
        </p:spPr>
        <p:txBody>
          <a:bodyPr wrap="none">
            <a:spAutoFit/>
          </a:bodyPr>
          <a:lstStyle/>
          <a:p>
            <a:pPr marL="285750" indent="-285750">
              <a:buFont typeface="Arial" panose="020B0604020202020204" pitchFamily="34" charset="0"/>
              <a:buChar char="•"/>
            </a:pPr>
            <a:r>
              <a:rPr lang="de-CH" dirty="0">
                <a:latin typeface="Arial" panose="020B0604020202020204" pitchFamily="34" charset="0"/>
                <a:cs typeface="Arial" panose="020B0604020202020204" pitchFamily="34" charset="0"/>
              </a:rPr>
              <a:t>Model </a:t>
            </a:r>
            <a:r>
              <a:rPr lang="de-CH" dirty="0" err="1">
                <a:latin typeface="Arial" panose="020B0604020202020204" pitchFamily="34" charset="0"/>
                <a:cs typeface="Arial" panose="020B0604020202020204" pitchFamily="34" charset="0"/>
              </a:rPr>
              <a:t>performance</a:t>
            </a:r>
            <a:r>
              <a:rPr lang="de-CH" dirty="0">
                <a:latin typeface="Arial" panose="020B0604020202020204" pitchFamily="34" charset="0"/>
                <a:cs typeface="Arial" panose="020B0604020202020204" pitchFamily="34" charset="0"/>
              </a:rPr>
              <a:t> was </a:t>
            </a:r>
            <a:r>
              <a:rPr lang="de-CH" dirty="0" err="1">
                <a:latin typeface="Arial" panose="020B0604020202020204" pitchFamily="34" charset="0"/>
                <a:cs typeface="Arial" panose="020B0604020202020204" pitchFamily="34" charset="0"/>
              </a:rPr>
              <a:t>evaluated</a:t>
            </a:r>
            <a:r>
              <a:rPr lang="de-CH" dirty="0">
                <a:latin typeface="Arial" panose="020B0604020202020204" pitchFamily="34" charset="0"/>
                <a:cs typeface="Arial" panose="020B0604020202020204" pitchFamily="34" charset="0"/>
              </a:rPr>
              <a:t> </a:t>
            </a:r>
            <a:r>
              <a:rPr lang="de-CH" dirty="0" err="1">
                <a:latin typeface="Arial" panose="020B0604020202020204" pitchFamily="34" charset="0"/>
                <a:cs typeface="Arial" panose="020B0604020202020204" pitchFamily="34" charset="0"/>
              </a:rPr>
              <a:t>using</a:t>
            </a:r>
            <a:r>
              <a:rPr lang="de-CH" dirty="0">
                <a:latin typeface="Arial" panose="020B0604020202020204" pitchFamily="34" charset="0"/>
                <a:cs typeface="Arial" panose="020B0604020202020204" pitchFamily="34" charset="0"/>
              </a:rPr>
              <a:t> R-</a:t>
            </a:r>
            <a:r>
              <a:rPr lang="de-CH" dirty="0" err="1">
                <a:latin typeface="Arial" panose="020B0604020202020204" pitchFamily="34" charset="0"/>
                <a:cs typeface="Arial" panose="020B0604020202020204" pitchFamily="34" charset="0"/>
              </a:rPr>
              <a:t>sqaured</a:t>
            </a:r>
            <a:endParaRPr lang="de-CH"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88312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177224" y="255349"/>
            <a:ext cx="12097903" cy="400433"/>
          </a:xfrm>
        </p:spPr>
        <p:txBody>
          <a:bodyPr/>
          <a:lstStyle/>
          <a:p>
            <a:r>
              <a:rPr lang="de-CH" sz="2800" b="1" dirty="0" err="1" smtClean="0">
                <a:latin typeface="+mn-lt"/>
              </a:rPr>
              <a:t>Current</a:t>
            </a:r>
            <a:r>
              <a:rPr lang="de-CH" sz="2800" b="1" dirty="0" smtClean="0">
                <a:latin typeface="+mn-lt"/>
              </a:rPr>
              <a:t> </a:t>
            </a:r>
            <a:r>
              <a:rPr lang="de-CH" sz="2800" b="1" dirty="0" err="1" smtClean="0">
                <a:latin typeface="+mn-lt"/>
              </a:rPr>
              <a:t>setup</a:t>
            </a:r>
            <a:r>
              <a:rPr lang="de-CH" sz="2800" b="1" dirty="0" smtClean="0">
                <a:latin typeface="+mn-lt"/>
              </a:rPr>
              <a:t> </a:t>
            </a:r>
            <a:r>
              <a:rPr lang="de-CH" sz="2800" b="1" dirty="0" err="1" smtClean="0">
                <a:latin typeface="+mn-lt"/>
              </a:rPr>
              <a:t>for</a:t>
            </a:r>
            <a:r>
              <a:rPr lang="de-CH" sz="2800" b="1" dirty="0" smtClean="0">
                <a:latin typeface="+mn-lt"/>
              </a:rPr>
              <a:t> OM </a:t>
            </a:r>
            <a:r>
              <a:rPr lang="de-CH" sz="2800" b="1" dirty="0" err="1" smtClean="0">
                <a:latin typeface="+mn-lt"/>
              </a:rPr>
              <a:t>simulations</a:t>
            </a:r>
            <a:r>
              <a:rPr lang="de-CH" sz="2800" b="1" dirty="0" smtClean="0">
                <a:latin typeface="+mn-lt"/>
              </a:rPr>
              <a:t> </a:t>
            </a:r>
            <a:r>
              <a:rPr lang="de-CH" sz="2800" b="1" dirty="0" err="1" smtClean="0">
                <a:latin typeface="+mn-lt"/>
              </a:rPr>
              <a:t>and</a:t>
            </a:r>
            <a:r>
              <a:rPr lang="de-CH" sz="2800" b="1" dirty="0" smtClean="0">
                <a:latin typeface="+mn-lt"/>
              </a:rPr>
              <a:t> </a:t>
            </a:r>
            <a:r>
              <a:rPr lang="de-CH" sz="2800" dirty="0">
                <a:latin typeface="Arial" panose="020B0604020202020204" pitchFamily="34" charset="0"/>
                <a:cs typeface="Arial" panose="020B0604020202020204" pitchFamily="34" charset="0"/>
              </a:rPr>
              <a:t>Sobol </a:t>
            </a:r>
            <a:r>
              <a:rPr lang="de-CH" sz="2800" dirty="0" err="1">
                <a:latin typeface="Arial" panose="020B0604020202020204" pitchFamily="34" charset="0"/>
                <a:cs typeface="Arial" panose="020B0604020202020204" pitchFamily="34" charset="0"/>
              </a:rPr>
              <a:t>sensitivity</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analysis</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with</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setting-specific</a:t>
            </a:r>
            <a:r>
              <a:rPr lang="de-CH" sz="2800" dirty="0">
                <a:latin typeface="Arial" panose="020B0604020202020204" pitchFamily="34" charset="0"/>
                <a:cs typeface="Arial" panose="020B0604020202020204" pitchFamily="34" charset="0"/>
              </a:rPr>
              <a:t> </a:t>
            </a:r>
            <a:r>
              <a:rPr lang="de-CH" sz="2800" dirty="0" smtClean="0">
                <a:latin typeface="Arial" panose="020B0604020202020204" pitchFamily="34" charset="0"/>
                <a:cs typeface="Arial" panose="020B0604020202020204" pitchFamily="34" charset="0"/>
              </a:rPr>
              <a:t>EIR </a:t>
            </a:r>
            <a:r>
              <a:rPr lang="de-CH" sz="2800" dirty="0" err="1" smtClean="0">
                <a:latin typeface="Arial" panose="020B0604020202020204" pitchFamily="34" charset="0"/>
                <a:cs typeface="Arial" panose="020B0604020202020204" pitchFamily="34" charset="0"/>
              </a:rPr>
              <a:t>ranges</a:t>
            </a:r>
            <a:r>
              <a:rPr lang="de-CH" sz="2800" dirty="0" smtClean="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and</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realistic</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intervention</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coverage</a:t>
            </a:r>
            <a:r>
              <a:rPr lang="de-CH" sz="2800" dirty="0">
                <a:latin typeface="Arial" panose="020B0604020202020204" pitchFamily="34" charset="0"/>
                <a:cs typeface="Arial" panose="020B0604020202020204" pitchFamily="34" charset="0"/>
              </a:rPr>
              <a:t> </a:t>
            </a:r>
            <a:r>
              <a:rPr lang="de-CH" sz="2800" dirty="0" err="1">
                <a:latin typeface="Arial" panose="020B0604020202020204" pitchFamily="34" charset="0"/>
                <a:cs typeface="Arial" panose="020B0604020202020204" pitchFamily="34" charset="0"/>
              </a:rPr>
              <a:t>ranges</a:t>
            </a:r>
            <a:r>
              <a:rPr lang="de-CH" sz="2800" dirty="0">
                <a:latin typeface="Arial" panose="020B0604020202020204" pitchFamily="34" charset="0"/>
                <a:cs typeface="Arial" panose="020B0604020202020204" pitchFamily="34" charset="0"/>
              </a:rPr>
              <a:t> </a:t>
            </a:r>
            <a:endParaRPr lang="de-CH" sz="2800" dirty="0">
              <a:latin typeface="Arial" panose="020B0604020202020204" pitchFamily="34" charset="0"/>
              <a:cs typeface="Arial" panose="020B0604020202020204" pitchFamily="34" charset="0"/>
            </a:endParaRPr>
          </a:p>
        </p:txBody>
      </p:sp>
      <p:sp>
        <p:nvSpPr>
          <p:cNvPr id="4" name="Rectangle 3"/>
          <p:cNvSpPr/>
          <p:nvPr/>
        </p:nvSpPr>
        <p:spPr>
          <a:xfrm>
            <a:off x="177224" y="996243"/>
            <a:ext cx="11913176" cy="4985980"/>
          </a:xfrm>
          <a:prstGeom prst="rect">
            <a:avLst/>
          </a:prstGeom>
        </p:spPr>
        <p:txBody>
          <a:bodyPr wrap="square">
            <a:spAutoFit/>
          </a:bodyPr>
          <a:lstStyle/>
          <a:p>
            <a:pPr marL="285750" indent="-285750">
              <a:buFont typeface="Arial" panose="020B0604020202020204" pitchFamily="34" charset="0"/>
              <a:buChar char="•"/>
            </a:pPr>
            <a:r>
              <a:rPr lang="de-CH" sz="2400" dirty="0" smtClean="0"/>
              <a:t> Sample </a:t>
            </a:r>
            <a:r>
              <a:rPr lang="de-CH" sz="2400" dirty="0" err="1" smtClean="0"/>
              <a:t>size</a:t>
            </a:r>
            <a:r>
              <a:rPr lang="de-CH" sz="2400" dirty="0" smtClean="0"/>
              <a:t> </a:t>
            </a:r>
            <a:r>
              <a:rPr lang="de-CH" sz="2400" dirty="0" err="1" smtClean="0"/>
              <a:t>of</a:t>
            </a:r>
            <a:r>
              <a:rPr lang="de-CH" sz="2400" dirty="0"/>
              <a:t> LHS = 250 </a:t>
            </a:r>
            <a:r>
              <a:rPr lang="de-CH" sz="2400" dirty="0" err="1" smtClean="0"/>
              <a:t>instead</a:t>
            </a:r>
            <a:r>
              <a:rPr lang="de-CH" sz="2400" dirty="0" smtClean="0"/>
              <a:t> </a:t>
            </a:r>
            <a:r>
              <a:rPr lang="de-CH" sz="2400" dirty="0" err="1" smtClean="0"/>
              <a:t>of</a:t>
            </a:r>
            <a:r>
              <a:rPr lang="de-CH" sz="2400" dirty="0" smtClean="0"/>
              <a:t> 100</a:t>
            </a:r>
          </a:p>
          <a:p>
            <a:pPr marL="285750" indent="-285750">
              <a:buFont typeface="Arial" panose="020B0604020202020204" pitchFamily="34" charset="0"/>
              <a:buChar char="•"/>
            </a:pPr>
            <a:r>
              <a:rPr lang="de-CH" sz="2400" dirty="0" err="1" smtClean="0"/>
              <a:t>Include</a:t>
            </a:r>
            <a:r>
              <a:rPr lang="de-CH" sz="2400" dirty="0" smtClean="0"/>
              <a:t> IRS </a:t>
            </a:r>
            <a:r>
              <a:rPr lang="de-CH" sz="2400" dirty="0" err="1" smtClean="0"/>
              <a:t>and</a:t>
            </a:r>
            <a:r>
              <a:rPr lang="de-CH" sz="2400" dirty="0" smtClean="0"/>
              <a:t> CM</a:t>
            </a:r>
          </a:p>
          <a:p>
            <a:pPr marL="285750" indent="-285750">
              <a:buFont typeface="Arial" panose="020B0604020202020204" pitchFamily="34" charset="0"/>
              <a:buChar char="•"/>
            </a:pPr>
            <a:r>
              <a:rPr lang="de-CH" sz="2400" dirty="0" smtClean="0"/>
              <a:t>Train a GP </a:t>
            </a:r>
            <a:r>
              <a:rPr lang="de-CH" sz="2400" dirty="0" err="1" smtClean="0"/>
              <a:t>model</a:t>
            </a:r>
            <a:r>
              <a:rPr lang="de-CH" sz="2400" dirty="0" smtClean="0"/>
              <a:t> </a:t>
            </a:r>
            <a:r>
              <a:rPr lang="de-CH" sz="2400" dirty="0" err="1" smtClean="0"/>
              <a:t>for</a:t>
            </a:r>
            <a:r>
              <a:rPr lang="de-CH" sz="2400" dirty="0" smtClean="0"/>
              <a:t> </a:t>
            </a:r>
            <a:r>
              <a:rPr lang="de-CH" sz="2400" dirty="0" err="1" smtClean="0"/>
              <a:t>each</a:t>
            </a:r>
            <a:r>
              <a:rPr lang="de-CH" sz="2400" dirty="0" smtClean="0"/>
              <a:t> </a:t>
            </a:r>
            <a:r>
              <a:rPr lang="de-CH" sz="2400" dirty="0" err="1" smtClean="0"/>
              <a:t>setting</a:t>
            </a:r>
            <a:r>
              <a:rPr lang="de-CH" sz="2400" dirty="0" smtClean="0"/>
              <a:t> </a:t>
            </a:r>
            <a:r>
              <a:rPr lang="de-CH" sz="2400" dirty="0" err="1" smtClean="0"/>
              <a:t>for</a:t>
            </a:r>
            <a:r>
              <a:rPr lang="de-CH" sz="2400" dirty="0" smtClean="0"/>
              <a:t> </a:t>
            </a:r>
            <a:r>
              <a:rPr lang="de-CH" sz="2400" dirty="0"/>
              <a:t>0</a:t>
            </a:r>
            <a:r>
              <a:rPr lang="de-CH" sz="2400" dirty="0" smtClean="0"/>
              <a:t>-5 </a:t>
            </a:r>
            <a:r>
              <a:rPr lang="de-CH" sz="2400" dirty="0" err="1" smtClean="0"/>
              <a:t>age_group</a:t>
            </a:r>
            <a:r>
              <a:rPr lang="de-CH" sz="2400" dirty="0" smtClean="0"/>
              <a:t>, </a:t>
            </a:r>
            <a:r>
              <a:rPr lang="de-CH" sz="2400" dirty="0" err="1" smtClean="0"/>
              <a:t>using</a:t>
            </a:r>
            <a:r>
              <a:rPr lang="de-CH" sz="2400" dirty="0" smtClean="0"/>
              <a:t> EIR </a:t>
            </a:r>
            <a:r>
              <a:rPr lang="de-CH" sz="2400" dirty="0" err="1" smtClean="0"/>
              <a:t>full</a:t>
            </a:r>
            <a:r>
              <a:rPr lang="de-CH" sz="2400" dirty="0" smtClean="0"/>
              <a:t> </a:t>
            </a:r>
            <a:r>
              <a:rPr lang="de-CH" sz="2400" dirty="0" err="1" smtClean="0"/>
              <a:t>range</a:t>
            </a:r>
            <a:r>
              <a:rPr lang="de-CH" sz="2400" dirty="0" smtClean="0"/>
              <a:t> </a:t>
            </a:r>
            <a:r>
              <a:rPr lang="de-CH" sz="2400" dirty="0" err="1" smtClean="0"/>
              <a:t>from</a:t>
            </a:r>
            <a:r>
              <a:rPr lang="de-CH" sz="2400" dirty="0" smtClean="0"/>
              <a:t> OM </a:t>
            </a:r>
            <a:r>
              <a:rPr lang="de-CH" sz="2400" dirty="0" err="1" smtClean="0"/>
              <a:t>outputs</a:t>
            </a:r>
            <a:r>
              <a:rPr lang="de-CH" sz="2400" dirty="0" smtClean="0"/>
              <a:t> + </a:t>
            </a:r>
            <a:r>
              <a:rPr lang="de-CH" sz="2400" dirty="0" err="1" smtClean="0"/>
              <a:t>deployed</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Setting </a:t>
            </a:r>
            <a:r>
              <a:rPr lang="de-CH" sz="2400" dirty="0" err="1" smtClean="0"/>
              <a:t>specific</a:t>
            </a:r>
            <a:r>
              <a:rPr lang="de-CH" sz="2400" dirty="0" smtClean="0"/>
              <a:t> EIR will </a:t>
            </a:r>
            <a:r>
              <a:rPr lang="de-CH" sz="2400" dirty="0" err="1" smtClean="0"/>
              <a:t>use</a:t>
            </a:r>
            <a:r>
              <a:rPr lang="de-CH" sz="2400" dirty="0" smtClean="0"/>
              <a:t> </a:t>
            </a:r>
            <a:r>
              <a:rPr lang="de-CH" sz="2400" b="1" dirty="0" smtClean="0"/>
              <a:t>min </a:t>
            </a:r>
            <a:r>
              <a:rPr lang="de-CH" sz="2400" b="1" dirty="0" err="1" smtClean="0"/>
              <a:t>EIR_lci</a:t>
            </a:r>
            <a:r>
              <a:rPr lang="de-CH" sz="2400" b="1" dirty="0" smtClean="0"/>
              <a:t> </a:t>
            </a:r>
            <a:r>
              <a:rPr lang="de-CH" sz="2400" b="1" dirty="0" err="1" smtClean="0"/>
              <a:t>and</a:t>
            </a:r>
            <a:r>
              <a:rPr lang="de-CH" sz="2400" b="1" dirty="0" smtClean="0"/>
              <a:t> </a:t>
            </a:r>
            <a:r>
              <a:rPr lang="de-CH" sz="2400" b="1" dirty="0" err="1" smtClean="0"/>
              <a:t>EIR_uci</a:t>
            </a:r>
            <a:r>
              <a:rPr lang="de-CH" sz="2400" b="1" dirty="0" smtClean="0"/>
              <a:t> </a:t>
            </a:r>
            <a:r>
              <a:rPr lang="de-CH" sz="2400" dirty="0" err="1"/>
              <a:t>values</a:t>
            </a:r>
            <a:r>
              <a:rPr lang="de-CH" sz="2400" dirty="0"/>
              <a:t> </a:t>
            </a:r>
            <a:r>
              <a:rPr lang="de-CH" sz="2400" b="1" dirty="0" err="1" smtClean="0"/>
              <a:t>across</a:t>
            </a:r>
            <a:r>
              <a:rPr lang="de-CH" sz="2400" b="1" dirty="0" smtClean="0"/>
              <a:t> </a:t>
            </a:r>
            <a:r>
              <a:rPr lang="de-CH" sz="2400" b="1" dirty="0" err="1" smtClean="0"/>
              <a:t>sub</a:t>
            </a:r>
            <a:r>
              <a:rPr lang="de-CH" sz="2400" b="1" dirty="0" smtClean="0"/>
              <a:t> </a:t>
            </a:r>
            <a:r>
              <a:rPr lang="de-CH" sz="2400" dirty="0" err="1" smtClean="0"/>
              <a:t>as</a:t>
            </a:r>
            <a:r>
              <a:rPr lang="de-CH" sz="2400" dirty="0" smtClean="0"/>
              <a:t> </a:t>
            </a:r>
            <a:r>
              <a:rPr lang="de-CH" sz="2400" dirty="0" err="1" smtClean="0"/>
              <a:t>param</a:t>
            </a:r>
            <a:r>
              <a:rPr lang="de-CH" sz="2400" dirty="0" smtClean="0"/>
              <a:t> </a:t>
            </a:r>
            <a:r>
              <a:rPr lang="de-CH" sz="2400" dirty="0" err="1" smtClean="0"/>
              <a:t>ranges</a:t>
            </a:r>
            <a:endParaRPr lang="de-CH" sz="2400" dirty="0" smtClean="0"/>
          </a:p>
          <a:p>
            <a:pPr marL="285750" indent="-285750">
              <a:buFont typeface="Arial" panose="020B0604020202020204" pitchFamily="34" charset="0"/>
              <a:buChar char="•"/>
            </a:pPr>
            <a:r>
              <a:rPr lang="de-CH" sz="2400" dirty="0" smtClean="0"/>
              <a:t>Sobol </a:t>
            </a:r>
            <a:r>
              <a:rPr lang="de-CH" sz="2400" dirty="0" err="1" smtClean="0"/>
              <a:t>Sensitivity</a:t>
            </a:r>
            <a:r>
              <a:rPr lang="de-CH" sz="2400" dirty="0" smtClean="0"/>
              <a:t> </a:t>
            </a:r>
            <a:r>
              <a:rPr lang="de-CH" sz="2400" dirty="0" err="1" smtClean="0"/>
              <a:t>analysis</a:t>
            </a:r>
            <a:r>
              <a:rPr lang="de-CH" sz="2400" dirty="0" smtClean="0"/>
              <a:t> </a:t>
            </a:r>
            <a:r>
              <a:rPr lang="de-CH" sz="2400" dirty="0" err="1" smtClean="0"/>
              <a:t>uses</a:t>
            </a:r>
            <a:r>
              <a:rPr lang="de-CH" sz="2400" dirty="0" smtClean="0"/>
              <a:t> </a:t>
            </a:r>
            <a:r>
              <a:rPr lang="de-CH" sz="2400" dirty="0" err="1" smtClean="0"/>
              <a:t>setting-specific</a:t>
            </a:r>
            <a:r>
              <a:rPr lang="de-CH" sz="2400" dirty="0" smtClean="0"/>
              <a:t> EIR + </a:t>
            </a:r>
            <a:r>
              <a:rPr lang="de-CH" sz="2400" dirty="0" err="1" smtClean="0"/>
              <a:t>realistic</a:t>
            </a:r>
            <a:r>
              <a:rPr lang="de-CH" sz="2400" dirty="0" smtClean="0"/>
              <a:t> </a:t>
            </a:r>
            <a:r>
              <a:rPr lang="de-CH" sz="2400" dirty="0" err="1" smtClean="0"/>
              <a:t>intervention</a:t>
            </a:r>
            <a:r>
              <a:rPr lang="de-CH" sz="2400" dirty="0" smtClean="0"/>
              <a:t> </a:t>
            </a:r>
            <a:r>
              <a:rPr lang="de-CH" sz="2400" dirty="0" err="1" smtClean="0"/>
              <a:t>coverage</a:t>
            </a:r>
            <a:r>
              <a:rPr lang="de-CH" sz="2400" dirty="0" smtClean="0"/>
              <a:t> </a:t>
            </a:r>
            <a:r>
              <a:rPr lang="de-CH" sz="2400" dirty="0" err="1" smtClean="0"/>
              <a:t>ranges</a:t>
            </a:r>
            <a:r>
              <a:rPr lang="de-CH" sz="2400" dirty="0" smtClean="0"/>
              <a:t> </a:t>
            </a:r>
            <a:r>
              <a:rPr lang="de-CH" sz="2400" dirty="0" err="1" smtClean="0"/>
              <a:t>of</a:t>
            </a:r>
            <a:r>
              <a:rPr lang="de-CH" sz="2400" dirty="0" smtClean="0"/>
              <a:t> </a:t>
            </a:r>
            <a:r>
              <a:rPr lang="de-CH" sz="2400" dirty="0" err="1" smtClean="0"/>
              <a:t>interventions</a:t>
            </a:r>
            <a:r>
              <a:rPr lang="de-CH" sz="2400" dirty="0" smtClean="0"/>
              <a:t> </a:t>
            </a:r>
            <a:r>
              <a:rPr lang="de-CH" sz="2400" dirty="0" err="1" smtClean="0"/>
              <a:t>to</a:t>
            </a:r>
            <a:r>
              <a:rPr lang="de-CH" sz="2400" dirty="0" smtClean="0"/>
              <a:t> </a:t>
            </a:r>
            <a:r>
              <a:rPr lang="de-CH" sz="2400" dirty="0" err="1" smtClean="0"/>
              <a:t>be</a:t>
            </a:r>
            <a:r>
              <a:rPr lang="de-CH" sz="2400" dirty="0" smtClean="0"/>
              <a:t> </a:t>
            </a:r>
            <a:r>
              <a:rPr lang="de-CH" sz="2400" dirty="0" err="1" smtClean="0"/>
              <a:t>deployed</a:t>
            </a:r>
            <a:endParaRPr lang="de-CH" sz="2400" dirty="0" smtClean="0"/>
          </a:p>
          <a:p>
            <a:pPr marL="285750" indent="-285750">
              <a:buFont typeface="Arial" panose="020B0604020202020204" pitchFamily="34" charset="0"/>
              <a:buChar char="•"/>
            </a:pPr>
            <a:r>
              <a:rPr lang="de-CH" sz="2400" dirty="0" smtClean="0"/>
              <a:t>Non-</a:t>
            </a:r>
            <a:r>
              <a:rPr lang="de-CH" sz="2400" dirty="0" err="1" smtClean="0"/>
              <a:t>deployed</a:t>
            </a:r>
            <a:r>
              <a:rPr lang="de-CH" sz="2400" dirty="0" smtClean="0"/>
              <a:t> </a:t>
            </a:r>
            <a:r>
              <a:rPr lang="de-CH" sz="2400" dirty="0" err="1" smtClean="0"/>
              <a:t>interventions</a:t>
            </a:r>
            <a:r>
              <a:rPr lang="de-CH" sz="2400" dirty="0" smtClean="0"/>
              <a:t> </a:t>
            </a:r>
            <a:r>
              <a:rPr lang="de-CH" sz="2400" dirty="0" err="1" smtClean="0"/>
              <a:t>are</a:t>
            </a:r>
            <a:r>
              <a:rPr lang="de-CH" sz="2400" dirty="0" smtClean="0"/>
              <a:t> </a:t>
            </a:r>
            <a:r>
              <a:rPr lang="de-CH" sz="2400" dirty="0" err="1" smtClean="0"/>
              <a:t>indicated</a:t>
            </a:r>
            <a:r>
              <a:rPr lang="de-CH" sz="2400" dirty="0" smtClean="0"/>
              <a:t> </a:t>
            </a:r>
            <a:r>
              <a:rPr lang="de-CH" sz="2400" dirty="0" err="1" smtClean="0"/>
              <a:t>as</a:t>
            </a:r>
            <a:r>
              <a:rPr lang="de-CH" sz="2400" dirty="0" smtClean="0"/>
              <a:t> NA on </a:t>
            </a:r>
            <a:r>
              <a:rPr lang="de-CH" sz="2400" dirty="0" err="1" smtClean="0"/>
              <a:t>the</a:t>
            </a:r>
            <a:r>
              <a:rPr lang="de-CH" sz="2400" dirty="0" smtClean="0"/>
              <a:t> </a:t>
            </a:r>
            <a:r>
              <a:rPr lang="de-CH" sz="2400" dirty="0" err="1" smtClean="0"/>
              <a:t>plot</a:t>
            </a:r>
            <a:endParaRPr lang="de-CH" sz="2400" dirty="0" smtClean="0"/>
          </a:p>
          <a:p>
            <a:endParaRPr lang="de-CH" sz="2400" dirty="0" smtClean="0"/>
          </a:p>
          <a:p>
            <a:pPr marL="285750" indent="-285750">
              <a:buFont typeface="Arial" panose="020B0604020202020204" pitchFamily="34" charset="0"/>
              <a:buChar char="•"/>
            </a:pPr>
            <a:r>
              <a:rPr lang="de-CH" sz="2400" dirty="0" smtClean="0"/>
              <a:t>Parameter </a:t>
            </a:r>
            <a:r>
              <a:rPr lang="de-CH" sz="2400" dirty="0" err="1" smtClean="0"/>
              <a:t>ranges</a:t>
            </a:r>
            <a:r>
              <a:rPr lang="de-CH" sz="2400" dirty="0" smtClean="0"/>
              <a:t>:</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futcovSMC0to5JulOct_min = 0.4, futcovSMC0to5JulOct_max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futRTSS3covStart2023_min = 0.5, futRTSS3covStart2023_max = 0.9,     </a:t>
            </a:r>
          </a:p>
          <a:p>
            <a:pPr marL="742950" lvl="1" indent="-285750">
              <a:buFont typeface="Arial" panose="020B0604020202020204" pitchFamily="34" charset="0"/>
              <a:buChar char="•"/>
            </a:pPr>
            <a:r>
              <a:rPr lang="de-CH" dirty="0" smtClean="0">
                <a:latin typeface="Arial" panose="020B0604020202020204" pitchFamily="34" charset="0"/>
                <a:cs typeface="Arial" panose="020B0604020202020204" pitchFamily="34" charset="0"/>
              </a:rPr>
              <a:t> futNetcovstart2021_min = 0.2, futNetcovstart2021_max = 0.8</a:t>
            </a:r>
          </a:p>
          <a:p>
            <a:endParaRPr lang="de-CH" sz="2400" dirty="0" smtClean="0"/>
          </a:p>
        </p:txBody>
      </p:sp>
    </p:spTree>
    <p:extLst>
      <p:ext uri="{BB962C8B-B14F-4D97-AF65-F5344CB8AC3E}">
        <p14:creationId xmlns:p14="http://schemas.microsoft.com/office/powerpoint/2010/main" val="28676122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3" name="Title 2"/>
          <p:cNvSpPr>
            <a:spLocks noGrp="1"/>
          </p:cNvSpPr>
          <p:nvPr>
            <p:ph type="title"/>
          </p:nvPr>
        </p:nvSpPr>
        <p:spPr>
          <a:xfrm>
            <a:off x="237744" y="217467"/>
            <a:ext cx="11954256" cy="400433"/>
          </a:xfrm>
        </p:spPr>
        <p:txBody>
          <a:bodyPr/>
          <a:lstStyle/>
          <a:p>
            <a:r>
              <a:rPr lang="de-CH" sz="2800" dirty="0" smtClean="0">
                <a:latin typeface="+mn-lt"/>
              </a:rPr>
              <a:t>Sobol </a:t>
            </a:r>
            <a:r>
              <a:rPr lang="de-CH" sz="2800" dirty="0" err="1" smtClean="0">
                <a:latin typeface="+mn-lt"/>
              </a:rPr>
              <a:t>indices</a:t>
            </a:r>
            <a:r>
              <a:rPr lang="de-CH" sz="2800" dirty="0" smtClean="0">
                <a:latin typeface="+mn-lt"/>
              </a:rPr>
              <a:t> </a:t>
            </a:r>
            <a:r>
              <a:rPr lang="de-CH" sz="2800" dirty="0" err="1" smtClean="0">
                <a:latin typeface="+mn-lt"/>
              </a:rPr>
              <a:t>for</a:t>
            </a:r>
            <a:r>
              <a:rPr lang="de-CH" sz="2800" dirty="0" smtClean="0">
                <a:latin typeface="+mn-lt"/>
              </a:rPr>
              <a:t> 35 </a:t>
            </a:r>
            <a:r>
              <a:rPr lang="de-CH" sz="2800" dirty="0" err="1" smtClean="0">
                <a:latin typeface="+mn-lt"/>
              </a:rPr>
              <a:t>settings</a:t>
            </a:r>
            <a:r>
              <a:rPr lang="de-CH" sz="2800" dirty="0" smtClean="0">
                <a:latin typeface="+mn-lt"/>
              </a:rPr>
              <a:t>  after </a:t>
            </a:r>
            <a:r>
              <a:rPr lang="de-CH" sz="2800" dirty="0" err="1" smtClean="0">
                <a:latin typeface="+mn-lt"/>
              </a:rPr>
              <a:t>integrating</a:t>
            </a:r>
            <a:r>
              <a:rPr lang="de-CH" sz="2800" dirty="0" smtClean="0">
                <a:latin typeface="+mn-lt"/>
              </a:rPr>
              <a:t> </a:t>
            </a:r>
            <a:r>
              <a:rPr lang="de-CH" sz="2800" dirty="0" err="1" smtClean="0">
                <a:latin typeface="+mn-lt"/>
              </a:rPr>
              <a:t>the</a:t>
            </a:r>
            <a:r>
              <a:rPr lang="de-CH" sz="2800" dirty="0" smtClean="0">
                <a:latin typeface="+mn-lt"/>
              </a:rPr>
              <a:t> </a:t>
            </a:r>
            <a:r>
              <a:rPr lang="de-CH" sz="2800" dirty="0" err="1" smtClean="0">
                <a:latin typeface="+mn-lt"/>
              </a:rPr>
              <a:t>above</a:t>
            </a:r>
            <a:r>
              <a:rPr lang="de-CH" sz="2800" dirty="0" smtClean="0">
                <a:latin typeface="+mn-lt"/>
              </a:rPr>
              <a:t> </a:t>
            </a:r>
            <a:r>
              <a:rPr lang="de-CH" sz="2800" dirty="0" err="1" smtClean="0">
                <a:latin typeface="+mn-lt"/>
              </a:rPr>
              <a:t>findings</a:t>
            </a:r>
            <a:r>
              <a:rPr lang="de-CH" sz="2800" dirty="0" smtClean="0">
                <a:latin typeface="+mn-lt"/>
              </a:rPr>
              <a:t> in </a:t>
            </a:r>
            <a:r>
              <a:rPr lang="de-CH" sz="2800" dirty="0" err="1" smtClean="0">
                <a:latin typeface="+mn-lt"/>
              </a:rPr>
              <a:t>the</a:t>
            </a:r>
            <a:r>
              <a:rPr lang="de-CH" sz="2800" dirty="0" smtClean="0">
                <a:latin typeface="+mn-lt"/>
              </a:rPr>
              <a:t> </a:t>
            </a:r>
            <a:r>
              <a:rPr lang="de-CH" sz="2800" dirty="0" err="1">
                <a:latin typeface="+mn-lt"/>
              </a:rPr>
              <a:t>existing</a:t>
            </a:r>
            <a:r>
              <a:rPr lang="de-CH" sz="2800" dirty="0">
                <a:latin typeface="+mn-lt"/>
              </a:rPr>
              <a:t> </a:t>
            </a:r>
            <a:r>
              <a:rPr lang="de-CH" sz="2800" dirty="0" err="1" smtClean="0">
                <a:latin typeface="+mn-lt"/>
              </a:rPr>
              <a:t>workflow</a:t>
            </a:r>
            <a:endParaRPr lang="de-CH" sz="2800" dirty="0">
              <a:latin typeface="+mn-lt"/>
            </a:endParaRPr>
          </a:p>
        </p:txBody>
      </p:sp>
      <p:pic>
        <p:nvPicPr>
          <p:cNvPr id="5" name="Picture 4"/>
          <p:cNvPicPr>
            <a:picLocks noChangeAspect="1"/>
          </p:cNvPicPr>
          <p:nvPr/>
        </p:nvPicPr>
        <p:blipFill>
          <a:blip r:embed="rId3"/>
          <a:stretch>
            <a:fillRect/>
          </a:stretch>
        </p:blipFill>
        <p:spPr>
          <a:xfrm>
            <a:off x="813796" y="953152"/>
            <a:ext cx="10802151" cy="5630777"/>
          </a:xfrm>
          <a:prstGeom prst="rect">
            <a:avLst/>
          </a:prstGeom>
        </p:spPr>
      </p:pic>
    </p:spTree>
    <p:extLst>
      <p:ext uri="{BB962C8B-B14F-4D97-AF65-F5344CB8AC3E}">
        <p14:creationId xmlns:p14="http://schemas.microsoft.com/office/powerpoint/2010/main" val="5957325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867</Words>
  <Application>Microsoft Office PowerPoint</Application>
  <PresentationFormat>Widescreen</PresentationFormat>
  <Paragraphs>98</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Cambria Math</vt:lpstr>
      <vt:lpstr>Palatino Linotype</vt:lpstr>
      <vt:lpstr>Slack-Lato</vt:lpstr>
      <vt:lpstr>Symbol</vt:lpstr>
      <vt:lpstr>Times New Roman</vt:lpstr>
      <vt:lpstr>Office Theme</vt:lpstr>
      <vt:lpstr>PowerPoint Presentation</vt:lpstr>
      <vt:lpstr>Aim</vt:lpstr>
      <vt:lpstr>PowerPoint Presentation</vt:lpstr>
      <vt:lpstr>Research Objectives</vt:lpstr>
      <vt:lpstr>Variance-based sensitivity analysis (Sobol)</vt:lpstr>
      <vt:lpstr>Objective 1 – Modifying the existing workflow</vt:lpstr>
      <vt:lpstr>1 – LHS vs MED SAMPLING (100 POINTS) </vt:lpstr>
      <vt:lpstr>1 – LHS or ME sampling during simulation setup cuts runtime drastically </vt:lpstr>
      <vt:lpstr>2 – GP performance evaluation - learning of prevalence reduction gives good statistical   correspondence     Actual vs predict for 3 settings: full EIR sweep for UE and LHS for Oti and BE </vt:lpstr>
      <vt:lpstr>2 – GP performance evaluation - learning of prevalence reduction gives good statistical   correspondence  Actual vs predict using different LHS sample sizes for UE4</vt:lpstr>
      <vt:lpstr>2 – GP performance evaluation - learning of prevalence reduction gives good statistical   correspondence  Actual vs predict using different LHS sample sizes for UE4</vt:lpstr>
      <vt:lpstr>3 - Sobol methods comparison</vt:lpstr>
      <vt:lpstr>3 - Sobol methods comparison</vt:lpstr>
      <vt:lpstr>Current setup for OM simulations and Sobol sensitivity analysis with setting-specific EIR ranges and realistic intervention coverage ranges </vt:lpstr>
      <vt:lpstr>Sobol indices for 35 settings  after integrating the above findings in the existing workflow</vt:lpstr>
    </vt:vector>
  </TitlesOfParts>
  <Company>Swiss TPH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Zenabu Suboi</dc:creator>
  <cp:lastModifiedBy>Zenabu Suboi</cp:lastModifiedBy>
  <cp:revision>2</cp:revision>
  <dcterms:created xsi:type="dcterms:W3CDTF">2025-03-07T10:06:46Z</dcterms:created>
  <dcterms:modified xsi:type="dcterms:W3CDTF">2025-03-11T12:37:08Z</dcterms:modified>
</cp:coreProperties>
</file>