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70" r:id="rId3"/>
    <p:sldId id="300" r:id="rId4"/>
    <p:sldId id="274" r:id="rId5"/>
    <p:sldId id="278" r:id="rId6"/>
    <p:sldId id="303" r:id="rId7"/>
    <p:sldId id="277" r:id="rId8"/>
    <p:sldId id="281" r:id="rId9"/>
    <p:sldId id="298" r:id="rId10"/>
    <p:sldId id="308" r:id="rId11"/>
    <p:sldId id="297" r:id="rId12"/>
    <p:sldId id="279" r:id="rId13"/>
    <p:sldId id="296" r:id="rId14"/>
    <p:sldId id="282" r:id="rId15"/>
    <p:sldId id="293" r:id="rId16"/>
    <p:sldId id="291" r:id="rId17"/>
    <p:sldId id="295" r:id="rId18"/>
    <p:sldId id="305" r:id="rId19"/>
    <p:sldId id="306" r:id="rId20"/>
    <p:sldId id="294" r:id="rId21"/>
    <p:sldId id="307" r:id="rId2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1C1DC-A322-45F4-A3F5-554928AF850B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D0A7C-BFDA-47E7-B35F-0D9478E0BFF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9537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e9c2c056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2e9c2c056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2060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FDC93532-A67A-6E81-4D1D-265C5AA3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96590D7F-A570-A9E5-2079-ACD5A2D9A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8AB8114B-EF9E-0011-216D-B40FA5D8F3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54826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9CC929DA-9C23-81AC-E842-9EA272DE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3E74D108-AFD1-5F7F-718F-40D151C90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CDC490DC-E4D0-BE7E-503D-778CAF002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47831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B9E8C557-33B6-6AB2-4515-9C07C560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3F31C395-0518-E8F2-3694-83294CA53C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AAF7C8D5-AEA2-696C-BC96-B865362D5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83788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AC279748-CBAD-DE71-792E-A20C62CAC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FE3B7B10-076B-7C49-FF6F-7E1953987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1B5ECEBD-8531-911F-F74F-AE9A84144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04203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A09FA2B7-90CA-64BC-5026-672AFBA3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D01D8437-84C6-B076-EFE3-2CF8BFE98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99438504-8EB4-0109-5F26-F9983C139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78722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3B6AF5A8-430A-7D1E-F3D8-CB943354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F0B3DF3A-5377-7E1E-8EF7-99D5369D4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F706319F-6120-43A1-F45F-FD17B3C305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0096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F81B60AF-20FF-240B-B39B-4CECA048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CCA1A45D-64A1-321D-BDA2-5A2DD79DE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29F1F9E6-28AC-68F0-EAC7-BD50FB7CF0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6464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4884327F-1528-CBB5-7A55-6B3E6C4B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ABC16680-215E-33A4-F8E2-7CFA185F5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2DB3A838-33E6-4C77-4077-23E0DFE116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21916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5BE39D3E-12B5-63F1-EDE0-7BB43F9AF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98BF8CCA-D122-FC30-E880-3A3DAD02D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58B24839-FFD5-BB62-6B01-2D5F39F34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46943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55A00D57-03DA-BFDD-85F6-D48100CFA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D3894CCE-9B1C-1B47-50C7-1703F1372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2F918F39-8A2D-EE61-26CE-BCE226C97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265483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A61C1277-FC8E-DED0-4407-42099FF6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3353E5D5-5A4A-A51B-429C-0BD07B579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C75F0519-EC98-0BCE-448C-E8AD00295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44246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B0C2EDED-EA05-1B69-58CC-830F66EC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4BB33387-DB60-0F7A-C75A-6DF601DD3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63BE67BB-9A4F-DDB5-827B-689B32DF0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06518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394E92B8-DE0A-6C3C-735C-C1A5E61BE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9D1BFB94-7724-B63E-556F-ED83E72A7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7549F052-174F-B29F-7A63-E0ED07AB01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561078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2D5B4A02-325D-BFF2-682A-A0BECD33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5B685170-550C-24F5-83AF-24E532227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F3CDE0C5-11C8-54C1-B972-9C9CC3D0AF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87316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E7084C96-30B8-D1B2-2F93-CF91CFC2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19EB6DEE-15DA-16E2-2C26-0A07C5C1B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FDDF2434-061E-44CF-9822-A6F37B31B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042897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588AA69E-A72E-AF70-6A04-173B48AE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8BA55A9B-46A5-7264-D8C1-87D4A9E805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BD15143A-311B-7609-86D9-2B34964A5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3542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B14893E4-1B82-BAEB-366B-E59ED9FAC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ADAF4137-7B1D-8C76-07CF-CB65C4B9F5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AA7B0ED7-B2A4-BDB3-C494-A8E8E29CD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45430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30C9586A-44B9-00E7-DE97-541F40D2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71DBA1E8-79E4-5431-EE2A-DDD750CAF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6D891DB7-1881-92D7-5553-5951F6CF5F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336911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482C449B-17DA-02A1-AE83-29B23ABF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C697826A-750C-3039-52CF-500722111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7A9C48E6-9442-9037-99D2-2284A5324A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893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FEA12628-B543-86DB-90F1-75E9EE87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F30D8519-D754-2112-F3C5-CC2EE0DE71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80399D50-78EC-C662-D28D-B4833EAB8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36405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3ED7-E85E-2DFF-49C1-9C48BB9D3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788B3-FCDC-4FD9-F19A-C8CD4CD0A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9FC95-5DF0-8AEA-7F20-09F0C96F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F6856-264C-D726-C816-1BCF50701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CDC80-98E4-28CF-ED14-40629821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801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B252-1F38-14CB-170A-12C8215C0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B986-499C-912F-17D1-8A490237F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7516D-C5C8-444B-6F9D-0AFA3F93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10883-182B-A499-F8ED-68E5E18E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33E19-D13A-0F79-49E7-5AEE6EB7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8876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FC73-F284-A962-847F-F2209191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F09D1-FA85-0E1B-C91B-87802F2F6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56D01-59E1-DBBE-C6CC-290F0831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CBDC2-0FE8-4B4A-17DF-81307264B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C7F3F-9A24-30D6-AE29-E06B8DE4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2026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C949-3FF0-6AB0-2B9F-EB400D309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78181-E3F9-A1C0-97EC-A2AAB4E2D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0FA23F-06CA-A75D-7784-2E47B698C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58A07-795C-5D16-1283-475F0163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DA11D-2941-809A-6AD1-5CF40C48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EA92E-1DEE-4CB0-BC48-1FA6EA39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33887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017F-FAE1-6FD2-469E-EA816EE4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9272F-BA95-2367-B9E2-954DC131D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97DE-9E5F-1386-9151-39563F985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737C8-8DFA-3E37-73A3-24C85B225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65D29A-E678-64CE-93DD-98C891955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6E3F8-A8CB-0DB0-61C7-3C1D655F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12BD4-BC95-1F73-A3D7-B6B7BCE1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30DDB4-7A04-EACA-D491-922F5B09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5333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5C23-C73E-FC85-67DD-7F6C248A3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8E433-9DB3-8387-494B-B4FBC063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6FE5E-BFAA-B2B5-3865-B687AA1A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ED44B-5A3E-1AA8-8E9D-4270E206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878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9475B-8E19-5FC4-08C5-7B189D4B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7269AA-6201-4B58-5993-D44BD162E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3E762-6D16-78A6-9A91-8A1EC36CE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149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BA5-9AF7-FAFC-327B-3C842C5E0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9593D-4DB8-94CC-FA55-18B07AFD8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7826-9E22-5273-A914-A5ADA5542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DB464-29E7-3ACC-581B-C7EEACFE9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FCB7E-6D0A-3715-123C-3429BA0E5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8E119-7BA7-1586-EBC0-1952B14E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19221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ED0E-970F-E0AB-F53F-AE103700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F19B76-5272-FBDD-AA19-EE5386E4A8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69553-384B-6951-5443-881C46F9B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0A150-67F2-E5BD-2C49-D22EAF9C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CA8E3-5A9D-DFAD-FB9A-EA73AF9E5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1AA12-065D-47A5-0D63-53413FF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7714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727D-3722-12ED-3619-ECCFB421E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CE115-FB84-A3AF-379E-F65A19823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FBA19-4C2C-9359-26E0-1093ED22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BDF6D-0396-C0BA-D7E6-1EBE78A1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B6060-6623-9118-82C4-BE86BFBD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3379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E08C45-A741-CBC2-FDE3-E745891D3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CBC84-E32B-304C-5A79-A583CEDBB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2C0B-B9E6-F67F-9B2E-8A1A1C41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70BA4-ED9C-FA9E-1DFB-731C64B4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8A569-DE74-E3F6-0190-6F3E0A4A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2973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">
  <p:cSld name="Cov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5186289" y="3621023"/>
            <a:ext cx="5935600" cy="1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  <a:defRPr sz="3733">
                <a:solidFill>
                  <a:schemeClr val="accent3"/>
                </a:solidFill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2"/>
          </p:nvPr>
        </p:nvSpPr>
        <p:spPr>
          <a:xfrm>
            <a:off x="5186292" y="5443833"/>
            <a:ext cx="59356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133"/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52283"/>
          <a:stretch/>
        </p:blipFill>
        <p:spPr>
          <a:xfrm>
            <a:off x="5203088" y="2168490"/>
            <a:ext cx="4134489" cy="114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38525" t="1212" b="236"/>
          <a:stretch/>
        </p:blipFill>
        <p:spPr>
          <a:xfrm>
            <a:off x="1" y="1"/>
            <a:ext cx="421543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5186289" y="4921157"/>
            <a:ext cx="5935600" cy="4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  <a:defRPr sz="2667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5499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0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alatino Linotype"/>
              <a:buNone/>
              <a:defRPr>
                <a:solidFill>
                  <a:schemeClr val="accen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0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0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30479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/>
            </a:lvl2pPr>
            <a:lvl3pPr marL="1828754" lvl="2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marL="2438339" lvl="3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Font typeface="Arial"/>
              <a:buNone/>
              <a:defRPr sz="2400" b="1">
                <a:solidFill>
                  <a:srgbClr val="22222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2pPr>
            <a:lvl3pPr marL="1828754" lvl="2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▪"/>
              <a:defRPr/>
            </a:lvl3pPr>
            <a:lvl4pPr marL="2438339" lvl="3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40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2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0"/>
          <p:cNvSpPr/>
          <p:nvPr/>
        </p:nvSpPr>
        <p:spPr>
          <a:xfrm>
            <a:off x="2844800" y="6170716"/>
            <a:ext cx="8229600" cy="5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956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7C8812-2F2B-BBE5-C2C5-B38FF8DC9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1EAE8-14B0-37C5-58C3-8C8F100FB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D6346-F0D4-072D-34CC-75AC7EBFC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F8D7F-8B7C-4A5B-8CBB-F1F8FC4B6F3F}" type="datetimeFigureOut">
              <a:rPr lang="en-CH" smtClean="0"/>
              <a:t>22.09.2025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093C7-45E8-53D8-6308-B7B63AD06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EF62C-AF49-DB57-A0B7-353606246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6961A-9E87-4DF0-B36B-C42F990E91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16484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02;p65"/>
          <p:cNvSpPr txBox="1">
            <a:spLocks noGrp="1"/>
          </p:cNvSpPr>
          <p:nvPr>
            <p:ph type="body" idx="1"/>
          </p:nvPr>
        </p:nvSpPr>
        <p:spPr>
          <a:xfrm>
            <a:off x="4132053" y="3422615"/>
            <a:ext cx="8059947" cy="15720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91433" bIns="45700" rtlCol="0" anchor="b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600"/>
              </a:spcAft>
            </a:pPr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Indirect or community protection and prioritization of malaria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32054" y="5225516"/>
            <a:ext cx="4587074" cy="108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PhD Update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 2025</a:t>
            </a:r>
          </a:p>
        </p:txBody>
      </p:sp>
    </p:spTree>
    <p:extLst>
      <p:ext uri="{BB962C8B-B14F-4D97-AF65-F5344CB8AC3E}">
        <p14:creationId xmlns:p14="http://schemas.microsoft.com/office/powerpoint/2010/main" val="1890139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384A3973-4032-50DC-6FF1-2C558F75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237040B7-8A05-7342-9E35-1E22585C0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Background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821752-78DF-89D0-D601-A84967067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3" y="982176"/>
            <a:ext cx="1207401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Funding for malaria control is declining, below what is required to reach global targets. As a result, there is an urgent need to reprioritize malaria interventions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 of interventions is usually measured in terms of direct protection. Yet, benefits to non-users (indirect effects) are critical but not often considered.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Ignoring community effects leads to biased estimates of health impact and cost-effectiveness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assess the effectiveness of these interventions in an unbiased manner, their broader effects throughout the population should be considered, </a:t>
            </a:r>
            <a:r>
              <a:rPr lang="en-CH" sz="2400" dirty="0">
                <a:latin typeface="Arial" panose="020B0604020202020204" pitchFamily="34" charset="0"/>
                <a:cs typeface="Arial" panose="020B0604020202020204" pitchFamily="34" charset="0"/>
              </a:rPr>
              <a:t>including among those not directly receiving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CH" sz="2400" dirty="0">
                <a:latin typeface="Arial" panose="020B0604020202020204" pitchFamily="34" charset="0"/>
                <a:cs typeface="Arial" panose="020B0604020202020204" pitchFamily="34" charset="0"/>
              </a:rPr>
              <a:t> intervention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  <a:cs typeface="Arial" panose="020B0604020202020204" pitchFamily="34" charset="0"/>
              </a:rPr>
              <a:t>We aim to use mathematical modeling to simulate malaria transmission under various scenarios and quantify direct and indirect protection, compare LLINs and SMC in Ghana as a case study and provide evidence to support intervention prioritization under constrained resources.</a:t>
            </a:r>
          </a:p>
        </p:txBody>
      </p:sp>
    </p:spTree>
    <p:extLst>
      <p:ext uri="{BB962C8B-B14F-4D97-AF65-F5344CB8AC3E}">
        <p14:creationId xmlns:p14="http://schemas.microsoft.com/office/powerpoint/2010/main" val="370039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8A729EE7-80F4-20C8-6AA1-91C65895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BD968D95-1CDC-AE38-D3AC-6F1F2DE33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Approach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A60B323-2E8B-2198-63EA-B598676EB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557" y="1120676"/>
            <a:ext cx="114408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Focus on one district – </a:t>
            </a:r>
            <a:r>
              <a:rPr lang="en-US" altLang="en-CH" sz="2400" b="1" dirty="0" err="1">
                <a:latin typeface="Arial" panose="020B0604020202020204" pitchFamily="34" charset="0"/>
              </a:rPr>
              <a:t>Biakoye</a:t>
            </a:r>
            <a:r>
              <a:rPr lang="en-US" altLang="en-CH" sz="2400" dirty="0">
                <a:latin typeface="Arial" panose="020B0604020202020204" pitchFamily="34" charset="0"/>
              </a:rPr>
              <a:t> in Oti region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Simulate malaria transmission dynamics, varying LLIN and SMC coverages - </a:t>
            </a:r>
            <a:r>
              <a:rPr lang="en-US" altLang="en-CH" sz="2400" b="1" dirty="0">
                <a:latin typeface="Arial" panose="020B0604020202020204" pitchFamily="34" charset="0"/>
              </a:rPr>
              <a:t>(0, 0.2, 0.4, 0.6, 0.8, 1)</a:t>
            </a:r>
            <a:r>
              <a:rPr lang="en-US" altLang="en-CH" sz="2400" dirty="0">
                <a:latin typeface="Arial" panose="020B0604020202020204" pitchFamily="34" charset="0"/>
              </a:rPr>
              <a:t>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LLIN deployed starting</a:t>
            </a:r>
            <a:r>
              <a:rPr kumimoji="0" lang="en-US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2021, 2024, 2027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SMC deployed from July to October (4 cycles), starting 2023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Calculate</a:t>
            </a:r>
            <a:r>
              <a:rPr lang="en-US" altLang="en-CH" sz="2400" b="1" dirty="0">
                <a:latin typeface="Arial" panose="020B0604020202020204" pitchFamily="34" charset="0"/>
              </a:rPr>
              <a:t> cases averted per person protected (CAPP)</a:t>
            </a:r>
          </a:p>
        </p:txBody>
      </p:sp>
    </p:spTree>
    <p:extLst>
      <p:ext uri="{BB962C8B-B14F-4D97-AF65-F5344CB8AC3E}">
        <p14:creationId xmlns:p14="http://schemas.microsoft.com/office/powerpoint/2010/main" val="311584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025E27BB-294E-8F0B-4EF2-438543A5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3C85767C-CB1B-2C19-2D25-169288E1A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Cases averted per person protected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AE7EC9-4417-8FE1-6024-AB7663BEF8CD}"/>
                  </a:ext>
                </a:extLst>
              </p:cNvPr>
              <p:cNvSpPr txBox="1"/>
              <p:nvPr/>
            </p:nvSpPr>
            <p:spPr>
              <a:xfrm>
                <a:off x="2471943" y="1124280"/>
                <a:ext cx="8968941" cy="8781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600" dirty="0"/>
                  <a:t>CAPP_LLIN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𝑐𝑜𝑢𝑛𝑡𝑒𝑟𝑓𝑎𝑐𝑡𝑢𝑎𝑙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𝑖𝑛𝑡𝑒𝑟𝑣𝑒𝑛𝑡𝑖𝑜𝑛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𝑐𝑜𝑣𝑒𝑟𝑎𝑔𝑒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𝑝𝑜</m:t>
                        </m:r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𝑠𝑖𝑧𝑒</m:t>
                            </m:r>
                          </m:sub>
                        </m:sSub>
                      </m:den>
                    </m:f>
                  </m:oMath>
                </a14:m>
                <a:endParaRPr lang="en-CH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AE7EC9-4417-8FE1-6024-AB7663BEF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943" y="1124280"/>
                <a:ext cx="8968941" cy="878189"/>
              </a:xfrm>
              <a:prstGeom prst="rect">
                <a:avLst/>
              </a:prstGeom>
              <a:blipFill>
                <a:blip r:embed="rId3"/>
                <a:stretch>
                  <a:fillRect l="-3127" b="-1111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2ACBEAC-7210-FCAE-5D86-F15038C81AFE}"/>
              </a:ext>
            </a:extLst>
          </p:cNvPr>
          <p:cNvSpPr txBox="1"/>
          <p:nvPr/>
        </p:nvSpPr>
        <p:spPr>
          <a:xfrm>
            <a:off x="262144" y="4114800"/>
            <a:ext cx="37590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Total_pop_size</a:t>
            </a:r>
            <a:r>
              <a:rPr lang="en-US" sz="2800" dirty="0"/>
              <a:t> = 10000</a:t>
            </a:r>
          </a:p>
          <a:p>
            <a:r>
              <a:rPr lang="en-US" sz="2800" dirty="0"/>
              <a:t>U5_pop = 14.19%</a:t>
            </a:r>
            <a:endParaRPr lang="en-CH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CD6EA5-5835-88E9-5EFC-F5BCFCD49FD2}"/>
                  </a:ext>
                </a:extLst>
              </p:cNvPr>
              <p:cNvSpPr txBox="1"/>
              <p:nvPr/>
            </p:nvSpPr>
            <p:spPr>
              <a:xfrm>
                <a:off x="2471944" y="2463223"/>
                <a:ext cx="8968942" cy="8781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600" dirty="0"/>
                  <a:t>CAPP_SMC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𝑐𝑜𝑢𝑛𝑡𝑒𝑟𝑓𝑎𝑐𝑡𝑢𝑎𝑙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𝑖𝑛𝑡𝑒𝑟𝑣𝑒𝑛𝑡𝑖𝑜𝑛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𝑐𝑜𝑣𝑒𝑟𝑎𝑔𝑒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𝑝𝑜</m:t>
                        </m:r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𝑠𝑖𝑧𝑒</m:t>
                            </m:r>
                          </m:sub>
                        </m:s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𝑝𝑜𝑝</m:t>
                        </m:r>
                      </m:den>
                    </m:f>
                  </m:oMath>
                </a14:m>
                <a:endParaRPr lang="en-CH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CD6EA5-5835-88E9-5EFC-F5BCFCD49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944" y="2463223"/>
                <a:ext cx="8968942" cy="878189"/>
              </a:xfrm>
              <a:prstGeom prst="rect">
                <a:avLst/>
              </a:prstGeom>
              <a:blipFill>
                <a:blip r:embed="rId4"/>
                <a:stretch>
                  <a:fillRect l="-3127" b="-1111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44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7E687651-378C-BEB9-BB3F-0B6AF397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DF062D6B-86F0-62FD-2EAF-882940BF4C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Plots of Uncomplicated Cases averted per 1000 people protected in 0-100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AFCE2-945B-C479-39B5-79C9D199E0FA}"/>
              </a:ext>
            </a:extLst>
          </p:cNvPr>
          <p:cNvSpPr txBox="1"/>
          <p:nvPr/>
        </p:nvSpPr>
        <p:spPr>
          <a:xfrm>
            <a:off x="542259" y="1288987"/>
            <a:ext cx="8314661" cy="2601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Cases averted per 1000 people protected vs coverage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H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Decreasing </a:t>
            </a:r>
            <a:r>
              <a:rPr lang="en-US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means</a:t>
            </a:r>
            <a:r>
              <a:rPr lang="en-CH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saturation effect</a:t>
            </a:r>
            <a:endParaRPr lang="en-CH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H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Increasing </a:t>
            </a:r>
            <a:r>
              <a:rPr lang="en-US" sz="24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means</a:t>
            </a:r>
            <a:r>
              <a:rPr lang="en-CH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 indirect protection</a:t>
            </a:r>
            <a:endParaRPr lang="en-US" sz="24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Flat line means no indirect protection </a:t>
            </a:r>
            <a:endParaRPr lang="en-CH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216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373E9641-6246-F7E4-3A87-033F34457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3C117502-538F-D24C-C093-5A2216EBDC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Uncomplicated Cases averted </a:t>
            </a:r>
            <a:r>
              <a:rPr lang="en-US" sz="2800" b="1" dirty="0"/>
              <a:t>per 1000 people protected in 0-100 </a:t>
            </a:r>
            <a:endParaRPr lang="en-US" sz="2800" b="1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A8647B-64C4-16D8-12AA-0379A1CE5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19" y="715137"/>
            <a:ext cx="11894161" cy="56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67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BB8F52DE-CBEB-5E61-0CF4-222FBA45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C1DE4BCD-B359-BEC5-F1F4-6F1DFDD95C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Uncomplicated Cases averted </a:t>
            </a:r>
            <a:r>
              <a:rPr lang="en-US" sz="2800" b="1" dirty="0"/>
              <a:t>in 0-100 </a:t>
            </a:r>
            <a:endParaRPr lang="en-US" sz="2800" b="1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5A801D-4050-24E0-A2EA-329478716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69" y="590404"/>
            <a:ext cx="11906862" cy="56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14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996E25C4-845B-5106-76BA-9EC36943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EA1D7747-458C-D4A3-7983-03A2E852F0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SMC equivalent LLIN coverage </a:t>
            </a:r>
            <a:r>
              <a:rPr lang="en-US" sz="2800" b="1" dirty="0"/>
              <a:t>in 0-100 </a:t>
            </a:r>
            <a:endParaRPr lang="en-US" sz="2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35516-87C9-B45C-AA28-98B06CAAE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51" y="796022"/>
            <a:ext cx="11932263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19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ABBDB832-0765-57CB-A170-F27A267C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5CC4EE67-407A-EDC6-E427-F0CA29E4DA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Cost of LLIN to achieve SMC-equivalent impact in 0-100 (example)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37345-B8F4-BD5D-1D3D-F7664CDD03A3}"/>
              </a:ext>
            </a:extLst>
          </p:cNvPr>
          <p:cNvSpPr txBox="1"/>
          <p:nvPr/>
        </p:nvSpPr>
        <p:spPr>
          <a:xfrm>
            <a:off x="242208" y="957639"/>
            <a:ext cx="570139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People protected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SMC (83% of under-5s, where under-5s = 14.2% of 10,000 = 1,420)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0.83×1,420=1,178.6</a:t>
            </a:r>
          </a:p>
          <a:p>
            <a:pPr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Unit cost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$2.4 per cycle × 4 cycles =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$9.6 per child per year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SMC total cost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1,178.9.6×6x3years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$33,926.4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E22464-1B74-08CB-CD16-8AB71CB0FDAA}"/>
              </a:ext>
            </a:extLst>
          </p:cNvPr>
          <p:cNvSpPr txBox="1"/>
          <p:nvPr/>
        </p:nvSpPr>
        <p:spPr>
          <a:xfrm>
            <a:off x="6550477" y="957639"/>
            <a:ext cx="539931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People protected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LLIN (64% of 10,000)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0.64×10,000=6,400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Unit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LLIN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$2.9 per net, 2.5 people per net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-&gt; 2.9/2.5 = $1.16 per person protected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LLIN total cost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6,400×1.16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$7,424</a:t>
            </a:r>
            <a:endParaRPr lang="en-CH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DF960-DEF6-1298-7951-A2454DEFD5F0}"/>
              </a:ext>
            </a:extLst>
          </p:cNvPr>
          <p:cNvSpPr txBox="1"/>
          <p:nvPr/>
        </p:nvSpPr>
        <p:spPr>
          <a:xfrm>
            <a:off x="598714" y="5048071"/>
            <a:ext cx="111360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avert the same number of cases:</a:t>
            </a: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LLIN (64% coverage)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costs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$ 7,424 </a:t>
            </a: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SMC (83% coverage)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costs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$ 33,926.4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 LLIN is roughly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5 times cheaper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achieve the same impact.</a:t>
            </a:r>
          </a:p>
        </p:txBody>
      </p:sp>
    </p:spTree>
    <p:extLst>
      <p:ext uri="{BB962C8B-B14F-4D97-AF65-F5344CB8AC3E}">
        <p14:creationId xmlns:p14="http://schemas.microsoft.com/office/powerpoint/2010/main" val="8819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56D46B4D-CD77-4D88-D5B5-64F5F474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75A70A18-1A19-DF75-970A-8F33CF7B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Cost of SMC equivalent LLIN impact </a:t>
            </a:r>
            <a:r>
              <a:rPr lang="en-US" sz="2800" b="1" dirty="0"/>
              <a:t>in all ages </a:t>
            </a:r>
            <a:endParaRPr lang="en-US" sz="2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67378-9A3B-E48F-F2FE-39DEDC4EB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19" y="596754"/>
            <a:ext cx="11894161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84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DD864C57-9612-065A-760F-7146A5627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7D14AD72-3418-C557-F43A-26A075670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Regression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383A0-3ECE-640E-7C2B-52732CA99FC9}"/>
              </a:ext>
            </a:extLst>
          </p:cNvPr>
          <p:cNvSpPr txBox="1"/>
          <p:nvPr/>
        </p:nvSpPr>
        <p:spPr>
          <a:xfrm>
            <a:off x="97971" y="796022"/>
            <a:ext cx="119760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analysis will allow us to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summarize and quantify the average relationship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between coverage, EIR, and cases averted, rather than relying on raw curves from individual simulations.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Here, we built an explanatory model using the simulated data to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reveal and quantify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relationship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5838FA-130F-801E-7E90-BBA07C569C1B}"/>
              </a:ext>
            </a:extLst>
          </p:cNvPr>
          <p:cNvSpPr txBox="1"/>
          <p:nvPr/>
        </p:nvSpPr>
        <p:spPr>
          <a:xfrm>
            <a:off x="117986" y="2828835"/>
            <a:ext cx="120740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Model:</a:t>
            </a:r>
          </a:p>
          <a:p>
            <a:r>
              <a:rPr lang="en-US" sz="2400" i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Cases averted = b0 + b1 *coverage + b2 *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 coverage^2</a:t>
            </a:r>
            <a:r>
              <a:rPr lang="en-US" sz="2400" i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+ b3*EIR + b4*(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coverage x EIR</a:t>
            </a:r>
            <a:r>
              <a:rPr lang="en-US" sz="2400" i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 + ε </a:t>
            </a:r>
            <a:endParaRPr lang="en-CH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7A260-4599-54F6-8687-C17F6C1A47B6}"/>
              </a:ext>
            </a:extLst>
          </p:cNvPr>
          <p:cNvSpPr txBox="1"/>
          <p:nvPr/>
        </p:nvSpPr>
        <p:spPr>
          <a:xfrm>
            <a:off x="208297" y="4029164"/>
            <a:ext cx="114720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equation assumes that the uncomplicated cases averted by an intervention (</a:t>
            </a:r>
            <a:r>
              <a:rPr lang="en-US" sz="2400" dirty="0" err="1"/>
              <a:t>ie</a:t>
            </a:r>
            <a:r>
              <a:rPr lang="en-US" sz="2400" dirty="0"/>
              <a:t>. LLIN / SMC) is the sum of some base level 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b0</a:t>
            </a:r>
            <a:r>
              <a:rPr lang="en-US" sz="2400" dirty="0"/>
              <a:t>), contributions of coverage of the intervention 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b1</a:t>
            </a:r>
            <a:r>
              <a:rPr lang="en-US" sz="2400" dirty="0"/>
              <a:t>), the square of the coverage 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b2</a:t>
            </a:r>
            <a:r>
              <a:rPr lang="en-US" sz="2400" dirty="0"/>
              <a:t>), the transmission intensity  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b3</a:t>
            </a:r>
            <a:r>
              <a:rPr lang="en-US" sz="2400" dirty="0"/>
              <a:t>) and of the interaction between coverage and transmission intensity 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b4</a:t>
            </a:r>
            <a:r>
              <a:rPr lang="en-US" sz="2400" dirty="0"/>
              <a:t>), and a random normally distributed quantity 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ε</a:t>
            </a:r>
            <a:r>
              <a:rPr lang="en-US" sz="2400" dirty="0"/>
              <a:t>)</a:t>
            </a:r>
            <a:endParaRPr lang="en-CH" sz="2400" dirty="0"/>
          </a:p>
        </p:txBody>
      </p:sp>
    </p:spTree>
    <p:extLst>
      <p:ext uri="{BB962C8B-B14F-4D97-AF65-F5344CB8AC3E}">
        <p14:creationId xmlns:p14="http://schemas.microsoft.com/office/powerpoint/2010/main" val="424413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162605DA-5C6C-3CAA-7A7C-8A5C24D6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459C858E-DE2D-AD3E-8B9D-BBDBACAD2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Regression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6B7C9-23C2-0A64-EA5A-EDECBFAC475F}"/>
              </a:ext>
            </a:extLst>
          </p:cNvPr>
          <p:cNvSpPr txBox="1"/>
          <p:nvPr/>
        </p:nvSpPr>
        <p:spPr>
          <a:xfrm>
            <a:off x="117986" y="2102308"/>
            <a:ext cx="119760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will allow to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quantify the average </a:t>
            </a:r>
            <a:r>
              <a:rPr lang="en-US" sz="2400" b="1" dirty="0"/>
              <a:t>uncomplicated cases averted by an intervention (</a:t>
            </a:r>
            <a:r>
              <a:rPr lang="en-US" sz="2400" b="1" dirty="0" err="1"/>
              <a:t>ie</a:t>
            </a:r>
            <a:r>
              <a:rPr lang="en-US" sz="2400" b="1" dirty="0"/>
              <a:t>. LLIN / SMC) at a given coverage and transmission intensity </a:t>
            </a:r>
            <a:r>
              <a:rPr lang="en-US" sz="2400" dirty="0"/>
              <a:t>as: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D4D24-3306-B494-B015-39CBC0EC302D}"/>
              </a:ext>
            </a:extLst>
          </p:cNvPr>
          <p:cNvSpPr txBox="1"/>
          <p:nvPr/>
        </p:nvSpPr>
        <p:spPr>
          <a:xfrm>
            <a:off x="69000" y="3324531"/>
            <a:ext cx="120740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E[Cases averted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] </a:t>
            </a:r>
            <a:r>
              <a:rPr lang="en-US" sz="2400" i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 b0 + b1 *coverage + b2 *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 coverage^2</a:t>
            </a:r>
            <a:r>
              <a:rPr lang="en-US" sz="2400" i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+ b3*EIR + b4*(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coverage x EIR</a:t>
            </a:r>
            <a:r>
              <a:rPr lang="en-US" sz="2400" i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 </a:t>
            </a:r>
            <a:endParaRPr lang="en-CH" sz="2400" i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9A32E-74A2-78FE-25EA-34A0F1C4A65B}"/>
              </a:ext>
            </a:extLst>
          </p:cNvPr>
          <p:cNvSpPr txBox="1"/>
          <p:nvPr/>
        </p:nvSpPr>
        <p:spPr>
          <a:xfrm>
            <a:off x="117986" y="971613"/>
            <a:ext cx="6144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sz="1800" i="1" dirty="0">
                <a:solidFill>
                  <a:srgbClr val="FF0000"/>
                </a:solidFill>
                <a:latin typeface="Arial" panose="020B0604020202020204" pitchFamily="34" charset="0"/>
              </a:rPr>
              <a:t>1 – direct effect of coverage</a:t>
            </a:r>
          </a:p>
          <a:p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</a:rPr>
              <a:t>b2 – indirect effect of coverage</a:t>
            </a:r>
          </a:p>
        </p:txBody>
      </p:sp>
    </p:spTree>
    <p:extLst>
      <p:ext uri="{BB962C8B-B14F-4D97-AF65-F5344CB8AC3E}">
        <p14:creationId xmlns:p14="http://schemas.microsoft.com/office/powerpoint/2010/main" val="1297844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27BEC9D2-E5E9-C12E-09FB-78E50859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E03CC064-EF6F-39AA-D363-4586E82A28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Regression analysis -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FE67A-5E76-9B34-F127-1DD71A4007CC}"/>
              </a:ext>
            </a:extLst>
          </p:cNvPr>
          <p:cNvSpPr txBox="1"/>
          <p:nvPr/>
        </p:nvSpPr>
        <p:spPr>
          <a:xfrm>
            <a:off x="117986" y="953134"/>
            <a:ext cx="11695232" cy="3304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H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structure for analysis</a:t>
            </a:r>
            <a:endParaRPr lang="en-CH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CH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Simulation results were collated into a single dataset with identifiers for </a:t>
            </a:r>
            <a:r>
              <a:rPr lang="en-CH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year</a:t>
            </a:r>
            <a:r>
              <a:rPr lang="en-CH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CH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random seed</a:t>
            </a:r>
            <a:r>
              <a:rPr lang="en-CH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CH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EIR level</a:t>
            </a:r>
            <a:r>
              <a:rPr lang="en-CH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</a:t>
            </a:r>
            <a:r>
              <a:rPr lang="en-CH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coverage level</a:t>
            </a:r>
            <a:r>
              <a:rPr lang="en-CH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CH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Restricting the analysis to the period 2024–2029 (representing two cycles of LLIN distribution) allowed focus on medium-term impacts after intervention scale-up. </a:t>
            </a: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CH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Each row in the dataset represent</a:t>
            </a:r>
            <a:r>
              <a:rPr lang="en-US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CH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one simulated outcome under a given scenario, seed, and EIR level.</a:t>
            </a: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Number of </a:t>
            </a:r>
            <a:r>
              <a:rPr lang="en-US" sz="2000" kern="10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obs</a:t>
            </a:r>
            <a:r>
              <a:rPr lang="en-US" sz="20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105,840</a:t>
            </a:r>
          </a:p>
        </p:txBody>
      </p:sp>
    </p:spTree>
    <p:extLst>
      <p:ext uri="{BB962C8B-B14F-4D97-AF65-F5344CB8AC3E}">
        <p14:creationId xmlns:p14="http://schemas.microsoft.com/office/powerpoint/2010/main" val="1739267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49116577-9185-9366-4B80-04D50CE9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5EF45C63-A458-5AB7-1100-9727F328F8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Regression analysis – Simple Linear regression - LLIN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21085A-939C-71DF-6C4E-DA706DB8F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858" y="863231"/>
            <a:ext cx="9538283" cy="51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93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2302692B-0D31-8BEA-0016-B44489D7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6237653C-7DB9-BE89-D364-D6A67399D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Regression analysis – Coefficients - LLIN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18D0B9-708B-F7BD-2147-03A8EBC9F2E6}"/>
              </a:ext>
            </a:extLst>
          </p:cNvPr>
          <p:cNvGraphicFramePr>
            <a:graphicFrameLocks noGrp="1"/>
          </p:cNvGraphicFramePr>
          <p:nvPr/>
        </p:nvGraphicFramePr>
        <p:xfrm>
          <a:off x="244444" y="763929"/>
          <a:ext cx="1170311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427">
                  <a:extLst>
                    <a:ext uri="{9D8B030D-6E8A-4147-A177-3AD203B41FA5}">
                      <a16:colId xmlns:a16="http://schemas.microsoft.com/office/drawing/2014/main" val="3866313790"/>
                    </a:ext>
                  </a:extLst>
                </a:gridCol>
                <a:gridCol w="2234472">
                  <a:extLst>
                    <a:ext uri="{9D8B030D-6E8A-4147-A177-3AD203B41FA5}">
                      <a16:colId xmlns:a16="http://schemas.microsoft.com/office/drawing/2014/main" val="799490638"/>
                    </a:ext>
                  </a:extLst>
                </a:gridCol>
                <a:gridCol w="6612212">
                  <a:extLst>
                    <a:ext uri="{9D8B030D-6E8A-4147-A177-3AD203B41FA5}">
                      <a16:colId xmlns:a16="http://schemas.microsoft.com/office/drawing/2014/main" val="1313287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Interpretation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408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 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-461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 zero coverage &amp; zero EIR, predicted cases averted ≈ -461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88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 (direct effect)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+4491.4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 unit increase in LLIN coverage </a:t>
                      </a:r>
                      <a:r>
                        <a:rPr lang="en-US" sz="2400" dirty="0"/>
                        <a:t>(0-1 scale) </a:t>
                      </a:r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is associated with 4491 cases averted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404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 (indirect effect)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+2542.4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Positive curvature implies as coverage increases, the impact accelerates (non-linear benefits)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54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EIR 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+9.5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Higher EIR implies more cases averted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84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 × EIR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-93.3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 higher EIR, the marginal benefit of increasing coverage is smaller. (Indirect protection saturates faster under intense transmission)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212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1426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846FCE67-D003-8B9B-2B79-75210C55B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1C3CBE67-0112-3428-9DB6-797E774226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Regression analysis – Simple Linear regression - SMC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1ADF5-843A-06D2-C9D2-85F9F6BE9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77" y="820102"/>
            <a:ext cx="10144599" cy="521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38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8DF57934-F501-8E27-FEA2-1D02CA88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4AF93094-08BD-351C-1C0A-B30AD1E063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Regression analysis – Coefficients - SMC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459FDD-C691-218B-C298-EAD3DE85B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431664"/>
              </p:ext>
            </p:extLst>
          </p:nvPr>
        </p:nvGraphicFramePr>
        <p:xfrm>
          <a:off x="244444" y="763929"/>
          <a:ext cx="1182957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292">
                  <a:extLst>
                    <a:ext uri="{9D8B030D-6E8A-4147-A177-3AD203B41FA5}">
                      <a16:colId xmlns:a16="http://schemas.microsoft.com/office/drawing/2014/main" val="3866313790"/>
                    </a:ext>
                  </a:extLst>
                </a:gridCol>
                <a:gridCol w="2258617">
                  <a:extLst>
                    <a:ext uri="{9D8B030D-6E8A-4147-A177-3AD203B41FA5}">
                      <a16:colId xmlns:a16="http://schemas.microsoft.com/office/drawing/2014/main" val="799490638"/>
                    </a:ext>
                  </a:extLst>
                </a:gridCol>
                <a:gridCol w="6683661">
                  <a:extLst>
                    <a:ext uri="{9D8B030D-6E8A-4147-A177-3AD203B41FA5}">
                      <a16:colId xmlns:a16="http://schemas.microsoft.com/office/drawing/2014/main" val="1313287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Interpretation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408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 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-461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 zero coverage &amp; zero EIR, predicted cases averted ≈ -16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88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 (linear effect)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2400" b="0" dirty="0"/>
                        <a:t>944.8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Each unit increase in SMC coverage (0-1 scale) averts </a:t>
                      </a:r>
                      <a:r>
                        <a:rPr lang="en-US" sz="2400" b="0" dirty="0"/>
                        <a:t>~945 cases</a:t>
                      </a:r>
                      <a:r>
                        <a:rPr lang="en-US" sz="2400" dirty="0"/>
                        <a:t>. Much smaller than LLIN effect because SMC only targets children 0–5 years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404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 (quadratic effect)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CH" sz="2400" dirty="0"/>
                        <a:t>146.7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Negative curvature implies </a:t>
                      </a:r>
                      <a:r>
                        <a:rPr lang="en-US" sz="2400" b="1" dirty="0"/>
                        <a:t>diminishing returns</a:t>
                      </a:r>
                      <a:r>
                        <a:rPr lang="en-US" sz="2400" dirty="0"/>
                        <a:t> at higher coverage. The first increments of SMC coverage avert the most cases; gains flatten at high coverage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54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EIR 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CH" sz="2400" dirty="0"/>
                        <a:t>0.38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/>
                        <a:t>At higher EIR, slightly more cases are averted, but the effect is modest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84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 × EIR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CH" sz="2400" dirty="0"/>
                        <a:t>0.36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Negative interaction: at higher EIR, the marginal benefit of increasing SMC coverage decreases (similar to LLIN but much weaker)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212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613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F2711D98-E4AB-6C25-8B4E-9598CE973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E309F315-502A-DB4C-D473-2DC791289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Regression analysis – Coefficients – LLIN and  SMC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BC6CCD-B004-2497-B2ED-C35AC3B19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337083"/>
              </p:ext>
            </p:extLst>
          </p:nvPr>
        </p:nvGraphicFramePr>
        <p:xfrm>
          <a:off x="786705" y="944878"/>
          <a:ext cx="8973983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348">
                  <a:extLst>
                    <a:ext uri="{9D8B030D-6E8A-4147-A177-3AD203B41FA5}">
                      <a16:colId xmlns:a16="http://schemas.microsoft.com/office/drawing/2014/main" val="3866313790"/>
                    </a:ext>
                  </a:extLst>
                </a:gridCol>
                <a:gridCol w="2973587">
                  <a:extLst>
                    <a:ext uri="{9D8B030D-6E8A-4147-A177-3AD203B41FA5}">
                      <a16:colId xmlns:a16="http://schemas.microsoft.com/office/drawing/2014/main" val="799490638"/>
                    </a:ext>
                  </a:extLst>
                </a:gridCol>
                <a:gridCol w="2359048">
                  <a:extLst>
                    <a:ext uri="{9D8B030D-6E8A-4147-A177-3AD203B41FA5}">
                      <a16:colId xmlns:a16="http://schemas.microsoft.com/office/drawing/2014/main" val="1313287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LLIN Estimates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SMC Estimates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408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 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-461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-461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88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 (linear effect)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+4491.4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2400" b="0" dirty="0"/>
                        <a:t>944.8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404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 (quadratic effect)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+2542.4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CH" sz="2400" dirty="0"/>
                        <a:t>146.7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544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EIR 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+9.5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CH" sz="2400" dirty="0"/>
                        <a:t>0.38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84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 × EIR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-93.3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CH" sz="2400" dirty="0"/>
                        <a:t>0.36</a:t>
                      </a:r>
                      <a:endParaRPr lang="en-CH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212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356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7B599595-CE62-26FF-59AB-B529855BE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61189F70-7A2B-F9CA-1ED4-D383D5D5C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0778614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Predicted cases averted at different transmission intensities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1AEDD5-D182-FC22-94C7-2A5A983C3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90" y="615805"/>
            <a:ext cx="11068619" cy="562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7B9A7970-BEFB-2DEA-B870-5B96527F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5D9D7F7A-E26D-2A39-0D6F-E550160DA6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307" y="50822"/>
            <a:ext cx="3521680" cy="745200"/>
          </a:xfrm>
        </p:spPr>
        <p:txBody>
          <a:bodyPr/>
          <a:lstStyle/>
          <a:p>
            <a:r>
              <a:rPr lang="en-US" sz="2800" b="1" dirty="0"/>
              <a:t>Summary of insights</a:t>
            </a:r>
            <a:br>
              <a:rPr lang="en-US" sz="2800" b="1" dirty="0"/>
            </a:br>
            <a:endParaRPr lang="en-US" sz="2800" b="1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EA8D7-5147-3357-F727-839410E23F00}"/>
              </a:ext>
            </a:extLst>
          </p:cNvPr>
          <p:cNvSpPr txBox="1"/>
          <p:nvPr/>
        </p:nvSpPr>
        <p:spPr>
          <a:xfrm>
            <a:off x="197830" y="796022"/>
            <a:ext cx="118761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LLIN coverage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strongly reduces malaria cases, with a convex (accelerating) relationship.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 transmission (EIR) matters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higher EIR increases absolute cases averted (more to prevent),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but the efficiency of nets per unit coverage declines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very high transmission settings.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captures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indirect protection dynamics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 low/medium EIR → indirect (community) protection amplifies coverage impact.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 very high EIR → mosquito pressure overwhelms nets, so coverage gains decline.</a:t>
            </a:r>
          </a:p>
        </p:txBody>
      </p:sp>
    </p:spTree>
    <p:extLst>
      <p:ext uri="{BB962C8B-B14F-4D97-AF65-F5344CB8AC3E}">
        <p14:creationId xmlns:p14="http://schemas.microsoft.com/office/powerpoint/2010/main" val="1552518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8BA45AFF-E84B-CDD1-A288-87D9AFF0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AE32E7C3-7E50-D3B6-3024-43058388E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307" y="50822"/>
            <a:ext cx="3521680" cy="745200"/>
          </a:xfrm>
        </p:spPr>
        <p:txBody>
          <a:bodyPr/>
          <a:lstStyle/>
          <a:p>
            <a:r>
              <a:rPr lang="en-US" sz="2800" b="1" dirty="0"/>
              <a:t>Summary of insights</a:t>
            </a:r>
            <a:br>
              <a:rPr lang="en-US" sz="2800" b="1" dirty="0"/>
            </a:br>
            <a:endParaRPr lang="en-US" sz="2800" b="1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E15FA7-A6C0-ABE1-40D9-304EA7503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07" y="1028344"/>
            <a:ext cx="1120027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SMC averts fewer absolute cases compared to </a:t>
            </a:r>
            <a:r>
              <a:rPr kumimoji="0" lang="en-CH" altLang="en-CH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LLINs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consistent with its focus on </a:t>
            </a: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children under 5 only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(direct protection).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coverage effect is strong at low-to-moderate coverage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flattens at high coverage </a:t>
            </a: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diminishing returns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(since most at-risk kids are already covered).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EIR effect is minor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increasing transmission intensity doesn’t boost SMC’s effect much, because it only protects a subset of the population.</a:t>
            </a:r>
            <a:endParaRPr kumimoji="0" lang="en-US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CH" altLang="en-C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LLINs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both direct and </a:t>
            </a: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indirect protection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(community effect), hence large, accelerating gains.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SMC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</a:t>
            </a:r>
            <a:r>
              <a:rPr kumimoji="0" lang="en-US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mainly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protection</a:t>
            </a:r>
            <a:r>
              <a:rPr kumimoji="0" lang="en-US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CH" altLang="en-C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CH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hence linear with slight diminishing returns.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altLang="en-C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847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Microsoft Office PowerPoint</Application>
  <PresentationFormat>Widescreen</PresentationFormat>
  <Paragraphs>144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 Math</vt:lpstr>
      <vt:lpstr>Palatino Linotype</vt:lpstr>
      <vt:lpstr>Office Theme</vt:lpstr>
      <vt:lpstr>PowerPoint Presentation</vt:lpstr>
      <vt:lpstr>Background</vt:lpstr>
      <vt:lpstr>Approach</vt:lpstr>
      <vt:lpstr>Cases averted per person protected</vt:lpstr>
      <vt:lpstr>Plots of Uncomplicated Cases averted per 1000 people protected in 0-100 </vt:lpstr>
      <vt:lpstr>Uncomplicated Cases averted per 1000 people protected in 0-100 </vt:lpstr>
      <vt:lpstr>Uncomplicated Cases averted in 0-100 </vt:lpstr>
      <vt:lpstr>SMC equivalent LLIN coverage in 0-100 </vt:lpstr>
      <vt:lpstr>Cost of LLIN to achieve SMC-equivalent impact in 0-100 (example) </vt:lpstr>
      <vt:lpstr>Cost of SMC equivalent LLIN impact in all ages </vt:lpstr>
      <vt:lpstr>Regression analysis</vt:lpstr>
      <vt:lpstr>Regression analysis</vt:lpstr>
      <vt:lpstr>Regression analysis - Data</vt:lpstr>
      <vt:lpstr>Regression analysis – Simple Linear regression - LLIN</vt:lpstr>
      <vt:lpstr>Regression analysis – Coefficients - LLIN</vt:lpstr>
      <vt:lpstr>Regression analysis – Simple Linear regression - SMC</vt:lpstr>
      <vt:lpstr>Regression analysis – Coefficients - SMC</vt:lpstr>
      <vt:lpstr>Regression analysis – Coefficients – LLIN and  SMC</vt:lpstr>
      <vt:lpstr>Predicted cases averted at different transmission intensities</vt:lpstr>
      <vt:lpstr>Summary of insights </vt:lpstr>
      <vt:lpstr>Summary of insights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13</cp:revision>
  <dcterms:created xsi:type="dcterms:W3CDTF">2025-09-22T14:55:59Z</dcterms:created>
  <dcterms:modified xsi:type="dcterms:W3CDTF">2025-09-23T12:32:17Z</dcterms:modified>
</cp:coreProperties>
</file>